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96477" y="133603"/>
            <a:ext cx="384111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00100" y="723900"/>
            <a:ext cx="10591800" cy="0"/>
          </a:xfrm>
          <a:custGeom>
            <a:avLst/>
            <a:gdLst/>
            <a:ahLst/>
            <a:cxnLst/>
            <a:rect l="l" t="t" r="r" b="b"/>
            <a:pathLst>
              <a:path w="10591800" h="0">
                <a:moveTo>
                  <a:pt x="0" y="0"/>
                </a:moveTo>
                <a:lnTo>
                  <a:pt x="10591800" y="1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00100" y="6142780"/>
            <a:ext cx="10591800" cy="0"/>
          </a:xfrm>
          <a:custGeom>
            <a:avLst/>
            <a:gdLst/>
            <a:ahLst/>
            <a:cxnLst/>
            <a:rect l="l" t="t" r="r" b="b"/>
            <a:pathLst>
              <a:path w="10591800" h="0">
                <a:moveTo>
                  <a:pt x="0" y="0"/>
                </a:moveTo>
                <a:lnTo>
                  <a:pt x="10591800" y="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4065" y="853947"/>
            <a:ext cx="10643869" cy="1013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45683" y="2144267"/>
            <a:ext cx="5750559" cy="1964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4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w3schools.com/java/java_methods.asp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921885">
              <a:lnSpc>
                <a:spcPct val="100000"/>
              </a:lnSpc>
              <a:spcBef>
                <a:spcPts val="100"/>
              </a:spcBef>
            </a:pPr>
            <a:r>
              <a:rPr dirty="0" sz="5400" spc="-225"/>
              <a:t>METHODS</a:t>
            </a:r>
            <a:r>
              <a:rPr dirty="0" sz="5400" spc="-415"/>
              <a:t> </a:t>
            </a:r>
            <a:r>
              <a:rPr dirty="0" sz="5400" spc="-270"/>
              <a:t>IN</a:t>
            </a:r>
            <a:r>
              <a:rPr dirty="0" sz="5400" spc="-409"/>
              <a:t> </a:t>
            </a:r>
            <a:r>
              <a:rPr dirty="0" sz="5400" spc="70"/>
              <a:t>JAVA</a:t>
            </a:r>
            <a:endParaRPr sz="5400"/>
          </a:p>
        </p:txBody>
      </p:sp>
      <p:sp>
        <p:nvSpPr>
          <p:cNvPr id="3" name="object 3" descr=""/>
          <p:cNvSpPr txBox="1"/>
          <p:nvPr/>
        </p:nvSpPr>
        <p:spPr>
          <a:xfrm>
            <a:off x="5698703" y="5423916"/>
            <a:ext cx="178053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Georgia"/>
                <a:cs typeface="Georgia"/>
              </a:rPr>
              <a:t>An</a:t>
            </a:r>
            <a:r>
              <a:rPr dirty="0" sz="2000" spc="120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Introduction</a:t>
            </a:r>
            <a:endParaRPr sz="2000">
              <a:latin typeface="Georgia"/>
              <a:cs typeface="Georg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0"/>
            <a:ext cx="4876798" cy="6857919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5723775" y="723900"/>
            <a:ext cx="5706745" cy="0"/>
          </a:xfrm>
          <a:custGeom>
            <a:avLst/>
            <a:gdLst/>
            <a:ahLst/>
            <a:cxnLst/>
            <a:rect l="l" t="t" r="r" b="b"/>
            <a:pathLst>
              <a:path w="5706745" h="0">
                <a:moveTo>
                  <a:pt x="0" y="0"/>
                </a:moveTo>
                <a:lnTo>
                  <a:pt x="5706224" y="1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723775" y="6134100"/>
            <a:ext cx="5668645" cy="0"/>
          </a:xfrm>
          <a:custGeom>
            <a:avLst/>
            <a:gdLst/>
            <a:ahLst/>
            <a:cxnLst/>
            <a:rect l="l" t="t" r="r" b="b"/>
            <a:pathLst>
              <a:path w="5668645" h="0">
                <a:moveTo>
                  <a:pt x="0" y="0"/>
                </a:moveTo>
                <a:lnTo>
                  <a:pt x="5668124" y="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OBJECTIVES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9375" y="2174748"/>
            <a:ext cx="8006715" cy="1979295"/>
          </a:xfrm>
          <a:prstGeom prst="rect">
            <a:avLst/>
          </a:prstGeom>
        </p:spPr>
        <p:txBody>
          <a:bodyPr wrap="square" lIns="0" tIns="18923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-10">
                <a:latin typeface="Georgia"/>
                <a:cs typeface="Georgia"/>
              </a:rPr>
              <a:t>Define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method,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80">
                <a:latin typeface="Georgia"/>
                <a:cs typeface="Georgia"/>
              </a:rPr>
              <a:t>parameters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and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arguments.</a:t>
            </a:r>
            <a:endParaRPr sz="20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13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-25">
                <a:latin typeface="Georgia"/>
                <a:cs typeface="Georgia"/>
              </a:rPr>
              <a:t>Discuss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how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methods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are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used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in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35">
                <a:latin typeface="Georgia"/>
                <a:cs typeface="Georgia"/>
              </a:rPr>
              <a:t>writing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programs </a:t>
            </a:r>
            <a:r>
              <a:rPr dirty="0" sz="2000">
                <a:latin typeface="Georgia"/>
                <a:cs typeface="Georgia"/>
              </a:rPr>
              <a:t>in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Java.</a:t>
            </a:r>
            <a:endParaRPr sz="20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151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-35">
                <a:latin typeface="Georgia"/>
                <a:cs typeface="Georgia"/>
              </a:rPr>
              <a:t>Write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 spc="-105">
                <a:latin typeface="Georgia"/>
                <a:cs typeface="Georgia"/>
              </a:rPr>
              <a:t>Java</a:t>
            </a:r>
            <a:r>
              <a:rPr dirty="0" sz="2000" spc="-15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program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 spc="-65">
                <a:latin typeface="Georgia"/>
                <a:cs typeface="Georgia"/>
              </a:rPr>
              <a:t>implementing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methods.</a:t>
            </a:r>
            <a:endParaRPr sz="20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14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-20">
                <a:latin typeface="Georgia"/>
                <a:cs typeface="Georgia"/>
              </a:rPr>
              <a:t>Compare</a:t>
            </a:r>
            <a:r>
              <a:rPr dirty="0" sz="2000" spc="-95">
                <a:latin typeface="Georgia"/>
                <a:cs typeface="Georgia"/>
              </a:rPr>
              <a:t> </a:t>
            </a:r>
            <a:r>
              <a:rPr dirty="0" sz="2000" spc="-65">
                <a:latin typeface="Georgia"/>
                <a:cs typeface="Georgia"/>
              </a:rPr>
              <a:t>programs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written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in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114">
                <a:latin typeface="Georgia"/>
                <a:cs typeface="Georgia"/>
              </a:rPr>
              <a:t>Java</a:t>
            </a:r>
            <a:r>
              <a:rPr dirty="0" sz="2000" spc="-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using </a:t>
            </a:r>
            <a:r>
              <a:rPr dirty="0" sz="2000" spc="-55">
                <a:latin typeface="Georgia"/>
                <a:cs typeface="Georgia"/>
              </a:rPr>
              <a:t>methods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 spc="-30">
                <a:latin typeface="Georgia"/>
                <a:cs typeface="Georgia"/>
              </a:rPr>
              <a:t>and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30">
                <a:latin typeface="Georgia"/>
                <a:cs typeface="Georgia"/>
              </a:rPr>
              <a:t>without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methods.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94122" y="6420611"/>
            <a:ext cx="114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55"/>
              <a:t>OPENING</a:t>
            </a:r>
            <a:r>
              <a:rPr dirty="0" sz="3600" spc="-220"/>
              <a:t> </a:t>
            </a:r>
            <a:r>
              <a:rPr dirty="0" sz="3600" spc="-50"/>
              <a:t>PROBLEM</a:t>
            </a:r>
            <a:endParaRPr sz="3600"/>
          </a:p>
        </p:txBody>
      </p:sp>
      <p:sp>
        <p:nvSpPr>
          <p:cNvPr id="4" name="object 4" descr=""/>
          <p:cNvSpPr txBox="1"/>
          <p:nvPr/>
        </p:nvSpPr>
        <p:spPr>
          <a:xfrm>
            <a:off x="1720214" y="991108"/>
            <a:ext cx="8152765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50"/>
              </a:spcBef>
            </a:pPr>
            <a:r>
              <a:rPr dirty="0" sz="2800">
                <a:latin typeface="Times New Roman"/>
                <a:cs typeface="Times New Roman"/>
              </a:rPr>
              <a:t>Find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sum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integers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from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1 to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10, from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20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 30, </a:t>
            </a:r>
            <a:r>
              <a:rPr dirty="0" sz="2800" spc="-25">
                <a:latin typeface="Times New Roman"/>
                <a:cs typeface="Times New Roman"/>
              </a:rPr>
              <a:t>and </a:t>
            </a:r>
            <a:r>
              <a:rPr dirty="0" sz="2800">
                <a:latin typeface="Times New Roman"/>
                <a:cs typeface="Times New Roman"/>
              </a:rPr>
              <a:t>from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35 to 45,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respectively.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08705" y="3192344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5" h="24764">
                <a:moveTo>
                  <a:pt x="19209" y="0"/>
                </a:moveTo>
                <a:lnTo>
                  <a:pt x="5540" y="0"/>
                </a:lnTo>
                <a:lnTo>
                  <a:pt x="0" y="5541"/>
                </a:lnTo>
                <a:lnTo>
                  <a:pt x="0" y="19210"/>
                </a:lnTo>
                <a:lnTo>
                  <a:pt x="5540" y="24749"/>
                </a:lnTo>
                <a:lnTo>
                  <a:pt x="19209" y="24749"/>
                </a:lnTo>
                <a:lnTo>
                  <a:pt x="24749" y="19210"/>
                </a:lnTo>
                <a:lnTo>
                  <a:pt x="24749" y="12374"/>
                </a:lnTo>
                <a:lnTo>
                  <a:pt x="24749" y="5541"/>
                </a:lnTo>
                <a:lnTo>
                  <a:pt x="19209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94122" y="6420611"/>
            <a:ext cx="114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96477" y="133603"/>
            <a:ext cx="19323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65"/>
              <a:t>PROBLEM</a:t>
            </a:r>
            <a:endParaRPr sz="3600"/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701164" y="1026217"/>
          <a:ext cx="5020310" cy="657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030"/>
                <a:gridCol w="757555"/>
                <a:gridCol w="168275"/>
                <a:gridCol w="168909"/>
                <a:gridCol w="421640"/>
                <a:gridCol w="505460"/>
                <a:gridCol w="337185"/>
                <a:gridCol w="506095"/>
                <a:gridCol w="673735"/>
                <a:gridCol w="789304"/>
              </a:tblGrid>
              <a:tr h="328930">
                <a:tc>
                  <a:txBody>
                    <a:bodyPr/>
                    <a:lstStyle/>
                    <a:p>
                      <a:pPr algn="ctr" marR="44450">
                        <a:lnSpc>
                          <a:spcPts val="2270"/>
                        </a:lnSpc>
                      </a:pPr>
                      <a:r>
                        <a:rPr dirty="0" sz="2200" spc="-25" b="1">
                          <a:latin typeface="Courier New"/>
                          <a:cs typeface="Courier New"/>
                        </a:rPr>
                        <a:t>int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270"/>
                        </a:lnSpc>
                      </a:pPr>
                      <a:r>
                        <a:rPr dirty="0" sz="2200" spc="-25" b="1">
                          <a:latin typeface="Courier New"/>
                          <a:cs typeface="Courier New"/>
                        </a:rPr>
                        <a:t>sum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270"/>
                        </a:lnSpc>
                      </a:pPr>
                      <a:r>
                        <a:rPr dirty="0" sz="2200" b="1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6200">
                        <a:lnSpc>
                          <a:spcPts val="2270"/>
                        </a:lnSpc>
                      </a:pPr>
                      <a:r>
                        <a:rPr dirty="0" sz="2200" spc="-25" b="1">
                          <a:latin typeface="Courier New"/>
                          <a:cs typeface="Courier New"/>
                        </a:rPr>
                        <a:t>0;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28930">
                <a:tc>
                  <a:txBody>
                    <a:bodyPr/>
                    <a:lstStyle/>
                    <a:p>
                      <a:pPr algn="ctr" marR="44450">
                        <a:lnSpc>
                          <a:spcPts val="2370"/>
                        </a:lnSpc>
                      </a:pPr>
                      <a:r>
                        <a:rPr dirty="0" sz="2200" spc="-25" b="1">
                          <a:latin typeface="Courier New"/>
                          <a:cs typeface="Courier New"/>
                        </a:rPr>
                        <a:t>for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370"/>
                        </a:lnSpc>
                      </a:pPr>
                      <a:r>
                        <a:rPr dirty="0" sz="2200" spc="-20" b="1">
                          <a:latin typeface="Courier New"/>
                          <a:cs typeface="Courier New"/>
                        </a:rPr>
                        <a:t>(int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370"/>
                        </a:lnSpc>
                      </a:pPr>
                      <a:r>
                        <a:rPr dirty="0" sz="2200" b="1">
                          <a:latin typeface="Courier New"/>
                          <a:cs typeface="Courier New"/>
                        </a:rPr>
                        <a:t>i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6835">
                        <a:lnSpc>
                          <a:spcPts val="2370"/>
                        </a:lnSpc>
                      </a:pPr>
                      <a:r>
                        <a:rPr dirty="0" sz="2200" b="1"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370"/>
                        </a:lnSpc>
                      </a:pPr>
                      <a:r>
                        <a:rPr dirty="0" sz="2200" spc="-25" b="1">
                          <a:latin typeface="Courier New"/>
                          <a:cs typeface="Courier New"/>
                        </a:rPr>
                        <a:t>1;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370"/>
                        </a:lnSpc>
                      </a:pPr>
                      <a:r>
                        <a:rPr dirty="0" sz="2200" b="1">
                          <a:latin typeface="Courier New"/>
                          <a:cs typeface="Courier New"/>
                        </a:rPr>
                        <a:t>i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370"/>
                        </a:lnSpc>
                      </a:pPr>
                      <a:r>
                        <a:rPr dirty="0" sz="2200" spc="-25" b="1">
                          <a:latin typeface="Courier New"/>
                          <a:cs typeface="Courier New"/>
                        </a:rPr>
                        <a:t>&lt;=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370"/>
                        </a:lnSpc>
                      </a:pPr>
                      <a:r>
                        <a:rPr dirty="0" sz="2200" spc="-25" b="1">
                          <a:latin typeface="Courier New"/>
                          <a:cs typeface="Courier New"/>
                        </a:rPr>
                        <a:t>10;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370"/>
                        </a:lnSpc>
                      </a:pPr>
                      <a:r>
                        <a:rPr dirty="0" sz="2200" spc="-20" b="1">
                          <a:latin typeface="Courier New"/>
                          <a:cs typeface="Courier New"/>
                        </a:rPr>
                        <a:t>i++)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1720214" y="1640332"/>
            <a:ext cx="8439785" cy="4055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925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latin typeface="Courier New"/>
                <a:cs typeface="Courier New"/>
              </a:rPr>
              <a:t>sum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+=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spc="-25" b="1">
                <a:latin typeface="Courier New"/>
                <a:cs typeface="Courier New"/>
              </a:rPr>
              <a:t>i;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2200" b="1">
                <a:latin typeface="Courier New"/>
                <a:cs typeface="Courier New"/>
              </a:rPr>
              <a:t>System.out.println("Sum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from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1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to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10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is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"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+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spc="-10" b="1">
                <a:latin typeface="Courier New"/>
                <a:cs typeface="Courier New"/>
              </a:rPr>
              <a:t>sum);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2200" b="1">
                <a:latin typeface="Courier New"/>
                <a:cs typeface="Courier New"/>
              </a:rPr>
              <a:t>sum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=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spc="-25" b="1">
                <a:latin typeface="Courier New"/>
                <a:cs typeface="Courier New"/>
              </a:rPr>
              <a:t>0;</a:t>
            </a:r>
            <a:endParaRPr sz="2200">
              <a:latin typeface="Courier New"/>
              <a:cs typeface="Courier New"/>
            </a:endParaRPr>
          </a:p>
          <a:p>
            <a:pPr marL="349250" marR="3370579" indent="-336550">
              <a:lnSpc>
                <a:spcPts val="2620"/>
              </a:lnSpc>
              <a:spcBef>
                <a:spcPts val="155"/>
              </a:spcBef>
            </a:pPr>
            <a:r>
              <a:rPr dirty="0" sz="2200" b="1">
                <a:latin typeface="Courier New"/>
                <a:cs typeface="Courier New"/>
              </a:rPr>
              <a:t>for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(int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i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=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20;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i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&lt;=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30;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spc="-20" b="1">
                <a:latin typeface="Courier New"/>
                <a:cs typeface="Courier New"/>
              </a:rPr>
              <a:t>i++) </a:t>
            </a:r>
            <a:r>
              <a:rPr dirty="0" sz="2200" b="1">
                <a:latin typeface="Courier New"/>
                <a:cs typeface="Courier New"/>
              </a:rPr>
              <a:t>sum</a:t>
            </a:r>
            <a:r>
              <a:rPr dirty="0" sz="2200" spc="-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+=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spc="-35" b="1">
                <a:latin typeface="Courier New"/>
                <a:cs typeface="Courier New"/>
              </a:rPr>
              <a:t>i;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ts val="2600"/>
              </a:lnSpc>
            </a:pPr>
            <a:r>
              <a:rPr dirty="0" sz="2200" b="1">
                <a:latin typeface="Courier New"/>
                <a:cs typeface="Courier New"/>
              </a:rPr>
              <a:t>System.out.println("Sum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from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20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to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30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is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"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+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spc="-10" b="1">
                <a:latin typeface="Courier New"/>
                <a:cs typeface="Courier New"/>
              </a:rPr>
              <a:t>sum);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2200" b="1">
                <a:latin typeface="Courier New"/>
                <a:cs typeface="Courier New"/>
              </a:rPr>
              <a:t>sum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=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spc="-25" b="1">
                <a:latin typeface="Courier New"/>
                <a:cs typeface="Courier New"/>
              </a:rPr>
              <a:t>0;</a:t>
            </a:r>
            <a:endParaRPr sz="2200">
              <a:latin typeface="Courier New"/>
              <a:cs typeface="Courier New"/>
            </a:endParaRPr>
          </a:p>
          <a:p>
            <a:pPr marL="349250" marR="3370579" indent="-336550">
              <a:lnSpc>
                <a:spcPts val="2620"/>
              </a:lnSpc>
              <a:spcBef>
                <a:spcPts val="155"/>
              </a:spcBef>
            </a:pPr>
            <a:r>
              <a:rPr dirty="0" sz="2200" b="1">
                <a:latin typeface="Courier New"/>
                <a:cs typeface="Courier New"/>
              </a:rPr>
              <a:t>for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(int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i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=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35;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i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&lt;=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45;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spc="-20" b="1">
                <a:latin typeface="Courier New"/>
                <a:cs typeface="Courier New"/>
              </a:rPr>
              <a:t>i++) </a:t>
            </a:r>
            <a:r>
              <a:rPr dirty="0" sz="2200" b="1">
                <a:latin typeface="Courier New"/>
                <a:cs typeface="Courier New"/>
              </a:rPr>
              <a:t>sum</a:t>
            </a:r>
            <a:r>
              <a:rPr dirty="0" sz="2200" spc="-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+=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spc="-35" b="1">
                <a:latin typeface="Courier New"/>
                <a:cs typeface="Courier New"/>
              </a:rPr>
              <a:t>i;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ts val="2600"/>
              </a:lnSpc>
            </a:pPr>
            <a:r>
              <a:rPr dirty="0" sz="2200" b="1">
                <a:latin typeface="Courier New"/>
                <a:cs typeface="Courier New"/>
              </a:rPr>
              <a:t>System.out.println("Sum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from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35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to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45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is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"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b="1">
                <a:latin typeface="Courier New"/>
                <a:cs typeface="Courier New"/>
              </a:rPr>
              <a:t>+</a:t>
            </a:r>
            <a:r>
              <a:rPr dirty="0" sz="2200" spc="5" b="1">
                <a:latin typeface="Courier New"/>
                <a:cs typeface="Courier New"/>
              </a:rPr>
              <a:t> </a:t>
            </a:r>
            <a:r>
              <a:rPr dirty="0" sz="2200" spc="-10" b="1">
                <a:latin typeface="Courier New"/>
                <a:cs typeface="Courier New"/>
              </a:rPr>
              <a:t>sum);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708731" y="2540651"/>
            <a:ext cx="8521700" cy="0"/>
          </a:xfrm>
          <a:custGeom>
            <a:avLst/>
            <a:gdLst/>
            <a:ahLst/>
            <a:cxnLst/>
            <a:rect l="l" t="t" r="r" b="b"/>
            <a:pathLst>
              <a:path w="8521700" h="0">
                <a:moveTo>
                  <a:pt x="0" y="0"/>
                </a:moveTo>
                <a:lnTo>
                  <a:pt x="8521118" y="1"/>
                </a:lnTo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708731" y="4249745"/>
            <a:ext cx="8521700" cy="0"/>
          </a:xfrm>
          <a:custGeom>
            <a:avLst/>
            <a:gdLst/>
            <a:ahLst/>
            <a:cxnLst/>
            <a:rect l="l" t="t" r="r" b="b"/>
            <a:pathLst>
              <a:path w="8521700" h="0">
                <a:moveTo>
                  <a:pt x="0" y="0"/>
                </a:moveTo>
                <a:lnTo>
                  <a:pt x="8521118" y="1"/>
                </a:lnTo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94122" y="6420611"/>
            <a:ext cx="114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96477" y="133603"/>
            <a:ext cx="19323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65"/>
              <a:t>PROBLEM</a:t>
            </a:r>
            <a:endParaRPr sz="3600"/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711325" y="1009650"/>
          <a:ext cx="5777230" cy="2724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4520"/>
                <a:gridCol w="767080"/>
                <a:gridCol w="336550"/>
                <a:gridCol w="168275"/>
                <a:gridCol w="252730"/>
                <a:gridCol w="925194"/>
                <a:gridCol w="505460"/>
                <a:gridCol w="2136140"/>
              </a:tblGrid>
              <a:tr h="345440">
                <a:tc>
                  <a:txBody>
                    <a:bodyPr/>
                    <a:lstStyle/>
                    <a:p>
                      <a:pPr marL="14604">
                        <a:lnSpc>
                          <a:spcPts val="2400"/>
                        </a:lnSpc>
                      </a:pPr>
                      <a:r>
                        <a:rPr dirty="0" sz="2200" spc="-2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6600">
                        <a:alpha val="360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 marR="3175">
                        <a:lnSpc>
                          <a:spcPts val="2400"/>
                        </a:lnSpc>
                      </a:pPr>
                      <a:r>
                        <a:rPr dirty="0" sz="2200" spc="-2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sum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6600">
                        <a:alpha val="360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6600">
                        <a:alpha val="36079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dirty="0" sz="2200" spc="-2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0;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6600">
                        <a:alpha val="3607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6600">
                        <a:alpha val="3607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90880">
                <a:tc gridSpan="2">
                  <a:txBody>
                    <a:bodyPr/>
                    <a:lstStyle/>
                    <a:p>
                      <a:pPr algn="r" marR="3175">
                        <a:lnSpc>
                          <a:spcPts val="2355"/>
                        </a:lnSpc>
                      </a:pP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for</a:t>
                      </a:r>
                      <a:r>
                        <a:rPr dirty="0" sz="2200" spc="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2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(int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algn="r">
                        <a:lnSpc>
                          <a:spcPts val="2630"/>
                        </a:lnSpc>
                      </a:pP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sum</a:t>
                      </a:r>
                      <a:r>
                        <a:rPr dirty="0" sz="2200" spc="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2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+=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6600">
                        <a:alpha val="3607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ts val="2355"/>
                        </a:lnSpc>
                      </a:pP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marL="167640">
                        <a:lnSpc>
                          <a:spcPts val="2630"/>
                        </a:lnSpc>
                      </a:pP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6600">
                        <a:alpha val="36079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68275">
                        <a:lnSpc>
                          <a:spcPts val="2355"/>
                        </a:lnSpc>
                      </a:pP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ts val="2630"/>
                        </a:lnSpc>
                      </a:pP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6600">
                        <a:alpha val="3607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83820">
                        <a:lnSpc>
                          <a:spcPts val="2370"/>
                        </a:lnSpc>
                      </a:pP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1;</a:t>
                      </a:r>
                      <a:r>
                        <a:rPr dirty="0" sz="2200" spc="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dirty="0" sz="2200" spc="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2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&lt;=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6600">
                        <a:alpha val="3607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370"/>
                        </a:lnSpc>
                      </a:pP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10;</a:t>
                      </a:r>
                      <a:r>
                        <a:rPr dirty="0" sz="2200" spc="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2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i++)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6600">
                        <a:alpha val="36079"/>
                      </a:srgbClr>
                    </a:solidFill>
                  </a:tcPr>
                </a:tc>
              </a:tr>
              <a:tr h="652145">
                <a:tc gridSpan="8">
                  <a:txBody>
                    <a:bodyPr/>
                    <a:lstStyle/>
                    <a:p>
                      <a:pPr marL="14604">
                        <a:lnSpc>
                          <a:spcPts val="2230"/>
                        </a:lnSpc>
                      </a:pP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System.out.println("Sum</a:t>
                      </a:r>
                      <a:r>
                        <a:rPr dirty="0" sz="2200" spc="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2200" spc="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2200" spc="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2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to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36319">
                <a:tc gridSpan="2">
                  <a:txBody>
                    <a:bodyPr/>
                    <a:lstStyle/>
                    <a:p>
                      <a:pPr marL="14604">
                        <a:lnSpc>
                          <a:spcPts val="2300"/>
                        </a:lnSpc>
                      </a:pP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sum</a:t>
                      </a:r>
                      <a:r>
                        <a:rPr dirty="0" sz="2200" spc="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2200" spc="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2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0;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marL="351155" indent="-336550">
                        <a:lnSpc>
                          <a:spcPts val="2620"/>
                        </a:lnSpc>
                        <a:spcBef>
                          <a:spcPts val="150"/>
                        </a:spcBef>
                      </a:pP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for</a:t>
                      </a:r>
                      <a:r>
                        <a:rPr dirty="0" sz="2200" spc="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2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(int </a:t>
                      </a: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sum</a:t>
                      </a:r>
                      <a:r>
                        <a:rPr dirty="0" sz="2200" spc="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2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+=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6600">
                        <a:alpha val="3607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167640">
                        <a:lnSpc>
                          <a:spcPts val="2620"/>
                        </a:lnSpc>
                        <a:spcBef>
                          <a:spcPts val="5"/>
                        </a:spcBef>
                      </a:pPr>
                      <a:r>
                        <a:rPr dirty="0" sz="2200" spc="-5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i </a:t>
                      </a:r>
                      <a:r>
                        <a:rPr dirty="0" sz="2200" spc="-2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i;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4445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6600">
                        <a:alpha val="3607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63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6600">
                        <a:alpha val="360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20;</a:t>
                      </a:r>
                      <a:r>
                        <a:rPr dirty="0" sz="2200" spc="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5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63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6600">
                        <a:alpha val="360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68275">
                        <a:lnSpc>
                          <a:spcPct val="100000"/>
                        </a:lnSpc>
                      </a:pPr>
                      <a:r>
                        <a:rPr dirty="0" sz="2200" spc="-2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&lt;=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63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6600">
                        <a:alpha val="360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68275">
                        <a:lnSpc>
                          <a:spcPct val="100000"/>
                        </a:lnSpc>
                      </a:pPr>
                      <a:r>
                        <a:rPr dirty="0" sz="220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30;</a:t>
                      </a:r>
                      <a:r>
                        <a:rPr dirty="0" sz="2200" spc="5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spc="-20" b="1">
                          <a:solidFill>
                            <a:srgbClr val="3BB1A3"/>
                          </a:solidFill>
                          <a:latin typeface="Courier New"/>
                          <a:cs typeface="Courier New"/>
                        </a:rPr>
                        <a:t>i++)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635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6600">
                        <a:alpha val="3607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7441686" y="1981708"/>
            <a:ext cx="255016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10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is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"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+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spc="-10" b="1">
                <a:solidFill>
                  <a:srgbClr val="3BB1A3"/>
                </a:solidFill>
                <a:latin typeface="Courier New"/>
                <a:cs typeface="Courier New"/>
              </a:rPr>
              <a:t>sum);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20214" y="3658108"/>
            <a:ext cx="8439785" cy="2037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System.out.println("Sum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from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20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to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30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is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"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+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spc="-10" b="1">
                <a:solidFill>
                  <a:srgbClr val="3BB1A3"/>
                </a:solidFill>
                <a:latin typeface="Courier New"/>
                <a:cs typeface="Courier New"/>
              </a:rPr>
              <a:t>sum);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sum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=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spc="-25" b="1">
                <a:solidFill>
                  <a:srgbClr val="3BB1A3"/>
                </a:solidFill>
                <a:latin typeface="Courier New"/>
                <a:cs typeface="Courier New"/>
              </a:rPr>
              <a:t>0;</a:t>
            </a:r>
            <a:endParaRPr sz="2200">
              <a:latin typeface="Courier New"/>
              <a:cs typeface="Courier New"/>
            </a:endParaRPr>
          </a:p>
          <a:p>
            <a:pPr marL="349250" marR="3370579" indent="-336550">
              <a:lnSpc>
                <a:spcPts val="2620"/>
              </a:lnSpc>
              <a:spcBef>
                <a:spcPts val="150"/>
              </a:spcBef>
            </a:pP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for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(int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i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=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35;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i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&lt;=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45;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spc="-20" b="1">
                <a:solidFill>
                  <a:srgbClr val="3BB1A3"/>
                </a:solidFill>
                <a:latin typeface="Courier New"/>
                <a:cs typeface="Courier New"/>
              </a:rPr>
              <a:t>i++)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sum</a:t>
            </a:r>
            <a:r>
              <a:rPr dirty="0" sz="2200" spc="-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+=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spc="-35" b="1">
                <a:solidFill>
                  <a:srgbClr val="3BB1A3"/>
                </a:solidFill>
                <a:latin typeface="Courier New"/>
                <a:cs typeface="Courier New"/>
              </a:rPr>
              <a:t>i;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ts val="2600"/>
              </a:lnSpc>
            </a:pP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System.out.println("Sum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from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35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to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45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is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"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b="1">
                <a:solidFill>
                  <a:srgbClr val="3BB1A3"/>
                </a:solidFill>
                <a:latin typeface="Courier New"/>
                <a:cs typeface="Courier New"/>
              </a:rPr>
              <a:t>+</a:t>
            </a:r>
            <a:r>
              <a:rPr dirty="0" sz="2200" spc="5" b="1">
                <a:solidFill>
                  <a:srgbClr val="3BB1A3"/>
                </a:solidFill>
                <a:latin typeface="Courier New"/>
                <a:cs typeface="Courier New"/>
              </a:rPr>
              <a:t> </a:t>
            </a:r>
            <a:r>
              <a:rPr dirty="0" sz="2200" spc="-10" b="1">
                <a:solidFill>
                  <a:srgbClr val="3BB1A3"/>
                </a:solidFill>
                <a:latin typeface="Courier New"/>
                <a:cs typeface="Courier New"/>
              </a:rPr>
              <a:t>sum);</a:t>
            </a:r>
            <a:endParaRPr sz="2200">
              <a:latin typeface="Courier New"/>
              <a:cs typeface="Courier Ne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749425" y="4383088"/>
            <a:ext cx="5619750" cy="1049655"/>
            <a:chOff x="1749425" y="4383088"/>
            <a:chExt cx="5619750" cy="1049655"/>
          </a:xfrm>
        </p:grpSpPr>
        <p:sp>
          <p:nvSpPr>
            <p:cNvPr id="8" name="object 8" descr=""/>
            <p:cNvSpPr/>
            <p:nvPr/>
          </p:nvSpPr>
          <p:spPr>
            <a:xfrm>
              <a:off x="1755775" y="4389438"/>
              <a:ext cx="5607050" cy="1036955"/>
            </a:xfrm>
            <a:custGeom>
              <a:avLst/>
              <a:gdLst/>
              <a:ahLst/>
              <a:cxnLst/>
              <a:rect l="l" t="t" r="r" b="b"/>
              <a:pathLst>
                <a:path w="5607050" h="1036954">
                  <a:moveTo>
                    <a:pt x="5607050" y="0"/>
                  </a:moveTo>
                  <a:lnTo>
                    <a:pt x="0" y="0"/>
                  </a:lnTo>
                  <a:lnTo>
                    <a:pt x="0" y="1036637"/>
                  </a:lnTo>
                  <a:lnTo>
                    <a:pt x="5607050" y="1036637"/>
                  </a:lnTo>
                  <a:lnTo>
                    <a:pt x="5607050" y="0"/>
                  </a:lnTo>
                  <a:close/>
                </a:path>
              </a:pathLst>
            </a:custGeom>
            <a:solidFill>
              <a:srgbClr val="FF6600">
                <a:alpha val="360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755775" y="4389438"/>
              <a:ext cx="5607050" cy="1036955"/>
            </a:xfrm>
            <a:custGeom>
              <a:avLst/>
              <a:gdLst/>
              <a:ahLst/>
              <a:cxnLst/>
              <a:rect l="l" t="t" r="r" b="b"/>
              <a:pathLst>
                <a:path w="5607050" h="1036954">
                  <a:moveTo>
                    <a:pt x="0" y="0"/>
                  </a:moveTo>
                  <a:lnTo>
                    <a:pt x="5607050" y="0"/>
                  </a:lnTo>
                  <a:lnTo>
                    <a:pt x="5607050" y="1036637"/>
                  </a:lnTo>
                  <a:lnTo>
                    <a:pt x="0" y="103663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94122" y="6420611"/>
            <a:ext cx="114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96477" y="6603"/>
            <a:ext cx="222313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5"/>
              <a:t>SOLUTION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755775" y="893763"/>
            <a:ext cx="5492750" cy="2573655"/>
          </a:xfrm>
          <a:prstGeom prst="rect">
            <a:avLst/>
          </a:prstGeom>
          <a:solidFill>
            <a:srgbClr val="FF6600">
              <a:alpha val="36079"/>
            </a:srgbClr>
          </a:solidFill>
          <a:ln w="1270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4604">
              <a:lnSpc>
                <a:spcPts val="3315"/>
              </a:lnSpc>
            </a:pPr>
            <a:r>
              <a:rPr dirty="0" sz="2800" b="1">
                <a:solidFill>
                  <a:srgbClr val="3BB1A3"/>
                </a:solidFill>
                <a:latin typeface="Times New Roman"/>
                <a:cs typeface="Times New Roman"/>
              </a:rPr>
              <a:t>public</a:t>
            </a:r>
            <a:r>
              <a:rPr dirty="0" sz="2800" spc="-15" b="1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BB1A3"/>
                </a:solidFill>
                <a:latin typeface="Times New Roman"/>
                <a:cs typeface="Times New Roman"/>
              </a:rPr>
              <a:t>static</a:t>
            </a:r>
            <a:r>
              <a:rPr dirty="0" sz="2800" spc="-15" b="1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BB1A3"/>
                </a:solidFill>
                <a:latin typeface="Times New Roman"/>
                <a:cs typeface="Times New Roman"/>
              </a:rPr>
              <a:t>int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sum(</a:t>
            </a:r>
            <a:r>
              <a:rPr dirty="0" sz="2800" b="1">
                <a:solidFill>
                  <a:srgbClr val="3BB1A3"/>
                </a:solidFill>
                <a:latin typeface="Times New Roman"/>
                <a:cs typeface="Times New Roman"/>
              </a:rPr>
              <a:t>int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i1,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BB1A3"/>
                </a:solidFill>
                <a:latin typeface="Times New Roman"/>
                <a:cs typeface="Times New Roman"/>
              </a:rPr>
              <a:t>int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i2)</a:t>
            </a:r>
            <a:r>
              <a:rPr dirty="0" sz="2800" spc="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 spc="-50">
                <a:solidFill>
                  <a:srgbClr val="3BB1A3"/>
                </a:solidFill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92405">
              <a:lnSpc>
                <a:spcPts val="3325"/>
              </a:lnSpc>
              <a:spcBef>
                <a:spcPts val="45"/>
              </a:spcBef>
            </a:pPr>
            <a:r>
              <a:rPr dirty="0" sz="2800" b="1">
                <a:solidFill>
                  <a:srgbClr val="3BB1A3"/>
                </a:solidFill>
                <a:latin typeface="Times New Roman"/>
                <a:cs typeface="Times New Roman"/>
              </a:rPr>
              <a:t>int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sum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=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 spc="-25">
                <a:solidFill>
                  <a:srgbClr val="3BB1A3"/>
                </a:solidFill>
                <a:latin typeface="Times New Roman"/>
                <a:cs typeface="Times New Roman"/>
              </a:rPr>
              <a:t>0;</a:t>
            </a:r>
            <a:endParaRPr sz="2800">
              <a:latin typeface="Times New Roman"/>
              <a:cs typeface="Times New Roman"/>
            </a:endParaRPr>
          </a:p>
          <a:p>
            <a:pPr marL="370205" marR="1435735" indent="-177800">
              <a:lnSpc>
                <a:spcPts val="3410"/>
              </a:lnSpc>
              <a:spcBef>
                <a:spcPts val="40"/>
              </a:spcBef>
            </a:pPr>
            <a:r>
              <a:rPr dirty="0" sz="2800" b="1">
                <a:solidFill>
                  <a:srgbClr val="3BB1A3"/>
                </a:solidFill>
                <a:latin typeface="Times New Roman"/>
                <a:cs typeface="Times New Roman"/>
              </a:rPr>
              <a:t>for</a:t>
            </a:r>
            <a:r>
              <a:rPr dirty="0" sz="2800" spc="-75" b="1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BB1A3"/>
                </a:solidFill>
                <a:latin typeface="Times New Roman"/>
                <a:cs typeface="Times New Roman"/>
              </a:rPr>
              <a:t>(int</a:t>
            </a:r>
            <a:r>
              <a:rPr dirty="0" sz="2800" spc="5" b="1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i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=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i1;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i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&lt;=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i2;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3BB1A3"/>
                </a:solidFill>
                <a:latin typeface="Times New Roman"/>
                <a:cs typeface="Times New Roman"/>
              </a:rPr>
              <a:t>i++)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sum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+=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 spc="-25">
                <a:solidFill>
                  <a:srgbClr val="3BB1A3"/>
                </a:solidFill>
                <a:latin typeface="Times New Roman"/>
                <a:cs typeface="Times New Roman"/>
              </a:rPr>
              <a:t>i;</a:t>
            </a:r>
            <a:endParaRPr sz="2800">
              <a:latin typeface="Times New Roman"/>
              <a:cs typeface="Times New Roman"/>
            </a:endParaRPr>
          </a:p>
          <a:p>
            <a:pPr marL="192405">
              <a:lnSpc>
                <a:spcPts val="3190"/>
              </a:lnSpc>
            </a:pPr>
            <a:r>
              <a:rPr dirty="0" sz="2800" b="1">
                <a:solidFill>
                  <a:srgbClr val="3BB1A3"/>
                </a:solidFill>
                <a:latin typeface="Times New Roman"/>
                <a:cs typeface="Times New Roman"/>
              </a:rPr>
              <a:t>return</a:t>
            </a:r>
            <a:r>
              <a:rPr dirty="0" sz="2800" spc="-70" b="1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3BB1A3"/>
                </a:solidFill>
                <a:latin typeface="Times New Roman"/>
                <a:cs typeface="Times New Roman"/>
              </a:rPr>
              <a:t>sum;</a:t>
            </a:r>
            <a:endParaRPr sz="28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20"/>
              </a:spcBef>
            </a:pP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758314" y="3859276"/>
            <a:ext cx="8654415" cy="21685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0500" marR="5080" indent="-177800">
              <a:lnSpc>
                <a:spcPct val="100200"/>
              </a:lnSpc>
              <a:spcBef>
                <a:spcPts val="90"/>
              </a:spcBef>
            </a:pPr>
            <a:r>
              <a:rPr dirty="0" sz="2800" b="1">
                <a:solidFill>
                  <a:srgbClr val="3BB1A3"/>
                </a:solidFill>
                <a:latin typeface="Times New Roman"/>
                <a:cs typeface="Times New Roman"/>
              </a:rPr>
              <a:t>public</a:t>
            </a:r>
            <a:r>
              <a:rPr dirty="0" sz="2800" spc="-30" b="1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BB1A3"/>
                </a:solidFill>
                <a:latin typeface="Times New Roman"/>
                <a:cs typeface="Times New Roman"/>
              </a:rPr>
              <a:t>static</a:t>
            </a:r>
            <a:r>
              <a:rPr dirty="0" sz="2800" spc="-25" b="1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BB1A3"/>
                </a:solidFill>
                <a:latin typeface="Times New Roman"/>
                <a:cs typeface="Times New Roman"/>
              </a:rPr>
              <a:t>void</a:t>
            </a:r>
            <a:r>
              <a:rPr dirty="0" sz="2800" spc="-15" b="1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main(String[]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args)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 spc="-50">
                <a:solidFill>
                  <a:srgbClr val="3BB1A3"/>
                </a:solidFill>
                <a:latin typeface="Times New Roman"/>
                <a:cs typeface="Times New Roman"/>
              </a:rPr>
              <a:t>{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System.out.println("Sum</a:t>
            </a:r>
            <a:r>
              <a:rPr dirty="0" sz="2800" spc="-2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from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1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to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10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is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"</a:t>
            </a:r>
            <a:r>
              <a:rPr dirty="0" sz="2800" spc="-1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+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sum(1,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10));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System.out.println("Sum</a:t>
            </a:r>
            <a:r>
              <a:rPr dirty="0" sz="2800" spc="-2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from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20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to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30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is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"</a:t>
            </a:r>
            <a:r>
              <a:rPr dirty="0" sz="2800" spc="-1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+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sum(20,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30));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System.out.println("Sum</a:t>
            </a:r>
            <a:r>
              <a:rPr dirty="0" sz="2800" spc="-2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from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35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to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45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is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"</a:t>
            </a:r>
            <a:r>
              <a:rPr dirty="0" sz="2800" spc="-1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+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sum(35,</a:t>
            </a:r>
            <a:r>
              <a:rPr dirty="0" sz="2800" spc="-5">
                <a:solidFill>
                  <a:srgbClr val="3BB1A3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3BB1A3"/>
                </a:solidFill>
                <a:latin typeface="Times New Roman"/>
                <a:cs typeface="Times New Roman"/>
              </a:rPr>
              <a:t>45));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2800">
                <a:solidFill>
                  <a:srgbClr val="3BB1A3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240712" y="4344988"/>
            <a:ext cx="1587500" cy="396875"/>
            <a:chOff x="8240712" y="4344988"/>
            <a:chExt cx="1587500" cy="396875"/>
          </a:xfrm>
        </p:grpSpPr>
        <p:sp>
          <p:nvSpPr>
            <p:cNvPr id="7" name="object 7" descr=""/>
            <p:cNvSpPr/>
            <p:nvPr/>
          </p:nvSpPr>
          <p:spPr>
            <a:xfrm>
              <a:off x="8247062" y="4351338"/>
              <a:ext cx="1574800" cy="384175"/>
            </a:xfrm>
            <a:custGeom>
              <a:avLst/>
              <a:gdLst/>
              <a:ahLst/>
              <a:cxnLst/>
              <a:rect l="l" t="t" r="r" b="b"/>
              <a:pathLst>
                <a:path w="1574800" h="384175">
                  <a:moveTo>
                    <a:pt x="1574800" y="0"/>
                  </a:moveTo>
                  <a:lnTo>
                    <a:pt x="0" y="0"/>
                  </a:lnTo>
                  <a:lnTo>
                    <a:pt x="0" y="384175"/>
                  </a:lnTo>
                  <a:lnTo>
                    <a:pt x="1574800" y="384175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F6600">
                <a:alpha val="360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247062" y="4351338"/>
              <a:ext cx="1574800" cy="384175"/>
            </a:xfrm>
            <a:custGeom>
              <a:avLst/>
              <a:gdLst/>
              <a:ahLst/>
              <a:cxnLst/>
              <a:rect l="l" t="t" r="r" b="b"/>
              <a:pathLst>
                <a:path w="1574800" h="384175">
                  <a:moveTo>
                    <a:pt x="0" y="0"/>
                  </a:moveTo>
                  <a:lnTo>
                    <a:pt x="1574800" y="0"/>
                  </a:lnTo>
                  <a:lnTo>
                    <a:pt x="1574800" y="384175"/>
                  </a:lnTo>
                  <a:lnTo>
                    <a:pt x="0" y="3841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8432800" y="4805363"/>
            <a:ext cx="1739900" cy="396875"/>
            <a:chOff x="8432800" y="4805363"/>
            <a:chExt cx="1739900" cy="396875"/>
          </a:xfrm>
        </p:grpSpPr>
        <p:sp>
          <p:nvSpPr>
            <p:cNvPr id="10" name="object 10" descr=""/>
            <p:cNvSpPr/>
            <p:nvPr/>
          </p:nvSpPr>
          <p:spPr>
            <a:xfrm>
              <a:off x="8439150" y="4811713"/>
              <a:ext cx="1727200" cy="384175"/>
            </a:xfrm>
            <a:custGeom>
              <a:avLst/>
              <a:gdLst/>
              <a:ahLst/>
              <a:cxnLst/>
              <a:rect l="l" t="t" r="r" b="b"/>
              <a:pathLst>
                <a:path w="1727200" h="384175">
                  <a:moveTo>
                    <a:pt x="1727200" y="0"/>
                  </a:moveTo>
                  <a:lnTo>
                    <a:pt x="0" y="0"/>
                  </a:lnTo>
                  <a:lnTo>
                    <a:pt x="0" y="384175"/>
                  </a:lnTo>
                  <a:lnTo>
                    <a:pt x="1727200" y="384175"/>
                  </a:lnTo>
                  <a:lnTo>
                    <a:pt x="1727200" y="0"/>
                  </a:lnTo>
                  <a:close/>
                </a:path>
              </a:pathLst>
            </a:custGeom>
            <a:solidFill>
              <a:srgbClr val="FF6600">
                <a:alpha val="360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439150" y="4811713"/>
              <a:ext cx="1727200" cy="384175"/>
            </a:xfrm>
            <a:custGeom>
              <a:avLst/>
              <a:gdLst/>
              <a:ahLst/>
              <a:cxnLst/>
              <a:rect l="l" t="t" r="r" b="b"/>
              <a:pathLst>
                <a:path w="1727200" h="384175">
                  <a:moveTo>
                    <a:pt x="0" y="0"/>
                  </a:moveTo>
                  <a:lnTo>
                    <a:pt x="1727200" y="0"/>
                  </a:lnTo>
                  <a:lnTo>
                    <a:pt x="1727200" y="384175"/>
                  </a:lnTo>
                  <a:lnTo>
                    <a:pt x="0" y="3841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8394700" y="5265738"/>
            <a:ext cx="1739900" cy="396875"/>
            <a:chOff x="8394700" y="5265738"/>
            <a:chExt cx="1739900" cy="396875"/>
          </a:xfrm>
        </p:grpSpPr>
        <p:sp>
          <p:nvSpPr>
            <p:cNvPr id="13" name="object 13" descr=""/>
            <p:cNvSpPr/>
            <p:nvPr/>
          </p:nvSpPr>
          <p:spPr>
            <a:xfrm>
              <a:off x="8401050" y="5272088"/>
              <a:ext cx="1727200" cy="384175"/>
            </a:xfrm>
            <a:custGeom>
              <a:avLst/>
              <a:gdLst/>
              <a:ahLst/>
              <a:cxnLst/>
              <a:rect l="l" t="t" r="r" b="b"/>
              <a:pathLst>
                <a:path w="1727200" h="384175">
                  <a:moveTo>
                    <a:pt x="1727200" y="0"/>
                  </a:moveTo>
                  <a:lnTo>
                    <a:pt x="0" y="0"/>
                  </a:lnTo>
                  <a:lnTo>
                    <a:pt x="0" y="384175"/>
                  </a:lnTo>
                  <a:lnTo>
                    <a:pt x="1727200" y="384175"/>
                  </a:lnTo>
                  <a:lnTo>
                    <a:pt x="1727200" y="0"/>
                  </a:lnTo>
                  <a:close/>
                </a:path>
              </a:pathLst>
            </a:custGeom>
            <a:solidFill>
              <a:srgbClr val="FF6600">
                <a:alpha val="360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401050" y="5272088"/>
              <a:ext cx="1727200" cy="384175"/>
            </a:xfrm>
            <a:custGeom>
              <a:avLst/>
              <a:gdLst/>
              <a:ahLst/>
              <a:cxnLst/>
              <a:rect l="l" t="t" r="r" b="b"/>
              <a:pathLst>
                <a:path w="1727200" h="384175">
                  <a:moveTo>
                    <a:pt x="0" y="0"/>
                  </a:moveTo>
                  <a:lnTo>
                    <a:pt x="1727200" y="0"/>
                  </a:lnTo>
                  <a:lnTo>
                    <a:pt x="1727200" y="384175"/>
                  </a:lnTo>
                  <a:lnTo>
                    <a:pt x="0" y="3841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9375" y="930147"/>
            <a:ext cx="456946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WHAT</a:t>
            </a:r>
            <a:r>
              <a:rPr dirty="0" spc="-295"/>
              <a:t> </a:t>
            </a:r>
            <a:r>
              <a:rPr dirty="0" spc="-195"/>
              <a:t>IS</a:t>
            </a:r>
            <a:r>
              <a:rPr dirty="0" spc="-290"/>
              <a:t> </a:t>
            </a:r>
            <a:r>
              <a:rPr dirty="0"/>
              <a:t>A</a:t>
            </a:r>
            <a:r>
              <a:rPr dirty="0" spc="-290"/>
              <a:t> </a:t>
            </a:r>
            <a:r>
              <a:rPr dirty="0" spc="-155"/>
              <a:t>METHOD?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9375" y="2174748"/>
            <a:ext cx="9843135" cy="2476500"/>
          </a:xfrm>
          <a:prstGeom prst="rect">
            <a:avLst/>
          </a:prstGeom>
        </p:spPr>
        <p:txBody>
          <a:bodyPr wrap="square" lIns="0" tIns="18923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185">
                <a:latin typeface="Georgia"/>
                <a:cs typeface="Georgia"/>
              </a:rPr>
              <a:t>A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b="1">
                <a:latin typeface="Calibri"/>
                <a:cs typeface="Calibri"/>
              </a:rPr>
              <a:t>method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>
                <a:latin typeface="Georgia"/>
                <a:cs typeface="Georgia"/>
              </a:rPr>
              <a:t>is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block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of</a:t>
            </a:r>
            <a:r>
              <a:rPr dirty="0" sz="2000" spc="11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code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which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only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runs </a:t>
            </a:r>
            <a:r>
              <a:rPr dirty="0" sz="2000" spc="-10">
                <a:latin typeface="Georgia"/>
                <a:cs typeface="Georgia"/>
              </a:rPr>
              <a:t>when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it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is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called.</a:t>
            </a:r>
            <a:endParaRPr sz="20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13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185">
                <a:latin typeface="Georgia"/>
                <a:cs typeface="Georgia"/>
              </a:rPr>
              <a:t>A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method </a:t>
            </a:r>
            <a:r>
              <a:rPr dirty="0" sz="2000">
                <a:latin typeface="Georgia"/>
                <a:cs typeface="Georgia"/>
              </a:rPr>
              <a:t>is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30">
                <a:latin typeface="Georgia"/>
                <a:cs typeface="Georgia"/>
              </a:rPr>
              <a:t>collection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of</a:t>
            </a:r>
            <a:r>
              <a:rPr dirty="0" sz="2000" spc="135">
                <a:latin typeface="Georgia"/>
                <a:cs typeface="Georgia"/>
              </a:rPr>
              <a:t> </a:t>
            </a:r>
            <a:r>
              <a:rPr dirty="0" sz="2000" spc="-75">
                <a:latin typeface="Georgia"/>
                <a:cs typeface="Georgia"/>
              </a:rPr>
              <a:t>statements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that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35">
                <a:latin typeface="Georgia"/>
                <a:cs typeface="Georgia"/>
              </a:rPr>
              <a:t>are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grouped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together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to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65">
                <a:latin typeface="Georgia"/>
                <a:cs typeface="Georgia"/>
              </a:rPr>
              <a:t>perform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an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operation.</a:t>
            </a:r>
            <a:endParaRPr sz="20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151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Georgia"/>
                <a:cs typeface="Georgia"/>
              </a:rPr>
              <a:t>You</a:t>
            </a:r>
            <a:r>
              <a:rPr dirty="0" sz="2000" spc="-8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can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pass </a:t>
            </a:r>
            <a:r>
              <a:rPr dirty="0" sz="2000" spc="-20">
                <a:latin typeface="Georgia"/>
                <a:cs typeface="Georgia"/>
              </a:rPr>
              <a:t>data,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known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as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70">
                <a:latin typeface="Georgia"/>
                <a:cs typeface="Georgia"/>
              </a:rPr>
              <a:t>parameters,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into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method.</a:t>
            </a:r>
            <a:endParaRPr sz="20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14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-30">
                <a:latin typeface="Georgia"/>
                <a:cs typeface="Georgia"/>
              </a:rPr>
              <a:t>Methods</a:t>
            </a:r>
            <a:r>
              <a:rPr dirty="0" sz="2000" spc="-80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are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used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to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65">
                <a:latin typeface="Georgia"/>
                <a:cs typeface="Georgia"/>
              </a:rPr>
              <a:t>perform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certain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actions,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30">
                <a:latin typeface="Georgia"/>
                <a:cs typeface="Georgia"/>
              </a:rPr>
              <a:t>and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they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35">
                <a:latin typeface="Georgia"/>
                <a:cs typeface="Georgia"/>
              </a:rPr>
              <a:t>are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also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known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as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functions</a:t>
            </a:r>
            <a:r>
              <a:rPr dirty="0" sz="2000" spc="-10">
                <a:latin typeface="Georgia"/>
                <a:cs typeface="Georgia"/>
              </a:rPr>
              <a:t>.</a:t>
            </a:r>
            <a:endParaRPr sz="20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151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Georgia"/>
                <a:cs typeface="Georgia"/>
              </a:rPr>
              <a:t>Why</a:t>
            </a:r>
            <a:r>
              <a:rPr dirty="0" sz="2000" spc="-80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use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80">
                <a:latin typeface="Georgia"/>
                <a:cs typeface="Georgia"/>
              </a:rPr>
              <a:t>methods?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To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70">
                <a:latin typeface="Georgia"/>
                <a:cs typeface="Georgia"/>
              </a:rPr>
              <a:t>reuse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code: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define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code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once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30">
                <a:latin typeface="Georgia"/>
                <a:cs typeface="Georgia"/>
              </a:rPr>
              <a:t>and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use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it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many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times.</a:t>
            </a:r>
            <a:endParaRPr sz="2000">
              <a:latin typeface="Georgia"/>
              <a:cs typeface="Georg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3392" y="4775418"/>
            <a:ext cx="43698" cy="394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9375" y="930147"/>
            <a:ext cx="4113529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CREATE</a:t>
            </a:r>
            <a:r>
              <a:rPr dirty="0" spc="-265"/>
              <a:t> </a:t>
            </a:r>
            <a:r>
              <a:rPr dirty="0"/>
              <a:t>A</a:t>
            </a:r>
            <a:r>
              <a:rPr dirty="0" spc="-275"/>
              <a:t> </a:t>
            </a:r>
            <a:r>
              <a:rPr dirty="0" spc="-170"/>
              <a:t>METHOD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9376" y="2299716"/>
            <a:ext cx="4784725" cy="269240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just" marL="241300" marR="5080" indent="-228600">
              <a:lnSpc>
                <a:spcPct val="119000"/>
              </a:lnSpc>
              <a:spcBef>
                <a:spcPts val="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185">
                <a:latin typeface="Georgia"/>
                <a:cs typeface="Georgia"/>
              </a:rPr>
              <a:t>A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method </a:t>
            </a:r>
            <a:r>
              <a:rPr dirty="0" sz="2000" spc="-80">
                <a:latin typeface="Georgia"/>
                <a:cs typeface="Georgia"/>
              </a:rPr>
              <a:t>must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be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declared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30">
                <a:latin typeface="Georgia"/>
                <a:cs typeface="Georgia"/>
              </a:rPr>
              <a:t>within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class. </a:t>
            </a:r>
            <a:r>
              <a:rPr dirty="0" sz="2000" spc="-10">
                <a:latin typeface="Georgia"/>
                <a:cs typeface="Georgia"/>
              </a:rPr>
              <a:t>It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is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defined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with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name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of</a:t>
            </a:r>
            <a:r>
              <a:rPr dirty="0" sz="2000" spc="10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method, followed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by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75">
                <a:latin typeface="Georgia"/>
                <a:cs typeface="Georgia"/>
              </a:rPr>
              <a:t>parentheses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()</a:t>
            </a:r>
            <a:r>
              <a:rPr dirty="0" sz="2000" spc="-25">
                <a:latin typeface="Georgia"/>
                <a:cs typeface="Georgia"/>
              </a:rPr>
              <a:t>.</a:t>
            </a:r>
            <a:endParaRPr sz="2000">
              <a:latin typeface="Georgia"/>
              <a:cs typeface="Georgia"/>
            </a:endParaRPr>
          </a:p>
          <a:p>
            <a:pPr algn="just" marL="241300" marR="120014" indent="-228600">
              <a:lnSpc>
                <a:spcPct val="11930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114">
                <a:latin typeface="Georgia"/>
                <a:cs typeface="Georgia"/>
              </a:rPr>
              <a:t>Java</a:t>
            </a:r>
            <a:r>
              <a:rPr dirty="0" sz="2000" spc="-10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provides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some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 spc="-114">
                <a:latin typeface="Georgia"/>
                <a:cs typeface="Georgia"/>
              </a:rPr>
              <a:t>pre-</a:t>
            </a:r>
            <a:r>
              <a:rPr dirty="0" sz="2000" spc="-50">
                <a:latin typeface="Georgia"/>
                <a:cs typeface="Georgia"/>
              </a:rPr>
              <a:t>defined</a:t>
            </a:r>
            <a:r>
              <a:rPr dirty="0" sz="2000" spc="-1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methods, </a:t>
            </a:r>
            <a:r>
              <a:rPr dirty="0" sz="2000" spc="-35">
                <a:latin typeface="Georgia"/>
                <a:cs typeface="Georgia"/>
              </a:rPr>
              <a:t>such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as</a:t>
            </a:r>
            <a:r>
              <a:rPr dirty="0" sz="2000" spc="-25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System.out.println(),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but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you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can </a:t>
            </a:r>
            <a:r>
              <a:rPr dirty="0" sz="2000" spc="-10">
                <a:latin typeface="Georgia"/>
                <a:cs typeface="Georgia"/>
              </a:rPr>
              <a:t>also</a:t>
            </a:r>
            <a:r>
              <a:rPr dirty="0" sz="2000" spc="-55">
                <a:latin typeface="Georgia"/>
                <a:cs typeface="Georgia"/>
              </a:rPr>
              <a:t> create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your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own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65">
                <a:latin typeface="Georgia"/>
                <a:cs typeface="Georgia"/>
              </a:rPr>
              <a:t>methods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to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perform certain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actions: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622415" y="1166876"/>
            <a:ext cx="38938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latin typeface="Georgia"/>
                <a:cs typeface="Georgia"/>
              </a:rPr>
              <a:t>Example:</a:t>
            </a:r>
            <a:r>
              <a:rPr dirty="0" sz="1800" spc="-55">
                <a:latin typeface="Georgia"/>
                <a:cs typeface="Georgia"/>
              </a:rPr>
              <a:t> </a:t>
            </a:r>
            <a:r>
              <a:rPr dirty="0" sz="1800" spc="-10">
                <a:latin typeface="Georgia"/>
                <a:cs typeface="Georgia"/>
              </a:rPr>
              <a:t>Create</a:t>
            </a:r>
            <a:r>
              <a:rPr dirty="0" sz="1800" spc="-4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a</a:t>
            </a:r>
            <a:r>
              <a:rPr dirty="0" sz="1800" spc="-45">
                <a:latin typeface="Georgia"/>
                <a:cs typeface="Georgia"/>
              </a:rPr>
              <a:t> method</a:t>
            </a:r>
            <a:r>
              <a:rPr dirty="0" sz="1800" spc="-50">
                <a:latin typeface="Georgia"/>
                <a:cs typeface="Georgia"/>
              </a:rPr>
              <a:t> </a:t>
            </a:r>
            <a:r>
              <a:rPr dirty="0" sz="1800" spc="-55">
                <a:latin typeface="Georgia"/>
                <a:cs typeface="Georgia"/>
              </a:rPr>
              <a:t>inside</a:t>
            </a:r>
            <a:r>
              <a:rPr dirty="0" sz="1800" spc="-45">
                <a:latin typeface="Georgia"/>
                <a:cs typeface="Georgia"/>
              </a:rPr>
              <a:t> </a:t>
            </a:r>
            <a:r>
              <a:rPr dirty="0" sz="1800" spc="-10">
                <a:latin typeface="Georgia"/>
                <a:cs typeface="Georgia"/>
              </a:rPr>
              <a:t>Main: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3927" y="2076451"/>
            <a:ext cx="3619498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EXAMPLE</a:t>
            </a:r>
            <a:r>
              <a:rPr dirty="0" spc="-270"/>
              <a:t> </a:t>
            </a:r>
            <a:r>
              <a:rPr dirty="0" spc="-120"/>
              <a:t>EXPLAINED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9376" y="2174748"/>
            <a:ext cx="5539105" cy="2223135"/>
          </a:xfrm>
          <a:prstGeom prst="rect">
            <a:avLst/>
          </a:prstGeom>
        </p:spPr>
        <p:txBody>
          <a:bodyPr wrap="square" lIns="0" tIns="18923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-50">
                <a:latin typeface="Georgia"/>
                <a:cs typeface="Georgia"/>
              </a:rPr>
              <a:t>myMethod() </a:t>
            </a:r>
            <a:r>
              <a:rPr dirty="0" sz="2000">
                <a:latin typeface="Georgia"/>
                <a:cs typeface="Georgia"/>
              </a:rPr>
              <a:t>is</a:t>
            </a:r>
            <a:r>
              <a:rPr dirty="0" sz="2000" spc="-45">
                <a:latin typeface="Georgia"/>
                <a:cs typeface="Georgia"/>
              </a:rPr>
              <a:t> the</a:t>
            </a:r>
            <a:r>
              <a:rPr dirty="0" sz="2000" spc="-50">
                <a:latin typeface="Georgia"/>
                <a:cs typeface="Georgia"/>
              </a:rPr>
              <a:t> name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of</a:t>
            </a:r>
            <a:r>
              <a:rPr dirty="0" sz="2000" spc="125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method</a:t>
            </a:r>
            <a:endParaRPr sz="2000">
              <a:latin typeface="Georgia"/>
              <a:cs typeface="Georgia"/>
            </a:endParaRPr>
          </a:p>
          <a:p>
            <a:pPr marL="241300" marR="5080" indent="-228600">
              <a:lnSpc>
                <a:spcPct val="121000"/>
              </a:lnSpc>
              <a:spcBef>
                <a:spcPts val="8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45">
                <a:latin typeface="Georgia"/>
                <a:cs typeface="Georgia"/>
              </a:rPr>
              <a:t>static </a:t>
            </a:r>
            <a:r>
              <a:rPr dirty="0" sz="2000" spc="-60">
                <a:latin typeface="Georgia"/>
                <a:cs typeface="Georgia"/>
              </a:rPr>
              <a:t>means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that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method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belongs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to</a:t>
            </a:r>
            <a:r>
              <a:rPr dirty="0" sz="2000" spc="-45">
                <a:latin typeface="Georgia"/>
                <a:cs typeface="Georgia"/>
              </a:rPr>
              <a:t> the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Main </a:t>
            </a:r>
            <a:r>
              <a:rPr dirty="0" sz="2000" spc="-30">
                <a:latin typeface="Georgia"/>
                <a:cs typeface="Georgia"/>
              </a:rPr>
              <a:t>class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and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not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an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object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of</a:t>
            </a:r>
            <a:r>
              <a:rPr dirty="0" sz="2000" spc="105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Main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class.</a:t>
            </a:r>
            <a:endParaRPr sz="2000">
              <a:latin typeface="Georgia"/>
              <a:cs typeface="Georgia"/>
            </a:endParaRPr>
          </a:p>
          <a:p>
            <a:pPr marL="241300" marR="528955" indent="-228600">
              <a:lnSpc>
                <a:spcPct val="121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10">
                <a:latin typeface="Georgia"/>
                <a:cs typeface="Georgia"/>
              </a:rPr>
              <a:t>void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means </a:t>
            </a:r>
            <a:r>
              <a:rPr dirty="0" sz="2000" spc="-55">
                <a:latin typeface="Georgia"/>
                <a:cs typeface="Georgia"/>
              </a:rPr>
              <a:t>that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this</a:t>
            </a:r>
            <a:r>
              <a:rPr dirty="0" sz="2000" spc="-55">
                <a:latin typeface="Georgia"/>
                <a:cs typeface="Georgia"/>
              </a:rPr>
              <a:t> method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does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not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have </a:t>
            </a:r>
            <a:r>
              <a:rPr dirty="0" sz="2000" spc="-50">
                <a:latin typeface="Georgia"/>
                <a:cs typeface="Georgia"/>
              </a:rPr>
              <a:t>a </a:t>
            </a:r>
            <a:r>
              <a:rPr dirty="0" sz="2000" spc="-75">
                <a:latin typeface="Georgia"/>
                <a:cs typeface="Georgia"/>
              </a:rPr>
              <a:t>return</a:t>
            </a:r>
            <a:r>
              <a:rPr dirty="0" sz="2000" spc="-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value.</a:t>
            </a:r>
            <a:endParaRPr sz="2000">
              <a:latin typeface="Georgia"/>
              <a:cs typeface="Georgi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129462" y="1848910"/>
            <a:ext cx="3619500" cy="1574800"/>
            <a:chOff x="7129462" y="1848910"/>
            <a:chExt cx="3619500" cy="15748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9462" y="1848910"/>
              <a:ext cx="3619500" cy="157480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402168" y="2181802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80">
                  <a:moveTo>
                    <a:pt x="16002" y="17091"/>
                  </a:moveTo>
                  <a:lnTo>
                    <a:pt x="20462" y="17327"/>
                  </a:lnTo>
                  <a:lnTo>
                    <a:pt x="20634" y="17173"/>
                  </a:lnTo>
                  <a:lnTo>
                    <a:pt x="16002" y="17091"/>
                  </a:lnTo>
                  <a:close/>
                </a:path>
                <a:path w="25400" h="17780">
                  <a:moveTo>
                    <a:pt x="22553" y="15447"/>
                  </a:moveTo>
                  <a:lnTo>
                    <a:pt x="20634" y="17173"/>
                  </a:lnTo>
                  <a:lnTo>
                    <a:pt x="20763" y="17175"/>
                  </a:lnTo>
                  <a:lnTo>
                    <a:pt x="22553" y="15447"/>
                  </a:lnTo>
                  <a:close/>
                </a:path>
                <a:path w="25400" h="17780">
                  <a:moveTo>
                    <a:pt x="4332" y="122"/>
                  </a:moveTo>
                  <a:lnTo>
                    <a:pt x="2434" y="1776"/>
                  </a:lnTo>
                  <a:lnTo>
                    <a:pt x="599" y="3471"/>
                  </a:lnTo>
                  <a:lnTo>
                    <a:pt x="293" y="7934"/>
                  </a:lnTo>
                  <a:lnTo>
                    <a:pt x="123" y="12260"/>
                  </a:lnTo>
                  <a:lnTo>
                    <a:pt x="3190" y="15885"/>
                  </a:lnTo>
                  <a:lnTo>
                    <a:pt x="7362" y="16417"/>
                  </a:lnTo>
                  <a:lnTo>
                    <a:pt x="12266" y="16893"/>
                  </a:lnTo>
                  <a:lnTo>
                    <a:pt x="16002" y="17091"/>
                  </a:lnTo>
                  <a:lnTo>
                    <a:pt x="20634" y="17173"/>
                  </a:lnTo>
                  <a:lnTo>
                    <a:pt x="22553" y="15447"/>
                  </a:lnTo>
                  <a:lnTo>
                    <a:pt x="24400" y="13664"/>
                  </a:lnTo>
                  <a:lnTo>
                    <a:pt x="24645" y="9045"/>
                  </a:lnTo>
                  <a:lnTo>
                    <a:pt x="24612" y="4281"/>
                  </a:lnTo>
                  <a:lnTo>
                    <a:pt x="23001" y="2490"/>
                  </a:lnTo>
                  <a:lnTo>
                    <a:pt x="21219" y="643"/>
                  </a:lnTo>
                  <a:lnTo>
                    <a:pt x="20439" y="603"/>
                  </a:lnTo>
                  <a:lnTo>
                    <a:pt x="12266" y="595"/>
                  </a:lnTo>
                  <a:lnTo>
                    <a:pt x="12764" y="569"/>
                  </a:lnTo>
                  <a:lnTo>
                    <a:pt x="8819" y="298"/>
                  </a:lnTo>
                  <a:lnTo>
                    <a:pt x="4332" y="122"/>
                  </a:lnTo>
                  <a:close/>
                </a:path>
                <a:path w="25400" h="17780">
                  <a:moveTo>
                    <a:pt x="7324" y="16413"/>
                  </a:moveTo>
                  <a:lnTo>
                    <a:pt x="11649" y="16964"/>
                  </a:lnTo>
                  <a:lnTo>
                    <a:pt x="12552" y="17030"/>
                  </a:lnTo>
                  <a:lnTo>
                    <a:pt x="16002" y="17091"/>
                  </a:lnTo>
                  <a:lnTo>
                    <a:pt x="12266" y="16893"/>
                  </a:lnTo>
                  <a:lnTo>
                    <a:pt x="7324" y="16413"/>
                  </a:lnTo>
                  <a:close/>
                </a:path>
                <a:path w="25400" h="17780">
                  <a:moveTo>
                    <a:pt x="293" y="7934"/>
                  </a:moveTo>
                  <a:lnTo>
                    <a:pt x="0" y="12199"/>
                  </a:lnTo>
                  <a:lnTo>
                    <a:pt x="3229" y="16015"/>
                  </a:lnTo>
                  <a:lnTo>
                    <a:pt x="7324" y="16413"/>
                  </a:lnTo>
                  <a:lnTo>
                    <a:pt x="3190" y="15885"/>
                  </a:lnTo>
                  <a:lnTo>
                    <a:pt x="123" y="12260"/>
                  </a:lnTo>
                  <a:lnTo>
                    <a:pt x="293" y="7934"/>
                  </a:lnTo>
                  <a:close/>
                </a:path>
                <a:path w="25400" h="17780">
                  <a:moveTo>
                    <a:pt x="24400" y="13664"/>
                  </a:moveTo>
                  <a:lnTo>
                    <a:pt x="22553" y="15447"/>
                  </a:lnTo>
                  <a:lnTo>
                    <a:pt x="24394" y="13792"/>
                  </a:lnTo>
                  <a:lnTo>
                    <a:pt x="24400" y="13664"/>
                  </a:lnTo>
                  <a:close/>
                </a:path>
                <a:path w="25400" h="17780">
                  <a:moveTo>
                    <a:pt x="24645" y="9045"/>
                  </a:moveTo>
                  <a:lnTo>
                    <a:pt x="24400" y="13664"/>
                  </a:lnTo>
                  <a:lnTo>
                    <a:pt x="24566" y="13503"/>
                  </a:lnTo>
                  <a:lnTo>
                    <a:pt x="24645" y="9045"/>
                  </a:lnTo>
                  <a:close/>
                </a:path>
                <a:path w="25400" h="17780">
                  <a:moveTo>
                    <a:pt x="24727" y="4408"/>
                  </a:moveTo>
                  <a:lnTo>
                    <a:pt x="24645" y="9045"/>
                  </a:lnTo>
                  <a:lnTo>
                    <a:pt x="24881" y="4580"/>
                  </a:lnTo>
                  <a:lnTo>
                    <a:pt x="24727" y="4408"/>
                  </a:lnTo>
                  <a:close/>
                </a:path>
                <a:path w="25400" h="17780">
                  <a:moveTo>
                    <a:pt x="599" y="3471"/>
                  </a:moveTo>
                  <a:lnTo>
                    <a:pt x="463" y="3597"/>
                  </a:lnTo>
                  <a:lnTo>
                    <a:pt x="293" y="7934"/>
                  </a:lnTo>
                  <a:lnTo>
                    <a:pt x="599" y="3471"/>
                  </a:lnTo>
                  <a:close/>
                </a:path>
                <a:path w="25400" h="17780">
                  <a:moveTo>
                    <a:pt x="23001" y="2490"/>
                  </a:moveTo>
                  <a:lnTo>
                    <a:pt x="24727" y="4408"/>
                  </a:lnTo>
                  <a:lnTo>
                    <a:pt x="24729" y="4281"/>
                  </a:lnTo>
                  <a:lnTo>
                    <a:pt x="23001" y="2490"/>
                  </a:lnTo>
                  <a:close/>
                </a:path>
                <a:path w="25400" h="17780">
                  <a:moveTo>
                    <a:pt x="2434" y="1776"/>
                  </a:moveTo>
                  <a:lnTo>
                    <a:pt x="607" y="3368"/>
                  </a:lnTo>
                  <a:lnTo>
                    <a:pt x="2434" y="1776"/>
                  </a:lnTo>
                  <a:close/>
                </a:path>
                <a:path w="25400" h="17780">
                  <a:moveTo>
                    <a:pt x="21219" y="643"/>
                  </a:moveTo>
                  <a:lnTo>
                    <a:pt x="23001" y="2490"/>
                  </a:lnTo>
                  <a:lnTo>
                    <a:pt x="21346" y="650"/>
                  </a:lnTo>
                  <a:close/>
                </a:path>
                <a:path w="25400" h="17780">
                  <a:moveTo>
                    <a:pt x="4227" y="118"/>
                  </a:moveTo>
                  <a:lnTo>
                    <a:pt x="2434" y="1776"/>
                  </a:lnTo>
                  <a:lnTo>
                    <a:pt x="4130" y="298"/>
                  </a:lnTo>
                  <a:lnTo>
                    <a:pt x="4227" y="118"/>
                  </a:lnTo>
                  <a:close/>
                </a:path>
                <a:path w="25400" h="17780">
                  <a:moveTo>
                    <a:pt x="16588" y="403"/>
                  </a:moveTo>
                  <a:lnTo>
                    <a:pt x="21219" y="643"/>
                  </a:lnTo>
                  <a:lnTo>
                    <a:pt x="21057" y="476"/>
                  </a:lnTo>
                  <a:lnTo>
                    <a:pt x="16588" y="403"/>
                  </a:lnTo>
                  <a:close/>
                </a:path>
                <a:path w="25400" h="17780">
                  <a:moveTo>
                    <a:pt x="12764" y="569"/>
                  </a:moveTo>
                  <a:lnTo>
                    <a:pt x="12266" y="595"/>
                  </a:lnTo>
                  <a:lnTo>
                    <a:pt x="13258" y="603"/>
                  </a:lnTo>
                  <a:lnTo>
                    <a:pt x="12764" y="569"/>
                  </a:lnTo>
                  <a:close/>
                </a:path>
                <a:path w="25400" h="17780">
                  <a:moveTo>
                    <a:pt x="16094" y="395"/>
                  </a:moveTo>
                  <a:lnTo>
                    <a:pt x="12764" y="569"/>
                  </a:lnTo>
                  <a:lnTo>
                    <a:pt x="13258" y="603"/>
                  </a:lnTo>
                  <a:lnTo>
                    <a:pt x="20439" y="603"/>
                  </a:lnTo>
                  <a:lnTo>
                    <a:pt x="16588" y="403"/>
                  </a:lnTo>
                  <a:lnTo>
                    <a:pt x="16094" y="395"/>
                  </a:lnTo>
                  <a:close/>
                </a:path>
                <a:path w="25400" h="17780">
                  <a:moveTo>
                    <a:pt x="8819" y="298"/>
                  </a:moveTo>
                  <a:lnTo>
                    <a:pt x="12764" y="569"/>
                  </a:lnTo>
                  <a:lnTo>
                    <a:pt x="14758" y="463"/>
                  </a:lnTo>
                  <a:lnTo>
                    <a:pt x="12552" y="458"/>
                  </a:lnTo>
                  <a:lnTo>
                    <a:pt x="12788" y="454"/>
                  </a:lnTo>
                  <a:lnTo>
                    <a:pt x="8819" y="298"/>
                  </a:lnTo>
                  <a:close/>
                </a:path>
                <a:path w="25400" h="17780">
                  <a:moveTo>
                    <a:pt x="12788" y="454"/>
                  </a:moveTo>
                  <a:lnTo>
                    <a:pt x="12552" y="458"/>
                  </a:lnTo>
                  <a:lnTo>
                    <a:pt x="13023" y="463"/>
                  </a:lnTo>
                  <a:lnTo>
                    <a:pt x="12788" y="454"/>
                  </a:lnTo>
                  <a:close/>
                </a:path>
                <a:path w="25400" h="17780">
                  <a:moveTo>
                    <a:pt x="16012" y="397"/>
                  </a:moveTo>
                  <a:lnTo>
                    <a:pt x="12788" y="454"/>
                  </a:lnTo>
                  <a:lnTo>
                    <a:pt x="14933" y="454"/>
                  </a:lnTo>
                  <a:lnTo>
                    <a:pt x="16012" y="397"/>
                  </a:lnTo>
                  <a:close/>
                </a:path>
                <a:path w="25400" h="17780">
                  <a:moveTo>
                    <a:pt x="16347" y="391"/>
                  </a:moveTo>
                  <a:lnTo>
                    <a:pt x="16132" y="394"/>
                  </a:lnTo>
                  <a:lnTo>
                    <a:pt x="16588" y="403"/>
                  </a:lnTo>
                  <a:lnTo>
                    <a:pt x="16347" y="391"/>
                  </a:lnTo>
                  <a:close/>
                </a:path>
                <a:path w="25400" h="17780">
                  <a:moveTo>
                    <a:pt x="4472" y="0"/>
                  </a:moveTo>
                  <a:lnTo>
                    <a:pt x="4332" y="122"/>
                  </a:lnTo>
                  <a:lnTo>
                    <a:pt x="8819" y="298"/>
                  </a:lnTo>
                  <a:lnTo>
                    <a:pt x="4472" y="0"/>
                  </a:lnTo>
                  <a:close/>
                </a:path>
              </a:pathLst>
            </a:custGeom>
            <a:solidFill>
              <a:srgbClr val="CC0066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5362" y="1369472"/>
            <a:ext cx="5621337" cy="52175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9375" y="930147"/>
            <a:ext cx="351091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CALL</a:t>
            </a:r>
            <a:r>
              <a:rPr dirty="0" spc="-290"/>
              <a:t> </a:t>
            </a:r>
            <a:r>
              <a:rPr dirty="0"/>
              <a:t>A</a:t>
            </a:r>
            <a:r>
              <a:rPr dirty="0" spc="-290"/>
              <a:t> </a:t>
            </a:r>
            <a:r>
              <a:rPr dirty="0" spc="-175"/>
              <a:t>METHOD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79376" y="2299716"/>
            <a:ext cx="3934460" cy="269240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41300" marR="5080" indent="-228600">
              <a:lnSpc>
                <a:spcPct val="119000"/>
              </a:lnSpc>
              <a:spcBef>
                <a:spcPts val="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Georgia"/>
                <a:cs typeface="Georgia"/>
              </a:rPr>
              <a:t>To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call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method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in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75">
                <a:latin typeface="Georgia"/>
                <a:cs typeface="Georgia"/>
              </a:rPr>
              <a:t>Java,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30">
                <a:latin typeface="Georgia"/>
                <a:cs typeface="Georgia"/>
              </a:rPr>
              <a:t>write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the </a:t>
            </a:r>
            <a:r>
              <a:rPr dirty="0" sz="2000" spc="-60">
                <a:latin typeface="Georgia"/>
                <a:cs typeface="Georgia"/>
              </a:rPr>
              <a:t>method's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name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followed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by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two </a:t>
            </a:r>
            <a:r>
              <a:rPr dirty="0" sz="2000" spc="-75">
                <a:latin typeface="Georgia"/>
                <a:cs typeface="Georgia"/>
              </a:rPr>
              <a:t>parentheses</a:t>
            </a:r>
            <a:r>
              <a:rPr dirty="0" sz="2000" spc="-5">
                <a:latin typeface="Georgia"/>
                <a:cs typeface="Georgia"/>
              </a:rPr>
              <a:t> </a:t>
            </a:r>
            <a:r>
              <a:rPr dirty="0" sz="2000" b="1">
                <a:latin typeface="Calibri"/>
                <a:cs typeface="Calibri"/>
              </a:rPr>
              <a:t>()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spc="-20">
                <a:latin typeface="Georgia"/>
                <a:cs typeface="Georgia"/>
              </a:rPr>
              <a:t>and</a:t>
            </a:r>
            <a:r>
              <a:rPr dirty="0" sz="2000" spc="-1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10">
                <a:latin typeface="Georgia"/>
                <a:cs typeface="Georgia"/>
              </a:rPr>
              <a:t> semicolon</a:t>
            </a:r>
            <a:r>
              <a:rPr dirty="0" sz="2000" spc="-10" b="1">
                <a:latin typeface="Calibri"/>
                <a:cs typeface="Calibri"/>
              </a:rPr>
              <a:t>;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Georgia"/>
                <a:cs typeface="Georgia"/>
              </a:rPr>
              <a:t>In</a:t>
            </a:r>
            <a:r>
              <a:rPr dirty="0" sz="2000" spc="-11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following</a:t>
            </a:r>
            <a:endParaRPr sz="2000">
              <a:latin typeface="Georgia"/>
              <a:cs typeface="Georgia"/>
            </a:endParaRPr>
          </a:p>
          <a:p>
            <a:pPr marL="241300" marR="57150">
              <a:lnSpc>
                <a:spcPct val="118500"/>
              </a:lnSpc>
              <a:spcBef>
                <a:spcPts val="60"/>
              </a:spcBef>
            </a:pPr>
            <a:r>
              <a:rPr dirty="0" sz="2000" spc="-45">
                <a:latin typeface="Georgia"/>
                <a:cs typeface="Georgia"/>
              </a:rPr>
              <a:t>example,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myMethod()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is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used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to </a:t>
            </a:r>
            <a:r>
              <a:rPr dirty="0" sz="2000" spc="-70">
                <a:latin typeface="Georgia"/>
                <a:cs typeface="Georgia"/>
              </a:rPr>
              <a:t>print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text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65">
                <a:latin typeface="Georgia"/>
                <a:cs typeface="Georgia"/>
              </a:rPr>
              <a:t>(the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35">
                <a:latin typeface="Georgia"/>
                <a:cs typeface="Georgia"/>
              </a:rPr>
              <a:t>action),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when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it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is </a:t>
            </a:r>
            <a:r>
              <a:rPr dirty="0" sz="2000" spc="-10">
                <a:latin typeface="Georgia"/>
                <a:cs typeface="Georgia"/>
              </a:rPr>
              <a:t>called: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474103" y="956563"/>
            <a:ext cx="49218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Verdana"/>
                <a:cs typeface="Verdana"/>
              </a:rPr>
              <a:t>Inside</a:t>
            </a:r>
            <a:r>
              <a:rPr dirty="0" sz="1800" spc="-1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main,</a:t>
            </a:r>
            <a:r>
              <a:rPr dirty="0" sz="1800" spc="-1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call</a:t>
            </a:r>
            <a:r>
              <a:rPr dirty="0" sz="1800" spc="-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the</a:t>
            </a:r>
            <a:r>
              <a:rPr dirty="0" sz="1800" spc="-1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myMethod()</a:t>
            </a:r>
            <a:r>
              <a:rPr dirty="0" sz="1800" spc="-15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method: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9375" y="929132"/>
            <a:ext cx="2630805" cy="277177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95"/>
              </a:spcBef>
            </a:pPr>
            <a:r>
              <a:rPr dirty="0" sz="3600"/>
              <a:t>A</a:t>
            </a:r>
            <a:r>
              <a:rPr dirty="0" sz="3600" spc="-245"/>
              <a:t> </a:t>
            </a:r>
            <a:r>
              <a:rPr dirty="0" sz="3600" spc="-10"/>
              <a:t>METHOD </a:t>
            </a:r>
            <a:r>
              <a:rPr dirty="0" sz="3600" spc="-35"/>
              <a:t>CAN</a:t>
            </a:r>
            <a:r>
              <a:rPr dirty="0" sz="3600" spc="-265"/>
              <a:t> </a:t>
            </a:r>
            <a:r>
              <a:rPr dirty="0" sz="3600" spc="-114"/>
              <a:t>ALSO</a:t>
            </a:r>
            <a:r>
              <a:rPr dirty="0" sz="3600" spc="-260"/>
              <a:t> </a:t>
            </a:r>
            <a:r>
              <a:rPr dirty="0" sz="3600" spc="-35"/>
              <a:t>BE </a:t>
            </a:r>
            <a:r>
              <a:rPr dirty="0" sz="3600" spc="-10"/>
              <a:t>CALLED MULTIPLE TIMES:</a:t>
            </a:r>
            <a:endParaRPr sz="36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8211" y="796909"/>
            <a:ext cx="5671588" cy="52641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PARAMETERS</a:t>
            </a:r>
            <a:r>
              <a:rPr dirty="0" spc="-270"/>
              <a:t> </a:t>
            </a:r>
            <a:r>
              <a:rPr dirty="0" spc="-85"/>
              <a:t>AND</a:t>
            </a:r>
            <a:r>
              <a:rPr dirty="0" spc="-275"/>
              <a:t> </a:t>
            </a:r>
            <a:r>
              <a:rPr dirty="0" spc="-60"/>
              <a:t>ARGUMENTS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9375" y="2128011"/>
            <a:ext cx="10506710" cy="2466975"/>
          </a:xfrm>
          <a:prstGeom prst="rect">
            <a:avLst/>
          </a:prstGeom>
        </p:spPr>
        <p:txBody>
          <a:bodyPr wrap="square" lIns="0" tIns="23495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8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65">
                <a:latin typeface="Georgia"/>
                <a:cs typeface="Georgia"/>
              </a:rPr>
              <a:t>Information</a:t>
            </a:r>
            <a:r>
              <a:rPr dirty="0" sz="2800" spc="-10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can</a:t>
            </a:r>
            <a:r>
              <a:rPr dirty="0" sz="2800" spc="-150">
                <a:latin typeface="Georgia"/>
                <a:cs typeface="Georgia"/>
              </a:rPr>
              <a:t> </a:t>
            </a:r>
            <a:r>
              <a:rPr dirty="0" sz="2800" spc="-20">
                <a:latin typeface="Georgia"/>
                <a:cs typeface="Georgia"/>
              </a:rPr>
              <a:t>be</a:t>
            </a:r>
            <a:r>
              <a:rPr dirty="0" sz="2800" spc="-100">
                <a:latin typeface="Georgia"/>
                <a:cs typeface="Georgia"/>
              </a:rPr>
              <a:t> </a:t>
            </a:r>
            <a:r>
              <a:rPr dirty="0" sz="2800" spc="-90">
                <a:latin typeface="Georgia"/>
                <a:cs typeface="Georgia"/>
              </a:rPr>
              <a:t>passed</a:t>
            </a:r>
            <a:r>
              <a:rPr dirty="0" sz="2800" spc="-8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to</a:t>
            </a:r>
            <a:r>
              <a:rPr dirty="0" sz="2800" spc="-110">
                <a:latin typeface="Georgia"/>
                <a:cs typeface="Georgia"/>
              </a:rPr>
              <a:t> </a:t>
            </a:r>
            <a:r>
              <a:rPr dirty="0" sz="2800" spc="-85">
                <a:latin typeface="Georgia"/>
                <a:cs typeface="Georgia"/>
              </a:rPr>
              <a:t>methods</a:t>
            </a:r>
            <a:r>
              <a:rPr dirty="0" sz="2800" spc="-8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as</a:t>
            </a:r>
            <a:r>
              <a:rPr dirty="0" sz="2800" spc="-11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parameter.</a:t>
            </a:r>
            <a:endParaRPr sz="28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17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95">
                <a:latin typeface="Georgia"/>
                <a:cs typeface="Georgia"/>
              </a:rPr>
              <a:t>Parameters</a:t>
            </a:r>
            <a:r>
              <a:rPr dirty="0" sz="2800" spc="-7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act</a:t>
            </a:r>
            <a:r>
              <a:rPr dirty="0" sz="2800" spc="-10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as</a:t>
            </a:r>
            <a:r>
              <a:rPr dirty="0" sz="2800" spc="-90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variables</a:t>
            </a:r>
            <a:r>
              <a:rPr dirty="0" sz="2800" spc="-90">
                <a:latin typeface="Georgia"/>
                <a:cs typeface="Georgia"/>
              </a:rPr>
              <a:t> </a:t>
            </a:r>
            <a:r>
              <a:rPr dirty="0" sz="2800" spc="-70">
                <a:latin typeface="Georgia"/>
                <a:cs typeface="Georgia"/>
              </a:rPr>
              <a:t>inside</a:t>
            </a:r>
            <a:r>
              <a:rPr dirty="0" sz="2800" spc="-85">
                <a:latin typeface="Georgia"/>
                <a:cs typeface="Georgia"/>
              </a:rPr>
              <a:t> </a:t>
            </a:r>
            <a:r>
              <a:rPr dirty="0" sz="2800" spc="-45">
                <a:latin typeface="Georgia"/>
                <a:cs typeface="Georgia"/>
              </a:rPr>
              <a:t>the</a:t>
            </a:r>
            <a:r>
              <a:rPr dirty="0" sz="2800" spc="-8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method.</a:t>
            </a:r>
            <a:endParaRPr sz="2800">
              <a:latin typeface="Georgia"/>
              <a:cs typeface="Georgia"/>
            </a:endParaRPr>
          </a:p>
          <a:p>
            <a:pPr marL="241300" marR="5080" indent="-228600">
              <a:lnSpc>
                <a:spcPct val="1193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30" i="1">
                <a:solidFill>
                  <a:srgbClr val="C00000"/>
                </a:solidFill>
                <a:latin typeface="Times New Roman"/>
                <a:cs typeface="Times New Roman"/>
              </a:rPr>
              <a:t>Parameters</a:t>
            </a:r>
            <a:r>
              <a:rPr dirty="0" sz="2800" spc="-6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185" i="1">
                <a:solidFill>
                  <a:srgbClr val="C00000"/>
                </a:solidFill>
                <a:latin typeface="Times New Roman"/>
                <a:cs typeface="Times New Roman"/>
              </a:rPr>
              <a:t>are</a:t>
            </a:r>
            <a:r>
              <a:rPr dirty="0" sz="2800" spc="-5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145" i="1">
                <a:solidFill>
                  <a:srgbClr val="C00000"/>
                </a:solidFill>
                <a:latin typeface="Times New Roman"/>
                <a:cs typeface="Times New Roman"/>
              </a:rPr>
              <a:t>specified</a:t>
            </a:r>
            <a:r>
              <a:rPr dirty="0" sz="2800" spc="-5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120" i="1">
                <a:solidFill>
                  <a:srgbClr val="C00000"/>
                </a:solidFill>
                <a:latin typeface="Times New Roman"/>
                <a:cs typeface="Times New Roman"/>
              </a:rPr>
              <a:t>after</a:t>
            </a:r>
            <a:r>
              <a:rPr dirty="0" sz="2800" spc="-5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65" i="1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dirty="0" sz="2800" spc="-5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55" i="1">
                <a:solidFill>
                  <a:srgbClr val="C00000"/>
                </a:solidFill>
                <a:latin typeface="Times New Roman"/>
                <a:cs typeface="Times New Roman"/>
              </a:rPr>
              <a:t>method </a:t>
            </a:r>
            <a:r>
              <a:rPr dirty="0" sz="2800" spc="-25" i="1">
                <a:solidFill>
                  <a:srgbClr val="C00000"/>
                </a:solidFill>
                <a:latin typeface="Times New Roman"/>
                <a:cs typeface="Times New Roman"/>
              </a:rPr>
              <a:t>name,</a:t>
            </a:r>
            <a:r>
              <a:rPr dirty="0" sz="2800" spc="-5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85" i="1">
                <a:solidFill>
                  <a:srgbClr val="C00000"/>
                </a:solidFill>
                <a:latin typeface="Times New Roman"/>
                <a:cs typeface="Times New Roman"/>
              </a:rPr>
              <a:t>inside</a:t>
            </a:r>
            <a:r>
              <a:rPr dirty="0" sz="2800" spc="-5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65" i="1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dirty="0" sz="2800" spc="-5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130" i="1">
                <a:solidFill>
                  <a:srgbClr val="C00000"/>
                </a:solidFill>
                <a:latin typeface="Times New Roman"/>
                <a:cs typeface="Times New Roman"/>
              </a:rPr>
              <a:t>parentheses.</a:t>
            </a:r>
            <a:r>
              <a:rPr dirty="0" sz="2800" spc="-5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25" i="1">
                <a:solidFill>
                  <a:srgbClr val="C00000"/>
                </a:solidFill>
                <a:latin typeface="Times New Roman"/>
                <a:cs typeface="Times New Roman"/>
              </a:rPr>
              <a:t>You </a:t>
            </a:r>
            <a:r>
              <a:rPr dirty="0" sz="2800" spc="-120" i="1">
                <a:solidFill>
                  <a:srgbClr val="C00000"/>
                </a:solidFill>
                <a:latin typeface="Times New Roman"/>
                <a:cs typeface="Times New Roman"/>
              </a:rPr>
              <a:t>can</a:t>
            </a:r>
            <a:r>
              <a:rPr dirty="0" sz="2800" spc="-5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65" i="1">
                <a:solidFill>
                  <a:srgbClr val="C00000"/>
                </a:solidFill>
                <a:latin typeface="Times New Roman"/>
                <a:cs typeface="Times New Roman"/>
              </a:rPr>
              <a:t>add</a:t>
            </a:r>
            <a:r>
              <a:rPr dirty="0" sz="2800" spc="-11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150" i="1">
                <a:solidFill>
                  <a:srgbClr val="C00000"/>
                </a:solidFill>
                <a:latin typeface="Times New Roman"/>
                <a:cs typeface="Times New Roman"/>
              </a:rPr>
              <a:t>as</a:t>
            </a:r>
            <a:r>
              <a:rPr dirty="0" sz="2800" spc="-6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i="1">
                <a:solidFill>
                  <a:srgbClr val="C00000"/>
                </a:solidFill>
                <a:latin typeface="Times New Roman"/>
                <a:cs typeface="Times New Roman"/>
              </a:rPr>
              <a:t>many</a:t>
            </a:r>
            <a:r>
              <a:rPr dirty="0" sz="2800" spc="-17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120" i="1">
                <a:solidFill>
                  <a:srgbClr val="C00000"/>
                </a:solidFill>
                <a:latin typeface="Times New Roman"/>
                <a:cs typeface="Times New Roman"/>
              </a:rPr>
              <a:t>parameters</a:t>
            </a:r>
            <a:r>
              <a:rPr dirty="0" sz="2800" spc="-6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150" i="1">
                <a:solidFill>
                  <a:srgbClr val="C00000"/>
                </a:solidFill>
                <a:latin typeface="Times New Roman"/>
                <a:cs typeface="Times New Roman"/>
              </a:rPr>
              <a:t>as</a:t>
            </a:r>
            <a:r>
              <a:rPr dirty="0" sz="2800" spc="-6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i="1">
                <a:solidFill>
                  <a:srgbClr val="C00000"/>
                </a:solidFill>
                <a:latin typeface="Times New Roman"/>
                <a:cs typeface="Times New Roman"/>
              </a:rPr>
              <a:t>you</a:t>
            </a:r>
            <a:r>
              <a:rPr dirty="0" sz="2800" spc="-11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i="1">
                <a:solidFill>
                  <a:srgbClr val="C00000"/>
                </a:solidFill>
                <a:latin typeface="Times New Roman"/>
                <a:cs typeface="Times New Roman"/>
              </a:rPr>
              <a:t>want,</a:t>
            </a:r>
            <a:r>
              <a:rPr dirty="0" sz="2800" spc="-8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60" i="1">
                <a:solidFill>
                  <a:srgbClr val="C00000"/>
                </a:solidFill>
                <a:latin typeface="Times New Roman"/>
                <a:cs typeface="Times New Roman"/>
              </a:rPr>
              <a:t>just</a:t>
            </a:r>
            <a:r>
              <a:rPr dirty="0" sz="2800" spc="-8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150" i="1">
                <a:solidFill>
                  <a:srgbClr val="C00000"/>
                </a:solidFill>
                <a:latin typeface="Times New Roman"/>
                <a:cs typeface="Times New Roman"/>
              </a:rPr>
              <a:t>separate</a:t>
            </a:r>
            <a:r>
              <a:rPr dirty="0" sz="2800" spc="-5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i="1">
                <a:solidFill>
                  <a:srgbClr val="C00000"/>
                </a:solidFill>
                <a:latin typeface="Times New Roman"/>
                <a:cs typeface="Times New Roman"/>
              </a:rPr>
              <a:t>them</a:t>
            </a:r>
            <a:r>
              <a:rPr dirty="0" sz="2800" spc="-8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i="1">
                <a:solidFill>
                  <a:srgbClr val="C00000"/>
                </a:solidFill>
                <a:latin typeface="Times New Roman"/>
                <a:cs typeface="Times New Roman"/>
              </a:rPr>
              <a:t>with</a:t>
            </a:r>
            <a:r>
              <a:rPr dirty="0" sz="2800" spc="-8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i="1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dirty="0" sz="2800" spc="-8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i="1">
                <a:solidFill>
                  <a:srgbClr val="C00000"/>
                </a:solidFill>
                <a:latin typeface="Times New Roman"/>
                <a:cs typeface="Times New Roman"/>
              </a:rPr>
              <a:t>comma.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065" y="853947"/>
            <a:ext cx="3330575" cy="1013460"/>
          </a:xfrm>
          <a:prstGeom prst="rect"/>
        </p:spPr>
        <p:txBody>
          <a:bodyPr wrap="square" lIns="0" tIns="68580" rIns="0" bIns="0" rtlCol="0" vert="horz">
            <a:spAutoFit/>
          </a:bodyPr>
          <a:lstStyle/>
          <a:p>
            <a:pPr marL="12700" marR="5080">
              <a:lnSpc>
                <a:spcPts val="3700"/>
              </a:lnSpc>
              <a:spcBef>
                <a:spcPts val="540"/>
              </a:spcBef>
            </a:pPr>
            <a:r>
              <a:rPr dirty="0" sz="3400" spc="-10"/>
              <a:t>PARAMETERS </a:t>
            </a:r>
            <a:r>
              <a:rPr dirty="0" sz="3400" spc="-70"/>
              <a:t>AND</a:t>
            </a:r>
            <a:r>
              <a:rPr dirty="0" sz="3400" spc="-240"/>
              <a:t> </a:t>
            </a:r>
            <a:r>
              <a:rPr dirty="0" sz="3400" spc="-70"/>
              <a:t>ARGUMENTS</a:t>
            </a:r>
            <a:endParaRPr sz="3400"/>
          </a:p>
        </p:txBody>
      </p:sp>
      <p:sp>
        <p:nvSpPr>
          <p:cNvPr id="3" name="object 3" descr=""/>
          <p:cNvSpPr/>
          <p:nvPr/>
        </p:nvSpPr>
        <p:spPr>
          <a:xfrm>
            <a:off x="800100" y="723900"/>
            <a:ext cx="1638300" cy="0"/>
          </a:xfrm>
          <a:custGeom>
            <a:avLst/>
            <a:gdLst/>
            <a:ahLst/>
            <a:cxnLst/>
            <a:rect l="l" t="t" r="r" b="b"/>
            <a:pathLst>
              <a:path w="1638300" h="0">
                <a:moveTo>
                  <a:pt x="0" y="0"/>
                </a:moveTo>
                <a:lnTo>
                  <a:pt x="1638300" y="1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74065" y="2720340"/>
            <a:ext cx="3336290" cy="3427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15999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Georgia"/>
                <a:cs typeface="Georgia"/>
              </a:rPr>
              <a:t>The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following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example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35">
                <a:latin typeface="Georgia"/>
                <a:cs typeface="Georgia"/>
              </a:rPr>
              <a:t>has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a </a:t>
            </a:r>
            <a:r>
              <a:rPr dirty="0" sz="2000" spc="-55">
                <a:latin typeface="Georgia"/>
                <a:cs typeface="Georgia"/>
              </a:rPr>
              <a:t>method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that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takes</a:t>
            </a:r>
            <a:endParaRPr sz="2000">
              <a:latin typeface="Georgia"/>
              <a:cs typeface="Georgia"/>
            </a:endParaRPr>
          </a:p>
          <a:p>
            <a:pPr marL="241300" marR="156210">
              <a:lnSpc>
                <a:spcPct val="121000"/>
              </a:lnSpc>
            </a:pP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30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String</a:t>
            </a:r>
            <a:r>
              <a:rPr dirty="0" sz="2000" spc="35">
                <a:latin typeface="Georgia"/>
                <a:cs typeface="Georgia"/>
              </a:rPr>
              <a:t> </a:t>
            </a:r>
            <a:r>
              <a:rPr dirty="0" sz="2000" spc="-30">
                <a:latin typeface="Georgia"/>
                <a:cs typeface="Georgia"/>
              </a:rPr>
              <a:t>called</a:t>
            </a:r>
            <a:r>
              <a:rPr dirty="0" sz="2000" spc="40">
                <a:latin typeface="Georgia"/>
                <a:cs typeface="Georgia"/>
              </a:rPr>
              <a:t> </a:t>
            </a:r>
            <a:r>
              <a:rPr dirty="0" sz="2000" b="1">
                <a:latin typeface="Calibri"/>
                <a:cs typeface="Calibri"/>
              </a:rPr>
              <a:t>firstname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spc="-25">
                <a:latin typeface="Georgia"/>
                <a:cs typeface="Georgia"/>
              </a:rPr>
              <a:t>as </a:t>
            </a:r>
            <a:r>
              <a:rPr dirty="0" sz="2000" spc="-10">
                <a:latin typeface="Georgia"/>
                <a:cs typeface="Georgia"/>
              </a:rPr>
              <a:t>parameter.</a:t>
            </a:r>
            <a:endParaRPr sz="2000">
              <a:latin typeface="Georgia"/>
              <a:cs typeface="Georgia"/>
            </a:endParaRPr>
          </a:p>
          <a:p>
            <a:pPr marL="241300" marR="142875" indent="-228600">
              <a:lnSpc>
                <a:spcPct val="11970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Georgia"/>
                <a:cs typeface="Georgia"/>
              </a:rPr>
              <a:t>When</a:t>
            </a:r>
            <a:r>
              <a:rPr dirty="0" sz="2000" spc="-8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method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is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called, </a:t>
            </a:r>
            <a:r>
              <a:rPr dirty="0" sz="2000">
                <a:latin typeface="Georgia"/>
                <a:cs typeface="Georgia"/>
              </a:rPr>
              <a:t>we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pass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along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65">
                <a:latin typeface="Georgia"/>
                <a:cs typeface="Georgia"/>
              </a:rPr>
              <a:t>first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name, </a:t>
            </a:r>
            <a:r>
              <a:rPr dirty="0" sz="2000">
                <a:latin typeface="Georgia"/>
                <a:cs typeface="Georgia"/>
              </a:rPr>
              <a:t>which</a:t>
            </a:r>
            <a:r>
              <a:rPr dirty="0" sz="2000" spc="-11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is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used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inside</a:t>
            </a:r>
            <a:r>
              <a:rPr dirty="0" sz="2000" spc="-8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the </a:t>
            </a:r>
            <a:r>
              <a:rPr dirty="0" sz="2000" spc="-55">
                <a:latin typeface="Georgia"/>
                <a:cs typeface="Georgia"/>
              </a:rPr>
              <a:t>method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to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70">
                <a:latin typeface="Georgia"/>
                <a:cs typeface="Georgia"/>
              </a:rPr>
              <a:t>print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full </a:t>
            </a:r>
            <a:r>
              <a:rPr dirty="0" sz="2000" spc="-10">
                <a:latin typeface="Georgia"/>
                <a:cs typeface="Georgia"/>
              </a:rPr>
              <a:t>name:</a:t>
            </a:r>
            <a:endParaRPr sz="2000">
              <a:latin typeface="Georgia"/>
              <a:cs typeface="Georg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1797" y="723900"/>
            <a:ext cx="5065104" cy="54101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065" y="853947"/>
            <a:ext cx="3330575" cy="1013460"/>
          </a:xfrm>
          <a:prstGeom prst="rect"/>
        </p:spPr>
        <p:txBody>
          <a:bodyPr wrap="square" lIns="0" tIns="68580" rIns="0" bIns="0" rtlCol="0" vert="horz">
            <a:spAutoFit/>
          </a:bodyPr>
          <a:lstStyle/>
          <a:p>
            <a:pPr marL="12700" marR="5080">
              <a:lnSpc>
                <a:spcPts val="3700"/>
              </a:lnSpc>
              <a:spcBef>
                <a:spcPts val="540"/>
              </a:spcBef>
            </a:pPr>
            <a:r>
              <a:rPr dirty="0" sz="3400" spc="-10"/>
              <a:t>PARAMETERS </a:t>
            </a:r>
            <a:r>
              <a:rPr dirty="0" sz="3400" spc="-70"/>
              <a:t>AND</a:t>
            </a:r>
            <a:r>
              <a:rPr dirty="0" sz="3400" spc="-240"/>
              <a:t> </a:t>
            </a:r>
            <a:r>
              <a:rPr dirty="0" sz="3400" spc="-70"/>
              <a:t>ARGUMENTS</a:t>
            </a:r>
            <a:endParaRPr sz="3400"/>
          </a:p>
        </p:txBody>
      </p:sp>
      <p:sp>
        <p:nvSpPr>
          <p:cNvPr id="3" name="object 3" descr=""/>
          <p:cNvSpPr/>
          <p:nvPr/>
        </p:nvSpPr>
        <p:spPr>
          <a:xfrm>
            <a:off x="800100" y="723900"/>
            <a:ext cx="1638300" cy="0"/>
          </a:xfrm>
          <a:custGeom>
            <a:avLst/>
            <a:gdLst/>
            <a:ahLst/>
            <a:cxnLst/>
            <a:rect l="l" t="t" r="r" b="b"/>
            <a:pathLst>
              <a:path w="1638300" h="0">
                <a:moveTo>
                  <a:pt x="0" y="0"/>
                </a:moveTo>
                <a:lnTo>
                  <a:pt x="1638300" y="1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74065" y="2720340"/>
            <a:ext cx="3303270" cy="2561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15999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Georgia"/>
                <a:cs typeface="Georgia"/>
              </a:rPr>
              <a:t>When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 b="1">
                <a:latin typeface="Calibri"/>
                <a:cs typeface="Calibri"/>
              </a:rPr>
              <a:t>parameter </a:t>
            </a:r>
            <a:r>
              <a:rPr dirty="0" sz="2000">
                <a:latin typeface="Georgia"/>
                <a:cs typeface="Georgia"/>
              </a:rPr>
              <a:t>is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 spc="-65">
                <a:latin typeface="Georgia"/>
                <a:cs typeface="Georgia"/>
              </a:rPr>
              <a:t>passed </a:t>
            </a:r>
            <a:r>
              <a:rPr dirty="0" sz="2000">
                <a:latin typeface="Georgia"/>
                <a:cs typeface="Georgia"/>
              </a:rPr>
              <a:t>to</a:t>
            </a:r>
            <a:r>
              <a:rPr dirty="0" sz="2000" spc="-8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the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35">
                <a:latin typeface="Georgia"/>
                <a:cs typeface="Georgia"/>
              </a:rPr>
              <a:t>method,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it</a:t>
            </a:r>
            <a:r>
              <a:rPr dirty="0" sz="2000" spc="-8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is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called</a:t>
            </a:r>
            <a:endParaRPr sz="2000">
              <a:latin typeface="Georgia"/>
              <a:cs typeface="Georgia"/>
            </a:endParaRPr>
          </a:p>
          <a:p>
            <a:pPr marL="241300" marR="212725">
              <a:lnSpc>
                <a:spcPct val="121000"/>
              </a:lnSpc>
            </a:pPr>
            <a:r>
              <a:rPr dirty="0" sz="2000">
                <a:latin typeface="Georgia"/>
                <a:cs typeface="Georgia"/>
              </a:rPr>
              <a:t>an</a:t>
            </a:r>
            <a:r>
              <a:rPr dirty="0" sz="2000" spc="-5">
                <a:latin typeface="Georgia"/>
                <a:cs typeface="Georgia"/>
              </a:rPr>
              <a:t> </a:t>
            </a:r>
            <a:r>
              <a:rPr dirty="0" sz="2000" b="1">
                <a:latin typeface="Calibri"/>
                <a:cs typeface="Calibri"/>
              </a:rPr>
              <a:t>argument</a:t>
            </a:r>
            <a:r>
              <a:rPr dirty="0" sz="2000">
                <a:latin typeface="Georgia"/>
                <a:cs typeface="Georgia"/>
              </a:rPr>
              <a:t>. So, </a:t>
            </a:r>
            <a:r>
              <a:rPr dirty="0" sz="2000" spc="-45">
                <a:latin typeface="Georgia"/>
                <a:cs typeface="Georgia"/>
              </a:rPr>
              <a:t>from</a:t>
            </a:r>
            <a:r>
              <a:rPr dirty="0" sz="2000" spc="-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the </a:t>
            </a:r>
            <a:r>
              <a:rPr dirty="0" sz="2000" spc="-45">
                <a:latin typeface="Georgia"/>
                <a:cs typeface="Georgia"/>
              </a:rPr>
              <a:t>example: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65">
                <a:latin typeface="Georgia"/>
                <a:cs typeface="Georgia"/>
              </a:rPr>
              <a:t>firstname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is</a:t>
            </a:r>
            <a:endParaRPr sz="2000">
              <a:latin typeface="Georgia"/>
              <a:cs typeface="Georgia"/>
            </a:endParaRPr>
          </a:p>
          <a:p>
            <a:pPr marL="241300">
              <a:lnSpc>
                <a:spcPct val="100000"/>
              </a:lnSpc>
              <a:spcBef>
                <a:spcPts val="500"/>
              </a:spcBef>
            </a:pP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 b="1">
                <a:latin typeface="Calibri"/>
                <a:cs typeface="Calibri"/>
              </a:rPr>
              <a:t>parameter</a:t>
            </a:r>
            <a:r>
              <a:rPr dirty="0" sz="2000">
                <a:latin typeface="Georgia"/>
                <a:cs typeface="Georgia"/>
              </a:rPr>
              <a:t>,</a:t>
            </a:r>
            <a:r>
              <a:rPr dirty="0" sz="2000" spc="-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while</a:t>
            </a:r>
            <a:r>
              <a:rPr dirty="0" sz="2000" spc="-1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Angela,</a:t>
            </a:r>
            <a:endParaRPr sz="2000">
              <a:latin typeface="Georgia"/>
              <a:cs typeface="Georgia"/>
            </a:endParaRPr>
          </a:p>
          <a:p>
            <a:pPr marL="241300" marR="1043305">
              <a:lnSpc>
                <a:spcPct val="115999"/>
              </a:lnSpc>
              <a:spcBef>
                <a:spcPts val="120"/>
              </a:spcBef>
            </a:pPr>
            <a:r>
              <a:rPr dirty="0" sz="2000">
                <a:latin typeface="Georgia"/>
                <a:cs typeface="Georgia"/>
              </a:rPr>
              <a:t>Mark</a:t>
            </a:r>
            <a:r>
              <a:rPr dirty="0" sz="2000" spc="-100">
                <a:latin typeface="Georgia"/>
                <a:cs typeface="Georgia"/>
              </a:rPr>
              <a:t> </a:t>
            </a:r>
            <a:r>
              <a:rPr dirty="0" sz="2000" spc="-30">
                <a:latin typeface="Georgia"/>
                <a:cs typeface="Georgia"/>
              </a:rPr>
              <a:t>and</a:t>
            </a:r>
            <a:r>
              <a:rPr dirty="0" sz="2000" spc="-90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Cristelle </a:t>
            </a:r>
            <a:r>
              <a:rPr dirty="0" sz="2000" spc="-35">
                <a:latin typeface="Georgia"/>
                <a:cs typeface="Georgia"/>
              </a:rPr>
              <a:t>are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arguments</a:t>
            </a:r>
            <a:r>
              <a:rPr dirty="0" sz="2000" spc="-10">
                <a:latin typeface="Georgia"/>
                <a:cs typeface="Georgia"/>
              </a:rPr>
              <a:t>.</a:t>
            </a:r>
            <a:endParaRPr sz="2000">
              <a:latin typeface="Georgia"/>
              <a:cs typeface="Georg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1797" y="723900"/>
            <a:ext cx="5065104" cy="54101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065" y="853947"/>
            <a:ext cx="2557780" cy="1013460"/>
          </a:xfrm>
          <a:prstGeom prst="rect"/>
        </p:spPr>
        <p:txBody>
          <a:bodyPr wrap="square" lIns="0" tIns="68580" rIns="0" bIns="0" rtlCol="0" vert="horz">
            <a:spAutoFit/>
          </a:bodyPr>
          <a:lstStyle/>
          <a:p>
            <a:pPr marL="12700" marR="5080">
              <a:lnSpc>
                <a:spcPts val="3700"/>
              </a:lnSpc>
              <a:spcBef>
                <a:spcPts val="540"/>
              </a:spcBef>
            </a:pPr>
            <a:r>
              <a:rPr dirty="0" sz="3400" spc="-10"/>
              <a:t>MULTIPLE </a:t>
            </a:r>
            <a:r>
              <a:rPr dirty="0" sz="3400" spc="-65"/>
              <a:t>PARAMETERS</a:t>
            </a:r>
            <a:endParaRPr sz="3400"/>
          </a:p>
        </p:txBody>
      </p:sp>
      <p:sp>
        <p:nvSpPr>
          <p:cNvPr id="3" name="object 3" descr=""/>
          <p:cNvSpPr/>
          <p:nvPr/>
        </p:nvSpPr>
        <p:spPr>
          <a:xfrm>
            <a:off x="800100" y="723900"/>
            <a:ext cx="1638300" cy="0"/>
          </a:xfrm>
          <a:custGeom>
            <a:avLst/>
            <a:gdLst/>
            <a:ahLst/>
            <a:cxnLst/>
            <a:rect l="l" t="t" r="r" b="b"/>
            <a:pathLst>
              <a:path w="1638300" h="0">
                <a:moveTo>
                  <a:pt x="0" y="0"/>
                </a:moveTo>
                <a:lnTo>
                  <a:pt x="1638300" y="1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74065" y="2720340"/>
            <a:ext cx="2715260" cy="732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15999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Georgia"/>
                <a:cs typeface="Georgia"/>
              </a:rPr>
              <a:t>You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can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have </a:t>
            </a:r>
            <a:r>
              <a:rPr dirty="0" sz="2000">
                <a:latin typeface="Georgia"/>
                <a:cs typeface="Georgia"/>
              </a:rPr>
              <a:t>as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many </a:t>
            </a:r>
            <a:r>
              <a:rPr dirty="0" sz="2000" spc="-75">
                <a:latin typeface="Georgia"/>
                <a:cs typeface="Georgia"/>
              </a:rPr>
              <a:t>parameters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as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you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35">
                <a:latin typeface="Georgia"/>
                <a:cs typeface="Georgia"/>
              </a:rPr>
              <a:t>like:</a:t>
            </a:r>
            <a:endParaRPr sz="2000">
              <a:latin typeface="Georgia"/>
              <a:cs typeface="Georgi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331137" y="723900"/>
            <a:ext cx="5607050" cy="5410200"/>
            <a:chOff x="5331137" y="723900"/>
            <a:chExt cx="5607050" cy="541020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1137" y="723900"/>
              <a:ext cx="5606423" cy="541019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945263" y="2223947"/>
              <a:ext cx="312420" cy="42545"/>
            </a:xfrm>
            <a:custGeom>
              <a:avLst/>
              <a:gdLst/>
              <a:ahLst/>
              <a:cxnLst/>
              <a:rect l="l" t="t" r="r" b="b"/>
              <a:pathLst>
                <a:path w="312420" h="42544">
                  <a:moveTo>
                    <a:pt x="24739" y="22821"/>
                  </a:moveTo>
                  <a:lnTo>
                    <a:pt x="19202" y="17284"/>
                  </a:lnTo>
                  <a:lnTo>
                    <a:pt x="5537" y="17284"/>
                  </a:lnTo>
                  <a:lnTo>
                    <a:pt x="0" y="22821"/>
                  </a:lnTo>
                  <a:lnTo>
                    <a:pt x="0" y="36487"/>
                  </a:lnTo>
                  <a:lnTo>
                    <a:pt x="5537" y="42037"/>
                  </a:lnTo>
                  <a:lnTo>
                    <a:pt x="19202" y="42037"/>
                  </a:lnTo>
                  <a:lnTo>
                    <a:pt x="24739" y="36487"/>
                  </a:lnTo>
                  <a:lnTo>
                    <a:pt x="24739" y="29654"/>
                  </a:lnTo>
                  <a:lnTo>
                    <a:pt x="24739" y="22821"/>
                  </a:lnTo>
                  <a:close/>
                </a:path>
                <a:path w="312420" h="42544">
                  <a:moveTo>
                    <a:pt x="312381" y="5537"/>
                  </a:moveTo>
                  <a:lnTo>
                    <a:pt x="306844" y="0"/>
                  </a:lnTo>
                  <a:lnTo>
                    <a:pt x="293179" y="0"/>
                  </a:lnTo>
                  <a:lnTo>
                    <a:pt x="287629" y="5537"/>
                  </a:lnTo>
                  <a:lnTo>
                    <a:pt x="287629" y="19215"/>
                  </a:lnTo>
                  <a:lnTo>
                    <a:pt x="293179" y="24752"/>
                  </a:lnTo>
                  <a:lnTo>
                    <a:pt x="306844" y="24752"/>
                  </a:lnTo>
                  <a:lnTo>
                    <a:pt x="312381" y="19215"/>
                  </a:lnTo>
                  <a:lnTo>
                    <a:pt x="312381" y="12382"/>
                  </a:lnTo>
                  <a:lnTo>
                    <a:pt x="312381" y="5537"/>
                  </a:lnTo>
                  <a:close/>
                </a:path>
              </a:pathLst>
            </a:custGeom>
            <a:solidFill>
              <a:srgbClr val="CC0066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00100" y="496887"/>
            <a:ext cx="10591800" cy="6121400"/>
            <a:chOff x="800100" y="496887"/>
            <a:chExt cx="10591800" cy="61214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7368" y="496887"/>
              <a:ext cx="5600700" cy="61214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814744" y="1604384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4">
                  <a:moveTo>
                    <a:pt x="19210" y="0"/>
                  </a:moveTo>
                  <a:lnTo>
                    <a:pt x="5541" y="0"/>
                  </a:lnTo>
                  <a:lnTo>
                    <a:pt x="0" y="5541"/>
                  </a:lnTo>
                  <a:lnTo>
                    <a:pt x="0" y="19210"/>
                  </a:lnTo>
                  <a:lnTo>
                    <a:pt x="5541" y="24749"/>
                  </a:lnTo>
                  <a:lnTo>
                    <a:pt x="19210" y="24749"/>
                  </a:lnTo>
                  <a:lnTo>
                    <a:pt x="24749" y="19210"/>
                  </a:lnTo>
                  <a:lnTo>
                    <a:pt x="24749" y="12374"/>
                  </a:lnTo>
                  <a:lnTo>
                    <a:pt x="24749" y="5541"/>
                  </a:lnTo>
                  <a:lnTo>
                    <a:pt x="19210" y="0"/>
                  </a:lnTo>
                  <a:close/>
                </a:path>
              </a:pathLst>
            </a:custGeom>
            <a:solidFill>
              <a:srgbClr val="CC00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 spc="-215"/>
              <a:t>RETURN</a:t>
            </a:r>
            <a:r>
              <a:rPr dirty="0" spc="-254"/>
              <a:t> </a:t>
            </a:r>
            <a:r>
              <a:rPr dirty="0" spc="-80"/>
              <a:t>VALUES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79375" y="2299716"/>
            <a:ext cx="4572635" cy="306133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just" marL="241300" marR="5080" indent="-228600">
              <a:lnSpc>
                <a:spcPct val="119000"/>
              </a:lnSpc>
              <a:spcBef>
                <a:spcPts val="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Georgia"/>
                <a:cs typeface="Georgia"/>
              </a:rPr>
              <a:t>The</a:t>
            </a:r>
            <a:r>
              <a:rPr dirty="0" sz="2000" spc="-8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void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keyword,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used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in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examples </a:t>
            </a:r>
            <a:r>
              <a:rPr dirty="0" sz="2000" spc="-50">
                <a:latin typeface="Georgia"/>
                <a:cs typeface="Georgia"/>
              </a:rPr>
              <a:t>above,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indicates </a:t>
            </a:r>
            <a:r>
              <a:rPr dirty="0" sz="2000" spc="-55">
                <a:latin typeface="Georgia"/>
                <a:cs typeface="Georgia"/>
              </a:rPr>
              <a:t>that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method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should </a:t>
            </a:r>
            <a:r>
              <a:rPr dirty="0" sz="2000" spc="-20">
                <a:latin typeface="Georgia"/>
                <a:cs typeface="Georgia"/>
              </a:rPr>
              <a:t>not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75">
                <a:latin typeface="Georgia"/>
                <a:cs typeface="Georgia"/>
              </a:rPr>
              <a:t>return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value.</a:t>
            </a:r>
            <a:endParaRPr sz="2000">
              <a:latin typeface="Georgia"/>
              <a:cs typeface="Georgia"/>
            </a:endParaRPr>
          </a:p>
          <a:p>
            <a:pPr marL="241300" marR="100330" indent="-228600">
              <a:lnSpc>
                <a:spcPct val="1197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Georgia"/>
                <a:cs typeface="Georgia"/>
              </a:rPr>
              <a:t>If</a:t>
            </a:r>
            <a:r>
              <a:rPr dirty="0" sz="2000" spc="10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you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want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method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to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70">
                <a:latin typeface="Georgia"/>
                <a:cs typeface="Georgia"/>
              </a:rPr>
              <a:t>return</a:t>
            </a:r>
            <a:r>
              <a:rPr dirty="0" sz="2000" spc="-50">
                <a:latin typeface="Georgia"/>
                <a:cs typeface="Georgia"/>
              </a:rPr>
              <a:t> a value,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you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can</a:t>
            </a:r>
            <a:r>
              <a:rPr dirty="0" sz="2000" spc="-40">
                <a:latin typeface="Georgia"/>
                <a:cs typeface="Georgia"/>
              </a:rPr>
              <a:t> use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70">
                <a:latin typeface="Georgia"/>
                <a:cs typeface="Georgia"/>
              </a:rPr>
              <a:t>primitive</a:t>
            </a:r>
            <a:r>
              <a:rPr dirty="0" sz="2000" spc="-40">
                <a:latin typeface="Georgia"/>
                <a:cs typeface="Georgia"/>
              </a:rPr>
              <a:t> data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type </a:t>
            </a:r>
            <a:r>
              <a:rPr dirty="0" sz="2000" spc="-60">
                <a:latin typeface="Georgia"/>
                <a:cs typeface="Georgia"/>
              </a:rPr>
              <a:t>(such </a:t>
            </a:r>
            <a:r>
              <a:rPr dirty="0" sz="2000">
                <a:latin typeface="Georgia"/>
                <a:cs typeface="Georgia"/>
              </a:rPr>
              <a:t>as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int,</a:t>
            </a:r>
            <a:r>
              <a:rPr dirty="0" sz="2000" spc="-55">
                <a:latin typeface="Georgia"/>
                <a:cs typeface="Georgia"/>
              </a:rPr>
              <a:t> char, </a:t>
            </a:r>
            <a:r>
              <a:rPr dirty="0" sz="2000" spc="-40">
                <a:latin typeface="Georgia"/>
                <a:cs typeface="Georgia"/>
              </a:rPr>
              <a:t>etc.)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instead </a:t>
            </a:r>
            <a:r>
              <a:rPr dirty="0" sz="2000">
                <a:latin typeface="Georgia"/>
                <a:cs typeface="Georgia"/>
              </a:rPr>
              <a:t>of</a:t>
            </a:r>
            <a:r>
              <a:rPr dirty="0" sz="2000" spc="12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void, </a:t>
            </a:r>
            <a:r>
              <a:rPr dirty="0" sz="2000" spc="-20">
                <a:latin typeface="Georgia"/>
                <a:cs typeface="Georgia"/>
              </a:rPr>
              <a:t>and</a:t>
            </a:r>
            <a:r>
              <a:rPr dirty="0" sz="2000" spc="-80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use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75">
                <a:latin typeface="Georgia"/>
                <a:cs typeface="Georgia"/>
              </a:rPr>
              <a:t>return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keyword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inside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the </a:t>
            </a:r>
            <a:r>
              <a:rPr dirty="0" sz="2000" spc="-10">
                <a:latin typeface="Georgia"/>
                <a:cs typeface="Georgia"/>
              </a:rPr>
              <a:t>method: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34515" y="368298"/>
            <a:ext cx="11610975" cy="6121400"/>
            <a:chOff x="234515" y="368298"/>
            <a:chExt cx="11610975" cy="61214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515" y="542926"/>
              <a:ext cx="5861484" cy="5663383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4215" y="368298"/>
              <a:ext cx="5600698" cy="612139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7783424" y="1472624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5">
                  <a:moveTo>
                    <a:pt x="19208" y="0"/>
                  </a:moveTo>
                  <a:lnTo>
                    <a:pt x="5539" y="0"/>
                  </a:lnTo>
                  <a:lnTo>
                    <a:pt x="0" y="5541"/>
                  </a:lnTo>
                  <a:lnTo>
                    <a:pt x="0" y="19210"/>
                  </a:lnTo>
                  <a:lnTo>
                    <a:pt x="5539" y="24749"/>
                  </a:lnTo>
                  <a:lnTo>
                    <a:pt x="19208" y="24749"/>
                  </a:lnTo>
                  <a:lnTo>
                    <a:pt x="24749" y="19210"/>
                  </a:lnTo>
                  <a:lnTo>
                    <a:pt x="24749" y="12374"/>
                  </a:lnTo>
                  <a:lnTo>
                    <a:pt x="24749" y="5541"/>
                  </a:lnTo>
                  <a:lnTo>
                    <a:pt x="19208" y="0"/>
                  </a:lnTo>
                  <a:close/>
                </a:path>
              </a:pathLst>
            </a:custGeom>
            <a:solidFill>
              <a:srgbClr val="CC0066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9376" y="929132"/>
            <a:ext cx="3132455" cy="277177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95"/>
              </a:spcBef>
            </a:pPr>
            <a:r>
              <a:rPr dirty="0" sz="3600" spc="-220"/>
              <a:t>THIS</a:t>
            </a:r>
            <a:r>
              <a:rPr dirty="0" sz="3600" spc="-265"/>
              <a:t> </a:t>
            </a:r>
            <a:r>
              <a:rPr dirty="0" sz="3600" spc="-10"/>
              <a:t>EXAMPLE </a:t>
            </a:r>
            <a:r>
              <a:rPr dirty="0" sz="3600" spc="-160"/>
              <a:t>RETURNS</a:t>
            </a:r>
            <a:r>
              <a:rPr dirty="0" sz="3600" spc="-220"/>
              <a:t> </a:t>
            </a:r>
            <a:r>
              <a:rPr dirty="0" sz="3600" spc="-25"/>
              <a:t>THE </a:t>
            </a:r>
            <a:r>
              <a:rPr dirty="0" sz="3600"/>
              <a:t>SUM</a:t>
            </a:r>
            <a:r>
              <a:rPr dirty="0" sz="3600" spc="-215"/>
              <a:t> </a:t>
            </a:r>
            <a:r>
              <a:rPr dirty="0" sz="3600" spc="-305"/>
              <a:t>OF</a:t>
            </a:r>
            <a:r>
              <a:rPr dirty="0" sz="3600" spc="-215"/>
              <a:t> </a:t>
            </a:r>
            <a:r>
              <a:rPr dirty="0" sz="3600" spc="-50"/>
              <a:t>A </a:t>
            </a:r>
            <a:r>
              <a:rPr dirty="0" sz="3600" spc="-110"/>
              <a:t>METHOD'S</a:t>
            </a:r>
            <a:r>
              <a:rPr dirty="0" sz="3600" spc="-204"/>
              <a:t> </a:t>
            </a:r>
            <a:r>
              <a:rPr dirty="0" sz="3600" spc="-520" b="1">
                <a:latin typeface="Tahoma"/>
                <a:cs typeface="Tahoma"/>
              </a:rPr>
              <a:t>TWO </a:t>
            </a:r>
            <a:r>
              <a:rPr dirty="0" sz="3600" spc="-395" b="1">
                <a:latin typeface="Tahoma"/>
                <a:cs typeface="Tahoma"/>
              </a:rPr>
              <a:t>PARAMETERS</a:t>
            </a:r>
            <a:r>
              <a:rPr dirty="0" sz="3600" spc="-395"/>
              <a:t>:</a:t>
            </a:r>
            <a:endParaRPr sz="36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5893097" y="838090"/>
            <a:ext cx="4537075" cy="5182235"/>
            <a:chOff x="5893097" y="838090"/>
            <a:chExt cx="4537075" cy="51822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3097" y="838090"/>
              <a:ext cx="4536777" cy="518181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606103" y="2553345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4">
                  <a:moveTo>
                    <a:pt x="19210" y="0"/>
                  </a:moveTo>
                  <a:lnTo>
                    <a:pt x="5541" y="0"/>
                  </a:lnTo>
                  <a:lnTo>
                    <a:pt x="0" y="5539"/>
                  </a:lnTo>
                  <a:lnTo>
                    <a:pt x="0" y="19208"/>
                  </a:lnTo>
                  <a:lnTo>
                    <a:pt x="5541" y="24749"/>
                  </a:lnTo>
                  <a:lnTo>
                    <a:pt x="19210" y="24749"/>
                  </a:lnTo>
                  <a:lnTo>
                    <a:pt x="24749" y="19208"/>
                  </a:lnTo>
                  <a:lnTo>
                    <a:pt x="24749" y="12374"/>
                  </a:lnTo>
                  <a:lnTo>
                    <a:pt x="24749" y="5539"/>
                  </a:lnTo>
                  <a:lnTo>
                    <a:pt x="19210" y="0"/>
                  </a:lnTo>
                  <a:close/>
                </a:path>
              </a:pathLst>
            </a:custGeom>
            <a:solidFill>
              <a:srgbClr val="CC0066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6375" y="279400"/>
            <a:ext cx="5359400" cy="629919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79375" y="882395"/>
            <a:ext cx="2230120" cy="220789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Georgia"/>
                <a:cs typeface="Georgia"/>
              </a:rPr>
              <a:t>You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can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also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store </a:t>
            </a:r>
            <a:r>
              <a:rPr dirty="0" sz="2000" spc="-50">
                <a:latin typeface="Georgia"/>
                <a:cs typeface="Georgia"/>
              </a:rPr>
              <a:t>the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65">
                <a:latin typeface="Georgia"/>
                <a:cs typeface="Georgia"/>
              </a:rPr>
              <a:t>result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in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a </a:t>
            </a:r>
            <a:r>
              <a:rPr dirty="0" sz="2000" spc="-10">
                <a:latin typeface="Georgia"/>
                <a:cs typeface="Georgia"/>
              </a:rPr>
              <a:t>variable </a:t>
            </a:r>
            <a:r>
              <a:rPr dirty="0" sz="2000" spc="-60">
                <a:latin typeface="Georgia"/>
                <a:cs typeface="Georgia"/>
              </a:rPr>
              <a:t>(recommended,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as </a:t>
            </a:r>
            <a:r>
              <a:rPr dirty="0" sz="2000">
                <a:latin typeface="Georgia"/>
                <a:cs typeface="Georgia"/>
              </a:rPr>
              <a:t>it</a:t>
            </a:r>
            <a:r>
              <a:rPr dirty="0" sz="2000" spc="-9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is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easier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to</a:t>
            </a:r>
            <a:r>
              <a:rPr dirty="0" sz="2000" spc="-8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read and</a:t>
            </a:r>
            <a:r>
              <a:rPr dirty="0" sz="2000" spc="-10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maintain):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00100" y="143668"/>
            <a:ext cx="10814685" cy="6570980"/>
            <a:chOff x="800100" y="143668"/>
            <a:chExt cx="10814685" cy="657098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1940" y="143668"/>
              <a:ext cx="6952820" cy="657066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945975" y="3142309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24752" y="5537"/>
                  </a:moveTo>
                  <a:lnTo>
                    <a:pt x="19215" y="0"/>
                  </a:lnTo>
                  <a:lnTo>
                    <a:pt x="5549" y="0"/>
                  </a:lnTo>
                  <a:lnTo>
                    <a:pt x="0" y="5537"/>
                  </a:lnTo>
                  <a:lnTo>
                    <a:pt x="0" y="19215"/>
                  </a:lnTo>
                  <a:lnTo>
                    <a:pt x="5549" y="24752"/>
                  </a:lnTo>
                  <a:lnTo>
                    <a:pt x="19215" y="24752"/>
                  </a:lnTo>
                  <a:lnTo>
                    <a:pt x="24752" y="19215"/>
                  </a:lnTo>
                  <a:lnTo>
                    <a:pt x="24752" y="12369"/>
                  </a:lnTo>
                  <a:lnTo>
                    <a:pt x="24752" y="5537"/>
                  </a:lnTo>
                  <a:close/>
                </a:path>
              </a:pathLst>
            </a:custGeom>
            <a:solidFill>
              <a:srgbClr val="CC00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5979" y="914908"/>
            <a:ext cx="362648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dirty="0" spc="-275"/>
              <a:t> </a:t>
            </a:r>
            <a:r>
              <a:rPr dirty="0" spc="-210"/>
              <a:t>METHOD</a:t>
            </a:r>
            <a:r>
              <a:rPr dirty="0" spc="-270"/>
              <a:t> </a:t>
            </a:r>
            <a:r>
              <a:rPr dirty="0" spc="-215"/>
              <a:t>WITH </a:t>
            </a:r>
            <a:r>
              <a:rPr dirty="0" spc="-135"/>
              <a:t>IF...ELSE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55979" y="2753868"/>
            <a:ext cx="2632710" cy="110490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-10">
                <a:latin typeface="Georgia"/>
                <a:cs typeface="Georgia"/>
              </a:rPr>
              <a:t>It</a:t>
            </a:r>
            <a:r>
              <a:rPr dirty="0" sz="2000" spc="-10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is</a:t>
            </a:r>
            <a:r>
              <a:rPr dirty="0" sz="2000" spc="-85">
                <a:latin typeface="Georgia"/>
                <a:cs typeface="Georgia"/>
              </a:rPr>
              <a:t> </a:t>
            </a:r>
            <a:r>
              <a:rPr dirty="0" sz="2000" spc="-30">
                <a:latin typeface="Georgia"/>
                <a:cs typeface="Georgia"/>
              </a:rPr>
              <a:t>common</a:t>
            </a:r>
            <a:r>
              <a:rPr dirty="0" sz="2000" spc="-9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to</a:t>
            </a:r>
            <a:endParaRPr sz="2000">
              <a:latin typeface="Georgia"/>
              <a:cs typeface="Georgia"/>
            </a:endParaRPr>
          </a:p>
          <a:p>
            <a:pPr marL="240665" marR="5080">
              <a:lnSpc>
                <a:spcPts val="2880"/>
              </a:lnSpc>
              <a:spcBef>
                <a:spcPts val="30"/>
              </a:spcBef>
            </a:pPr>
            <a:r>
              <a:rPr dirty="0" sz="2000" spc="-40">
                <a:latin typeface="Georgia"/>
                <a:cs typeface="Georgia"/>
              </a:rPr>
              <a:t>use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if...else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80">
                <a:latin typeface="Georgia"/>
                <a:cs typeface="Georgia"/>
              </a:rPr>
              <a:t>statements </a:t>
            </a:r>
            <a:r>
              <a:rPr dirty="0" sz="2000" spc="-45">
                <a:latin typeface="Georgia"/>
                <a:cs typeface="Georgia"/>
              </a:rPr>
              <a:t>inside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methods: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 spc="75"/>
              <a:t>JAVA</a:t>
            </a:r>
            <a:r>
              <a:rPr dirty="0" spc="-295"/>
              <a:t> </a:t>
            </a:r>
            <a:r>
              <a:rPr dirty="0" spc="-200"/>
              <a:t>METHOD</a:t>
            </a:r>
            <a:r>
              <a:rPr dirty="0" spc="-290"/>
              <a:t> </a:t>
            </a:r>
            <a:r>
              <a:rPr dirty="0" spc="-195"/>
              <a:t>OVERLOADING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9375" y="2299716"/>
            <a:ext cx="9266555" cy="2707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17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Georgia"/>
                <a:cs typeface="Georgia"/>
              </a:rPr>
              <a:t>With</a:t>
            </a:r>
            <a:r>
              <a:rPr dirty="0" sz="2000" spc="-15">
                <a:latin typeface="Georgia"/>
                <a:cs typeface="Georgia"/>
              </a:rPr>
              <a:t> </a:t>
            </a:r>
            <a:r>
              <a:rPr dirty="0" sz="2000" b="1">
                <a:latin typeface="Calibri"/>
                <a:cs typeface="Calibri"/>
              </a:rPr>
              <a:t>method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overloading</a:t>
            </a:r>
            <a:r>
              <a:rPr dirty="0" sz="2000">
                <a:latin typeface="Georgia"/>
                <a:cs typeface="Georgia"/>
              </a:rPr>
              <a:t>,</a:t>
            </a:r>
            <a:r>
              <a:rPr dirty="0" sz="2000" spc="-10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multiple</a:t>
            </a:r>
            <a:r>
              <a:rPr dirty="0" sz="2000" spc="-10">
                <a:latin typeface="Georgia"/>
                <a:cs typeface="Georgia"/>
              </a:rPr>
              <a:t> </a:t>
            </a:r>
            <a:r>
              <a:rPr dirty="0" sz="2000" spc="-65">
                <a:latin typeface="Georgia"/>
                <a:cs typeface="Georgia"/>
              </a:rPr>
              <a:t>methods</a:t>
            </a:r>
            <a:r>
              <a:rPr dirty="0" sz="2000" spc="-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can</a:t>
            </a:r>
            <a:r>
              <a:rPr dirty="0" sz="2000" spc="-15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have</a:t>
            </a:r>
            <a:r>
              <a:rPr dirty="0" sz="2000" spc="-1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1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same</a:t>
            </a:r>
            <a:r>
              <a:rPr dirty="0" sz="2000" spc="-10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name</a:t>
            </a:r>
            <a:r>
              <a:rPr dirty="0" sz="2000" spc="-1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with</a:t>
            </a:r>
            <a:r>
              <a:rPr dirty="0" sz="2000" spc="-15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different </a:t>
            </a:r>
            <a:r>
              <a:rPr dirty="0" sz="2000" spc="-10">
                <a:latin typeface="Georgia"/>
                <a:cs typeface="Georgia"/>
              </a:rPr>
              <a:t>parameters: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2000" spc="75" b="1">
                <a:latin typeface="Calibri"/>
                <a:cs typeface="Calibri"/>
              </a:rPr>
              <a:t>Example:</a:t>
            </a:r>
            <a:endParaRPr sz="2000">
              <a:latin typeface="Calibri"/>
              <a:cs typeface="Calibri"/>
            </a:endParaRPr>
          </a:p>
          <a:p>
            <a:pPr marL="12700" marR="5740400">
              <a:lnSpc>
                <a:spcPct val="158000"/>
              </a:lnSpc>
              <a:spcBef>
                <a:spcPts val="120"/>
              </a:spcBef>
            </a:pPr>
            <a:r>
              <a:rPr dirty="0" sz="2000">
                <a:latin typeface="Courier New"/>
                <a:cs typeface="Courier New"/>
              </a:rPr>
              <a:t>int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myMethod(int</a:t>
            </a:r>
            <a:r>
              <a:rPr dirty="0" sz="2000" spc="-35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x) </a:t>
            </a:r>
            <a:r>
              <a:rPr dirty="0" sz="2000">
                <a:latin typeface="Courier New"/>
                <a:cs typeface="Courier New"/>
              </a:rPr>
              <a:t>float</a:t>
            </a:r>
            <a:r>
              <a:rPr dirty="0" sz="2000" spc="-6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myMethod(float</a:t>
            </a:r>
            <a:r>
              <a:rPr dirty="0" sz="2000" spc="-45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x)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2000">
                <a:latin typeface="Courier New"/>
                <a:cs typeface="Courier New"/>
              </a:rPr>
              <a:t>double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myMethod(double</a:t>
            </a:r>
            <a:r>
              <a:rPr dirty="0" sz="2000" spc="-35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x,</a:t>
            </a:r>
            <a:r>
              <a:rPr dirty="0" sz="2000" spc="-35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double</a:t>
            </a:r>
            <a:r>
              <a:rPr dirty="0" sz="2000" spc="-35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y)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6272" y="146050"/>
            <a:ext cx="6210300" cy="65658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9375" y="930147"/>
            <a:ext cx="319278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75"/>
              <a:t>JAVA</a:t>
            </a:r>
            <a:r>
              <a:rPr dirty="0" spc="-310"/>
              <a:t> </a:t>
            </a:r>
            <a:r>
              <a:rPr dirty="0" spc="-190"/>
              <a:t>METHOD </a:t>
            </a:r>
            <a:r>
              <a:rPr dirty="0" spc="-170"/>
              <a:t>OVERLOADING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79375" y="2570987"/>
            <a:ext cx="2703830" cy="184213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241300" marR="5080" indent="-228600">
              <a:lnSpc>
                <a:spcPct val="119800"/>
              </a:lnSpc>
              <a:spcBef>
                <a:spcPts val="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30">
                <a:latin typeface="Georgia"/>
                <a:cs typeface="Georgia"/>
              </a:rPr>
              <a:t>Consider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30">
                <a:latin typeface="Georgia"/>
                <a:cs typeface="Georgia"/>
              </a:rPr>
              <a:t>following </a:t>
            </a:r>
            <a:r>
              <a:rPr dirty="0" sz="2000" spc="-45">
                <a:latin typeface="Georgia"/>
                <a:cs typeface="Georgia"/>
              </a:rPr>
              <a:t>example,</a:t>
            </a:r>
            <a:r>
              <a:rPr dirty="0" sz="2000" spc="-8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which</a:t>
            </a:r>
            <a:r>
              <a:rPr dirty="0" sz="2000" spc="-11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has </a:t>
            </a:r>
            <a:r>
              <a:rPr dirty="0" sz="2000">
                <a:latin typeface="Georgia"/>
                <a:cs typeface="Georgia"/>
              </a:rPr>
              <a:t>two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methods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that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add </a:t>
            </a:r>
            <a:r>
              <a:rPr dirty="0" sz="2000" spc="-90">
                <a:latin typeface="Georgia"/>
                <a:cs typeface="Georgia"/>
              </a:rPr>
              <a:t>numbers</a:t>
            </a:r>
            <a:r>
              <a:rPr dirty="0" sz="2000">
                <a:latin typeface="Georgia"/>
                <a:cs typeface="Georgia"/>
              </a:rPr>
              <a:t> of</a:t>
            </a:r>
            <a:r>
              <a:rPr dirty="0" sz="2000" spc="19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different type: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0314" y="22302"/>
            <a:ext cx="6075292" cy="68356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9375" y="930147"/>
            <a:ext cx="319278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75"/>
              <a:t>JAVA</a:t>
            </a:r>
            <a:r>
              <a:rPr dirty="0" spc="-310"/>
              <a:t> </a:t>
            </a:r>
            <a:r>
              <a:rPr dirty="0" spc="-190"/>
              <a:t>METHOD </a:t>
            </a:r>
            <a:r>
              <a:rPr dirty="0" spc="-170"/>
              <a:t>OVERLOADING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79375" y="2513075"/>
            <a:ext cx="3360420" cy="343027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241300" marR="183515" indent="-228600">
              <a:lnSpc>
                <a:spcPct val="119700"/>
              </a:lnSpc>
              <a:spcBef>
                <a:spcPts val="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60">
                <a:latin typeface="Georgia"/>
                <a:cs typeface="Georgia"/>
              </a:rPr>
              <a:t>Instead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of</a:t>
            </a:r>
            <a:r>
              <a:rPr dirty="0" sz="2000" spc="165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defining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two </a:t>
            </a:r>
            <a:r>
              <a:rPr dirty="0" sz="2000" spc="-55">
                <a:latin typeface="Georgia"/>
                <a:cs typeface="Georgia"/>
              </a:rPr>
              <a:t>methods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that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should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do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 </a:t>
            </a:r>
            <a:r>
              <a:rPr dirty="0" sz="2000" spc="-55">
                <a:latin typeface="Georgia"/>
                <a:cs typeface="Georgia"/>
              </a:rPr>
              <a:t>same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thing,</a:t>
            </a:r>
            <a:r>
              <a:rPr dirty="0" sz="2000" spc="-8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it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is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80">
                <a:latin typeface="Georgia"/>
                <a:cs typeface="Georgia"/>
              </a:rPr>
              <a:t>better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to </a:t>
            </a:r>
            <a:r>
              <a:rPr dirty="0" sz="2000" spc="-40">
                <a:latin typeface="Georgia"/>
                <a:cs typeface="Georgia"/>
              </a:rPr>
              <a:t>overload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one.</a:t>
            </a:r>
            <a:endParaRPr sz="2000">
              <a:latin typeface="Georgia"/>
              <a:cs typeface="Georgia"/>
            </a:endParaRPr>
          </a:p>
          <a:p>
            <a:pPr marL="241300" marR="399415" indent="-228600">
              <a:lnSpc>
                <a:spcPct val="121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Georgia"/>
                <a:cs typeface="Georgia"/>
              </a:rPr>
              <a:t>In</a:t>
            </a:r>
            <a:r>
              <a:rPr dirty="0" sz="2000" spc="-85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example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below, </a:t>
            </a:r>
            <a:r>
              <a:rPr dirty="0" sz="2000" spc="-25">
                <a:latin typeface="Georgia"/>
                <a:cs typeface="Georgia"/>
              </a:rPr>
              <a:t>we </a:t>
            </a:r>
            <a:r>
              <a:rPr dirty="0" sz="2000" spc="-10">
                <a:latin typeface="Georgia"/>
                <a:cs typeface="Georgia"/>
              </a:rPr>
              <a:t>overload</a:t>
            </a:r>
            <a:endParaRPr sz="2000">
              <a:latin typeface="Georgia"/>
              <a:cs typeface="Georgia"/>
            </a:endParaRPr>
          </a:p>
          <a:p>
            <a:pPr marL="241300" marR="5080">
              <a:lnSpc>
                <a:spcPts val="2880"/>
              </a:lnSpc>
              <a:spcBef>
                <a:spcPts val="100"/>
              </a:spcBef>
            </a:pPr>
            <a:r>
              <a:rPr dirty="0" sz="2000" spc="-50">
                <a:latin typeface="Georgia"/>
                <a:cs typeface="Georgia"/>
              </a:rPr>
              <a:t>the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AdditionMethod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method </a:t>
            </a:r>
            <a:r>
              <a:rPr dirty="0" sz="2000">
                <a:latin typeface="Georgia"/>
                <a:cs typeface="Georgia"/>
              </a:rPr>
              <a:t>to</a:t>
            </a:r>
            <a:r>
              <a:rPr dirty="0" sz="2000" spc="-9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work</a:t>
            </a:r>
            <a:r>
              <a:rPr dirty="0" sz="2000" spc="-9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for</a:t>
            </a:r>
            <a:endParaRPr sz="2000">
              <a:latin typeface="Georgia"/>
              <a:cs typeface="Georgia"/>
            </a:endParaRPr>
          </a:p>
          <a:p>
            <a:pPr marL="241300">
              <a:lnSpc>
                <a:spcPct val="100000"/>
              </a:lnSpc>
              <a:spcBef>
                <a:spcPts val="330"/>
              </a:spcBef>
            </a:pPr>
            <a:r>
              <a:rPr dirty="0" sz="2000" spc="-50">
                <a:latin typeface="Georgia"/>
                <a:cs typeface="Georgia"/>
              </a:rPr>
              <a:t>both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35">
                <a:latin typeface="Georgia"/>
                <a:cs typeface="Georgia"/>
              </a:rPr>
              <a:t>int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and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double: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0294" y="146050"/>
            <a:ext cx="11727180" cy="6408420"/>
            <a:chOff x="160294" y="146050"/>
            <a:chExt cx="11727180" cy="64084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294" y="351631"/>
              <a:ext cx="5821405" cy="615473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0301" y="146050"/>
              <a:ext cx="5676900" cy="64082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 spc="75"/>
              <a:t>JAVA</a:t>
            </a:r>
            <a:r>
              <a:rPr dirty="0" spc="-310"/>
              <a:t> </a:t>
            </a:r>
            <a:r>
              <a:rPr dirty="0" spc="-120"/>
              <a:t>SCOPE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9375" y="2174748"/>
            <a:ext cx="7814309" cy="988694"/>
          </a:xfrm>
          <a:prstGeom prst="rect">
            <a:avLst/>
          </a:prstGeom>
        </p:spPr>
        <p:txBody>
          <a:bodyPr wrap="square" lIns="0" tIns="18923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Georgia"/>
                <a:cs typeface="Georgia"/>
              </a:rPr>
              <a:t>In</a:t>
            </a:r>
            <a:r>
              <a:rPr dirty="0" sz="2000" spc="-95">
                <a:latin typeface="Georgia"/>
                <a:cs typeface="Georgia"/>
              </a:rPr>
              <a:t> </a:t>
            </a:r>
            <a:r>
              <a:rPr dirty="0" sz="2000" spc="-80">
                <a:latin typeface="Georgia"/>
                <a:cs typeface="Georgia"/>
              </a:rPr>
              <a:t>Java,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variables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35">
                <a:latin typeface="Georgia"/>
                <a:cs typeface="Georgia"/>
              </a:rPr>
              <a:t>are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only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accessible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inside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region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they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35">
                <a:latin typeface="Georgia"/>
                <a:cs typeface="Georgia"/>
              </a:rPr>
              <a:t>are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created.</a:t>
            </a:r>
            <a:endParaRPr sz="20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13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i="1">
                <a:solidFill>
                  <a:srgbClr val="C00000"/>
                </a:solidFill>
                <a:latin typeface="Times New Roman"/>
                <a:cs typeface="Times New Roman"/>
              </a:rPr>
              <a:t>This</a:t>
            </a:r>
            <a:r>
              <a:rPr dirty="0" sz="2000" spc="-1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65" i="1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dirty="0" sz="2000" spc="-1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10" i="1">
                <a:solidFill>
                  <a:srgbClr val="C00000"/>
                </a:solidFill>
                <a:latin typeface="Times New Roman"/>
                <a:cs typeface="Times New Roman"/>
              </a:rPr>
              <a:t>called</a:t>
            </a:r>
            <a:r>
              <a:rPr dirty="0" sz="2000" spc="-1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 i="1">
                <a:solidFill>
                  <a:srgbClr val="C00000"/>
                </a:solidFill>
                <a:latin typeface="Cambria"/>
                <a:cs typeface="Cambria"/>
              </a:rPr>
              <a:t>scope</a:t>
            </a:r>
            <a:r>
              <a:rPr dirty="0" sz="2000" spc="-10" i="1">
                <a:solidFill>
                  <a:srgbClr val="C00000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9375" y="930147"/>
            <a:ext cx="345249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0"/>
              <a:t>METHOD</a:t>
            </a:r>
            <a:r>
              <a:rPr dirty="0" spc="-270"/>
              <a:t> </a:t>
            </a:r>
            <a:r>
              <a:rPr dirty="0" spc="-120"/>
              <a:t>SCOPE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9375" y="1997963"/>
            <a:ext cx="3401060" cy="184213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241300" marR="5080" indent="-228600">
              <a:lnSpc>
                <a:spcPct val="119800"/>
              </a:lnSpc>
              <a:spcBef>
                <a:spcPts val="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85" i="1">
                <a:solidFill>
                  <a:srgbClr val="C00000"/>
                </a:solidFill>
                <a:latin typeface="Times New Roman"/>
                <a:cs typeface="Times New Roman"/>
              </a:rPr>
              <a:t>Variables</a:t>
            </a:r>
            <a:r>
              <a:rPr dirty="0" sz="200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20" i="1">
                <a:solidFill>
                  <a:srgbClr val="C00000"/>
                </a:solidFill>
                <a:latin typeface="Times New Roman"/>
                <a:cs typeface="Times New Roman"/>
              </a:rPr>
              <a:t>declared</a:t>
            </a:r>
            <a:r>
              <a:rPr dirty="0" sz="2000" spc="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90" i="1">
                <a:solidFill>
                  <a:srgbClr val="C00000"/>
                </a:solidFill>
                <a:latin typeface="Times New Roman"/>
                <a:cs typeface="Times New Roman"/>
              </a:rPr>
              <a:t>directly</a:t>
            </a:r>
            <a:r>
              <a:rPr dirty="0" sz="2000" spc="-10" i="1">
                <a:solidFill>
                  <a:srgbClr val="C00000"/>
                </a:solidFill>
                <a:latin typeface="Times New Roman"/>
                <a:cs typeface="Times New Roman"/>
              </a:rPr>
              <a:t> inside </a:t>
            </a:r>
            <a:r>
              <a:rPr dirty="0" sz="2000" i="1">
                <a:solidFill>
                  <a:srgbClr val="C00000"/>
                </a:solidFill>
                <a:latin typeface="Times New Roman"/>
                <a:cs typeface="Times New Roman"/>
              </a:rPr>
              <a:t>a</a:t>
            </a:r>
            <a:r>
              <a:rPr dirty="0" sz="2000" spc="-6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40" i="1">
                <a:solidFill>
                  <a:srgbClr val="C00000"/>
                </a:solidFill>
                <a:latin typeface="Times New Roman"/>
                <a:cs typeface="Times New Roman"/>
              </a:rPr>
              <a:t>method </a:t>
            </a:r>
            <a:r>
              <a:rPr dirty="0" sz="2000" spc="-135" i="1">
                <a:solidFill>
                  <a:srgbClr val="C00000"/>
                </a:solidFill>
                <a:latin typeface="Times New Roman"/>
                <a:cs typeface="Times New Roman"/>
              </a:rPr>
              <a:t>are</a:t>
            </a:r>
            <a:r>
              <a:rPr dirty="0" sz="2000" spc="-4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85" i="1">
                <a:solidFill>
                  <a:srgbClr val="C00000"/>
                </a:solidFill>
                <a:latin typeface="Times New Roman"/>
                <a:cs typeface="Times New Roman"/>
              </a:rPr>
              <a:t>available</a:t>
            </a:r>
            <a:r>
              <a:rPr dirty="0" sz="2000" spc="-4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60" i="1">
                <a:solidFill>
                  <a:srgbClr val="C00000"/>
                </a:solidFill>
                <a:latin typeface="Times New Roman"/>
                <a:cs typeface="Times New Roman"/>
              </a:rPr>
              <a:t>anywhere </a:t>
            </a:r>
            <a:r>
              <a:rPr dirty="0" sz="2000" i="1">
                <a:solidFill>
                  <a:srgbClr val="C00000"/>
                </a:solidFill>
                <a:latin typeface="Times New Roman"/>
                <a:cs typeface="Times New Roman"/>
              </a:rPr>
              <a:t>in</a:t>
            </a:r>
            <a:r>
              <a:rPr dirty="0" sz="2000" spc="-8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45" i="1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dirty="0" sz="2000" spc="-7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40" i="1">
                <a:solidFill>
                  <a:srgbClr val="C00000"/>
                </a:solidFill>
                <a:latin typeface="Times New Roman"/>
                <a:cs typeface="Times New Roman"/>
              </a:rPr>
              <a:t>method</a:t>
            </a:r>
            <a:r>
              <a:rPr dirty="0" sz="2000" spc="-6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70" i="1">
                <a:solidFill>
                  <a:srgbClr val="C00000"/>
                </a:solidFill>
                <a:latin typeface="Times New Roman"/>
                <a:cs typeface="Times New Roman"/>
              </a:rPr>
              <a:t>following</a:t>
            </a:r>
            <a:r>
              <a:rPr dirty="0" sz="2000" spc="-5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45" i="1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dirty="0" sz="2000" spc="-7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20" i="1">
                <a:solidFill>
                  <a:srgbClr val="C00000"/>
                </a:solidFill>
                <a:latin typeface="Times New Roman"/>
                <a:cs typeface="Times New Roman"/>
              </a:rPr>
              <a:t>line </a:t>
            </a:r>
            <a:r>
              <a:rPr dirty="0" sz="2000" i="1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dirty="0" sz="2000" spc="18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40" i="1">
                <a:solidFill>
                  <a:srgbClr val="C00000"/>
                </a:solidFill>
                <a:latin typeface="Times New Roman"/>
                <a:cs typeface="Times New Roman"/>
              </a:rPr>
              <a:t>code</a:t>
            </a:r>
            <a:r>
              <a:rPr dirty="0" sz="2000" spc="-4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i="1">
                <a:solidFill>
                  <a:srgbClr val="C00000"/>
                </a:solidFill>
                <a:latin typeface="Times New Roman"/>
                <a:cs typeface="Times New Roman"/>
              </a:rPr>
              <a:t>in</a:t>
            </a:r>
            <a:r>
              <a:rPr dirty="0" sz="2000" spc="-8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45" i="1">
                <a:solidFill>
                  <a:srgbClr val="C00000"/>
                </a:solidFill>
                <a:latin typeface="Times New Roman"/>
                <a:cs typeface="Times New Roman"/>
              </a:rPr>
              <a:t>which</a:t>
            </a:r>
            <a:r>
              <a:rPr dirty="0" sz="2000" spc="-8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25" i="1">
                <a:solidFill>
                  <a:srgbClr val="C00000"/>
                </a:solidFill>
                <a:latin typeface="Times New Roman"/>
                <a:cs typeface="Times New Roman"/>
              </a:rPr>
              <a:t>they</a:t>
            </a:r>
            <a:r>
              <a:rPr dirty="0" sz="2000" spc="-9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20" i="1">
                <a:solidFill>
                  <a:srgbClr val="C00000"/>
                </a:solidFill>
                <a:latin typeface="Times New Roman"/>
                <a:cs typeface="Times New Roman"/>
              </a:rPr>
              <a:t>were </a:t>
            </a:r>
            <a:r>
              <a:rPr dirty="0" sz="2000" spc="-10" i="1">
                <a:solidFill>
                  <a:srgbClr val="C00000"/>
                </a:solidFill>
                <a:latin typeface="Times New Roman"/>
                <a:cs typeface="Times New Roman"/>
              </a:rPr>
              <a:t>declared: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390" y="1251854"/>
            <a:ext cx="5510781" cy="36047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9375" y="930147"/>
            <a:ext cx="299783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BLOCK</a:t>
            </a:r>
            <a:r>
              <a:rPr dirty="0" spc="-280"/>
              <a:t> </a:t>
            </a:r>
            <a:r>
              <a:rPr dirty="0" spc="-125"/>
              <a:t>SCOPE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9376" y="1982723"/>
            <a:ext cx="4006850" cy="2689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77470" indent="-228600">
              <a:lnSpc>
                <a:spcPct val="115999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185">
                <a:latin typeface="Georgia"/>
                <a:cs typeface="Georgia"/>
              </a:rPr>
              <a:t>A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block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of</a:t>
            </a:r>
            <a:r>
              <a:rPr dirty="0" sz="2000" spc="14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code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75">
                <a:latin typeface="Georgia"/>
                <a:cs typeface="Georgia"/>
              </a:rPr>
              <a:t>refers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to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all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of</a:t>
            </a:r>
            <a:r>
              <a:rPr dirty="0" sz="2000" spc="140">
                <a:latin typeface="Georgia"/>
                <a:cs typeface="Georgia"/>
              </a:rPr>
              <a:t> </a:t>
            </a:r>
            <a:r>
              <a:rPr dirty="0" sz="2000" spc="-30">
                <a:latin typeface="Georgia"/>
                <a:cs typeface="Georgia"/>
              </a:rPr>
              <a:t>the </a:t>
            </a:r>
            <a:r>
              <a:rPr dirty="0" sz="2000">
                <a:latin typeface="Georgia"/>
                <a:cs typeface="Georgia"/>
              </a:rPr>
              <a:t>code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between </a:t>
            </a:r>
            <a:r>
              <a:rPr dirty="0" sz="2000" spc="-25">
                <a:latin typeface="Georgia"/>
                <a:cs typeface="Georgia"/>
              </a:rPr>
              <a:t>curly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braces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40">
                <a:latin typeface="Georgia"/>
                <a:cs typeface="Georgia"/>
              </a:rPr>
              <a:t>{}.</a:t>
            </a:r>
            <a:endParaRPr sz="2000">
              <a:latin typeface="Georgia"/>
              <a:cs typeface="Georgia"/>
            </a:endParaRPr>
          </a:p>
          <a:p>
            <a:pPr marL="241300" marR="5080" indent="-228600">
              <a:lnSpc>
                <a:spcPct val="11970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60">
                <a:latin typeface="Georgia"/>
                <a:cs typeface="Georgia"/>
              </a:rPr>
              <a:t>Variables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declared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inside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30">
                <a:latin typeface="Georgia"/>
                <a:cs typeface="Georgia"/>
              </a:rPr>
              <a:t>blocks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of </a:t>
            </a:r>
            <a:r>
              <a:rPr dirty="0" sz="2000">
                <a:latin typeface="Georgia"/>
                <a:cs typeface="Georgia"/>
              </a:rPr>
              <a:t>code</a:t>
            </a:r>
            <a:r>
              <a:rPr dirty="0" sz="2000" spc="-85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are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only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accessible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by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the </a:t>
            </a:r>
            <a:r>
              <a:rPr dirty="0" sz="2000">
                <a:latin typeface="Georgia"/>
                <a:cs typeface="Georgia"/>
              </a:rPr>
              <a:t>code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60">
                <a:latin typeface="Georgia"/>
                <a:cs typeface="Georgia"/>
              </a:rPr>
              <a:t>between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curly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braces, </a:t>
            </a:r>
            <a:r>
              <a:rPr dirty="0" sz="2000">
                <a:latin typeface="Georgia"/>
                <a:cs typeface="Georgia"/>
              </a:rPr>
              <a:t>which</a:t>
            </a:r>
            <a:r>
              <a:rPr dirty="0" sz="2000" spc="-114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follows</a:t>
            </a:r>
            <a:r>
              <a:rPr dirty="0" sz="2000" spc="-85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line</a:t>
            </a:r>
            <a:r>
              <a:rPr dirty="0" sz="2000" spc="-9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in</a:t>
            </a:r>
            <a:r>
              <a:rPr dirty="0" sz="2000" spc="-9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which</a:t>
            </a:r>
            <a:r>
              <a:rPr dirty="0" sz="2000" spc="-95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the </a:t>
            </a:r>
            <a:r>
              <a:rPr dirty="0" sz="2000" spc="-50">
                <a:latin typeface="Georgia"/>
                <a:cs typeface="Georgia"/>
              </a:rPr>
              <a:t>variable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was</a:t>
            </a:r>
            <a:r>
              <a:rPr dirty="0" sz="2000" spc="-9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declared:</a:t>
            </a:r>
            <a:endParaRPr sz="2000">
              <a:latin typeface="Georgia"/>
              <a:cs typeface="Georg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1332" y="1016274"/>
            <a:ext cx="4142395" cy="485850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9375" y="930147"/>
            <a:ext cx="299783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BLOCK</a:t>
            </a:r>
            <a:r>
              <a:rPr dirty="0" spc="-280"/>
              <a:t> </a:t>
            </a:r>
            <a:r>
              <a:rPr dirty="0" spc="-125"/>
              <a:t>SCOPE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9375" y="2174748"/>
            <a:ext cx="10229215" cy="1357630"/>
          </a:xfrm>
          <a:prstGeom prst="rect">
            <a:avLst/>
          </a:prstGeom>
        </p:spPr>
        <p:txBody>
          <a:bodyPr wrap="square" lIns="0" tIns="18923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185">
                <a:latin typeface="Georgia"/>
                <a:cs typeface="Georgia"/>
              </a:rPr>
              <a:t>A</a:t>
            </a:r>
            <a:r>
              <a:rPr dirty="0" sz="2000" spc="-125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block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of</a:t>
            </a:r>
            <a:r>
              <a:rPr dirty="0" sz="2000" spc="10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code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may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35">
                <a:latin typeface="Georgia"/>
                <a:cs typeface="Georgia"/>
              </a:rPr>
              <a:t>exist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on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its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own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or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it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can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belong</a:t>
            </a:r>
            <a:r>
              <a:rPr dirty="0" sz="2000" spc="-7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to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an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 i="1">
                <a:solidFill>
                  <a:srgbClr val="C00000"/>
                </a:solidFill>
                <a:latin typeface="Times New Roman"/>
                <a:cs typeface="Times New Roman"/>
              </a:rPr>
              <a:t>if</a:t>
            </a:r>
            <a:r>
              <a:rPr dirty="0" sz="2000">
                <a:latin typeface="Georgia"/>
                <a:cs typeface="Georgia"/>
              </a:rPr>
              <a:t>,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35" i="1">
                <a:solidFill>
                  <a:srgbClr val="C00000"/>
                </a:solidFill>
                <a:latin typeface="Times New Roman"/>
                <a:cs typeface="Times New Roman"/>
              </a:rPr>
              <a:t>while</a:t>
            </a:r>
            <a:r>
              <a:rPr dirty="0" sz="2000" spc="-85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latin typeface="Georgia"/>
                <a:cs typeface="Georgia"/>
              </a:rPr>
              <a:t>or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105" i="1">
                <a:solidFill>
                  <a:srgbClr val="C00000"/>
                </a:solidFill>
                <a:latin typeface="Times New Roman"/>
                <a:cs typeface="Times New Roman"/>
              </a:rPr>
              <a:t>for</a:t>
            </a:r>
            <a:r>
              <a:rPr dirty="0" sz="2000" spc="-2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Georgia"/>
                <a:cs typeface="Georgia"/>
              </a:rPr>
              <a:t>statement.</a:t>
            </a:r>
            <a:endParaRPr sz="2000">
              <a:latin typeface="Georgia"/>
              <a:cs typeface="Georgia"/>
            </a:endParaRPr>
          </a:p>
          <a:p>
            <a:pPr marL="241300" marR="5080" indent="-228600">
              <a:lnSpc>
                <a:spcPct val="121000"/>
              </a:lnSpc>
              <a:spcBef>
                <a:spcPts val="8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Georgia"/>
                <a:cs typeface="Georgia"/>
              </a:rPr>
              <a:t>In</a:t>
            </a:r>
            <a:r>
              <a:rPr dirty="0" sz="2000" spc="-125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case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of</a:t>
            </a:r>
            <a:r>
              <a:rPr dirty="0" sz="2000" spc="114">
                <a:latin typeface="Georgia"/>
                <a:cs typeface="Georgia"/>
              </a:rPr>
              <a:t> </a:t>
            </a:r>
            <a:r>
              <a:rPr dirty="0" sz="2000" spc="-105" i="1">
                <a:solidFill>
                  <a:srgbClr val="C00000"/>
                </a:solidFill>
                <a:latin typeface="Times New Roman"/>
                <a:cs typeface="Times New Roman"/>
              </a:rPr>
              <a:t>for</a:t>
            </a:r>
            <a:r>
              <a:rPr dirty="0" sz="2000" spc="-20" i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75">
                <a:latin typeface="Georgia"/>
                <a:cs typeface="Georgia"/>
              </a:rPr>
              <a:t>statements,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55">
                <a:latin typeface="Georgia"/>
                <a:cs typeface="Georgia"/>
              </a:rPr>
              <a:t>variables</a:t>
            </a:r>
            <a:r>
              <a:rPr dirty="0" sz="2000" spc="-50">
                <a:latin typeface="Georgia"/>
                <a:cs typeface="Georgia"/>
              </a:rPr>
              <a:t> declared </a:t>
            </a:r>
            <a:r>
              <a:rPr dirty="0" sz="2000">
                <a:latin typeface="Georgia"/>
                <a:cs typeface="Georgia"/>
              </a:rPr>
              <a:t>in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the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80">
                <a:latin typeface="Georgia"/>
                <a:cs typeface="Georgia"/>
              </a:rPr>
              <a:t>statement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itself</a:t>
            </a:r>
            <a:r>
              <a:rPr dirty="0" sz="2000" spc="120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are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also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available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inside </a:t>
            </a:r>
            <a:r>
              <a:rPr dirty="0" sz="2000" spc="-50">
                <a:latin typeface="Georgia"/>
                <a:cs typeface="Georgia"/>
              </a:rPr>
              <a:t>the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block's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scope.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00100" y="93675"/>
            <a:ext cx="10591800" cy="6652895"/>
            <a:chOff x="800100" y="93675"/>
            <a:chExt cx="10591800" cy="66528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0955" y="93675"/>
              <a:ext cx="5364530" cy="665244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079463" y="2638304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4" h="24764">
                  <a:moveTo>
                    <a:pt x="19210" y="0"/>
                  </a:moveTo>
                  <a:lnTo>
                    <a:pt x="5541" y="0"/>
                  </a:lnTo>
                  <a:lnTo>
                    <a:pt x="0" y="5541"/>
                  </a:lnTo>
                  <a:lnTo>
                    <a:pt x="0" y="19210"/>
                  </a:lnTo>
                  <a:lnTo>
                    <a:pt x="5541" y="24749"/>
                  </a:lnTo>
                  <a:lnTo>
                    <a:pt x="19210" y="24749"/>
                  </a:lnTo>
                  <a:lnTo>
                    <a:pt x="24749" y="19210"/>
                  </a:lnTo>
                  <a:lnTo>
                    <a:pt x="24749" y="12374"/>
                  </a:lnTo>
                  <a:lnTo>
                    <a:pt x="24749" y="5541"/>
                  </a:lnTo>
                  <a:lnTo>
                    <a:pt x="19210" y="0"/>
                  </a:lnTo>
                  <a:close/>
                </a:path>
              </a:pathLst>
            </a:custGeom>
            <a:solidFill>
              <a:srgbClr val="CC00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79376" y="929132"/>
            <a:ext cx="2030730" cy="2226310"/>
          </a:xfrm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0"/>
              </a:spcBef>
            </a:pPr>
            <a:r>
              <a:rPr dirty="0" sz="3600" spc="-10"/>
              <a:t>SAMPLE </a:t>
            </a:r>
            <a:r>
              <a:rPr dirty="0" sz="3600" spc="-90"/>
              <a:t>PROGRAM </a:t>
            </a:r>
            <a:r>
              <a:rPr dirty="0" sz="3600" spc="-10"/>
              <a:t>USING </a:t>
            </a:r>
            <a:r>
              <a:rPr dirty="0" sz="3600" spc="-90"/>
              <a:t>METHODS</a:t>
            </a:r>
            <a:endParaRPr sz="3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921885">
              <a:lnSpc>
                <a:spcPct val="100000"/>
              </a:lnSpc>
              <a:spcBef>
                <a:spcPts val="100"/>
              </a:spcBef>
            </a:pPr>
            <a:r>
              <a:rPr dirty="0" spc="-280"/>
              <a:t>YOUR</a:t>
            </a:r>
            <a:r>
              <a:rPr dirty="0" spc="-295"/>
              <a:t> </a:t>
            </a:r>
            <a:r>
              <a:rPr dirty="0" spc="-100"/>
              <a:t>ASSIGNMENT: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0"/>
            <a:ext cx="4876780" cy="68579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5715000" y="738013"/>
            <a:ext cx="5676900" cy="0"/>
          </a:xfrm>
          <a:custGeom>
            <a:avLst/>
            <a:gdLst/>
            <a:ahLst/>
            <a:cxnLst/>
            <a:rect l="l" t="t" r="r" b="b"/>
            <a:pathLst>
              <a:path w="5676900" h="0">
                <a:moveTo>
                  <a:pt x="0" y="0"/>
                </a:moveTo>
                <a:lnTo>
                  <a:pt x="5676900" y="1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469265" marR="29209" indent="-457200">
              <a:lnSpc>
                <a:spcPct val="118500"/>
              </a:lnSpc>
              <a:spcBef>
                <a:spcPts val="40"/>
              </a:spcBef>
              <a:buAutoNum type="arabicPeriod"/>
              <a:tabLst>
                <a:tab pos="469265" algn="l"/>
              </a:tabLst>
            </a:pPr>
            <a:r>
              <a:rPr dirty="0" spc="-45"/>
              <a:t>Based</a:t>
            </a:r>
            <a:r>
              <a:rPr dirty="0" spc="-50"/>
              <a:t> </a:t>
            </a:r>
            <a:r>
              <a:rPr dirty="0"/>
              <a:t>on</a:t>
            </a:r>
            <a:r>
              <a:rPr dirty="0" spc="-55"/>
              <a:t> </a:t>
            </a:r>
            <a:r>
              <a:rPr dirty="0" spc="-50"/>
              <a:t>the </a:t>
            </a:r>
            <a:r>
              <a:rPr dirty="0" spc="-45"/>
              <a:t>given</a:t>
            </a:r>
            <a:r>
              <a:rPr dirty="0" spc="-55"/>
              <a:t> </a:t>
            </a:r>
            <a:r>
              <a:rPr dirty="0" spc="-60"/>
              <a:t>sample</a:t>
            </a:r>
            <a:r>
              <a:rPr dirty="0" spc="-50"/>
              <a:t> </a:t>
            </a:r>
            <a:r>
              <a:rPr dirty="0" spc="-45"/>
              <a:t>program,</a:t>
            </a:r>
            <a:r>
              <a:rPr dirty="0" spc="-50"/>
              <a:t> </a:t>
            </a:r>
            <a:r>
              <a:rPr dirty="0" spc="-20"/>
              <a:t>add</a:t>
            </a:r>
            <a:r>
              <a:rPr dirty="0" spc="-45"/>
              <a:t> </a:t>
            </a:r>
            <a:r>
              <a:rPr dirty="0" spc="-50"/>
              <a:t>a </a:t>
            </a:r>
            <a:r>
              <a:rPr dirty="0" spc="-55"/>
              <a:t>method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 spc="-50"/>
              <a:t>multiply</a:t>
            </a:r>
            <a:r>
              <a:rPr dirty="0" spc="-35"/>
              <a:t> </a:t>
            </a:r>
            <a:r>
              <a:rPr dirty="0"/>
              <a:t>two</a:t>
            </a:r>
            <a:r>
              <a:rPr dirty="0" spc="-40"/>
              <a:t> </a:t>
            </a:r>
            <a:r>
              <a:rPr dirty="0" spc="-75"/>
              <a:t>integers</a:t>
            </a:r>
            <a:r>
              <a:rPr dirty="0" spc="-30"/>
              <a:t> and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55"/>
              <a:t>method</a:t>
            </a:r>
            <a:r>
              <a:rPr dirty="0" spc="-35"/>
              <a:t> </a:t>
            </a:r>
            <a:r>
              <a:rPr dirty="0" spc="-25"/>
              <a:t>to </a:t>
            </a:r>
            <a:r>
              <a:rPr dirty="0" spc="-30"/>
              <a:t>divide</a:t>
            </a:r>
            <a:r>
              <a:rPr dirty="0" spc="-70"/>
              <a:t> </a:t>
            </a:r>
            <a:r>
              <a:rPr dirty="0"/>
              <a:t>two</a:t>
            </a:r>
            <a:r>
              <a:rPr dirty="0" spc="-65"/>
              <a:t> </a:t>
            </a:r>
            <a:r>
              <a:rPr dirty="0" spc="-10"/>
              <a:t>integers.</a:t>
            </a:r>
          </a:p>
          <a:p>
            <a:pPr marL="469265" marR="5080" indent="-457200">
              <a:lnSpc>
                <a:spcPct val="120000"/>
              </a:lnSpc>
              <a:spcBef>
                <a:spcPts val="1030"/>
              </a:spcBef>
              <a:buAutoNum type="arabicPeriod"/>
              <a:tabLst>
                <a:tab pos="469265" algn="l"/>
              </a:tabLst>
            </a:pPr>
            <a:r>
              <a:rPr dirty="0"/>
              <a:t>Apply</a:t>
            </a:r>
            <a:r>
              <a:rPr dirty="0" spc="-45"/>
              <a:t> </a:t>
            </a:r>
            <a:r>
              <a:rPr dirty="0" spc="-55"/>
              <a:t>method</a:t>
            </a:r>
            <a:r>
              <a:rPr dirty="0" spc="-40"/>
              <a:t> </a:t>
            </a:r>
            <a:r>
              <a:rPr dirty="0" spc="-50"/>
              <a:t>overloading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 spc="-35"/>
              <a:t>minimize</a:t>
            </a:r>
            <a:r>
              <a:rPr dirty="0" spc="-40"/>
              <a:t> </a:t>
            </a:r>
            <a:r>
              <a:rPr dirty="0" spc="-50"/>
              <a:t>the</a:t>
            </a:r>
            <a:r>
              <a:rPr dirty="0" spc="-40"/>
              <a:t> </a:t>
            </a:r>
            <a:r>
              <a:rPr dirty="0" spc="-10"/>
              <a:t>given </a:t>
            </a:r>
            <a:r>
              <a:rPr dirty="0" spc="-65"/>
              <a:t>sample</a:t>
            </a:r>
            <a:r>
              <a:rPr dirty="0" spc="-10"/>
              <a:t> </a:t>
            </a:r>
            <a:r>
              <a:rPr dirty="0" spc="-20"/>
              <a:t>code.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5715000" y="6134100"/>
            <a:ext cx="5676900" cy="0"/>
          </a:xfrm>
          <a:custGeom>
            <a:avLst/>
            <a:gdLst/>
            <a:ahLst/>
            <a:cxnLst/>
            <a:rect l="l" t="t" r="r" b="b"/>
            <a:pathLst>
              <a:path w="5676900" h="0">
                <a:moveTo>
                  <a:pt x="0" y="0"/>
                </a:moveTo>
                <a:lnTo>
                  <a:pt x="5676900" y="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487" y="852932"/>
            <a:ext cx="2476500" cy="1680845"/>
          </a:xfrm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65"/>
              </a:spcBef>
            </a:pPr>
            <a:r>
              <a:rPr dirty="0" sz="3600" spc="-25"/>
              <a:t>ACCEPTING </a:t>
            </a:r>
            <a:r>
              <a:rPr dirty="0" sz="3600" spc="-145"/>
              <a:t>INPUT</a:t>
            </a:r>
            <a:r>
              <a:rPr dirty="0" sz="3600" spc="-260"/>
              <a:t> </a:t>
            </a:r>
            <a:r>
              <a:rPr dirty="0" sz="3600" spc="-135"/>
              <a:t>FROM </a:t>
            </a:r>
            <a:r>
              <a:rPr dirty="0" sz="3600" spc="-250"/>
              <a:t>THE</a:t>
            </a:r>
            <a:r>
              <a:rPr dirty="0" sz="3600" spc="-260"/>
              <a:t> </a:t>
            </a:r>
            <a:r>
              <a:rPr dirty="0" sz="3600" spc="-20"/>
              <a:t>USER</a:t>
            </a:r>
            <a:endParaRPr sz="36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3743" y="887323"/>
            <a:ext cx="5635957" cy="5164378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9018257" y="1672024"/>
            <a:ext cx="2679700" cy="2857500"/>
            <a:chOff x="9018257" y="1672024"/>
            <a:chExt cx="2679700" cy="28575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18257" y="1672024"/>
              <a:ext cx="2679700" cy="28574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9209383" y="3128624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4">
                  <a:moveTo>
                    <a:pt x="19210" y="0"/>
                  </a:moveTo>
                  <a:lnTo>
                    <a:pt x="5541" y="0"/>
                  </a:lnTo>
                  <a:lnTo>
                    <a:pt x="0" y="5541"/>
                  </a:lnTo>
                  <a:lnTo>
                    <a:pt x="0" y="19210"/>
                  </a:lnTo>
                  <a:lnTo>
                    <a:pt x="5541" y="24749"/>
                  </a:lnTo>
                  <a:lnTo>
                    <a:pt x="19210" y="24749"/>
                  </a:lnTo>
                  <a:lnTo>
                    <a:pt x="24749" y="19210"/>
                  </a:lnTo>
                  <a:lnTo>
                    <a:pt x="24749" y="12374"/>
                  </a:lnTo>
                  <a:lnTo>
                    <a:pt x="24749" y="5541"/>
                  </a:lnTo>
                  <a:lnTo>
                    <a:pt x="19210" y="0"/>
                  </a:lnTo>
                  <a:close/>
                </a:path>
              </a:pathLst>
            </a:custGeom>
            <a:solidFill>
              <a:srgbClr val="CC0066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 spc="-200"/>
              <a:t>REFERENCES: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79375" y="2351532"/>
            <a:ext cx="59734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-50">
                <a:latin typeface="Georgia"/>
                <a:cs typeface="Georgia"/>
              </a:rPr>
              <a:t>https://</a:t>
            </a:r>
            <a:r>
              <a:rPr dirty="0" sz="2000" spc="-50">
                <a:latin typeface="Georgia"/>
                <a:cs typeface="Georgia"/>
                <a:hlinkClick r:id="rId2"/>
              </a:rPr>
              <a:t>www.w3schools.com/java/java_methods.asp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2024-01-12T13:41:05Z</dcterms:created>
  <dcterms:modified xsi:type="dcterms:W3CDTF">2024-01-12T13:41:05Z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2022-12-13T00:00:00Z</vt:filetime>
  </property>
  <property fmtid="{D5CDD505-2E9C-101B-9397-08002B2CF9AE}" pid="3" name="LastSaved">
    <vt:filetime>2024-01-12T00:00:00Z</vt:filetime>
  </property>
  <property fmtid="{D5CDD505-2E9C-101B-9397-08002B2CF9AE}" pid="4" name="Producer">
    <vt:lpwstr>macOS Version 10.15.7 (Build 19H1715) Quartz PDFContext</vt:lpwstr>
  </property>
</Properties>
</file>