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17"/>
  </p:notesMasterIdLst>
  <p:sldIdLst>
    <p:sldId id="586" r:id="rId2"/>
    <p:sldId id="587" r:id="rId3"/>
    <p:sldId id="588" r:id="rId4"/>
    <p:sldId id="589" r:id="rId5"/>
    <p:sldId id="590" r:id="rId6"/>
    <p:sldId id="591" r:id="rId7"/>
    <p:sldId id="592" r:id="rId8"/>
    <p:sldId id="593" r:id="rId9"/>
    <p:sldId id="594" r:id="rId10"/>
    <p:sldId id="595" r:id="rId11"/>
    <p:sldId id="596" r:id="rId12"/>
    <p:sldId id="597" r:id="rId13"/>
    <p:sldId id="598" r:id="rId14"/>
    <p:sldId id="599" r:id="rId15"/>
    <p:sldId id="600" r:id="rId16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8"/>
    </p:embeddedFont>
    <p:embeddedFont>
      <p:font typeface="Roboto Condensed" panose="02000000000000000000" pitchFamily="2" charset="0"/>
      <p:regular r:id="rId19"/>
      <p:bold r:id="rId20"/>
    </p:embeddedFont>
    <p:embeddedFont>
      <p:font typeface="Roboto Condensed Light" panose="020000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361D0E8-D997-425D-AB2C-E45440580EAB}">
  <a:tblStyle styleId="{E361D0E8-D997-425D-AB2C-E45440580EA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2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74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213180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4FBD2-75F2-425E-8361-FF0C5072E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9C24A-E25E-4EBC-8EB7-A7C27E985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CC1D0-30B1-4F31-A834-60F2331D7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E7699-8A17-463F-83E1-358F561DEB79}" type="datetimeFigureOut">
              <a:rPr lang="en-PH" smtClean="0"/>
              <a:t>3/3/2026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371A8-2720-42A9-8098-4731260CB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01CA1-6075-4624-AC37-0E47CDA38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564CD-7102-428D-A407-0AE27DC2A45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59159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45DFC-E95C-4539-878F-E4E18F3926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61FA3B-EB8D-45E7-AB5D-532366B166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A3FB4-6C4C-4DE2-AAB6-B31EEC079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E7699-8A17-463F-83E1-358F561DEB79}" type="datetimeFigureOut">
              <a:rPr lang="en-PH" smtClean="0"/>
              <a:t>3/3/2026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C7B80-DC14-4A72-8D60-4210E4DFE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6766A-8FB4-4400-AB48-3D5A16C0C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564CD-7102-428D-A407-0AE27DC2A45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39864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B2762-560B-44B0-9538-0B366B2FE6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18116" y="1337969"/>
            <a:ext cx="4025793" cy="2166836"/>
          </a:xfrm>
        </p:spPr>
        <p:txBody>
          <a:bodyPr anchor="ctr">
            <a:no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Lesson 6 - HYPERBOLIC FUNCTIONS</a:t>
            </a:r>
            <a:endParaRPr lang="en-PH" sz="36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4E98A5-0826-4B5D-9E03-4C1D87FC38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9970" y="3563170"/>
            <a:ext cx="3483938" cy="860897"/>
          </a:xfrm>
        </p:spPr>
        <p:txBody>
          <a:bodyPr anchor="ctr">
            <a:normAutofit/>
          </a:bodyPr>
          <a:lstStyle/>
          <a:p>
            <a:r>
              <a:rPr lang="en-US" sz="3000" b="1" dirty="0"/>
              <a:t>INTEGRAL CALCULUS</a:t>
            </a:r>
            <a:endParaRPr lang="en-PH" sz="3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10905D-C6EA-4C22-89B8-C8511974583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8" r="4914"/>
          <a:stretch/>
        </p:blipFill>
        <p:spPr>
          <a:xfrm>
            <a:off x="15" y="7"/>
            <a:ext cx="4518101" cy="5143493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939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3E61DF-3ECE-4321-BA4B-0DC51638F8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2"/>
            <a:ext cx="9144000" cy="5140088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D3783-A87F-403E-B7F4-80D5129FB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018284-8FD2-4495-9AD0-6E0ACEE1B607}"/>
              </a:ext>
            </a:extLst>
          </p:cNvPr>
          <p:cNvSpPr/>
          <p:nvPr/>
        </p:nvSpPr>
        <p:spPr>
          <a:xfrm>
            <a:off x="628650" y="273844"/>
            <a:ext cx="7886700" cy="99417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INTEGRATION OF HYPERBOLIC FUNCTIONS</a:t>
            </a:r>
            <a:endParaRPr lang="en-PH" sz="36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26006672-5ABA-44C6-9560-5F57A5E56F26}"/>
                  </a:ext>
                </a:extLst>
              </p:cNvPr>
              <p:cNvSpPr/>
              <p:nvPr/>
            </p:nvSpPr>
            <p:spPr>
              <a:xfrm>
                <a:off x="628650" y="1381260"/>
                <a:ext cx="7886700" cy="3622183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marL="342900" indent="-342900" algn="just">
                  <a:buFont typeface="Wingdings" panose="05000000000000000000" pitchFamily="2" charset="2"/>
                  <a:buChar char="Ø"/>
                </a:pPr>
                <a:r>
                  <a:rPr lang="en-US" sz="2100" dirty="0"/>
                  <a:t>The following formulas are direct consequences of the differentiation formulas of hyperbolic functions.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PH" sz="21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sinh</m:t>
                              </m:r>
                            </m:fName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func>
                        </m:e>
                      </m:nary>
                      <m:r>
                        <a:rPr lang="en-US" sz="2100" i="1">
                          <a:latin typeface="Cambria Math" panose="02040503050406030204" pitchFamily="18" charset="0"/>
                        </a:rPr>
                        <m:t>𝑑𝑢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100">
                              <a:latin typeface="Cambria Math" panose="02040503050406030204" pitchFamily="18" charset="0"/>
                            </a:rPr>
                            <m:t>cosh</m:t>
                          </m:r>
                        </m:fName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func>
                      <m:r>
                        <a:rPr lang="en-US" sz="21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PH" sz="21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PH" sz="21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cosh</m:t>
                              </m:r>
                            </m:fName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func>
                        </m:e>
                      </m:nary>
                      <m:r>
                        <a:rPr lang="en-US" sz="2100" i="1">
                          <a:latin typeface="Cambria Math" panose="02040503050406030204" pitchFamily="18" charset="0"/>
                        </a:rPr>
                        <m:t>𝑑𝑢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100">
                              <a:latin typeface="Cambria Math" panose="02040503050406030204" pitchFamily="18" charset="0"/>
                            </a:rPr>
                            <m:t>sinh</m:t>
                          </m:r>
                        </m:fName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func>
                      <m:r>
                        <a:rPr lang="en-US" sz="21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PH" sz="21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PH" sz="21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tanh</m:t>
                              </m:r>
                            </m:fName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func>
                        </m:e>
                      </m:nary>
                      <m:r>
                        <a:rPr lang="en-US" sz="2100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1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unc>
                            <m:func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cosh</m:t>
                              </m:r>
                            </m:fName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func>
                        </m:e>
                      </m:func>
                      <m:r>
                        <a:rPr lang="en-US" sz="21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PH" sz="2100" dirty="0"/>
              </a:p>
            </p:txBody>
          </p:sp>
        </mc:Choice>
        <mc:Fallback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26006672-5ABA-44C6-9560-5F57A5E56F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381260"/>
                <a:ext cx="7886700" cy="3622183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7791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3E61DF-3ECE-4321-BA4B-0DC51638F8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2"/>
            <a:ext cx="9144000" cy="5140088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D3783-A87F-403E-B7F4-80D5129FB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018284-8FD2-4495-9AD0-6E0ACEE1B607}"/>
              </a:ext>
            </a:extLst>
          </p:cNvPr>
          <p:cNvSpPr/>
          <p:nvPr/>
        </p:nvSpPr>
        <p:spPr>
          <a:xfrm>
            <a:off x="628650" y="273844"/>
            <a:ext cx="7886700" cy="99417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INTEGRATION OF HYPERBOLIC FUNCTIONS</a:t>
            </a:r>
            <a:endParaRPr lang="en-PH" sz="36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26006672-5ABA-44C6-9560-5F57A5E56F26}"/>
                  </a:ext>
                </a:extLst>
              </p:cNvPr>
              <p:cNvSpPr/>
              <p:nvPr/>
            </p:nvSpPr>
            <p:spPr>
              <a:xfrm>
                <a:off x="628650" y="1381260"/>
                <a:ext cx="7886700" cy="3622183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PH" sz="21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coth</m:t>
                              </m:r>
                            </m:fName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func>
                        </m:e>
                      </m:nary>
                      <m:r>
                        <a:rPr lang="en-US" sz="2100" i="1">
                          <a:latin typeface="Cambria Math" panose="02040503050406030204" pitchFamily="18" charset="0"/>
                        </a:rPr>
                        <m:t>𝑑𝑢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1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unc>
                            <m:func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sinh</m:t>
                              </m:r>
                            </m:fName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func>
                        </m:e>
                      </m:func>
                      <m:r>
                        <a:rPr lang="en-US" sz="21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1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100">
                                      <a:latin typeface="Cambria Math" panose="02040503050406030204" pitchFamily="18" charset="0"/>
                                    </a:rPr>
                                    <m:t>sinh</m:t>
                                  </m:r>
                                </m:fName>
                                <m:e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func>
                            </m:e>
                          </m:d>
                        </m:e>
                      </m:func>
                      <m:r>
                        <a:rPr lang="en-US" sz="21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PH" sz="21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PH" sz="21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100">
                                      <a:latin typeface="Cambria Math" panose="02040503050406030204" pitchFamily="18" charset="0"/>
                                    </a:rPr>
                                    <m:t>sech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func>
                        </m:e>
                      </m:nary>
                      <m:r>
                        <a:rPr lang="en-US" sz="2100" i="1">
                          <a:latin typeface="Cambria Math" panose="02040503050406030204" pitchFamily="18" charset="0"/>
                        </a:rPr>
                        <m:t>𝑑𝑢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100">
                              <a:latin typeface="Cambria Math" panose="02040503050406030204" pitchFamily="18" charset="0"/>
                            </a:rPr>
                            <m:t>tanh</m:t>
                          </m:r>
                        </m:fName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func>
                      <m:r>
                        <a:rPr lang="en-US" sz="21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PH" sz="21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PH" sz="21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100">
                                      <a:latin typeface="Cambria Math" panose="02040503050406030204" pitchFamily="18" charset="0"/>
                                    </a:rPr>
                                    <m:t>csch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func>
                        </m:e>
                      </m:nary>
                      <m:r>
                        <a:rPr lang="en-US" sz="2100" i="1">
                          <a:latin typeface="Cambria Math" panose="02040503050406030204" pitchFamily="18" charset="0"/>
                        </a:rPr>
                        <m:t>𝑑𝑢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100">
                              <a:latin typeface="Cambria Math" panose="02040503050406030204" pitchFamily="18" charset="0"/>
                            </a:rPr>
                            <m:t>coth</m:t>
                          </m:r>
                        </m:fName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func>
                      <m:r>
                        <a:rPr lang="en-US" sz="21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PH" sz="21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PH" sz="21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sech</m:t>
                              </m:r>
                            </m:fName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func>
                        </m:e>
                      </m:nary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100">
                              <a:latin typeface="Cambria Math" panose="02040503050406030204" pitchFamily="18" charset="0"/>
                            </a:rPr>
                            <m:t>tanh</m:t>
                          </m:r>
                        </m:fName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func>
                      <m:r>
                        <a:rPr lang="en-US" sz="2100" i="1">
                          <a:latin typeface="Cambria Math" panose="02040503050406030204" pitchFamily="18" charset="0"/>
                        </a:rPr>
                        <m:t>𝑑𝑢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100">
                              <a:latin typeface="Cambria Math" panose="02040503050406030204" pitchFamily="18" charset="0"/>
                            </a:rPr>
                            <m:t>sech</m:t>
                          </m:r>
                        </m:fName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func>
                      <m:r>
                        <a:rPr lang="en-US" sz="21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PH" sz="2100" dirty="0"/>
              </a:p>
            </p:txBody>
          </p:sp>
        </mc:Choice>
        <mc:Fallback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26006672-5ABA-44C6-9560-5F57A5E56F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381260"/>
                <a:ext cx="7886700" cy="3622183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5761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3E61DF-3ECE-4321-BA4B-0DC51638F8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2"/>
            <a:ext cx="9144000" cy="5140088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D3783-A87F-403E-B7F4-80D5129FB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018284-8FD2-4495-9AD0-6E0ACEE1B607}"/>
              </a:ext>
            </a:extLst>
          </p:cNvPr>
          <p:cNvSpPr/>
          <p:nvPr/>
        </p:nvSpPr>
        <p:spPr>
          <a:xfrm>
            <a:off x="628650" y="273844"/>
            <a:ext cx="7886700" cy="99417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INTEGRATION OF HYPERBOLIC FUNCTIONS</a:t>
            </a:r>
            <a:endParaRPr lang="en-PH" sz="36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26006672-5ABA-44C6-9560-5F57A5E56F26}"/>
                  </a:ext>
                </a:extLst>
              </p:cNvPr>
              <p:cNvSpPr/>
              <p:nvPr/>
            </p:nvSpPr>
            <p:spPr>
              <a:xfrm>
                <a:off x="628650" y="1381260"/>
                <a:ext cx="7886700" cy="3622183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PH" sz="21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csch</m:t>
                              </m:r>
                            </m:fName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coth</m:t>
                              </m:r>
                            </m:fName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func>
                        </m:e>
                      </m:nary>
                      <m:r>
                        <a:rPr lang="en-US" sz="2100" i="1">
                          <a:latin typeface="Cambria Math" panose="02040503050406030204" pitchFamily="18" charset="0"/>
                        </a:rPr>
                        <m:t>𝑑𝑢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100">
                              <a:latin typeface="Cambria Math" panose="02040503050406030204" pitchFamily="18" charset="0"/>
                            </a:rPr>
                            <m:t>csch</m:t>
                          </m:r>
                        </m:fName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func>
                      <m:r>
                        <a:rPr lang="en-US" sz="21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PH" sz="21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PH" sz="21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PH" sz="21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𝑑𝑢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PH" sz="21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PH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p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</m:e>
                      </m:nary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sinh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21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PH" sz="21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PH" sz="21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PH" sz="21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𝑑𝑢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PH" sz="21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PH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p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</m:e>
                      </m:nary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cosh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21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,    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PH" sz="21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PH" sz="21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PH" sz="21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𝑑𝑢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PH" sz="2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tanh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21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,    </m:t>
                      </m:r>
                      <m:sSup>
                        <m:sSup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PH" sz="2100" dirty="0"/>
              </a:p>
            </p:txBody>
          </p:sp>
        </mc:Choice>
        <mc:Fallback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26006672-5ABA-44C6-9560-5F57A5E56F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381260"/>
                <a:ext cx="7886700" cy="3622183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5688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3E61DF-3ECE-4321-BA4B-0DC51638F8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2"/>
            <a:ext cx="9144000" cy="5140088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D3783-A87F-403E-B7F4-80D5129FB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018284-8FD2-4495-9AD0-6E0ACEE1B607}"/>
              </a:ext>
            </a:extLst>
          </p:cNvPr>
          <p:cNvSpPr/>
          <p:nvPr/>
        </p:nvSpPr>
        <p:spPr>
          <a:xfrm>
            <a:off x="628650" y="273844"/>
            <a:ext cx="7886700" cy="99417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INTEGRATION OF HYPERBOLIC FUNCTIONS</a:t>
            </a:r>
            <a:endParaRPr lang="en-PH" sz="36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26006672-5ABA-44C6-9560-5F57A5E56F26}"/>
                  </a:ext>
                </a:extLst>
              </p:cNvPr>
              <p:cNvSpPr/>
              <p:nvPr/>
            </p:nvSpPr>
            <p:spPr>
              <a:xfrm>
                <a:off x="628650" y="1381260"/>
                <a:ext cx="7886700" cy="3622183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PH" sz="21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PH" sz="21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𝑑𝑢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PH" sz="2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en-US" sz="2100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coth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21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,    </m:t>
                      </m:r>
                      <m:sSup>
                        <m:sSup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p>
                        <m:sSupPr>
                          <m:ctrlP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PH" sz="2100" dirty="0"/>
              </a:p>
            </p:txBody>
          </p:sp>
        </mc:Choice>
        <mc:Fallback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26006672-5ABA-44C6-9560-5F57A5E56F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381260"/>
                <a:ext cx="7886700" cy="3622183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5401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3E61DF-3ECE-4321-BA4B-0DC51638F8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2"/>
            <a:ext cx="9144000" cy="5140088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D3783-A87F-403E-B7F4-80D5129FB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018284-8FD2-4495-9AD0-6E0ACEE1B607}"/>
              </a:ext>
            </a:extLst>
          </p:cNvPr>
          <p:cNvSpPr/>
          <p:nvPr/>
        </p:nvSpPr>
        <p:spPr>
          <a:xfrm>
            <a:off x="628650" y="273844"/>
            <a:ext cx="7886700" cy="99417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INTEGRATION OF HYPERBOLIC FUNCTIONS</a:t>
            </a:r>
            <a:endParaRPr lang="en-PH" sz="36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26006672-5ABA-44C6-9560-5F57A5E56F26}"/>
                  </a:ext>
                </a:extLst>
              </p:cNvPr>
              <p:cNvSpPr/>
              <p:nvPr/>
            </p:nvSpPr>
            <p:spPr>
              <a:xfrm>
                <a:off x="628650" y="1381260"/>
                <a:ext cx="7886700" cy="3622183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marL="342900" indent="-342900" algn="just">
                  <a:buFont typeface="Wingdings" panose="05000000000000000000" pitchFamily="2" charset="2"/>
                  <a:buChar char="Ø"/>
                </a:pPr>
                <a:r>
                  <a:rPr lang="en-US" sz="2100" dirty="0"/>
                  <a:t>Review that the hyperbolic functions are defined as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100">
                              <a:latin typeface="Cambria Math" panose="02040503050406030204" pitchFamily="18" charset="0"/>
                            </a:rPr>
                            <m:t>sinh</m:t>
                          </m:r>
                        </m:fName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1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100">
                              <a:latin typeface="Cambria Math" panose="02040503050406030204" pitchFamily="18" charset="0"/>
                            </a:rPr>
                            <m:t>cosh</m:t>
                          </m:r>
                        </m:fName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1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100">
                              <a:latin typeface="Cambria Math" panose="02040503050406030204" pitchFamily="18" charset="0"/>
                            </a:rPr>
                            <m:t>tanh</m:t>
                          </m:r>
                        </m:fName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sinh</m:t>
                              </m:r>
                            </m:fName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cosh</m:t>
                              </m:r>
                            </m:fName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den>
                      </m:f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1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100">
                              <a:latin typeface="Cambria Math" panose="02040503050406030204" pitchFamily="18" charset="0"/>
                            </a:rPr>
                            <m:t>coth</m:t>
                          </m:r>
                        </m:fName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cosh</m:t>
                              </m:r>
                            </m:fName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sinh</m:t>
                              </m:r>
                            </m:fName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den>
                      </m:f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  <m:r>
                        <a:rPr lang="en-US" sz="2100" i="1">
                          <a:latin typeface="Cambria Math" panose="02040503050406030204" pitchFamily="18" charset="0"/>
                        </a:rPr>
                        <m:t>,    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en-US" sz="2100" dirty="0"/>
              </a:p>
              <a:p>
                <a:pPr algn="just"/>
                <a:endParaRPr lang="en-US" sz="2100" dirty="0"/>
              </a:p>
              <a:p>
                <a:pPr algn="just"/>
                <a:endParaRPr lang="en-PH" sz="2100" dirty="0"/>
              </a:p>
            </p:txBody>
          </p:sp>
        </mc:Choice>
        <mc:Fallback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26006672-5ABA-44C6-9560-5F57A5E56F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381260"/>
                <a:ext cx="7886700" cy="3622183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1881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3E61DF-3ECE-4321-BA4B-0DC51638F8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2"/>
            <a:ext cx="9144000" cy="5140088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D3783-A87F-403E-B7F4-80D5129FB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018284-8FD2-4495-9AD0-6E0ACEE1B607}"/>
              </a:ext>
            </a:extLst>
          </p:cNvPr>
          <p:cNvSpPr/>
          <p:nvPr/>
        </p:nvSpPr>
        <p:spPr>
          <a:xfrm>
            <a:off x="628650" y="273844"/>
            <a:ext cx="7886700" cy="99417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INTEGRATION OF HYPERBOLIC FUNCTIONS</a:t>
            </a:r>
            <a:endParaRPr lang="en-PH" sz="36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26006672-5ABA-44C6-9560-5F57A5E56F26}"/>
                  </a:ext>
                </a:extLst>
              </p:cNvPr>
              <p:cNvSpPr/>
              <p:nvPr/>
            </p:nvSpPr>
            <p:spPr>
              <a:xfrm>
                <a:off x="628650" y="1381260"/>
                <a:ext cx="7886700" cy="3622183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100">
                              <a:latin typeface="Cambria Math" panose="02040503050406030204" pitchFamily="18" charset="0"/>
                            </a:rPr>
                            <m:t>sech</m:t>
                          </m:r>
                        </m:fName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cosh</m:t>
                              </m:r>
                            </m:fName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den>
                      </m:f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PH" sz="21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100">
                              <a:latin typeface="Cambria Math" panose="02040503050406030204" pitchFamily="18" charset="0"/>
                            </a:rPr>
                            <m:t>csch</m:t>
                          </m:r>
                        </m:fName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sinh</m:t>
                              </m:r>
                            </m:fName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den>
                      </m:f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  <m:r>
                        <a:rPr lang="en-US" sz="2100" i="1">
                          <a:latin typeface="Cambria Math" panose="02040503050406030204" pitchFamily="18" charset="0"/>
                        </a:rPr>
                        <m:t>,    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en-PH" sz="2100" dirty="0"/>
              </a:p>
              <a:p>
                <a:pPr algn="just"/>
                <a:endParaRPr lang="en-PH" sz="2100" dirty="0"/>
              </a:p>
              <a:p>
                <a:pPr algn="just"/>
                <a:endParaRPr lang="en-US" sz="2100" dirty="0"/>
              </a:p>
              <a:p>
                <a:pPr algn="just"/>
                <a:endParaRPr lang="en-PH" sz="2100" dirty="0"/>
              </a:p>
            </p:txBody>
          </p:sp>
        </mc:Choice>
        <mc:Fallback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26006672-5ABA-44C6-9560-5F57A5E56F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381260"/>
                <a:ext cx="7886700" cy="3622183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1813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3E61DF-3ECE-4321-BA4B-0DC51638F8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2"/>
            <a:ext cx="9144000" cy="5140088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D3783-A87F-403E-B7F4-80D5129FB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018284-8FD2-4495-9AD0-6E0ACEE1B607}"/>
              </a:ext>
            </a:extLst>
          </p:cNvPr>
          <p:cNvSpPr/>
          <p:nvPr/>
        </p:nvSpPr>
        <p:spPr>
          <a:xfrm>
            <a:off x="628650" y="273844"/>
            <a:ext cx="7886700" cy="99417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IDENTITIES OF HYPERBOLIC FUNCTIONS (REVIEW)</a:t>
            </a:r>
            <a:endParaRPr lang="en-PH" sz="36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26006672-5ABA-44C6-9560-5F57A5E56F26}"/>
                  </a:ext>
                </a:extLst>
              </p:cNvPr>
              <p:cNvSpPr/>
              <p:nvPr/>
            </p:nvSpPr>
            <p:spPr>
              <a:xfrm>
                <a:off x="628650" y="1381260"/>
                <a:ext cx="7886700" cy="3622183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cosh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sz="2100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sinh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sz="2100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1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latin typeface="Cambria Math" panose="02040503050406030204" pitchFamily="18" charset="0"/>
                        </a:rPr>
                        <m:t>1−</m:t>
                      </m:r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tanh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sech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US" sz="21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coth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sz="2100" i="1">
                          <a:latin typeface="Cambria Math" panose="02040503050406030204" pitchFamily="18" charset="0"/>
                        </a:rPr>
                        <m:t>−1=</m:t>
                      </m:r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csch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US" sz="21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100">
                              <a:latin typeface="Cambria Math" panose="02040503050406030204" pitchFamily="18" charset="0"/>
                            </a:rPr>
                            <m:t>sinh</m:t>
                          </m:r>
                        </m:fName>
                        <m:e>
                          <m:d>
                            <m:d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sinh</m:t>
                              </m:r>
                            </m:fName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cosh</m:t>
                              </m:r>
                            </m:fName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func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func>
                            <m:funcPr>
                              <m:ctrlP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cosh</m:t>
                              </m:r>
                            </m:fName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sinh</m:t>
                              </m:r>
                            </m:fName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sz="21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100">
                              <a:latin typeface="Cambria Math" panose="02040503050406030204" pitchFamily="18" charset="0"/>
                            </a:rPr>
                            <m:t>cosh</m:t>
                          </m:r>
                        </m:fName>
                        <m:e>
                          <m:d>
                            <m:d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func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100">
                              <a:latin typeface="Cambria Math" panose="02040503050406030204" pitchFamily="18" charset="0"/>
                            </a:rPr>
                            <m:t>cosh</m:t>
                          </m:r>
                        </m:fName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100">
                              <a:latin typeface="Cambria Math" panose="02040503050406030204" pitchFamily="18" charset="0"/>
                            </a:rPr>
                            <m:t>sinh</m:t>
                          </m:r>
                        </m:fName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sinh</m:t>
                          </m:r>
                        </m:fName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cosh</m:t>
                          </m:r>
                        </m:fName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</m:oMath>
                  </m:oMathPara>
                </a14:m>
                <a:endParaRPr lang="en-US" sz="21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100">
                              <a:latin typeface="Cambria Math" panose="02040503050406030204" pitchFamily="18" charset="0"/>
                            </a:rPr>
                            <m:t>sinh</m:t>
                          </m:r>
                        </m:fName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sz="2100" i="1">
                          <a:latin typeface="Cambria Math" panose="02040503050406030204" pitchFamily="18" charset="0"/>
                        </a:rPr>
                        <m:t>=2</m:t>
                      </m:r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100">
                              <a:latin typeface="Cambria Math" panose="02040503050406030204" pitchFamily="18" charset="0"/>
                            </a:rPr>
                            <m:t>sinh</m:t>
                          </m:r>
                        </m:fName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100">
                              <a:latin typeface="Cambria Math" panose="02040503050406030204" pitchFamily="18" charset="0"/>
                            </a:rPr>
                            <m:t>cosh</m:t>
                          </m:r>
                        </m:fName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US" sz="21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100">
                              <a:latin typeface="Cambria Math" panose="02040503050406030204" pitchFamily="18" charset="0"/>
                            </a:rPr>
                            <m:t>cosh</m:t>
                          </m:r>
                        </m:fName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cosh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sz="21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sinh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US" sz="21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cosh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cosh</m:t>
                              </m:r>
                            </m:fName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1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sinh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cosh</m:t>
                              </m:r>
                            </m:fName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PH" sz="2100" dirty="0"/>
              </a:p>
            </p:txBody>
          </p:sp>
        </mc:Choice>
        <mc:Fallback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26006672-5ABA-44C6-9560-5F57A5E56F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381260"/>
                <a:ext cx="7886700" cy="3622183"/>
              </a:xfrm>
              <a:prstGeom prst="roundRect">
                <a:avLst/>
              </a:prstGeom>
              <a:blipFill>
                <a:blip r:embed="rId3"/>
                <a:stretch>
                  <a:fillRect b="-1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6536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3E61DF-3ECE-4321-BA4B-0DC51638F8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2"/>
            <a:ext cx="9144000" cy="5140088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D3783-A87F-403E-B7F4-80D5129FB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018284-8FD2-4495-9AD0-6E0ACEE1B607}"/>
              </a:ext>
            </a:extLst>
          </p:cNvPr>
          <p:cNvSpPr/>
          <p:nvPr/>
        </p:nvSpPr>
        <p:spPr>
          <a:xfrm>
            <a:off x="628650" y="273844"/>
            <a:ext cx="7886700" cy="99417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/>
              <a:t>EXAMPLE PROBLEM</a:t>
            </a:r>
            <a:endParaRPr lang="en-PH" sz="4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26006672-5ABA-44C6-9560-5F57A5E56F26}"/>
                  </a:ext>
                </a:extLst>
              </p:cNvPr>
              <p:cNvSpPr/>
              <p:nvPr/>
            </p:nvSpPr>
            <p:spPr>
              <a:xfrm>
                <a:off x="628650" y="1381260"/>
                <a:ext cx="7886700" cy="3622183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just"/>
                <a:r>
                  <a:rPr lang="en-US" sz="2100" dirty="0"/>
                  <a:t>Evaluate the following integrals.</a:t>
                </a:r>
              </a:p>
              <a:p>
                <a:pPr algn="just"/>
                <a:r>
                  <a:rPr lang="en-US" sz="2100" dirty="0"/>
                  <a:t>a.)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unc>
                          <m:func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100">
                                <a:latin typeface="Cambria Math" panose="02040503050406030204" pitchFamily="18" charset="0"/>
                              </a:rPr>
                              <m:t>sinh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sz="21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1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1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e>
                    </m:nary>
                    <m:r>
                      <a:rPr lang="en-US" sz="2100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US" sz="2100" dirty="0"/>
              </a:p>
              <a:p>
                <a:pPr algn="just"/>
                <a:r>
                  <a:rPr lang="en-US" sz="2100" dirty="0"/>
                  <a:t>b.)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unc>
                          <m:func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sz="21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100">
                                    <a:latin typeface="Cambria Math" panose="02040503050406030204" pitchFamily="18" charset="0"/>
                                  </a:rPr>
                                  <m:t>sech</m:t>
                                </m:r>
                              </m:e>
                              <m:sup>
                                <m:r>
                                  <a:rPr lang="en-US" sz="21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d>
                              <m:dPr>
                                <m:ctrlPr>
                                  <a:rPr lang="en-US" sz="21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1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1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</m:func>
                      </m:e>
                    </m:nary>
                    <m:r>
                      <a:rPr lang="en-US" sz="2100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US" sz="2100" dirty="0"/>
              </a:p>
              <a:p>
                <a:pPr algn="just"/>
                <a:r>
                  <a:rPr lang="en-US" sz="2100" dirty="0"/>
                  <a:t>c.)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func>
                          <m:func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100">
                                <a:latin typeface="Cambria Math" panose="02040503050406030204" pitchFamily="18" charset="0"/>
                              </a:rPr>
                              <m:t>cosh</m:t>
                            </m:r>
                          </m:fName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e>
                    </m:nary>
                    <m:r>
                      <a:rPr lang="en-US" sz="2100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US" sz="2100" dirty="0"/>
              </a:p>
              <a:p>
                <a:pPr algn="just"/>
                <a:r>
                  <a:rPr lang="en-US" sz="2100" dirty="0"/>
                  <a:t>d.)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1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sSup>
                                  <m:sSupPr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100" i="1">
                                    <a:latin typeface="Cambria Math" panose="02040503050406030204" pitchFamily="18" charset="0"/>
                                  </a:rPr>
                                  <m:t>−9</m:t>
                                </m:r>
                              </m:e>
                            </m:rad>
                          </m:den>
                        </m:f>
                      </m:e>
                    </m:nary>
                  </m:oMath>
                </a14:m>
                <a:endParaRPr lang="en-US" sz="2100" dirty="0"/>
              </a:p>
              <a:p>
                <a:pPr algn="just"/>
                <a:r>
                  <a:rPr lang="en-US" sz="2100" dirty="0"/>
                  <a:t>e.)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num>
                          <m:den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9</m:t>
                            </m:r>
                            <m:sSup>
                              <m:sSupPr>
                                <m:ctrlPr>
                                  <a:rPr lang="en-US" sz="21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1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−25</m:t>
                            </m:r>
                          </m:den>
                        </m:f>
                      </m:e>
                    </m:nary>
                  </m:oMath>
                </a14:m>
                <a:endParaRPr lang="en-US" sz="2100" dirty="0"/>
              </a:p>
              <a:p>
                <a:pPr algn="just"/>
                <a:endParaRPr lang="en-US" sz="2100" dirty="0"/>
              </a:p>
            </p:txBody>
          </p:sp>
        </mc:Choice>
        <mc:Fallback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26006672-5ABA-44C6-9560-5F57A5E56F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381260"/>
                <a:ext cx="7886700" cy="3622183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1492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3E61DF-3ECE-4321-BA4B-0DC51638F8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2"/>
            <a:ext cx="9144000" cy="5140088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D3783-A87F-403E-B7F4-80D5129FB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018284-8FD2-4495-9AD0-6E0ACEE1B607}"/>
              </a:ext>
            </a:extLst>
          </p:cNvPr>
          <p:cNvSpPr/>
          <p:nvPr/>
        </p:nvSpPr>
        <p:spPr>
          <a:xfrm>
            <a:off x="628650" y="273844"/>
            <a:ext cx="7886700" cy="99417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/>
              <a:t>EXAMPLE PROBLEM</a:t>
            </a:r>
            <a:endParaRPr lang="en-PH" sz="4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26006672-5ABA-44C6-9560-5F57A5E56F26}"/>
                  </a:ext>
                </a:extLst>
              </p:cNvPr>
              <p:cNvSpPr/>
              <p:nvPr/>
            </p:nvSpPr>
            <p:spPr>
              <a:xfrm>
                <a:off x="628650" y="1381260"/>
                <a:ext cx="7886700" cy="3622183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just"/>
                <a:r>
                  <a:rPr lang="en-US" sz="2100" dirty="0"/>
                  <a:t>Solution:</a:t>
                </a:r>
              </a:p>
              <a:p>
                <a:pPr algn="just"/>
                <a:r>
                  <a:rPr lang="en-US" sz="2100" dirty="0"/>
                  <a:t>a.)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unc>
                          <m:func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100">
                                <a:latin typeface="Cambria Math" panose="02040503050406030204" pitchFamily="18" charset="0"/>
                              </a:rPr>
                              <m:t>sinh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sz="21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1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1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e>
                    </m:nary>
                    <m:r>
                      <a:rPr lang="en-US" sz="2100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US" sz="21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sinh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nary>
                      <m:r>
                        <a:rPr lang="en-US" sz="2100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sinh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nary>
                      <m:r>
                        <a:rPr lang="en-US" sz="2100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den>
                      </m:f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sinh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nary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US" sz="21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latin typeface="Cambria Math" panose="02040503050406030204" pitchFamily="18" charset="0"/>
                        </a:rPr>
                        <m:t>2</m:t>
                      </m:r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100">
                              <a:latin typeface="Cambria Math" panose="02040503050406030204" pitchFamily="18" charset="0"/>
                            </a:rPr>
                            <m:t>cosh</m:t>
                          </m:r>
                        </m:fName>
                        <m:e>
                          <m:f>
                            <m:f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sz="21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100" dirty="0"/>
              </a:p>
            </p:txBody>
          </p:sp>
        </mc:Choice>
        <mc:Fallback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26006672-5ABA-44C6-9560-5F57A5E56F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381260"/>
                <a:ext cx="7886700" cy="3622183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924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3E61DF-3ECE-4321-BA4B-0DC51638F8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2"/>
            <a:ext cx="9144000" cy="5140088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D3783-A87F-403E-B7F4-80D5129FB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018284-8FD2-4495-9AD0-6E0ACEE1B607}"/>
              </a:ext>
            </a:extLst>
          </p:cNvPr>
          <p:cNvSpPr/>
          <p:nvPr/>
        </p:nvSpPr>
        <p:spPr>
          <a:xfrm>
            <a:off x="628650" y="273844"/>
            <a:ext cx="7886700" cy="99417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250" b="1" dirty="0"/>
              <a:t>EXAMPLE PROBLEM</a:t>
            </a:r>
            <a:endParaRPr lang="en-PH" sz="525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26006672-5ABA-44C6-9560-5F57A5E56F26}"/>
                  </a:ext>
                </a:extLst>
              </p:cNvPr>
              <p:cNvSpPr/>
              <p:nvPr/>
            </p:nvSpPr>
            <p:spPr>
              <a:xfrm>
                <a:off x="628650" y="1381260"/>
                <a:ext cx="7886700" cy="3622183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just"/>
                <a:r>
                  <a:rPr lang="en-US" sz="2100" dirty="0"/>
                  <a:t>b.)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unc>
                          <m:func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sz="21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100">
                                    <a:latin typeface="Cambria Math" panose="02040503050406030204" pitchFamily="18" charset="0"/>
                                  </a:rPr>
                                  <m:t>sech</m:t>
                                </m:r>
                              </m:e>
                              <m:sup>
                                <m:r>
                                  <a:rPr lang="en-US" sz="21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d>
                              <m:dPr>
                                <m:ctrlPr>
                                  <a:rPr lang="en-US" sz="21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1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1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</m:func>
                      </m:e>
                    </m:nary>
                    <m:r>
                      <a:rPr lang="en-US" sz="2100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US" sz="21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100">
                                      <a:latin typeface="Cambria Math" panose="02040503050406030204" pitchFamily="18" charset="0"/>
                                    </a:rPr>
                                    <m:t>sech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d>
                                <m:d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sz="2100" i="1">
                          <a:latin typeface="Cambria Math" panose="02040503050406030204" pitchFamily="18" charset="0"/>
                        </a:rPr>
                        <m:t>𝑑𝑥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100">
                                      <a:latin typeface="Cambria Math" panose="02040503050406030204" pitchFamily="18" charset="0"/>
                                    </a:rPr>
                                    <m:t>sech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d>
                                <m:d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sz="2100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1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func>
                            <m:funcPr>
                              <m:ctrlP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sech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d>
                                <m:d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US" sz="21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100">
                              <a:latin typeface="Cambria Math" panose="02040503050406030204" pitchFamily="18" charset="0"/>
                            </a:rPr>
                            <m:t>tanh</m:t>
                          </m:r>
                        </m:fName>
                        <m:e>
                          <m:d>
                            <m:d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</m:func>
                      <m:r>
                        <a:rPr lang="en-US" sz="21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100" dirty="0"/>
              </a:p>
            </p:txBody>
          </p:sp>
        </mc:Choice>
        <mc:Fallback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26006672-5ABA-44C6-9560-5F57A5E56F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381260"/>
                <a:ext cx="7886700" cy="3622183"/>
              </a:xfrm>
              <a:prstGeom prst="roundRect">
                <a:avLst/>
              </a:prstGeom>
              <a:blipFill>
                <a:blip r:embed="rId3"/>
                <a:stretch>
                  <a:fillRect t="-12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6026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3E61DF-3ECE-4321-BA4B-0DC51638F8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2"/>
            <a:ext cx="9144000" cy="5140088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D3783-A87F-403E-B7F4-80D5129FB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018284-8FD2-4495-9AD0-6E0ACEE1B607}"/>
              </a:ext>
            </a:extLst>
          </p:cNvPr>
          <p:cNvSpPr/>
          <p:nvPr/>
        </p:nvSpPr>
        <p:spPr>
          <a:xfrm>
            <a:off x="628650" y="273844"/>
            <a:ext cx="7886700" cy="99417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250" b="1" dirty="0"/>
              <a:t>EXAMPLE PROBLEM</a:t>
            </a:r>
            <a:endParaRPr lang="en-PH" sz="525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26006672-5ABA-44C6-9560-5F57A5E56F26}"/>
                  </a:ext>
                </a:extLst>
              </p:cNvPr>
              <p:cNvSpPr/>
              <p:nvPr/>
            </p:nvSpPr>
            <p:spPr>
              <a:xfrm>
                <a:off x="628650" y="1381260"/>
                <a:ext cx="7886700" cy="3622183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just"/>
                <a:r>
                  <a:rPr lang="en-US" sz="2100" dirty="0"/>
                  <a:t>c.)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func>
                          <m:func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100">
                                <a:latin typeface="Cambria Math" panose="02040503050406030204" pitchFamily="18" charset="0"/>
                              </a:rPr>
                              <m:t>cosh</m:t>
                            </m:r>
                          </m:fName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e>
                    </m:nary>
                    <m:r>
                      <a:rPr lang="en-US" sz="2100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US" sz="21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cosh</m:t>
                              </m:r>
                            </m:fName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nary>
                      <m:r>
                        <a:rPr lang="en-US" sz="2100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p>
                                  </m:sSup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en-US" sz="2100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nary>
                      <m:r>
                        <a:rPr lang="en-US" sz="2100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1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nary>
                      <m:r>
                        <a:rPr lang="en-US" sz="2100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nary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𝑑𝑥</m:t>
                      </m:r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1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sz="21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1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100" dirty="0"/>
              </a:p>
            </p:txBody>
          </p:sp>
        </mc:Choice>
        <mc:Fallback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26006672-5ABA-44C6-9560-5F57A5E56F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381260"/>
                <a:ext cx="7886700" cy="3622183"/>
              </a:xfrm>
              <a:prstGeom prst="roundRect">
                <a:avLst/>
              </a:prstGeom>
              <a:blipFill>
                <a:blip r:embed="rId3"/>
                <a:stretch>
                  <a:fillRect t="-12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9921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3E61DF-3ECE-4321-BA4B-0DC51638F8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2"/>
            <a:ext cx="9144000" cy="5140088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D3783-A87F-403E-B7F4-80D5129FB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018284-8FD2-4495-9AD0-6E0ACEE1B607}"/>
              </a:ext>
            </a:extLst>
          </p:cNvPr>
          <p:cNvSpPr/>
          <p:nvPr/>
        </p:nvSpPr>
        <p:spPr>
          <a:xfrm>
            <a:off x="628650" y="273844"/>
            <a:ext cx="7886700" cy="99417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250" b="1" dirty="0"/>
              <a:t>EXAMPLE PROBLEM</a:t>
            </a:r>
            <a:endParaRPr lang="en-PH" sz="525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26006672-5ABA-44C6-9560-5F57A5E56F26}"/>
                  </a:ext>
                </a:extLst>
              </p:cNvPr>
              <p:cNvSpPr/>
              <p:nvPr/>
            </p:nvSpPr>
            <p:spPr>
              <a:xfrm>
                <a:off x="628650" y="1381260"/>
                <a:ext cx="7886700" cy="3622183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just"/>
                <a:r>
                  <a:rPr lang="en-US" sz="2100" dirty="0"/>
                  <a:t>d.)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1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sSup>
                                  <m:sSupPr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100" i="1">
                                    <a:latin typeface="Cambria Math" panose="02040503050406030204" pitchFamily="18" charset="0"/>
                                  </a:rPr>
                                  <m:t>−9</m:t>
                                </m:r>
                              </m:e>
                            </m:rad>
                          </m:den>
                        </m:f>
                      </m:e>
                    </m:nary>
                  </m:oMath>
                </a14:m>
                <a:endParaRPr lang="en-US" sz="21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sSup>
                                    <m:sSupPr>
                                      <m:ctrlP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−9</m:t>
                                  </m:r>
                                </m:e>
                              </m:rad>
                            </m:den>
                          </m:f>
                        </m:e>
                      </m:nary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1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1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1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</m:e>
                      </m:nary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2 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𝑑𝑥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1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1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1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</m:e>
                      </m:nary>
                    </m:oMath>
                  </m:oMathPara>
                </a14:m>
                <a:endParaRPr lang="en-US" sz="21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cosh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21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100" dirty="0"/>
              </a:p>
            </p:txBody>
          </p:sp>
        </mc:Choice>
        <mc:Fallback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26006672-5ABA-44C6-9560-5F57A5E56F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381260"/>
                <a:ext cx="7886700" cy="3622183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8192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3E61DF-3ECE-4321-BA4B-0DC51638F8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2"/>
            <a:ext cx="9144000" cy="5140088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D3783-A87F-403E-B7F4-80D5129FB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018284-8FD2-4495-9AD0-6E0ACEE1B607}"/>
              </a:ext>
            </a:extLst>
          </p:cNvPr>
          <p:cNvSpPr/>
          <p:nvPr/>
        </p:nvSpPr>
        <p:spPr>
          <a:xfrm>
            <a:off x="628650" y="273844"/>
            <a:ext cx="7886700" cy="99417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250" b="1" dirty="0"/>
              <a:t>EXAMPLE PROBLEM</a:t>
            </a:r>
            <a:endParaRPr lang="en-PH" sz="525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26006672-5ABA-44C6-9560-5F57A5E56F26}"/>
                  </a:ext>
                </a:extLst>
              </p:cNvPr>
              <p:cNvSpPr/>
              <p:nvPr/>
            </p:nvSpPr>
            <p:spPr>
              <a:xfrm>
                <a:off x="628650" y="1381260"/>
                <a:ext cx="7886700" cy="3622183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just"/>
                <a:r>
                  <a:rPr lang="en-US" sz="2100" dirty="0"/>
                  <a:t>e.)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num>
                          <m:den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9</m:t>
                            </m:r>
                            <m:sSup>
                              <m:sSupPr>
                                <m:ctrlPr>
                                  <a:rPr lang="en-US" sz="21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1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−25</m:t>
                            </m:r>
                          </m:den>
                        </m:f>
                      </m:e>
                    </m:nary>
                  </m:oMath>
                </a14:m>
                <a:endParaRPr lang="en-US" sz="21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num>
                            <m:den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sSup>
                                <m:sSup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−25</m:t>
                              </m:r>
                            </m:den>
                          </m:f>
                        </m:e>
                      </m:nary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3 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sz="21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coth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21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1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coth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21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100" dirty="0"/>
              </a:p>
              <a:p>
                <a:pPr algn="just"/>
                <a:endParaRPr lang="en-US" sz="2100" dirty="0"/>
              </a:p>
            </p:txBody>
          </p:sp>
        </mc:Choice>
        <mc:Fallback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26006672-5ABA-44C6-9560-5F57A5E56F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381260"/>
                <a:ext cx="7886700" cy="3622183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4027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3E61DF-3ECE-4321-BA4B-0DC51638F8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2"/>
            <a:ext cx="9144000" cy="5140088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D3783-A87F-403E-B7F4-80D5129FB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018284-8FD2-4495-9AD0-6E0ACEE1B607}"/>
              </a:ext>
            </a:extLst>
          </p:cNvPr>
          <p:cNvSpPr/>
          <p:nvPr/>
        </p:nvSpPr>
        <p:spPr>
          <a:xfrm>
            <a:off x="628650" y="273844"/>
            <a:ext cx="7886700" cy="99417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ASSIGNMENT PROBLEM</a:t>
            </a:r>
            <a:endParaRPr lang="en-PH" sz="4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26006672-5ABA-44C6-9560-5F57A5E56F26}"/>
                  </a:ext>
                </a:extLst>
              </p:cNvPr>
              <p:cNvSpPr/>
              <p:nvPr/>
            </p:nvSpPr>
            <p:spPr>
              <a:xfrm>
                <a:off x="628650" y="1381260"/>
                <a:ext cx="7886700" cy="3622183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just"/>
                <a:r>
                  <a:rPr lang="en-US" sz="2100" dirty="0"/>
                  <a:t>Evaluate the integrals below.</a:t>
                </a:r>
              </a:p>
              <a:p>
                <a:pPr algn="just"/>
                <a:r>
                  <a:rPr lang="en-US" sz="2100" dirty="0"/>
                  <a:t>a.)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unc>
                          <m:func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100">
                                <a:latin typeface="Cambria Math" panose="02040503050406030204" pitchFamily="18" charset="0"/>
                              </a:rPr>
                              <m:t>coth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sz="21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1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sz="21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e>
                    </m:nary>
                    <m:r>
                      <a:rPr lang="en-US" sz="2100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US" sz="2100" dirty="0"/>
                  <a:t>				g.)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1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100" i="1">
                                    <a:latin typeface="Cambria Math" panose="02040503050406030204" pitchFamily="18" charset="0"/>
                                  </a:rPr>
                                  <m:t>−25</m:t>
                                </m:r>
                              </m:e>
                            </m:rad>
                          </m:den>
                        </m:f>
                      </m:e>
                    </m:nary>
                  </m:oMath>
                </a14:m>
                <a:endParaRPr lang="en-US" sz="2100" dirty="0"/>
              </a:p>
              <a:p>
                <a:pPr algn="just"/>
                <a:r>
                  <a:rPr lang="en-US" sz="2100" dirty="0"/>
                  <a:t>b.)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unc>
                          <m:func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sz="21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100">
                                    <a:latin typeface="Cambria Math" panose="02040503050406030204" pitchFamily="18" charset="0"/>
                                  </a:rPr>
                                  <m:t>sinh</m:t>
                                </m:r>
                              </m:e>
                              <m:sup>
                                <m:r>
                                  <a:rPr lang="en-US" sz="21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fName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e>
                    </m:nary>
                    <m:r>
                      <a:rPr lang="en-US" sz="2100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US" sz="2100" dirty="0"/>
                  <a:t>				h.)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num>
                          <m:den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sSupPr>
                                <m:ctrlPr>
                                  <a:rPr lang="en-US" sz="21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1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+12</m:t>
                            </m:r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+5</m:t>
                            </m:r>
                          </m:den>
                        </m:f>
                      </m:e>
                    </m:nary>
                  </m:oMath>
                </a14:m>
                <a:endParaRPr lang="en-US" sz="2100" dirty="0"/>
              </a:p>
              <a:p>
                <a:pPr algn="just"/>
                <a:r>
                  <a:rPr lang="en-US" sz="2100" dirty="0"/>
                  <a:t>c.)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unc>
                          <m:func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sz="21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100">
                                    <a:latin typeface="Cambria Math" panose="02040503050406030204" pitchFamily="18" charset="0"/>
                                  </a:rPr>
                                  <m:t>csch</m:t>
                                </m:r>
                              </m:e>
                              <m:sup>
                                <m:r>
                                  <a:rPr lang="en-US" sz="21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d>
                              <m:dPr>
                                <m:ctrlPr>
                                  <a:rPr lang="en-US" sz="21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</a:rPr>
                                  <m:t>1+3</m:t>
                                </m:r>
                                <m:r>
                                  <a:rPr lang="en-US" sz="21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e>
                    </m:nary>
                    <m:r>
                      <a:rPr lang="en-US" sz="2100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US" sz="2100" dirty="0"/>
              </a:p>
              <a:p>
                <a:pPr algn="just"/>
                <a:r>
                  <a:rPr lang="en-US" sz="2100" dirty="0"/>
                  <a:t>d.)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unc>
                          <m:func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sz="21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100">
                                    <a:latin typeface="Cambria Math" panose="02040503050406030204" pitchFamily="18" charset="0"/>
                                  </a:rPr>
                                  <m:t>sinh</m:t>
                                </m:r>
                              </m:e>
                              <m:sup>
                                <m:r>
                                  <a:rPr lang="en-US" sz="21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fName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func>
                          <m:func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sz="21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100">
                                    <a:latin typeface="Cambria Math" panose="02040503050406030204" pitchFamily="18" charset="0"/>
                                  </a:rPr>
                                  <m:t>cosh</m:t>
                                </m:r>
                              </m:e>
                              <m:sup>
                                <m:r>
                                  <a:rPr lang="en-US" sz="21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e>
                    </m:nary>
                    <m:r>
                      <a:rPr lang="en-US" sz="2100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US" sz="2100" dirty="0"/>
              </a:p>
              <a:p>
                <a:pPr algn="just"/>
                <a:r>
                  <a:rPr lang="en-US" sz="2100" dirty="0"/>
                  <a:t>e.)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1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1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r>
                                  <a:rPr lang="en-US" sz="21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100" i="1">
                                    <a:latin typeface="Cambria Math" panose="02040503050406030204" pitchFamily="18" charset="0"/>
                                  </a:rPr>
                                  <m:t>+17</m:t>
                                </m:r>
                              </m:e>
                            </m:rad>
                          </m:den>
                        </m:f>
                      </m:e>
                    </m:nary>
                  </m:oMath>
                </a14:m>
                <a:endParaRPr lang="en-US" sz="2100" dirty="0"/>
              </a:p>
              <a:p>
                <a:pPr algn="just"/>
                <a:r>
                  <a:rPr lang="en-US" sz="2100" dirty="0"/>
                  <a:t>f.)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num>
                          <m:den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4−9</m:t>
                            </m:r>
                            <m:sSup>
                              <m:sSupPr>
                                <m:ctrlPr>
                                  <a:rPr lang="en-US" sz="21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1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endParaRPr lang="en-US" sz="2100" dirty="0"/>
              </a:p>
            </p:txBody>
          </p:sp>
        </mc:Choice>
        <mc:Fallback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26006672-5ABA-44C6-9560-5F57A5E56F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381260"/>
                <a:ext cx="7886700" cy="3622183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8805205"/>
      </p:ext>
    </p:extLst>
  </p:cSld>
  <p:clrMapOvr>
    <a:masterClrMapping/>
  </p:clrMapOvr>
</p:sld>
</file>

<file path=ppt/theme/theme1.xml><?xml version="1.0" encoding="utf-8"?>
<a:theme xmlns:a="http://schemas.openxmlformats.org/drawingml/2006/main" name="Saleri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2674</TotalTime>
  <Words>417</Words>
  <Application>Microsoft Office PowerPoint</Application>
  <PresentationFormat>On-screen Show (16:9)</PresentationFormat>
  <Paragraphs>78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Roboto Condensed Light</vt:lpstr>
      <vt:lpstr>Arial</vt:lpstr>
      <vt:lpstr>Cambria Math</vt:lpstr>
      <vt:lpstr>Wingdings</vt:lpstr>
      <vt:lpstr>Roboto Condensed</vt:lpstr>
      <vt:lpstr>Salerio template</vt:lpstr>
      <vt:lpstr>Lesson 6 - HYPERBOLIC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SYSTEM FOR EMPLOYEE LOGIN &amp; LOGOUT MANAGEMENT SYSTEM WITH RFID AND CHANGING THE PASSWORD USER MANUALLY Literature Review</dc:title>
  <dc:creator>ERAO</dc:creator>
  <cp:lastModifiedBy>Xian Rhel Cadiogan</cp:lastModifiedBy>
  <cp:revision>187</cp:revision>
  <dcterms:modified xsi:type="dcterms:W3CDTF">2026-03-03T08:59:23Z</dcterms:modified>
</cp:coreProperties>
</file>