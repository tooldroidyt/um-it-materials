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43"/>
  </p:notesMasterIdLst>
  <p:sldIdLst>
    <p:sldId id="256" r:id="rId2"/>
    <p:sldId id="339" r:id="rId3"/>
    <p:sldId id="259" r:id="rId4"/>
    <p:sldId id="261" r:id="rId5"/>
    <p:sldId id="302" r:id="rId6"/>
    <p:sldId id="268" r:id="rId7"/>
    <p:sldId id="304" r:id="rId8"/>
    <p:sldId id="303" r:id="rId9"/>
    <p:sldId id="258" r:id="rId10"/>
    <p:sldId id="305" r:id="rId11"/>
    <p:sldId id="306" r:id="rId12"/>
    <p:sldId id="311" r:id="rId13"/>
    <p:sldId id="307" r:id="rId14"/>
    <p:sldId id="308" r:id="rId15"/>
    <p:sldId id="309" r:id="rId16"/>
    <p:sldId id="312" r:id="rId17"/>
    <p:sldId id="313" r:id="rId18"/>
    <p:sldId id="262" r:id="rId19"/>
    <p:sldId id="326" r:id="rId20"/>
    <p:sldId id="316" r:id="rId21"/>
    <p:sldId id="331" r:id="rId22"/>
    <p:sldId id="332" r:id="rId23"/>
    <p:sldId id="317" r:id="rId24"/>
    <p:sldId id="314" r:id="rId25"/>
    <p:sldId id="330" r:id="rId26"/>
    <p:sldId id="327" r:id="rId27"/>
    <p:sldId id="315" r:id="rId28"/>
    <p:sldId id="318" r:id="rId29"/>
    <p:sldId id="319" r:id="rId30"/>
    <p:sldId id="320" r:id="rId31"/>
    <p:sldId id="334" r:id="rId32"/>
    <p:sldId id="333" r:id="rId33"/>
    <p:sldId id="321" r:id="rId34"/>
    <p:sldId id="322" r:id="rId35"/>
    <p:sldId id="323" r:id="rId36"/>
    <p:sldId id="335" r:id="rId37"/>
    <p:sldId id="328" r:id="rId38"/>
    <p:sldId id="324" r:id="rId39"/>
    <p:sldId id="336" r:id="rId40"/>
    <p:sldId id="329" r:id="rId41"/>
    <p:sldId id="337" r:id="rId42"/>
  </p:sldIdLst>
  <p:sldSz cx="9144000" cy="5143500" type="screen16x9"/>
  <p:notesSz cx="6858000" cy="9144000"/>
  <p:embeddedFontLst>
    <p:embeddedFont>
      <p:font typeface="Anonymous Pro" panose="020B0604020202020204" charset="0"/>
      <p:regular r:id="rId44"/>
      <p:bold r:id="rId45"/>
      <p:italic r:id="rId46"/>
      <p:boldItalic r:id="rId47"/>
    </p:embeddedFont>
    <p:embeddedFont>
      <p:font typeface="Coming Soon" panose="020B0604020202020204" charset="0"/>
      <p:regular r:id="rId48"/>
    </p:embeddedFont>
    <p:embeddedFont>
      <p:font typeface="Concert One" pitchFamily="2" charset="0"/>
      <p:regular r:id="rId49"/>
    </p:embeddedFont>
    <p:embeddedFont>
      <p:font typeface="Oxygen" panose="02000503000000000000" pitchFamily="2" charset="0"/>
      <p:regular r:id="rId50"/>
      <p:bold r:id="rId51"/>
    </p:embeddedFont>
    <p:embeddedFont>
      <p:font typeface="Roboto Mono Medium" panose="00000009000000000000" pitchFamily="49"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9A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F83E44-E57C-4BD2-BE22-66859416706D}">
  <a:tblStyle styleId="{70F83E44-E57C-4BD2-BE22-66859416706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font" Target="fonts/font5.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36089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7374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4592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399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777e31443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777e31443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777e31443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777e31443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3965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777e31443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777e31443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3664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342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6431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9943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4202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853034354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853034354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9413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2965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853034354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853034354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7611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8616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5310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83369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43184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853034354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853034354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4116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32728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197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71102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853034354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853034354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95937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22914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53034354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53034354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81582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45327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677404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90102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853034354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853034354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97411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853034354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853034354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16896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5495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777829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2001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9920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288312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53034354b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53034354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45845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853034354b_0_24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853034354b_0_24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62685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0" name="Google Shape;10;p2"/>
          <p:cNvPicPr preferRelativeResize="0"/>
          <p:nvPr/>
        </p:nvPicPr>
        <p:blipFill rotWithShape="1">
          <a:blip r:embed="rId3">
            <a:alphaModFix/>
          </a:blip>
          <a:srcRect b="61089"/>
          <a:stretch/>
        </p:blipFill>
        <p:spPr>
          <a:xfrm rot="-620881">
            <a:off x="1853551" y="40483"/>
            <a:ext cx="2068426" cy="1772790"/>
          </a:xfrm>
          <a:prstGeom prst="rect">
            <a:avLst/>
          </a:prstGeom>
          <a:noFill/>
          <a:ln>
            <a:noFill/>
          </a:ln>
        </p:spPr>
      </p:pic>
      <p:pic>
        <p:nvPicPr>
          <p:cNvPr id="11" name="Google Shape;11;p2"/>
          <p:cNvPicPr preferRelativeResize="0"/>
          <p:nvPr/>
        </p:nvPicPr>
        <p:blipFill rotWithShape="1">
          <a:blip r:embed="rId4">
            <a:alphaModFix/>
          </a:blip>
          <a:srcRect r="1545" b="6838"/>
          <a:stretch/>
        </p:blipFill>
        <p:spPr>
          <a:xfrm>
            <a:off x="1047887" y="524012"/>
            <a:ext cx="7048226" cy="4102024"/>
          </a:xfrm>
          <a:prstGeom prst="rect">
            <a:avLst/>
          </a:prstGeom>
          <a:noFill/>
          <a:ln>
            <a:noFill/>
          </a:ln>
        </p:spPr>
      </p:pic>
      <p:pic>
        <p:nvPicPr>
          <p:cNvPr id="12" name="Google Shape;12;p2"/>
          <p:cNvPicPr preferRelativeResize="0"/>
          <p:nvPr/>
        </p:nvPicPr>
        <p:blipFill>
          <a:blip r:embed="rId5">
            <a:alphaModFix/>
          </a:blip>
          <a:stretch>
            <a:fillRect/>
          </a:stretch>
        </p:blipFill>
        <p:spPr>
          <a:xfrm>
            <a:off x="1593925" y="2989525"/>
            <a:ext cx="1584774" cy="1852801"/>
          </a:xfrm>
          <a:prstGeom prst="rect">
            <a:avLst/>
          </a:prstGeom>
          <a:noFill/>
          <a:ln>
            <a:noFill/>
          </a:ln>
          <a:effectLst>
            <a:outerShdw blurRad="57150" dist="19050" dir="3300000" algn="bl" rotWithShape="0">
              <a:srgbClr val="000000">
                <a:alpha val="34000"/>
              </a:srgbClr>
            </a:outerShdw>
          </a:effectLst>
        </p:spPr>
      </p:pic>
      <p:sp>
        <p:nvSpPr>
          <p:cNvPr id="13" name="Google Shape;13;p2"/>
          <p:cNvSpPr txBox="1">
            <a:spLocks noGrp="1"/>
          </p:cNvSpPr>
          <p:nvPr>
            <p:ph type="ctrTitle"/>
          </p:nvPr>
        </p:nvSpPr>
        <p:spPr>
          <a:xfrm>
            <a:off x="1532100" y="1728423"/>
            <a:ext cx="6079800" cy="16551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SzPts val="6000"/>
              <a:buNone/>
              <a:defRPr sz="6000"/>
            </a:lvl1pPr>
            <a:lvl2pPr lvl="1" algn="ctr">
              <a:lnSpc>
                <a:spcPct val="80000"/>
              </a:lnSpc>
              <a:spcBef>
                <a:spcPts val="0"/>
              </a:spcBef>
              <a:spcAft>
                <a:spcPts val="0"/>
              </a:spcAft>
              <a:buClr>
                <a:srgbClr val="0B5394"/>
              </a:buClr>
              <a:buSzPts val="6000"/>
              <a:buNone/>
              <a:defRPr sz="6000">
                <a:solidFill>
                  <a:srgbClr val="0B5394"/>
                </a:solidFill>
              </a:defRPr>
            </a:lvl2pPr>
            <a:lvl3pPr lvl="2" algn="ctr">
              <a:lnSpc>
                <a:spcPct val="80000"/>
              </a:lnSpc>
              <a:spcBef>
                <a:spcPts val="0"/>
              </a:spcBef>
              <a:spcAft>
                <a:spcPts val="0"/>
              </a:spcAft>
              <a:buClr>
                <a:srgbClr val="0B5394"/>
              </a:buClr>
              <a:buSzPts val="6000"/>
              <a:buNone/>
              <a:defRPr sz="6000">
                <a:solidFill>
                  <a:srgbClr val="0B5394"/>
                </a:solidFill>
              </a:defRPr>
            </a:lvl3pPr>
            <a:lvl4pPr lvl="3" algn="ctr">
              <a:lnSpc>
                <a:spcPct val="80000"/>
              </a:lnSpc>
              <a:spcBef>
                <a:spcPts val="0"/>
              </a:spcBef>
              <a:spcAft>
                <a:spcPts val="0"/>
              </a:spcAft>
              <a:buClr>
                <a:srgbClr val="0B5394"/>
              </a:buClr>
              <a:buSzPts val="6000"/>
              <a:buNone/>
              <a:defRPr sz="6000">
                <a:solidFill>
                  <a:srgbClr val="0B5394"/>
                </a:solidFill>
              </a:defRPr>
            </a:lvl4pPr>
            <a:lvl5pPr lvl="4" algn="ctr">
              <a:lnSpc>
                <a:spcPct val="80000"/>
              </a:lnSpc>
              <a:spcBef>
                <a:spcPts val="0"/>
              </a:spcBef>
              <a:spcAft>
                <a:spcPts val="0"/>
              </a:spcAft>
              <a:buClr>
                <a:srgbClr val="0B5394"/>
              </a:buClr>
              <a:buSzPts val="6000"/>
              <a:buNone/>
              <a:defRPr sz="6000">
                <a:solidFill>
                  <a:srgbClr val="0B5394"/>
                </a:solidFill>
              </a:defRPr>
            </a:lvl5pPr>
            <a:lvl6pPr lvl="5" algn="ctr">
              <a:lnSpc>
                <a:spcPct val="80000"/>
              </a:lnSpc>
              <a:spcBef>
                <a:spcPts val="0"/>
              </a:spcBef>
              <a:spcAft>
                <a:spcPts val="0"/>
              </a:spcAft>
              <a:buClr>
                <a:srgbClr val="0B5394"/>
              </a:buClr>
              <a:buSzPts val="6000"/>
              <a:buNone/>
              <a:defRPr sz="6000">
                <a:solidFill>
                  <a:srgbClr val="0B5394"/>
                </a:solidFill>
              </a:defRPr>
            </a:lvl6pPr>
            <a:lvl7pPr lvl="6" algn="ctr">
              <a:lnSpc>
                <a:spcPct val="80000"/>
              </a:lnSpc>
              <a:spcBef>
                <a:spcPts val="0"/>
              </a:spcBef>
              <a:spcAft>
                <a:spcPts val="0"/>
              </a:spcAft>
              <a:buClr>
                <a:srgbClr val="0B5394"/>
              </a:buClr>
              <a:buSzPts val="6000"/>
              <a:buNone/>
              <a:defRPr sz="6000">
                <a:solidFill>
                  <a:srgbClr val="0B5394"/>
                </a:solidFill>
              </a:defRPr>
            </a:lvl7pPr>
            <a:lvl8pPr lvl="7" algn="ctr">
              <a:lnSpc>
                <a:spcPct val="80000"/>
              </a:lnSpc>
              <a:spcBef>
                <a:spcPts val="0"/>
              </a:spcBef>
              <a:spcAft>
                <a:spcPts val="0"/>
              </a:spcAft>
              <a:buClr>
                <a:srgbClr val="0B5394"/>
              </a:buClr>
              <a:buSzPts val="6000"/>
              <a:buNone/>
              <a:defRPr sz="6000">
                <a:solidFill>
                  <a:srgbClr val="0B5394"/>
                </a:solidFill>
              </a:defRPr>
            </a:lvl8pPr>
            <a:lvl9pPr lvl="8" algn="ctr">
              <a:lnSpc>
                <a:spcPct val="80000"/>
              </a:lnSpc>
              <a:spcBef>
                <a:spcPts val="0"/>
              </a:spcBef>
              <a:spcAft>
                <a:spcPts val="0"/>
              </a:spcAft>
              <a:buClr>
                <a:srgbClr val="0B5394"/>
              </a:buClr>
              <a:buSzPts val="6000"/>
              <a:buNone/>
              <a:defRPr sz="6000">
                <a:solidFill>
                  <a:srgbClr val="0B5394"/>
                </a:solidFill>
              </a:defRPr>
            </a:lvl9pPr>
          </a:lstStyle>
          <a:p>
            <a:endParaRPr/>
          </a:p>
        </p:txBody>
      </p:sp>
      <p:sp>
        <p:nvSpPr>
          <p:cNvPr id="14" name="Google Shape;14;p2"/>
          <p:cNvSpPr txBox="1">
            <a:spLocks noGrp="1"/>
          </p:cNvSpPr>
          <p:nvPr>
            <p:ph type="subTitle" idx="1"/>
          </p:nvPr>
        </p:nvSpPr>
        <p:spPr>
          <a:xfrm>
            <a:off x="1672763" y="3769325"/>
            <a:ext cx="1427100" cy="7926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Clr>
                <a:schemeClr val="dk2"/>
              </a:buClr>
              <a:buSzPts val="1400"/>
              <a:buNone/>
              <a:defRPr sz="1400">
                <a:solidFill>
                  <a:schemeClr val="dk2"/>
                </a:solidFill>
              </a:defRPr>
            </a:lvl1pPr>
            <a:lvl2pPr lvl="1"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2pPr>
            <a:lvl3pPr lvl="2"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3pPr>
            <a:lvl4pPr lvl="3"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4pPr>
            <a:lvl5pPr lvl="4"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5pPr>
            <a:lvl6pPr lvl="5"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6pPr>
            <a:lvl7pPr lvl="6"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7pPr>
            <a:lvl8pPr lvl="7"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8pPr>
            <a:lvl9pPr lvl="8" algn="ctr">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7" name="Google Shape;17;p3"/>
          <p:cNvPicPr preferRelativeResize="0"/>
          <p:nvPr/>
        </p:nvPicPr>
        <p:blipFill>
          <a:blip r:embed="rId3">
            <a:alphaModFix/>
          </a:blip>
          <a:stretch>
            <a:fillRect/>
          </a:stretch>
        </p:blipFill>
        <p:spPr>
          <a:xfrm>
            <a:off x="1874151" y="447699"/>
            <a:ext cx="5395700" cy="4248101"/>
          </a:xfrm>
          <a:prstGeom prst="rect">
            <a:avLst/>
          </a:prstGeom>
          <a:noFill/>
          <a:ln>
            <a:noFill/>
          </a:ln>
          <a:effectLst>
            <a:outerShdw blurRad="57150" dist="19050" dir="5400000" algn="bl" rotWithShape="0">
              <a:srgbClr val="000000">
                <a:alpha val="50000"/>
              </a:srgbClr>
            </a:outerShdw>
          </a:effectLst>
        </p:spPr>
      </p:pic>
      <p:sp>
        <p:nvSpPr>
          <p:cNvPr id="18" name="Google Shape;18;p3"/>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9" name="Google Shape;19;p3"/>
          <p:cNvSpPr txBox="1">
            <a:spLocks noGrp="1"/>
          </p:cNvSpPr>
          <p:nvPr>
            <p:ph type="subTitle" idx="1"/>
          </p:nvPr>
        </p:nvSpPr>
        <p:spPr>
          <a:xfrm>
            <a:off x="2937741" y="3307350"/>
            <a:ext cx="3268500" cy="792600"/>
          </a:xfrm>
          <a:prstGeom prst="rect">
            <a:avLst/>
          </a:prstGeom>
        </p:spPr>
        <p:txBody>
          <a:bodyPr spcFirstLastPara="1" wrap="square" lIns="91425" tIns="91425" rIns="91425" bIns="91425" anchor="t" anchorCtr="0">
            <a:noAutofit/>
          </a:bodyPr>
          <a:lstStyle>
            <a:lvl1pPr lvl="0" algn="ctr" rtl="0">
              <a:lnSpc>
                <a:spcPct val="90000"/>
              </a:lnSpc>
              <a:spcBef>
                <a:spcPts val="0"/>
              </a:spcBef>
              <a:spcAft>
                <a:spcPts val="0"/>
              </a:spcAft>
              <a:buClr>
                <a:schemeClr val="dk2"/>
              </a:buClr>
              <a:buSzPts val="1600"/>
              <a:buNone/>
              <a:defRPr sz="1600">
                <a:solidFill>
                  <a:schemeClr val="dk2"/>
                </a:solidFill>
              </a:defRPr>
            </a:lvl1pPr>
            <a:lvl2pPr lvl="1"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2pPr>
            <a:lvl3pPr lvl="2"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3pPr>
            <a:lvl4pPr lvl="3"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4pPr>
            <a:lvl5pPr lvl="4"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5pPr>
            <a:lvl6pPr lvl="5"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6pPr>
            <a:lvl7pPr lvl="6"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7pPr>
            <a:lvl8pPr lvl="7"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8pPr>
            <a:lvl9pPr lvl="8" algn="ctr" rtl="0">
              <a:lnSpc>
                <a:spcPct val="90000"/>
              </a:lnSpc>
              <a:spcBef>
                <a:spcPts val="0"/>
              </a:spcBef>
              <a:spcAft>
                <a:spcPts val="0"/>
              </a:spcAft>
              <a:buClr>
                <a:srgbClr val="0B5394"/>
              </a:buClr>
              <a:buSzPts val="1800"/>
              <a:buFont typeface="Coming Soon"/>
              <a:buNone/>
              <a:defRPr sz="1800" b="1">
                <a:solidFill>
                  <a:srgbClr val="0B5394"/>
                </a:solidFill>
                <a:latin typeface="Coming Soon"/>
                <a:ea typeface="Coming Soon"/>
                <a:cs typeface="Coming Soon"/>
                <a:sym typeface="Coming Soon"/>
              </a:defRPr>
            </a:lvl9pPr>
          </a:lstStyle>
          <a:p>
            <a:endParaRPr/>
          </a:p>
        </p:txBody>
      </p:sp>
      <p:sp>
        <p:nvSpPr>
          <p:cNvPr id="20" name="Google Shape;20;p3"/>
          <p:cNvSpPr txBox="1">
            <a:spLocks noGrp="1"/>
          </p:cNvSpPr>
          <p:nvPr>
            <p:ph type="title" idx="2" hasCustomPrompt="1"/>
          </p:nvPr>
        </p:nvSpPr>
        <p:spPr>
          <a:xfrm>
            <a:off x="3778200" y="1403800"/>
            <a:ext cx="1587600" cy="1002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1"/>
              </a:buClr>
              <a:buSzPts val="4800"/>
              <a:buNone/>
              <a:defRPr sz="4800" b="0">
                <a:solidFill>
                  <a:schemeClr val="dk1"/>
                </a:solidFill>
              </a:defRPr>
            </a:lvl1pPr>
            <a:lvl2pPr lvl="1" algn="ctr" rtl="0">
              <a:spcBef>
                <a:spcPts val="0"/>
              </a:spcBef>
              <a:spcAft>
                <a:spcPts val="0"/>
              </a:spcAft>
              <a:buClr>
                <a:schemeClr val="dk2"/>
              </a:buClr>
              <a:buSzPts val="4800"/>
              <a:buNone/>
              <a:defRPr sz="4800">
                <a:solidFill>
                  <a:schemeClr val="dk2"/>
                </a:solidFill>
              </a:defRPr>
            </a:lvl2pPr>
            <a:lvl3pPr lvl="2" algn="ctr" rtl="0">
              <a:spcBef>
                <a:spcPts val="0"/>
              </a:spcBef>
              <a:spcAft>
                <a:spcPts val="0"/>
              </a:spcAft>
              <a:buClr>
                <a:schemeClr val="dk2"/>
              </a:buClr>
              <a:buSzPts val="4800"/>
              <a:buNone/>
              <a:defRPr sz="4800">
                <a:solidFill>
                  <a:schemeClr val="dk2"/>
                </a:solidFill>
              </a:defRPr>
            </a:lvl3pPr>
            <a:lvl4pPr lvl="3" algn="ctr" rtl="0">
              <a:spcBef>
                <a:spcPts val="0"/>
              </a:spcBef>
              <a:spcAft>
                <a:spcPts val="0"/>
              </a:spcAft>
              <a:buClr>
                <a:schemeClr val="dk2"/>
              </a:buClr>
              <a:buSzPts val="4800"/>
              <a:buNone/>
              <a:defRPr sz="4800">
                <a:solidFill>
                  <a:schemeClr val="dk2"/>
                </a:solidFill>
              </a:defRPr>
            </a:lvl4pPr>
            <a:lvl5pPr lvl="4" algn="ctr" rtl="0">
              <a:spcBef>
                <a:spcPts val="0"/>
              </a:spcBef>
              <a:spcAft>
                <a:spcPts val="0"/>
              </a:spcAft>
              <a:buClr>
                <a:schemeClr val="dk2"/>
              </a:buClr>
              <a:buSzPts val="4800"/>
              <a:buNone/>
              <a:defRPr sz="4800">
                <a:solidFill>
                  <a:schemeClr val="dk2"/>
                </a:solidFill>
              </a:defRPr>
            </a:lvl5pPr>
            <a:lvl6pPr lvl="5" algn="ctr" rtl="0">
              <a:spcBef>
                <a:spcPts val="0"/>
              </a:spcBef>
              <a:spcAft>
                <a:spcPts val="0"/>
              </a:spcAft>
              <a:buClr>
                <a:schemeClr val="dk2"/>
              </a:buClr>
              <a:buSzPts val="4800"/>
              <a:buNone/>
              <a:defRPr sz="4800">
                <a:solidFill>
                  <a:schemeClr val="dk2"/>
                </a:solidFill>
              </a:defRPr>
            </a:lvl6pPr>
            <a:lvl7pPr lvl="6" algn="ctr" rtl="0">
              <a:spcBef>
                <a:spcPts val="0"/>
              </a:spcBef>
              <a:spcAft>
                <a:spcPts val="0"/>
              </a:spcAft>
              <a:buClr>
                <a:schemeClr val="dk2"/>
              </a:buClr>
              <a:buSzPts val="4800"/>
              <a:buNone/>
              <a:defRPr sz="4800">
                <a:solidFill>
                  <a:schemeClr val="dk2"/>
                </a:solidFill>
              </a:defRPr>
            </a:lvl7pPr>
            <a:lvl8pPr lvl="7" algn="ctr" rtl="0">
              <a:spcBef>
                <a:spcPts val="0"/>
              </a:spcBef>
              <a:spcAft>
                <a:spcPts val="0"/>
              </a:spcAft>
              <a:buClr>
                <a:schemeClr val="dk2"/>
              </a:buClr>
              <a:buSzPts val="4800"/>
              <a:buNone/>
              <a:defRPr sz="4800">
                <a:solidFill>
                  <a:schemeClr val="dk2"/>
                </a:solidFill>
              </a:defRPr>
            </a:lvl8pPr>
            <a:lvl9pPr lvl="8" algn="ctr" rtl="0">
              <a:spcBef>
                <a:spcPts val="0"/>
              </a:spcBef>
              <a:spcAft>
                <a:spcPts val="0"/>
              </a:spcAft>
              <a:buClr>
                <a:schemeClr val="dk2"/>
              </a:buClr>
              <a:buSzPts val="4800"/>
              <a:buNone/>
              <a:defRPr sz="4800">
                <a:solidFill>
                  <a:schemeClr val="dk2"/>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pic>
        <p:nvPicPr>
          <p:cNvPr id="45" name="Google Shape;45;p9"/>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46" name="Google Shape;46;p9"/>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47" name="Google Shape;47;p9"/>
          <p:cNvSpPr txBox="1">
            <a:spLocks noGrp="1"/>
          </p:cNvSpPr>
          <p:nvPr>
            <p:ph type="subTitle" idx="1"/>
          </p:nvPr>
        </p:nvSpPr>
        <p:spPr>
          <a:xfrm>
            <a:off x="1629950" y="3828100"/>
            <a:ext cx="2332500" cy="69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Font typeface="Concert One"/>
              <a:buNone/>
              <a:defRPr sz="1600">
                <a:latin typeface="Concert One"/>
                <a:ea typeface="Concert One"/>
                <a:cs typeface="Concert One"/>
                <a:sym typeface="Concert 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a:endParaRPr/>
          </a:p>
        </p:txBody>
      </p:sp>
      <p:sp>
        <p:nvSpPr>
          <p:cNvPr id="48" name="Google Shape;48;p9"/>
          <p:cNvSpPr txBox="1">
            <a:spLocks noGrp="1"/>
          </p:cNvSpPr>
          <p:nvPr>
            <p:ph type="body" idx="2"/>
          </p:nvPr>
        </p:nvSpPr>
        <p:spPr>
          <a:xfrm>
            <a:off x="5044725" y="539500"/>
            <a:ext cx="3224400" cy="40692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Clr>
                <a:schemeClr val="dk2"/>
              </a:buClr>
              <a:buSzPts val="1400"/>
              <a:buChar char="●"/>
              <a:defRPr sz="1400">
                <a:solidFill>
                  <a:schemeClr val="dk2"/>
                </a:solidFill>
              </a:defRPr>
            </a:lvl1pPr>
            <a:lvl2pPr marL="914400" lvl="1" indent="-317500">
              <a:spcBef>
                <a:spcPts val="0"/>
              </a:spcBef>
              <a:spcAft>
                <a:spcPts val="0"/>
              </a:spcAft>
              <a:buClr>
                <a:schemeClr val="dk2"/>
              </a:buClr>
              <a:buSzPts val="1400"/>
              <a:buChar char="○"/>
              <a:defRPr>
                <a:solidFill>
                  <a:schemeClr val="dk2"/>
                </a:solidFill>
              </a:defRPr>
            </a:lvl2pPr>
            <a:lvl3pPr marL="1371600" lvl="2" indent="-317500">
              <a:spcBef>
                <a:spcPts val="1600"/>
              </a:spcBef>
              <a:spcAft>
                <a:spcPts val="0"/>
              </a:spcAft>
              <a:buClr>
                <a:schemeClr val="dk2"/>
              </a:buClr>
              <a:buSzPts val="1400"/>
              <a:buChar char="■"/>
              <a:defRPr>
                <a:solidFill>
                  <a:schemeClr val="dk2"/>
                </a:solidFill>
              </a:defRPr>
            </a:lvl3pPr>
            <a:lvl4pPr marL="1828800" lvl="3" indent="-317500">
              <a:spcBef>
                <a:spcPts val="1600"/>
              </a:spcBef>
              <a:spcAft>
                <a:spcPts val="0"/>
              </a:spcAft>
              <a:buClr>
                <a:schemeClr val="dk2"/>
              </a:buClr>
              <a:buSzPts val="1400"/>
              <a:buChar char="●"/>
              <a:defRPr>
                <a:solidFill>
                  <a:schemeClr val="dk2"/>
                </a:solidFill>
              </a:defRPr>
            </a:lvl4pPr>
            <a:lvl5pPr marL="2286000" lvl="4" indent="-317500">
              <a:spcBef>
                <a:spcPts val="1600"/>
              </a:spcBef>
              <a:spcAft>
                <a:spcPts val="0"/>
              </a:spcAft>
              <a:buClr>
                <a:schemeClr val="dk2"/>
              </a:buClr>
              <a:buSzPts val="1400"/>
              <a:buChar char="○"/>
              <a:defRPr>
                <a:solidFill>
                  <a:schemeClr val="dk2"/>
                </a:solidFill>
              </a:defRPr>
            </a:lvl5pPr>
            <a:lvl6pPr marL="2743200" lvl="5" indent="-317500">
              <a:spcBef>
                <a:spcPts val="1600"/>
              </a:spcBef>
              <a:spcAft>
                <a:spcPts val="0"/>
              </a:spcAft>
              <a:buClr>
                <a:schemeClr val="dk2"/>
              </a:buClr>
              <a:buSzPts val="1400"/>
              <a:buChar char="■"/>
              <a:defRPr>
                <a:solidFill>
                  <a:schemeClr val="dk2"/>
                </a:solidFill>
              </a:defRPr>
            </a:lvl6pPr>
            <a:lvl7pPr marL="3200400" lvl="6" indent="-317500">
              <a:spcBef>
                <a:spcPts val="1600"/>
              </a:spcBef>
              <a:spcAft>
                <a:spcPts val="0"/>
              </a:spcAft>
              <a:buClr>
                <a:schemeClr val="dk2"/>
              </a:buClr>
              <a:buSzPts val="1400"/>
              <a:buChar char="●"/>
              <a:defRPr>
                <a:solidFill>
                  <a:schemeClr val="dk2"/>
                </a:solidFill>
              </a:defRPr>
            </a:lvl7pPr>
            <a:lvl8pPr marL="3657600" lvl="7" indent="-317500">
              <a:spcBef>
                <a:spcPts val="1600"/>
              </a:spcBef>
              <a:spcAft>
                <a:spcPts val="0"/>
              </a:spcAft>
              <a:buClr>
                <a:schemeClr val="dk2"/>
              </a:buClr>
              <a:buSzPts val="1400"/>
              <a:buChar char="○"/>
              <a:defRPr>
                <a:solidFill>
                  <a:schemeClr val="dk2"/>
                </a:solidFill>
              </a:defRPr>
            </a:lvl8pPr>
            <a:lvl9pPr marL="4114800" lvl="8" indent="-317500">
              <a:spcBef>
                <a:spcPts val="1600"/>
              </a:spcBef>
              <a:spcAft>
                <a:spcPts val="1600"/>
              </a:spcAft>
              <a:buClr>
                <a:schemeClr val="dk2"/>
              </a:buClr>
              <a:buSzPts val="1400"/>
              <a:buChar char="■"/>
              <a:defRPr>
                <a:solidFill>
                  <a:schemeClr val="dk2"/>
                </a:solidFill>
              </a:defRPr>
            </a:lvl9pPr>
          </a:lstStyle>
          <a:p>
            <a:endParaRPr/>
          </a:p>
        </p:txBody>
      </p:sp>
      <p:sp>
        <p:nvSpPr>
          <p:cNvPr id="49" name="Google Shape;49;p9"/>
          <p:cNvSpPr txBox="1">
            <a:spLocks noGrp="1"/>
          </p:cNvSpPr>
          <p:nvPr>
            <p:ph type="title"/>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pic>
        <p:nvPicPr>
          <p:cNvPr id="55" name="Google Shape;55;p11"/>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56" name="Google Shape;56;p11"/>
          <p:cNvPicPr preferRelativeResize="0"/>
          <p:nvPr/>
        </p:nvPicPr>
        <p:blipFill rotWithShape="1">
          <a:blip r:embed="rId3">
            <a:alphaModFix/>
          </a:blip>
          <a:srcRect t="16734" r="8892" b="18300"/>
          <a:stretch/>
        </p:blipFill>
        <p:spPr>
          <a:xfrm rot="-5400000">
            <a:off x="4748475" y="480657"/>
            <a:ext cx="2036850" cy="846042"/>
          </a:xfrm>
          <a:prstGeom prst="rect">
            <a:avLst/>
          </a:prstGeom>
          <a:noFill/>
          <a:ln>
            <a:noFill/>
          </a:ln>
        </p:spPr>
      </p:pic>
      <p:pic>
        <p:nvPicPr>
          <p:cNvPr id="57" name="Google Shape;57;p11"/>
          <p:cNvPicPr preferRelativeResize="0"/>
          <p:nvPr/>
        </p:nvPicPr>
        <p:blipFill rotWithShape="1">
          <a:blip r:embed="rId3">
            <a:alphaModFix/>
          </a:blip>
          <a:srcRect t="16734" r="8892" b="18300"/>
          <a:stretch/>
        </p:blipFill>
        <p:spPr>
          <a:xfrm rot="-5400000">
            <a:off x="5339025" y="595407"/>
            <a:ext cx="2036850" cy="846042"/>
          </a:xfrm>
          <a:prstGeom prst="rect">
            <a:avLst/>
          </a:prstGeom>
          <a:noFill/>
          <a:ln>
            <a:noFill/>
          </a:ln>
        </p:spPr>
      </p:pic>
      <p:pic>
        <p:nvPicPr>
          <p:cNvPr id="58" name="Google Shape;58;p11"/>
          <p:cNvPicPr preferRelativeResize="0"/>
          <p:nvPr/>
        </p:nvPicPr>
        <p:blipFill rotWithShape="1">
          <a:blip r:embed="rId4">
            <a:alphaModFix/>
          </a:blip>
          <a:srcRect b="7123"/>
          <a:stretch/>
        </p:blipFill>
        <p:spPr>
          <a:xfrm>
            <a:off x="1974100" y="324738"/>
            <a:ext cx="5195775" cy="4494025"/>
          </a:xfrm>
          <a:prstGeom prst="rect">
            <a:avLst/>
          </a:prstGeom>
          <a:noFill/>
          <a:ln>
            <a:noFill/>
          </a:ln>
        </p:spPr>
      </p:pic>
      <p:sp>
        <p:nvSpPr>
          <p:cNvPr id="59" name="Google Shape;59;p11"/>
          <p:cNvSpPr txBox="1">
            <a:spLocks noGrp="1"/>
          </p:cNvSpPr>
          <p:nvPr>
            <p:ph type="title" hasCustomPrompt="1"/>
          </p:nvPr>
        </p:nvSpPr>
        <p:spPr>
          <a:xfrm>
            <a:off x="2838275" y="1645347"/>
            <a:ext cx="4001700" cy="1137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7200"/>
              <a:buNone/>
              <a:defRPr sz="7200" b="0">
                <a:solidFill>
                  <a:schemeClr val="dk2"/>
                </a:solidFill>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r>
              <a:t>xx%</a:t>
            </a:r>
          </a:p>
        </p:txBody>
      </p:sp>
      <p:sp>
        <p:nvSpPr>
          <p:cNvPr id="60" name="Google Shape;60;p11"/>
          <p:cNvSpPr txBox="1">
            <a:spLocks noGrp="1"/>
          </p:cNvSpPr>
          <p:nvPr>
            <p:ph type="body" idx="1"/>
          </p:nvPr>
        </p:nvSpPr>
        <p:spPr>
          <a:xfrm>
            <a:off x="3335675" y="3062950"/>
            <a:ext cx="30069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dk2"/>
              </a:buClr>
              <a:buSzPts val="1800"/>
              <a:buChar char="●"/>
              <a:defRPr>
                <a:solidFill>
                  <a:schemeClr val="dk2"/>
                </a:solidFill>
              </a:defRPr>
            </a:lvl1pPr>
            <a:lvl2pPr marL="914400" lvl="1" indent="-342900" algn="ctr">
              <a:spcBef>
                <a:spcPts val="1600"/>
              </a:spcBef>
              <a:spcAft>
                <a:spcPts val="0"/>
              </a:spcAft>
              <a:buClr>
                <a:schemeClr val="dk2"/>
              </a:buClr>
              <a:buSzPts val="1800"/>
              <a:buChar char="○"/>
              <a:defRPr sz="1800">
                <a:solidFill>
                  <a:schemeClr val="dk2"/>
                </a:solidFill>
              </a:defRPr>
            </a:lvl2pPr>
            <a:lvl3pPr marL="1371600" lvl="2" indent="-342900" algn="ctr">
              <a:spcBef>
                <a:spcPts val="1600"/>
              </a:spcBef>
              <a:spcAft>
                <a:spcPts val="0"/>
              </a:spcAft>
              <a:buClr>
                <a:schemeClr val="dk2"/>
              </a:buClr>
              <a:buSzPts val="1800"/>
              <a:buChar char="■"/>
              <a:defRPr sz="1800">
                <a:solidFill>
                  <a:schemeClr val="dk2"/>
                </a:solidFill>
              </a:defRPr>
            </a:lvl3pPr>
            <a:lvl4pPr marL="1828800" lvl="3" indent="-342900" algn="ctr">
              <a:spcBef>
                <a:spcPts val="1600"/>
              </a:spcBef>
              <a:spcAft>
                <a:spcPts val="0"/>
              </a:spcAft>
              <a:buClr>
                <a:schemeClr val="dk2"/>
              </a:buClr>
              <a:buSzPts val="1800"/>
              <a:buChar char="●"/>
              <a:defRPr sz="1800">
                <a:solidFill>
                  <a:schemeClr val="dk2"/>
                </a:solidFill>
              </a:defRPr>
            </a:lvl4pPr>
            <a:lvl5pPr marL="2286000" lvl="4" indent="-342900" algn="ctr">
              <a:spcBef>
                <a:spcPts val="1600"/>
              </a:spcBef>
              <a:spcAft>
                <a:spcPts val="0"/>
              </a:spcAft>
              <a:buClr>
                <a:schemeClr val="dk2"/>
              </a:buClr>
              <a:buSzPts val="1800"/>
              <a:buChar char="○"/>
              <a:defRPr sz="1800">
                <a:solidFill>
                  <a:schemeClr val="dk2"/>
                </a:solidFill>
              </a:defRPr>
            </a:lvl5pPr>
            <a:lvl6pPr marL="2743200" lvl="5" indent="-342900" algn="ctr">
              <a:spcBef>
                <a:spcPts val="1600"/>
              </a:spcBef>
              <a:spcAft>
                <a:spcPts val="0"/>
              </a:spcAft>
              <a:buClr>
                <a:schemeClr val="dk2"/>
              </a:buClr>
              <a:buSzPts val="1800"/>
              <a:buChar char="■"/>
              <a:defRPr sz="1800">
                <a:solidFill>
                  <a:schemeClr val="dk2"/>
                </a:solidFill>
              </a:defRPr>
            </a:lvl6pPr>
            <a:lvl7pPr marL="3200400" lvl="6" indent="-342900" algn="ctr">
              <a:spcBef>
                <a:spcPts val="1600"/>
              </a:spcBef>
              <a:spcAft>
                <a:spcPts val="0"/>
              </a:spcAft>
              <a:buClr>
                <a:schemeClr val="dk2"/>
              </a:buClr>
              <a:buSzPts val="1800"/>
              <a:buChar char="●"/>
              <a:defRPr sz="1800">
                <a:solidFill>
                  <a:schemeClr val="dk2"/>
                </a:solidFill>
              </a:defRPr>
            </a:lvl7pPr>
            <a:lvl8pPr marL="3657600" lvl="7" indent="-342900" algn="ctr">
              <a:spcBef>
                <a:spcPts val="1600"/>
              </a:spcBef>
              <a:spcAft>
                <a:spcPts val="0"/>
              </a:spcAft>
              <a:buClr>
                <a:schemeClr val="dk2"/>
              </a:buClr>
              <a:buSzPts val="1800"/>
              <a:buChar char="○"/>
              <a:defRPr sz="1800">
                <a:solidFill>
                  <a:schemeClr val="dk2"/>
                </a:solidFill>
              </a:defRPr>
            </a:lvl8pPr>
            <a:lvl9pPr marL="4114800" lvl="8" indent="-342900" algn="ctr">
              <a:spcBef>
                <a:spcPts val="1600"/>
              </a:spcBef>
              <a:spcAft>
                <a:spcPts val="1600"/>
              </a:spcAft>
              <a:buClr>
                <a:schemeClr val="dk2"/>
              </a:buClr>
              <a:buSzPts val="1800"/>
              <a:buChar char="■"/>
              <a:defRPr sz="1800">
                <a:solidFill>
                  <a:schemeClr val="dk2"/>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SECTION_TITLE_AND_DESCRIPTION_1">
    <p:spTree>
      <p:nvGrpSpPr>
        <p:cNvPr id="1" name="Shape 62"/>
        <p:cNvGrpSpPr/>
        <p:nvPr/>
      </p:nvGrpSpPr>
      <p:grpSpPr>
        <a:xfrm>
          <a:off x="0" y="0"/>
          <a:ext cx="0" cy="0"/>
          <a:chOff x="0" y="0"/>
          <a:chExt cx="0" cy="0"/>
        </a:xfrm>
      </p:grpSpPr>
      <p:pic>
        <p:nvPicPr>
          <p:cNvPr id="63" name="Google Shape;63;p1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64" name="Google Shape;64;p13"/>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65" name="Google Shape;65;p13"/>
          <p:cNvSpPr txBox="1">
            <a:spLocks noGrp="1"/>
          </p:cNvSpPr>
          <p:nvPr>
            <p:ph type="title"/>
          </p:nvPr>
        </p:nvSpPr>
        <p:spPr>
          <a:xfrm>
            <a:off x="907470" y="1705233"/>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66" name="Google Shape;66;p13"/>
          <p:cNvSpPr txBox="1">
            <a:spLocks noGrp="1"/>
          </p:cNvSpPr>
          <p:nvPr>
            <p:ph type="subTitle" idx="1"/>
          </p:nvPr>
        </p:nvSpPr>
        <p:spPr>
          <a:xfrm>
            <a:off x="929350" y="21612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67" name="Google Shape;67;p13"/>
          <p:cNvSpPr txBox="1">
            <a:spLocks noGrp="1"/>
          </p:cNvSpPr>
          <p:nvPr>
            <p:ph type="title" idx="2"/>
          </p:nvPr>
        </p:nvSpPr>
        <p:spPr>
          <a:xfrm>
            <a:off x="5318730" y="1705233"/>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68" name="Google Shape;68;p13"/>
          <p:cNvSpPr txBox="1">
            <a:spLocks noGrp="1"/>
          </p:cNvSpPr>
          <p:nvPr>
            <p:ph type="subTitle" idx="3"/>
          </p:nvPr>
        </p:nvSpPr>
        <p:spPr>
          <a:xfrm>
            <a:off x="5340612" y="21612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69" name="Google Shape;69;p13"/>
          <p:cNvSpPr txBox="1">
            <a:spLocks noGrp="1"/>
          </p:cNvSpPr>
          <p:nvPr>
            <p:ph type="title" idx="4"/>
          </p:nvPr>
        </p:nvSpPr>
        <p:spPr>
          <a:xfrm>
            <a:off x="907470" y="3221098"/>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70" name="Google Shape;70;p13"/>
          <p:cNvSpPr txBox="1">
            <a:spLocks noGrp="1"/>
          </p:cNvSpPr>
          <p:nvPr>
            <p:ph type="subTitle" idx="5"/>
          </p:nvPr>
        </p:nvSpPr>
        <p:spPr>
          <a:xfrm>
            <a:off x="929350" y="3685875"/>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71" name="Google Shape;71;p13"/>
          <p:cNvSpPr txBox="1">
            <a:spLocks noGrp="1"/>
          </p:cNvSpPr>
          <p:nvPr>
            <p:ph type="title" idx="6"/>
          </p:nvPr>
        </p:nvSpPr>
        <p:spPr>
          <a:xfrm>
            <a:off x="5318730" y="3221098"/>
            <a:ext cx="2917800" cy="488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100"/>
              <a:buNone/>
              <a:defRPr sz="2100"/>
            </a:lvl1pPr>
            <a:lvl2pPr lvl="1" algn="ctr" rtl="0">
              <a:spcBef>
                <a:spcPts val="0"/>
              </a:spcBef>
              <a:spcAft>
                <a:spcPts val="0"/>
              </a:spcAft>
              <a:buSzPts val="3900"/>
              <a:buNone/>
              <a:defRPr sz="3900"/>
            </a:lvl2pPr>
            <a:lvl3pPr lvl="2" algn="ctr" rtl="0">
              <a:spcBef>
                <a:spcPts val="0"/>
              </a:spcBef>
              <a:spcAft>
                <a:spcPts val="0"/>
              </a:spcAft>
              <a:buSzPts val="3900"/>
              <a:buNone/>
              <a:defRPr sz="3900"/>
            </a:lvl3pPr>
            <a:lvl4pPr lvl="3" algn="ctr" rtl="0">
              <a:spcBef>
                <a:spcPts val="0"/>
              </a:spcBef>
              <a:spcAft>
                <a:spcPts val="0"/>
              </a:spcAft>
              <a:buSzPts val="3900"/>
              <a:buNone/>
              <a:defRPr sz="3900"/>
            </a:lvl4pPr>
            <a:lvl5pPr lvl="4" algn="ctr" rtl="0">
              <a:spcBef>
                <a:spcPts val="0"/>
              </a:spcBef>
              <a:spcAft>
                <a:spcPts val="0"/>
              </a:spcAft>
              <a:buSzPts val="3900"/>
              <a:buNone/>
              <a:defRPr sz="3900"/>
            </a:lvl5pPr>
            <a:lvl6pPr lvl="5" algn="ctr" rtl="0">
              <a:spcBef>
                <a:spcPts val="0"/>
              </a:spcBef>
              <a:spcAft>
                <a:spcPts val="0"/>
              </a:spcAft>
              <a:buSzPts val="3900"/>
              <a:buNone/>
              <a:defRPr sz="3900"/>
            </a:lvl6pPr>
            <a:lvl7pPr lvl="6" algn="ctr" rtl="0">
              <a:spcBef>
                <a:spcPts val="0"/>
              </a:spcBef>
              <a:spcAft>
                <a:spcPts val="0"/>
              </a:spcAft>
              <a:buSzPts val="3900"/>
              <a:buNone/>
              <a:defRPr sz="3900"/>
            </a:lvl7pPr>
            <a:lvl8pPr lvl="7" algn="ctr" rtl="0">
              <a:spcBef>
                <a:spcPts val="0"/>
              </a:spcBef>
              <a:spcAft>
                <a:spcPts val="0"/>
              </a:spcAft>
              <a:buSzPts val="3900"/>
              <a:buNone/>
              <a:defRPr sz="3900"/>
            </a:lvl8pPr>
            <a:lvl9pPr lvl="8" algn="ctr" rtl="0">
              <a:spcBef>
                <a:spcPts val="0"/>
              </a:spcBef>
              <a:spcAft>
                <a:spcPts val="0"/>
              </a:spcAft>
              <a:buSzPts val="3900"/>
              <a:buNone/>
              <a:defRPr sz="3900"/>
            </a:lvl9pPr>
          </a:lstStyle>
          <a:p>
            <a:endParaRPr/>
          </a:p>
        </p:txBody>
      </p:sp>
      <p:sp>
        <p:nvSpPr>
          <p:cNvPr id="72" name="Google Shape;72;p13"/>
          <p:cNvSpPr txBox="1">
            <a:spLocks noGrp="1"/>
          </p:cNvSpPr>
          <p:nvPr>
            <p:ph type="subTitle" idx="7"/>
          </p:nvPr>
        </p:nvSpPr>
        <p:spPr>
          <a:xfrm>
            <a:off x="5340612" y="3685874"/>
            <a:ext cx="2874000" cy="716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600"/>
              <a:buNone/>
              <a:defRPr sz="1600">
                <a:solidFill>
                  <a:schemeClr val="dk2"/>
                </a:solidFill>
              </a:defRPr>
            </a:lvl1pPr>
            <a:lvl2pPr lvl="1" algn="ctr" rtl="0">
              <a:lnSpc>
                <a:spcPct val="100000"/>
              </a:lnSpc>
              <a:spcBef>
                <a:spcPts val="0"/>
              </a:spcBef>
              <a:spcAft>
                <a:spcPts val="0"/>
              </a:spcAft>
              <a:buClr>
                <a:schemeClr val="dk2"/>
              </a:buClr>
              <a:buSzPts val="1600"/>
              <a:buNone/>
              <a:defRPr sz="1600">
                <a:solidFill>
                  <a:schemeClr val="dk2"/>
                </a:solidFill>
              </a:defRPr>
            </a:lvl2pPr>
            <a:lvl3pPr lvl="2" algn="ctr" rtl="0">
              <a:lnSpc>
                <a:spcPct val="100000"/>
              </a:lnSpc>
              <a:spcBef>
                <a:spcPts val="0"/>
              </a:spcBef>
              <a:spcAft>
                <a:spcPts val="0"/>
              </a:spcAft>
              <a:buClr>
                <a:schemeClr val="dk2"/>
              </a:buClr>
              <a:buSzPts val="1600"/>
              <a:buNone/>
              <a:defRPr sz="1600">
                <a:solidFill>
                  <a:schemeClr val="dk2"/>
                </a:solidFill>
              </a:defRPr>
            </a:lvl3pPr>
            <a:lvl4pPr lvl="3" algn="ctr" rtl="0">
              <a:lnSpc>
                <a:spcPct val="100000"/>
              </a:lnSpc>
              <a:spcBef>
                <a:spcPts val="0"/>
              </a:spcBef>
              <a:spcAft>
                <a:spcPts val="0"/>
              </a:spcAft>
              <a:buClr>
                <a:schemeClr val="dk2"/>
              </a:buClr>
              <a:buSzPts val="1600"/>
              <a:buNone/>
              <a:defRPr sz="1600">
                <a:solidFill>
                  <a:schemeClr val="dk2"/>
                </a:solidFill>
              </a:defRPr>
            </a:lvl4pPr>
            <a:lvl5pPr lvl="4" algn="ctr" rtl="0">
              <a:lnSpc>
                <a:spcPct val="100000"/>
              </a:lnSpc>
              <a:spcBef>
                <a:spcPts val="0"/>
              </a:spcBef>
              <a:spcAft>
                <a:spcPts val="0"/>
              </a:spcAft>
              <a:buClr>
                <a:schemeClr val="dk2"/>
              </a:buClr>
              <a:buSzPts val="1600"/>
              <a:buNone/>
              <a:defRPr sz="1600">
                <a:solidFill>
                  <a:schemeClr val="dk2"/>
                </a:solidFill>
              </a:defRPr>
            </a:lvl5pPr>
            <a:lvl6pPr lvl="5" algn="ctr" rtl="0">
              <a:lnSpc>
                <a:spcPct val="100000"/>
              </a:lnSpc>
              <a:spcBef>
                <a:spcPts val="0"/>
              </a:spcBef>
              <a:spcAft>
                <a:spcPts val="0"/>
              </a:spcAft>
              <a:buClr>
                <a:schemeClr val="dk2"/>
              </a:buClr>
              <a:buSzPts val="1600"/>
              <a:buNone/>
              <a:defRPr sz="1600">
                <a:solidFill>
                  <a:schemeClr val="dk2"/>
                </a:solidFill>
              </a:defRPr>
            </a:lvl6pPr>
            <a:lvl7pPr lvl="6" algn="ctr" rtl="0">
              <a:lnSpc>
                <a:spcPct val="100000"/>
              </a:lnSpc>
              <a:spcBef>
                <a:spcPts val="0"/>
              </a:spcBef>
              <a:spcAft>
                <a:spcPts val="0"/>
              </a:spcAft>
              <a:buClr>
                <a:schemeClr val="dk2"/>
              </a:buClr>
              <a:buSzPts val="1600"/>
              <a:buNone/>
              <a:defRPr sz="1600">
                <a:solidFill>
                  <a:schemeClr val="dk2"/>
                </a:solidFill>
              </a:defRPr>
            </a:lvl7pPr>
            <a:lvl8pPr lvl="7" algn="ctr" rtl="0">
              <a:lnSpc>
                <a:spcPct val="100000"/>
              </a:lnSpc>
              <a:spcBef>
                <a:spcPts val="0"/>
              </a:spcBef>
              <a:spcAft>
                <a:spcPts val="0"/>
              </a:spcAft>
              <a:buClr>
                <a:schemeClr val="dk2"/>
              </a:buClr>
              <a:buSzPts val="1600"/>
              <a:buNone/>
              <a:defRPr sz="1600">
                <a:solidFill>
                  <a:schemeClr val="dk2"/>
                </a:solidFill>
              </a:defRPr>
            </a:lvl8pPr>
            <a:lvl9pPr lvl="8" algn="ctr" rtl="0">
              <a:lnSpc>
                <a:spcPct val="100000"/>
              </a:lnSpc>
              <a:spcBef>
                <a:spcPts val="0"/>
              </a:spcBef>
              <a:spcAft>
                <a:spcPts val="0"/>
              </a:spcAft>
              <a:buClr>
                <a:schemeClr val="dk2"/>
              </a:buClr>
              <a:buSzPts val="1600"/>
              <a:buNone/>
              <a:defRPr sz="1600">
                <a:solidFill>
                  <a:schemeClr val="dk2"/>
                </a:solidFill>
              </a:defRPr>
            </a:lvl9pPr>
          </a:lstStyle>
          <a:p>
            <a:endParaRPr/>
          </a:p>
        </p:txBody>
      </p:sp>
      <p:sp>
        <p:nvSpPr>
          <p:cNvPr id="73" name="Google Shape;73;p13"/>
          <p:cNvSpPr txBox="1">
            <a:spLocks noGrp="1"/>
          </p:cNvSpPr>
          <p:nvPr>
            <p:ph type="title" idx="8"/>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SECTION_TITLE_AND_DESCRIPTION_1_1_1">
    <p:spTree>
      <p:nvGrpSpPr>
        <p:cNvPr id="1" name="Shape 84"/>
        <p:cNvGrpSpPr/>
        <p:nvPr/>
      </p:nvGrpSpPr>
      <p:grpSpPr>
        <a:xfrm>
          <a:off x="0" y="0"/>
          <a:ext cx="0" cy="0"/>
          <a:chOff x="0" y="0"/>
          <a:chExt cx="0" cy="0"/>
        </a:xfrm>
      </p:grpSpPr>
      <p:pic>
        <p:nvPicPr>
          <p:cNvPr id="85" name="Google Shape;85;p15"/>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86" name="Google Shape;86;p15"/>
          <p:cNvPicPr preferRelativeResize="0"/>
          <p:nvPr/>
        </p:nvPicPr>
        <p:blipFill rotWithShape="1">
          <a:blip r:embed="rId3">
            <a:alphaModFix/>
          </a:blip>
          <a:srcRect t="16734" r="8892" b="18300"/>
          <a:stretch/>
        </p:blipFill>
        <p:spPr>
          <a:xfrm rot="-5400000">
            <a:off x="650175" y="465007"/>
            <a:ext cx="2036850" cy="846042"/>
          </a:xfrm>
          <a:prstGeom prst="rect">
            <a:avLst/>
          </a:prstGeom>
          <a:noFill/>
          <a:ln>
            <a:noFill/>
          </a:ln>
        </p:spPr>
      </p:pic>
      <p:pic>
        <p:nvPicPr>
          <p:cNvPr id="87" name="Google Shape;87;p15"/>
          <p:cNvPicPr preferRelativeResize="0"/>
          <p:nvPr/>
        </p:nvPicPr>
        <p:blipFill rotWithShape="1">
          <a:blip r:embed="rId3">
            <a:alphaModFix/>
          </a:blip>
          <a:srcRect t="16734" r="8892" b="18300"/>
          <a:stretch/>
        </p:blipFill>
        <p:spPr>
          <a:xfrm rot="-5400000">
            <a:off x="1262550" y="465007"/>
            <a:ext cx="2036850" cy="846042"/>
          </a:xfrm>
          <a:prstGeom prst="rect">
            <a:avLst/>
          </a:prstGeom>
          <a:noFill/>
          <a:ln>
            <a:noFill/>
          </a:ln>
        </p:spPr>
      </p:pic>
      <p:pic>
        <p:nvPicPr>
          <p:cNvPr id="88" name="Google Shape;88;p15"/>
          <p:cNvPicPr preferRelativeResize="0"/>
          <p:nvPr/>
        </p:nvPicPr>
        <p:blipFill rotWithShape="1">
          <a:blip r:embed="rId4">
            <a:alphaModFix/>
          </a:blip>
          <a:srcRect r="1545" b="6838"/>
          <a:stretch/>
        </p:blipFill>
        <p:spPr>
          <a:xfrm>
            <a:off x="384887" y="134900"/>
            <a:ext cx="8374226" cy="4873724"/>
          </a:xfrm>
          <a:prstGeom prst="rect">
            <a:avLst/>
          </a:prstGeom>
          <a:noFill/>
          <a:ln>
            <a:noFill/>
          </a:ln>
        </p:spPr>
      </p:pic>
      <p:sp>
        <p:nvSpPr>
          <p:cNvPr id="89" name="Google Shape;89;p15"/>
          <p:cNvSpPr txBox="1">
            <a:spLocks noGrp="1"/>
          </p:cNvSpPr>
          <p:nvPr>
            <p:ph type="title"/>
          </p:nvPr>
        </p:nvSpPr>
        <p:spPr>
          <a:xfrm>
            <a:off x="1922400" y="3538630"/>
            <a:ext cx="2140200" cy="488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600"/>
              <a:buFont typeface="Anonymous Pro"/>
              <a:buNone/>
              <a:defRPr sz="1600" b="0">
                <a:solidFill>
                  <a:schemeClr val="dk2"/>
                </a:solidFill>
                <a:latin typeface="Roboto Mono Medium"/>
                <a:ea typeface="Roboto Mono Medium"/>
                <a:cs typeface="Roboto Mono Medium"/>
                <a:sym typeface="Roboto Mono Medium"/>
              </a:defRPr>
            </a:lvl1pPr>
            <a:lvl2pPr lvl="1" rtl="0">
              <a:spcBef>
                <a:spcPts val="0"/>
              </a:spcBef>
              <a:spcAft>
                <a:spcPts val="0"/>
              </a:spcAft>
              <a:buSzPts val="2000"/>
              <a:buNone/>
              <a:defRPr sz="2000" b="1"/>
            </a:lvl2pPr>
            <a:lvl3pPr lvl="2" rtl="0">
              <a:spcBef>
                <a:spcPts val="0"/>
              </a:spcBef>
              <a:spcAft>
                <a:spcPts val="0"/>
              </a:spcAft>
              <a:buSzPts val="2000"/>
              <a:buNone/>
              <a:defRPr sz="2000" b="1"/>
            </a:lvl3pPr>
            <a:lvl4pPr lvl="3" rtl="0">
              <a:spcBef>
                <a:spcPts val="0"/>
              </a:spcBef>
              <a:spcAft>
                <a:spcPts val="0"/>
              </a:spcAft>
              <a:buSzPts val="2000"/>
              <a:buNone/>
              <a:defRPr sz="2000" b="1"/>
            </a:lvl4pPr>
            <a:lvl5pPr lvl="4" rtl="0">
              <a:spcBef>
                <a:spcPts val="0"/>
              </a:spcBef>
              <a:spcAft>
                <a:spcPts val="0"/>
              </a:spcAft>
              <a:buSzPts val="2000"/>
              <a:buNone/>
              <a:defRPr sz="2000" b="1"/>
            </a:lvl5pPr>
            <a:lvl6pPr lvl="5" rtl="0">
              <a:spcBef>
                <a:spcPts val="0"/>
              </a:spcBef>
              <a:spcAft>
                <a:spcPts val="0"/>
              </a:spcAft>
              <a:buSzPts val="2000"/>
              <a:buNone/>
              <a:defRPr sz="2000" b="1"/>
            </a:lvl6pPr>
            <a:lvl7pPr lvl="6" rtl="0">
              <a:spcBef>
                <a:spcPts val="0"/>
              </a:spcBef>
              <a:spcAft>
                <a:spcPts val="0"/>
              </a:spcAft>
              <a:buSzPts val="2000"/>
              <a:buNone/>
              <a:defRPr sz="2000" b="1"/>
            </a:lvl7pPr>
            <a:lvl8pPr lvl="7" rtl="0">
              <a:spcBef>
                <a:spcPts val="0"/>
              </a:spcBef>
              <a:spcAft>
                <a:spcPts val="0"/>
              </a:spcAft>
              <a:buSzPts val="2000"/>
              <a:buNone/>
              <a:defRPr sz="2000" b="1"/>
            </a:lvl8pPr>
            <a:lvl9pPr lvl="8" rtl="0">
              <a:spcBef>
                <a:spcPts val="0"/>
              </a:spcBef>
              <a:spcAft>
                <a:spcPts val="0"/>
              </a:spcAft>
              <a:buSzPts val="2000"/>
              <a:buNone/>
              <a:defRPr sz="2000" b="1"/>
            </a:lvl9pPr>
          </a:lstStyle>
          <a:p>
            <a:endParaRPr/>
          </a:p>
        </p:txBody>
      </p:sp>
      <p:sp>
        <p:nvSpPr>
          <p:cNvPr id="90" name="Google Shape;90;p15"/>
          <p:cNvSpPr txBox="1">
            <a:spLocks noGrp="1"/>
          </p:cNvSpPr>
          <p:nvPr>
            <p:ph type="subTitle" idx="1"/>
          </p:nvPr>
        </p:nvSpPr>
        <p:spPr>
          <a:xfrm>
            <a:off x="1922400" y="1269487"/>
            <a:ext cx="3439500" cy="2189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Concert One"/>
              <a:buNone/>
              <a:defRPr sz="2400" b="1">
                <a:latin typeface="Concert One"/>
                <a:ea typeface="Concert One"/>
                <a:cs typeface="Concert One"/>
                <a:sym typeface="Concert One"/>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Four Columns">
  <p:cSld name="SECTION_TITLE_AND_DESCRIPTION_1_2">
    <p:spTree>
      <p:nvGrpSpPr>
        <p:cNvPr id="1" name="Shape 91"/>
        <p:cNvGrpSpPr/>
        <p:nvPr/>
      </p:nvGrpSpPr>
      <p:grpSpPr>
        <a:xfrm>
          <a:off x="0" y="0"/>
          <a:ext cx="0" cy="0"/>
          <a:chOff x="0" y="0"/>
          <a:chExt cx="0" cy="0"/>
        </a:xfrm>
      </p:grpSpPr>
      <p:pic>
        <p:nvPicPr>
          <p:cNvPr id="92" name="Google Shape;92;p1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93" name="Google Shape;93;p16"/>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94" name="Google Shape;94;p16"/>
          <p:cNvSpPr txBox="1">
            <a:spLocks noGrp="1"/>
          </p:cNvSpPr>
          <p:nvPr>
            <p:ph type="title"/>
          </p:nvPr>
        </p:nvSpPr>
        <p:spPr>
          <a:xfrm>
            <a:off x="602672" y="2010025"/>
            <a:ext cx="2695800" cy="488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100"/>
              <a:buNone/>
              <a:defRPr sz="2100"/>
            </a:lvl1pPr>
            <a:lvl2pPr lvl="1" algn="r" rtl="0">
              <a:spcBef>
                <a:spcPts val="0"/>
              </a:spcBef>
              <a:spcAft>
                <a:spcPts val="0"/>
              </a:spcAft>
              <a:buSzPts val="3900"/>
              <a:buNone/>
              <a:defRPr sz="3900"/>
            </a:lvl2pPr>
            <a:lvl3pPr lvl="2" algn="r" rtl="0">
              <a:spcBef>
                <a:spcPts val="0"/>
              </a:spcBef>
              <a:spcAft>
                <a:spcPts val="0"/>
              </a:spcAft>
              <a:buSzPts val="3900"/>
              <a:buNone/>
              <a:defRPr sz="3900"/>
            </a:lvl3pPr>
            <a:lvl4pPr lvl="3" algn="r" rtl="0">
              <a:spcBef>
                <a:spcPts val="0"/>
              </a:spcBef>
              <a:spcAft>
                <a:spcPts val="0"/>
              </a:spcAft>
              <a:buSzPts val="3900"/>
              <a:buNone/>
              <a:defRPr sz="3900"/>
            </a:lvl4pPr>
            <a:lvl5pPr lvl="4" algn="r" rtl="0">
              <a:spcBef>
                <a:spcPts val="0"/>
              </a:spcBef>
              <a:spcAft>
                <a:spcPts val="0"/>
              </a:spcAft>
              <a:buSzPts val="3900"/>
              <a:buNone/>
              <a:defRPr sz="3900"/>
            </a:lvl5pPr>
            <a:lvl6pPr lvl="5" algn="r" rtl="0">
              <a:spcBef>
                <a:spcPts val="0"/>
              </a:spcBef>
              <a:spcAft>
                <a:spcPts val="0"/>
              </a:spcAft>
              <a:buSzPts val="3900"/>
              <a:buNone/>
              <a:defRPr sz="3900"/>
            </a:lvl6pPr>
            <a:lvl7pPr lvl="6" algn="r" rtl="0">
              <a:spcBef>
                <a:spcPts val="0"/>
              </a:spcBef>
              <a:spcAft>
                <a:spcPts val="0"/>
              </a:spcAft>
              <a:buSzPts val="3900"/>
              <a:buNone/>
              <a:defRPr sz="3900"/>
            </a:lvl7pPr>
            <a:lvl8pPr lvl="7" algn="r" rtl="0">
              <a:spcBef>
                <a:spcPts val="0"/>
              </a:spcBef>
              <a:spcAft>
                <a:spcPts val="0"/>
              </a:spcAft>
              <a:buSzPts val="3900"/>
              <a:buNone/>
              <a:defRPr sz="3900"/>
            </a:lvl8pPr>
            <a:lvl9pPr lvl="8" algn="r" rtl="0">
              <a:spcBef>
                <a:spcPts val="0"/>
              </a:spcBef>
              <a:spcAft>
                <a:spcPts val="0"/>
              </a:spcAft>
              <a:buSzPts val="3900"/>
              <a:buNone/>
              <a:defRPr sz="3900"/>
            </a:lvl9pPr>
          </a:lstStyle>
          <a:p>
            <a:endParaRPr/>
          </a:p>
        </p:txBody>
      </p:sp>
      <p:sp>
        <p:nvSpPr>
          <p:cNvPr id="95" name="Google Shape;95;p16"/>
          <p:cNvSpPr txBox="1">
            <a:spLocks noGrp="1"/>
          </p:cNvSpPr>
          <p:nvPr>
            <p:ph type="subTitle" idx="1"/>
          </p:nvPr>
        </p:nvSpPr>
        <p:spPr>
          <a:xfrm>
            <a:off x="839201" y="2389868"/>
            <a:ext cx="2459400" cy="71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96" name="Google Shape;96;p16"/>
          <p:cNvSpPr txBox="1">
            <a:spLocks noGrp="1"/>
          </p:cNvSpPr>
          <p:nvPr>
            <p:ph type="title" idx="2"/>
          </p:nvPr>
        </p:nvSpPr>
        <p:spPr>
          <a:xfrm>
            <a:off x="5845528" y="2010025"/>
            <a:ext cx="26958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97" name="Google Shape;97;p16"/>
          <p:cNvSpPr txBox="1">
            <a:spLocks noGrp="1"/>
          </p:cNvSpPr>
          <p:nvPr>
            <p:ph type="subTitle" idx="3"/>
          </p:nvPr>
        </p:nvSpPr>
        <p:spPr>
          <a:xfrm>
            <a:off x="5845522" y="2389875"/>
            <a:ext cx="24594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98" name="Google Shape;98;p16"/>
          <p:cNvSpPr txBox="1">
            <a:spLocks noGrp="1"/>
          </p:cNvSpPr>
          <p:nvPr>
            <p:ph type="title" idx="4"/>
          </p:nvPr>
        </p:nvSpPr>
        <p:spPr>
          <a:xfrm>
            <a:off x="602672" y="3449699"/>
            <a:ext cx="2695800" cy="488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100"/>
              <a:buNone/>
              <a:defRPr sz="2100"/>
            </a:lvl1pPr>
            <a:lvl2pPr lvl="1" algn="r" rtl="0">
              <a:spcBef>
                <a:spcPts val="0"/>
              </a:spcBef>
              <a:spcAft>
                <a:spcPts val="0"/>
              </a:spcAft>
              <a:buSzPts val="3900"/>
              <a:buNone/>
              <a:defRPr sz="3900"/>
            </a:lvl2pPr>
            <a:lvl3pPr lvl="2" algn="r" rtl="0">
              <a:spcBef>
                <a:spcPts val="0"/>
              </a:spcBef>
              <a:spcAft>
                <a:spcPts val="0"/>
              </a:spcAft>
              <a:buSzPts val="3900"/>
              <a:buNone/>
              <a:defRPr sz="3900"/>
            </a:lvl3pPr>
            <a:lvl4pPr lvl="3" algn="r" rtl="0">
              <a:spcBef>
                <a:spcPts val="0"/>
              </a:spcBef>
              <a:spcAft>
                <a:spcPts val="0"/>
              </a:spcAft>
              <a:buSzPts val="3900"/>
              <a:buNone/>
              <a:defRPr sz="3900"/>
            </a:lvl4pPr>
            <a:lvl5pPr lvl="4" algn="r" rtl="0">
              <a:spcBef>
                <a:spcPts val="0"/>
              </a:spcBef>
              <a:spcAft>
                <a:spcPts val="0"/>
              </a:spcAft>
              <a:buSzPts val="3900"/>
              <a:buNone/>
              <a:defRPr sz="3900"/>
            </a:lvl5pPr>
            <a:lvl6pPr lvl="5" algn="r" rtl="0">
              <a:spcBef>
                <a:spcPts val="0"/>
              </a:spcBef>
              <a:spcAft>
                <a:spcPts val="0"/>
              </a:spcAft>
              <a:buSzPts val="3900"/>
              <a:buNone/>
              <a:defRPr sz="3900"/>
            </a:lvl6pPr>
            <a:lvl7pPr lvl="6" algn="r" rtl="0">
              <a:spcBef>
                <a:spcPts val="0"/>
              </a:spcBef>
              <a:spcAft>
                <a:spcPts val="0"/>
              </a:spcAft>
              <a:buSzPts val="3900"/>
              <a:buNone/>
              <a:defRPr sz="3900"/>
            </a:lvl7pPr>
            <a:lvl8pPr lvl="7" algn="r" rtl="0">
              <a:spcBef>
                <a:spcPts val="0"/>
              </a:spcBef>
              <a:spcAft>
                <a:spcPts val="0"/>
              </a:spcAft>
              <a:buSzPts val="3900"/>
              <a:buNone/>
              <a:defRPr sz="3900"/>
            </a:lvl8pPr>
            <a:lvl9pPr lvl="8" algn="r" rtl="0">
              <a:spcBef>
                <a:spcPts val="0"/>
              </a:spcBef>
              <a:spcAft>
                <a:spcPts val="0"/>
              </a:spcAft>
              <a:buSzPts val="3900"/>
              <a:buNone/>
              <a:defRPr sz="3900"/>
            </a:lvl9pPr>
          </a:lstStyle>
          <a:p>
            <a:endParaRPr/>
          </a:p>
        </p:txBody>
      </p:sp>
      <p:sp>
        <p:nvSpPr>
          <p:cNvPr id="99" name="Google Shape;99;p16"/>
          <p:cNvSpPr txBox="1">
            <a:spLocks noGrp="1"/>
          </p:cNvSpPr>
          <p:nvPr>
            <p:ph type="subTitle" idx="5"/>
          </p:nvPr>
        </p:nvSpPr>
        <p:spPr>
          <a:xfrm>
            <a:off x="839201" y="3838273"/>
            <a:ext cx="2459400" cy="716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2"/>
              </a:buClr>
              <a:buSzPts val="1400"/>
              <a:buNone/>
              <a:defRPr sz="1400">
                <a:solidFill>
                  <a:schemeClr val="dk2"/>
                </a:solidFill>
              </a:defRPr>
            </a:lvl1pPr>
            <a:lvl2pPr lvl="1" algn="r" rtl="0">
              <a:lnSpc>
                <a:spcPct val="100000"/>
              </a:lnSpc>
              <a:spcBef>
                <a:spcPts val="0"/>
              </a:spcBef>
              <a:spcAft>
                <a:spcPts val="0"/>
              </a:spcAft>
              <a:buClr>
                <a:schemeClr val="dk2"/>
              </a:buClr>
              <a:buSzPts val="1400"/>
              <a:buNone/>
              <a:defRPr>
                <a:solidFill>
                  <a:schemeClr val="dk2"/>
                </a:solidFill>
              </a:defRPr>
            </a:lvl2pPr>
            <a:lvl3pPr lvl="2" algn="r" rtl="0">
              <a:lnSpc>
                <a:spcPct val="100000"/>
              </a:lnSpc>
              <a:spcBef>
                <a:spcPts val="0"/>
              </a:spcBef>
              <a:spcAft>
                <a:spcPts val="0"/>
              </a:spcAft>
              <a:buClr>
                <a:schemeClr val="dk2"/>
              </a:buClr>
              <a:buSzPts val="1400"/>
              <a:buNone/>
              <a:defRPr>
                <a:solidFill>
                  <a:schemeClr val="dk2"/>
                </a:solidFill>
              </a:defRPr>
            </a:lvl3pPr>
            <a:lvl4pPr lvl="3" algn="r" rtl="0">
              <a:lnSpc>
                <a:spcPct val="100000"/>
              </a:lnSpc>
              <a:spcBef>
                <a:spcPts val="0"/>
              </a:spcBef>
              <a:spcAft>
                <a:spcPts val="0"/>
              </a:spcAft>
              <a:buClr>
                <a:schemeClr val="dk2"/>
              </a:buClr>
              <a:buSzPts val="1400"/>
              <a:buNone/>
              <a:defRPr>
                <a:solidFill>
                  <a:schemeClr val="dk2"/>
                </a:solidFill>
              </a:defRPr>
            </a:lvl4pPr>
            <a:lvl5pPr lvl="4" algn="r" rtl="0">
              <a:lnSpc>
                <a:spcPct val="100000"/>
              </a:lnSpc>
              <a:spcBef>
                <a:spcPts val="0"/>
              </a:spcBef>
              <a:spcAft>
                <a:spcPts val="0"/>
              </a:spcAft>
              <a:buClr>
                <a:schemeClr val="dk2"/>
              </a:buClr>
              <a:buSzPts val="1400"/>
              <a:buNone/>
              <a:defRPr>
                <a:solidFill>
                  <a:schemeClr val="dk2"/>
                </a:solidFill>
              </a:defRPr>
            </a:lvl5pPr>
            <a:lvl6pPr lvl="5" algn="r" rtl="0">
              <a:lnSpc>
                <a:spcPct val="100000"/>
              </a:lnSpc>
              <a:spcBef>
                <a:spcPts val="0"/>
              </a:spcBef>
              <a:spcAft>
                <a:spcPts val="0"/>
              </a:spcAft>
              <a:buClr>
                <a:schemeClr val="dk2"/>
              </a:buClr>
              <a:buSzPts val="1400"/>
              <a:buNone/>
              <a:defRPr>
                <a:solidFill>
                  <a:schemeClr val="dk2"/>
                </a:solidFill>
              </a:defRPr>
            </a:lvl6pPr>
            <a:lvl7pPr lvl="6" algn="r" rtl="0">
              <a:lnSpc>
                <a:spcPct val="100000"/>
              </a:lnSpc>
              <a:spcBef>
                <a:spcPts val="0"/>
              </a:spcBef>
              <a:spcAft>
                <a:spcPts val="0"/>
              </a:spcAft>
              <a:buClr>
                <a:schemeClr val="dk2"/>
              </a:buClr>
              <a:buSzPts val="1400"/>
              <a:buNone/>
              <a:defRPr>
                <a:solidFill>
                  <a:schemeClr val="dk2"/>
                </a:solidFill>
              </a:defRPr>
            </a:lvl7pPr>
            <a:lvl8pPr lvl="7" algn="r" rtl="0">
              <a:lnSpc>
                <a:spcPct val="100000"/>
              </a:lnSpc>
              <a:spcBef>
                <a:spcPts val="0"/>
              </a:spcBef>
              <a:spcAft>
                <a:spcPts val="0"/>
              </a:spcAft>
              <a:buClr>
                <a:schemeClr val="dk2"/>
              </a:buClr>
              <a:buSzPts val="1400"/>
              <a:buNone/>
              <a:defRPr>
                <a:solidFill>
                  <a:schemeClr val="dk2"/>
                </a:solidFill>
              </a:defRPr>
            </a:lvl8pPr>
            <a:lvl9pPr lvl="8" algn="r"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00" name="Google Shape;100;p16"/>
          <p:cNvSpPr txBox="1">
            <a:spLocks noGrp="1"/>
          </p:cNvSpPr>
          <p:nvPr>
            <p:ph type="title" idx="6"/>
          </p:nvPr>
        </p:nvSpPr>
        <p:spPr>
          <a:xfrm>
            <a:off x="5845528" y="3449695"/>
            <a:ext cx="2695800" cy="488400"/>
          </a:xfrm>
          <a:prstGeom prst="rect">
            <a:avLst/>
          </a:prstGeom>
        </p:spPr>
        <p:txBody>
          <a:bodyPr spcFirstLastPara="1" wrap="square" lIns="91425" tIns="91425" rIns="91425" bIns="91425" anchor="b" anchorCtr="0">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101" name="Google Shape;101;p16"/>
          <p:cNvSpPr txBox="1">
            <a:spLocks noGrp="1"/>
          </p:cNvSpPr>
          <p:nvPr>
            <p:ph type="subTitle" idx="7"/>
          </p:nvPr>
        </p:nvSpPr>
        <p:spPr>
          <a:xfrm>
            <a:off x="5845522" y="3838276"/>
            <a:ext cx="2459400" cy="71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102" name="Google Shape;102;p16"/>
          <p:cNvSpPr txBox="1">
            <a:spLocks noGrp="1"/>
          </p:cNvSpPr>
          <p:nvPr>
            <p:ph type="title" idx="8"/>
          </p:nvPr>
        </p:nvSpPr>
        <p:spPr>
          <a:xfrm>
            <a:off x="1002325" y="711181"/>
            <a:ext cx="2403900" cy="5727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157"/>
        <p:cNvGrpSpPr/>
        <p:nvPr/>
      </p:nvGrpSpPr>
      <p:grpSpPr>
        <a:xfrm>
          <a:off x="0" y="0"/>
          <a:ext cx="0" cy="0"/>
          <a:chOff x="0" y="0"/>
          <a:chExt cx="0" cy="0"/>
        </a:xfrm>
      </p:grpSpPr>
      <p:pic>
        <p:nvPicPr>
          <p:cNvPr id="158" name="Google Shape;158;p23"/>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APTION_ONLY_1_1">
    <p:spTree>
      <p:nvGrpSpPr>
        <p:cNvPr id="1" name="Shape 159"/>
        <p:cNvGrpSpPr/>
        <p:nvPr/>
      </p:nvGrpSpPr>
      <p:grpSpPr>
        <a:xfrm>
          <a:off x="0" y="0"/>
          <a:ext cx="0" cy="0"/>
          <a:chOff x="0" y="0"/>
          <a:chExt cx="0" cy="0"/>
        </a:xfrm>
      </p:grpSpPr>
      <p:pic>
        <p:nvPicPr>
          <p:cNvPr id="160" name="Google Shape;160;p24"/>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1" name="Google Shape;161;p24"/>
          <p:cNvPicPr preferRelativeResize="0"/>
          <p:nvPr/>
        </p:nvPicPr>
        <p:blipFill>
          <a:blip r:embed="rId3">
            <a:alphaModFix/>
          </a:blip>
          <a:stretch>
            <a:fillRect/>
          </a:stretch>
        </p:blipFill>
        <p:spPr>
          <a:xfrm>
            <a:off x="255775" y="186275"/>
            <a:ext cx="8632448" cy="477094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SECTION_TITLE_AND_DESCRIPTION_1_1_3_1">
    <p:spTree>
      <p:nvGrpSpPr>
        <p:cNvPr id="1" name="Shape 162"/>
        <p:cNvGrpSpPr/>
        <p:nvPr/>
      </p:nvGrpSpPr>
      <p:grpSpPr>
        <a:xfrm>
          <a:off x="0" y="0"/>
          <a:ext cx="0" cy="0"/>
          <a:chOff x="0" y="0"/>
          <a:chExt cx="0" cy="0"/>
        </a:xfrm>
      </p:grpSpPr>
      <p:pic>
        <p:nvPicPr>
          <p:cNvPr id="163" name="Google Shape;163;p25"/>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4" name="Google Shape;164;p25"/>
          <p:cNvPicPr preferRelativeResize="0"/>
          <p:nvPr/>
        </p:nvPicPr>
        <p:blipFill>
          <a:blip r:embed="rId3">
            <a:alphaModFix/>
          </a:blip>
          <a:stretch>
            <a:fillRect/>
          </a:stretch>
        </p:blipFill>
        <p:spPr>
          <a:xfrm>
            <a:off x="254425" y="201113"/>
            <a:ext cx="8635149" cy="474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3">
  <p:cSld name="BIG_NUMBER_1_1_2">
    <p:spTree>
      <p:nvGrpSpPr>
        <p:cNvPr id="1" name="Shape 165"/>
        <p:cNvGrpSpPr/>
        <p:nvPr/>
      </p:nvGrpSpPr>
      <p:grpSpPr>
        <a:xfrm>
          <a:off x="0" y="0"/>
          <a:ext cx="0" cy="0"/>
          <a:chOff x="0" y="0"/>
          <a:chExt cx="0" cy="0"/>
        </a:xfrm>
      </p:grpSpPr>
      <p:pic>
        <p:nvPicPr>
          <p:cNvPr id="166" name="Google Shape;166;p26"/>
          <p:cNvPicPr preferRelativeResize="0"/>
          <p:nvPr/>
        </p:nvPicPr>
        <p:blipFill rotWithShape="1">
          <a:blip r:embed="rId2">
            <a:alphaModFix amt="28000"/>
          </a:blip>
          <a:srcRect t="3044" b="39510"/>
          <a:stretch/>
        </p:blipFill>
        <p:spPr>
          <a:xfrm>
            <a:off x="-247650" y="-187450"/>
            <a:ext cx="9736454" cy="5520130"/>
          </a:xfrm>
          <a:prstGeom prst="rect">
            <a:avLst/>
          </a:prstGeom>
          <a:noFill/>
          <a:ln>
            <a:noFill/>
          </a:ln>
        </p:spPr>
      </p:pic>
      <p:pic>
        <p:nvPicPr>
          <p:cNvPr id="167" name="Google Shape;167;p26"/>
          <p:cNvPicPr preferRelativeResize="0"/>
          <p:nvPr/>
        </p:nvPicPr>
        <p:blipFill rotWithShape="1">
          <a:blip r:embed="rId3">
            <a:alphaModFix/>
          </a:blip>
          <a:srcRect r="1545" b="6838"/>
          <a:stretch/>
        </p:blipFill>
        <p:spPr>
          <a:xfrm>
            <a:off x="384887" y="134900"/>
            <a:ext cx="8374226" cy="487372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9A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2"/>
              </a:buClr>
              <a:buSzPts val="2800"/>
              <a:buFont typeface="Concert One"/>
              <a:buNone/>
              <a:defRPr sz="2800" b="1">
                <a:solidFill>
                  <a:schemeClr val="accent2"/>
                </a:solidFill>
                <a:latin typeface="Concert One"/>
                <a:ea typeface="Concert One"/>
                <a:cs typeface="Concert One"/>
                <a:sym typeface="Concert One"/>
              </a:defRPr>
            </a:lvl1pPr>
            <a:lvl2pPr lvl="1">
              <a:spcBef>
                <a:spcPts val="0"/>
              </a:spcBef>
              <a:spcAft>
                <a:spcPts val="0"/>
              </a:spcAft>
              <a:buClr>
                <a:schemeClr val="accent2"/>
              </a:buClr>
              <a:buSzPts val="2800"/>
              <a:buNone/>
              <a:defRPr sz="2800">
                <a:solidFill>
                  <a:schemeClr val="accent2"/>
                </a:solidFill>
              </a:defRPr>
            </a:lvl2pPr>
            <a:lvl3pPr lvl="2">
              <a:spcBef>
                <a:spcPts val="0"/>
              </a:spcBef>
              <a:spcAft>
                <a:spcPts val="0"/>
              </a:spcAft>
              <a:buClr>
                <a:schemeClr val="accent2"/>
              </a:buClr>
              <a:buSzPts val="2800"/>
              <a:buNone/>
              <a:defRPr sz="2800">
                <a:solidFill>
                  <a:schemeClr val="accent2"/>
                </a:solidFill>
              </a:defRPr>
            </a:lvl3pPr>
            <a:lvl4pPr lvl="3">
              <a:spcBef>
                <a:spcPts val="0"/>
              </a:spcBef>
              <a:spcAft>
                <a:spcPts val="0"/>
              </a:spcAft>
              <a:buClr>
                <a:schemeClr val="accent2"/>
              </a:buClr>
              <a:buSzPts val="2800"/>
              <a:buNone/>
              <a:defRPr sz="2800">
                <a:solidFill>
                  <a:schemeClr val="accent2"/>
                </a:solidFill>
              </a:defRPr>
            </a:lvl4pPr>
            <a:lvl5pPr lvl="4">
              <a:spcBef>
                <a:spcPts val="0"/>
              </a:spcBef>
              <a:spcAft>
                <a:spcPts val="0"/>
              </a:spcAft>
              <a:buClr>
                <a:schemeClr val="accent2"/>
              </a:buClr>
              <a:buSzPts val="2800"/>
              <a:buNone/>
              <a:defRPr sz="2800">
                <a:solidFill>
                  <a:schemeClr val="accent2"/>
                </a:solidFill>
              </a:defRPr>
            </a:lvl5pPr>
            <a:lvl6pPr lvl="5">
              <a:spcBef>
                <a:spcPts val="0"/>
              </a:spcBef>
              <a:spcAft>
                <a:spcPts val="0"/>
              </a:spcAft>
              <a:buClr>
                <a:schemeClr val="accent2"/>
              </a:buClr>
              <a:buSzPts val="2800"/>
              <a:buNone/>
              <a:defRPr sz="2800">
                <a:solidFill>
                  <a:schemeClr val="accent2"/>
                </a:solidFill>
              </a:defRPr>
            </a:lvl6pPr>
            <a:lvl7pPr lvl="6">
              <a:spcBef>
                <a:spcPts val="0"/>
              </a:spcBef>
              <a:spcAft>
                <a:spcPts val="0"/>
              </a:spcAft>
              <a:buClr>
                <a:schemeClr val="accent2"/>
              </a:buClr>
              <a:buSzPts val="2800"/>
              <a:buNone/>
              <a:defRPr sz="2800">
                <a:solidFill>
                  <a:schemeClr val="accent2"/>
                </a:solidFill>
              </a:defRPr>
            </a:lvl7pPr>
            <a:lvl8pPr lvl="7">
              <a:spcBef>
                <a:spcPts val="0"/>
              </a:spcBef>
              <a:spcAft>
                <a:spcPts val="0"/>
              </a:spcAft>
              <a:buClr>
                <a:schemeClr val="accent2"/>
              </a:buClr>
              <a:buSzPts val="2800"/>
              <a:buNone/>
              <a:defRPr sz="2800">
                <a:solidFill>
                  <a:schemeClr val="accent2"/>
                </a:solidFill>
              </a:defRPr>
            </a:lvl8pPr>
            <a:lvl9pPr lvl="8">
              <a:spcBef>
                <a:spcPts val="0"/>
              </a:spcBef>
              <a:spcAft>
                <a:spcPts val="0"/>
              </a:spcAft>
              <a:buClr>
                <a:schemeClr val="accent2"/>
              </a:buClr>
              <a:buSzPts val="2800"/>
              <a:buNone/>
              <a:defRPr sz="2800">
                <a:solidFill>
                  <a:schemeClr val="accent2"/>
                </a:solidFill>
              </a:defRPr>
            </a:lvl9pPr>
          </a:lstStyle>
          <a:p>
            <a:endParaRPr/>
          </a:p>
        </p:txBody>
      </p:sp>
      <p:sp>
        <p:nvSpPr>
          <p:cNvPr id="7" name="Google Shape;7;p1"/>
          <p:cNvSpPr txBox="1">
            <a:spLocks noGrp="1"/>
          </p:cNvSpPr>
          <p:nvPr>
            <p:ph type="body" idx="1"/>
          </p:nvPr>
        </p:nvSpPr>
        <p:spPr>
          <a:xfrm>
            <a:off x="311700" y="1124900"/>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2"/>
              </a:buClr>
              <a:buSzPts val="1800"/>
              <a:buFont typeface="Roboto Mono Medium"/>
              <a:buChar char="●"/>
              <a:defRPr sz="1800">
                <a:solidFill>
                  <a:schemeClr val="accent2"/>
                </a:solidFill>
                <a:latin typeface="Roboto Mono Medium"/>
                <a:ea typeface="Roboto Mono Medium"/>
                <a:cs typeface="Roboto Mono Medium"/>
                <a:sym typeface="Roboto Mono Medium"/>
              </a:defRPr>
            </a:lvl1pPr>
            <a:lvl2pPr marL="914400" lvl="1"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2pPr>
            <a:lvl3pPr marL="1371600" lvl="2"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3pPr>
            <a:lvl4pPr marL="1828800" lvl="3"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4pPr>
            <a:lvl5pPr marL="2286000" lvl="4"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5pPr>
            <a:lvl6pPr marL="2743200" lvl="5"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6pPr>
            <a:lvl7pPr marL="3200400" lvl="6"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7pPr>
            <a:lvl8pPr marL="3657600" lvl="7" indent="-3175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8pPr>
            <a:lvl9pPr marL="4114800" lvl="8" indent="-317500">
              <a:lnSpc>
                <a:spcPct val="100000"/>
              </a:lnSpc>
              <a:spcBef>
                <a:spcPts val="1600"/>
              </a:spcBef>
              <a:spcAft>
                <a:spcPts val="160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7" r:id="rId4"/>
    <p:sldLayoutId id="2147483658" r:id="rId5"/>
    <p:sldLayoutId id="2147483659" r:id="rId6"/>
    <p:sldLayoutId id="2147483661" r:id="rId7"/>
    <p:sldLayoutId id="2147483662"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3.gif"/><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27.gif"/><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28.gif"/><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31.gif"/></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ctrTitle"/>
          </p:nvPr>
        </p:nvSpPr>
        <p:spPr>
          <a:xfrm>
            <a:off x="1672763" y="860330"/>
            <a:ext cx="6079800" cy="1655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400" dirty="0">
                <a:solidFill>
                  <a:schemeClr val="accent2"/>
                </a:solidFill>
              </a:rPr>
              <a:t>DATA STRUCTURES </a:t>
            </a:r>
            <a:br>
              <a:rPr lang="en-US" sz="4400" dirty="0">
                <a:solidFill>
                  <a:schemeClr val="accent2"/>
                </a:solidFill>
              </a:rPr>
            </a:br>
            <a:r>
              <a:rPr lang="en-US" sz="4400" dirty="0">
                <a:solidFill>
                  <a:schemeClr val="accent2"/>
                </a:solidFill>
              </a:rPr>
              <a:t>AND ALGORITHMS</a:t>
            </a:r>
            <a:endParaRPr sz="4400" dirty="0">
              <a:solidFill>
                <a:schemeClr val="accent2"/>
              </a:solidFill>
            </a:endParaRPr>
          </a:p>
        </p:txBody>
      </p:sp>
      <p:sp>
        <p:nvSpPr>
          <p:cNvPr id="178" name="Google Shape;178;p29"/>
          <p:cNvSpPr/>
          <p:nvPr/>
        </p:nvSpPr>
        <p:spPr>
          <a:xfrm>
            <a:off x="2574211" y="2729977"/>
            <a:ext cx="617075" cy="15875"/>
          </a:xfrm>
          <a:custGeom>
            <a:avLst/>
            <a:gdLst/>
            <a:ahLst/>
            <a:cxnLst/>
            <a:rect l="l" t="t" r="r" b="b"/>
            <a:pathLst>
              <a:path w="24683" h="635" extrusionOk="0">
                <a:moveTo>
                  <a:pt x="0" y="635"/>
                </a:moveTo>
                <a:cubicBezTo>
                  <a:pt x="8115" y="-719"/>
                  <a:pt x="16455" y="635"/>
                  <a:pt x="24683" y="635"/>
                </a:cubicBezTo>
              </a:path>
            </a:pathLst>
          </a:custGeom>
          <a:noFill/>
          <a:ln w="76200" cap="flat" cmpd="sng">
            <a:solidFill>
              <a:schemeClr val="accent1"/>
            </a:solidFill>
            <a:prstDash val="solid"/>
            <a:round/>
            <a:headEnd type="none" w="med" len="med"/>
            <a:tailEnd type="none" w="med" len="med"/>
          </a:ln>
        </p:spPr>
        <p:txBody>
          <a:bodyPr/>
          <a:lstStyle/>
          <a:p>
            <a:endParaRPr lang="en-US"/>
          </a:p>
        </p:txBody>
      </p:sp>
      <p:sp>
        <p:nvSpPr>
          <p:cNvPr id="179" name="Google Shape;179;p29"/>
          <p:cNvSpPr/>
          <p:nvPr/>
        </p:nvSpPr>
        <p:spPr>
          <a:xfrm>
            <a:off x="6232350" y="2728896"/>
            <a:ext cx="613650" cy="13775"/>
          </a:xfrm>
          <a:custGeom>
            <a:avLst/>
            <a:gdLst/>
            <a:ahLst/>
            <a:cxnLst/>
            <a:rect l="l" t="t" r="r" b="b"/>
            <a:pathLst>
              <a:path w="24546" h="551" extrusionOk="0">
                <a:moveTo>
                  <a:pt x="0" y="551"/>
                </a:moveTo>
                <a:cubicBezTo>
                  <a:pt x="8133" y="-353"/>
                  <a:pt x="16363" y="137"/>
                  <a:pt x="24546" y="137"/>
                </a:cubicBezTo>
              </a:path>
            </a:pathLst>
          </a:custGeom>
          <a:noFill/>
          <a:ln w="76200" cap="flat" cmpd="sng">
            <a:solidFill>
              <a:schemeClr val="accent1"/>
            </a:solidFill>
            <a:prstDash val="solid"/>
            <a:round/>
            <a:headEnd type="none" w="med" len="med"/>
            <a:tailEnd type="none" w="med" len="med"/>
          </a:ln>
        </p:spPr>
        <p:txBody>
          <a:bodyPr/>
          <a:lstStyle/>
          <a:p>
            <a:endParaRPr lang="en-US"/>
          </a:p>
        </p:txBody>
      </p:sp>
      <p:sp>
        <p:nvSpPr>
          <p:cNvPr id="180" name="Google Shape;180;p29"/>
          <p:cNvSpPr/>
          <p:nvPr/>
        </p:nvSpPr>
        <p:spPr>
          <a:xfrm>
            <a:off x="1760945" y="4231870"/>
            <a:ext cx="992850" cy="102600"/>
          </a:xfrm>
          <a:custGeom>
            <a:avLst/>
            <a:gdLst/>
            <a:ahLst/>
            <a:cxnLst/>
            <a:rect l="l" t="t" r="r" b="b"/>
            <a:pathLst>
              <a:path w="39714" h="4104" extrusionOk="0">
                <a:moveTo>
                  <a:pt x="0" y="4104"/>
                </a:moveTo>
                <a:cubicBezTo>
                  <a:pt x="11382" y="-2730"/>
                  <a:pt x="26437" y="1070"/>
                  <a:pt x="39714" y="1070"/>
                </a:cubicBezTo>
              </a:path>
            </a:pathLst>
          </a:custGeom>
          <a:noFill/>
          <a:ln w="28575" cap="flat" cmpd="sng">
            <a:solidFill>
              <a:schemeClr val="accent4"/>
            </a:solidFill>
            <a:prstDash val="solid"/>
            <a:round/>
            <a:headEnd type="none" w="med" len="med"/>
            <a:tailEnd type="none" w="med" len="med"/>
          </a:ln>
        </p:spPr>
        <p:txBody>
          <a:bodyPr/>
          <a:lstStyle/>
          <a:p>
            <a:endParaRPr lang="en-US"/>
          </a:p>
        </p:txBody>
      </p:sp>
      <p:pic>
        <p:nvPicPr>
          <p:cNvPr id="181" name="Google Shape;181;p29"/>
          <p:cNvPicPr preferRelativeResize="0"/>
          <p:nvPr/>
        </p:nvPicPr>
        <p:blipFill rotWithShape="1">
          <a:blip r:embed="rId3">
            <a:alphaModFix/>
          </a:blip>
          <a:srcRect t="16970" r="8892" b="21025"/>
          <a:stretch/>
        </p:blipFill>
        <p:spPr>
          <a:xfrm>
            <a:off x="5501148" y="3603223"/>
            <a:ext cx="3074877" cy="810276"/>
          </a:xfrm>
          <a:prstGeom prst="rect">
            <a:avLst/>
          </a:prstGeom>
          <a:noFill/>
          <a:ln>
            <a:noFill/>
          </a:ln>
        </p:spPr>
      </p:pic>
      <p:pic>
        <p:nvPicPr>
          <p:cNvPr id="182" name="Google Shape;182;p29"/>
          <p:cNvPicPr preferRelativeResize="0"/>
          <p:nvPr/>
        </p:nvPicPr>
        <p:blipFill rotWithShape="1">
          <a:blip r:embed="rId4">
            <a:alphaModFix/>
          </a:blip>
          <a:srcRect t="16734" r="8892" b="18300"/>
          <a:stretch/>
        </p:blipFill>
        <p:spPr>
          <a:xfrm>
            <a:off x="5501148" y="3055100"/>
            <a:ext cx="3074877" cy="846042"/>
          </a:xfrm>
          <a:prstGeom prst="rect">
            <a:avLst/>
          </a:prstGeom>
          <a:noFill/>
          <a:ln>
            <a:noFill/>
          </a:ln>
        </p:spPr>
      </p:pic>
      <p:sp>
        <p:nvSpPr>
          <p:cNvPr id="9" name="Google Shape;176;p29">
            <a:extLst>
              <a:ext uri="{FF2B5EF4-FFF2-40B4-BE49-F238E27FC236}">
                <a16:creationId xmlns:a16="http://schemas.microsoft.com/office/drawing/2014/main" id="{933EED45-7852-41BB-B022-A0D536FB60AC}"/>
              </a:ext>
            </a:extLst>
          </p:cNvPr>
          <p:cNvSpPr txBox="1">
            <a:spLocks/>
          </p:cNvSpPr>
          <p:nvPr/>
        </p:nvSpPr>
        <p:spPr>
          <a:xfrm>
            <a:off x="1672763" y="2459829"/>
            <a:ext cx="6079800" cy="68254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80000"/>
              </a:lnSpc>
              <a:spcBef>
                <a:spcPts val="0"/>
              </a:spcBef>
              <a:spcAft>
                <a:spcPts val="0"/>
              </a:spcAft>
              <a:buClr>
                <a:schemeClr val="accent2"/>
              </a:buClr>
              <a:buSzPts val="6000"/>
              <a:buFont typeface="Concert One"/>
              <a:buNone/>
              <a:defRPr sz="6000" b="1" i="0" u="none" strike="noStrike" cap="none">
                <a:solidFill>
                  <a:schemeClr val="accent2"/>
                </a:solidFill>
                <a:latin typeface="Concert One"/>
                <a:ea typeface="Concert One"/>
                <a:cs typeface="Concert One"/>
                <a:sym typeface="Concert One"/>
              </a:defRPr>
            </a:lvl1pPr>
            <a:lvl2pPr marR="0" lvl="1"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2pPr>
            <a:lvl3pPr marR="0" lvl="2"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3pPr>
            <a:lvl4pPr marR="0" lvl="3"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4pPr>
            <a:lvl5pPr marR="0" lvl="4"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5pPr>
            <a:lvl6pPr marR="0" lvl="5"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6pPr>
            <a:lvl7pPr marR="0" lvl="6"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7pPr>
            <a:lvl8pPr marR="0" lvl="7"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8pPr>
            <a:lvl9pPr marR="0" lvl="8" algn="ctr" rtl="0">
              <a:lnSpc>
                <a:spcPct val="80000"/>
              </a:lnSpc>
              <a:spcBef>
                <a:spcPts val="0"/>
              </a:spcBef>
              <a:spcAft>
                <a:spcPts val="0"/>
              </a:spcAft>
              <a:buClr>
                <a:srgbClr val="0B5394"/>
              </a:buClr>
              <a:buSzPts val="6000"/>
              <a:buFont typeface="Arial"/>
              <a:buNone/>
              <a:defRPr sz="6000" b="0" i="0" u="none" strike="noStrike" cap="none">
                <a:solidFill>
                  <a:srgbClr val="0B5394"/>
                </a:solidFill>
                <a:latin typeface="Arial"/>
                <a:ea typeface="Arial"/>
                <a:cs typeface="Arial"/>
                <a:sym typeface="Arial"/>
              </a:defRPr>
            </a:lvl9pPr>
          </a:lstStyle>
          <a:p>
            <a:r>
              <a:rPr lang="en-US" sz="4800" b="0" dirty="0"/>
              <a:t>Binary Tree</a:t>
            </a:r>
          </a:p>
        </p:txBody>
      </p:sp>
      <p:sp>
        <p:nvSpPr>
          <p:cNvPr id="177" name="Google Shape;177;p29"/>
          <p:cNvSpPr txBox="1">
            <a:spLocks noGrp="1"/>
          </p:cNvSpPr>
          <p:nvPr>
            <p:ph type="subTitle" idx="1"/>
          </p:nvPr>
        </p:nvSpPr>
        <p:spPr>
          <a:xfrm>
            <a:off x="5867163" y="3718629"/>
            <a:ext cx="2773876"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00" b="0" dirty="0">
                <a:solidFill>
                  <a:schemeClr val="tx1"/>
                </a:solidFill>
                <a:latin typeface="Oxygen" panose="02000503000000000000" pitchFamily="2" charset="0"/>
              </a:rPr>
              <a:t>Prepared by:</a:t>
            </a:r>
          </a:p>
        </p:txBody>
      </p:sp>
      <p:sp>
        <p:nvSpPr>
          <p:cNvPr id="12" name="TextBox 11">
            <a:extLst>
              <a:ext uri="{FF2B5EF4-FFF2-40B4-BE49-F238E27FC236}">
                <a16:creationId xmlns:a16="http://schemas.microsoft.com/office/drawing/2014/main" id="{FF89CBE9-1A7D-4C63-8102-EAC1A75019D6}"/>
              </a:ext>
            </a:extLst>
          </p:cNvPr>
          <p:cNvSpPr txBox="1"/>
          <p:nvPr/>
        </p:nvSpPr>
        <p:spPr>
          <a:xfrm>
            <a:off x="1672763" y="3603223"/>
            <a:ext cx="992850" cy="600164"/>
          </a:xfrm>
          <a:prstGeom prst="rect">
            <a:avLst/>
          </a:prstGeom>
          <a:noFill/>
        </p:spPr>
        <p:txBody>
          <a:bodyPr wrap="square">
            <a:spAutoFit/>
          </a:bodyPr>
          <a:lstStyle/>
          <a:p>
            <a:pPr marL="0" lvl="0" indent="0" algn="l" rtl="0">
              <a:spcBef>
                <a:spcPts val="0"/>
              </a:spcBef>
              <a:spcAft>
                <a:spcPts val="0"/>
              </a:spcAft>
              <a:buNone/>
            </a:pPr>
            <a:r>
              <a:rPr lang="en-US" sz="1100" b="1" dirty="0">
                <a:solidFill>
                  <a:srgbClr val="C00000"/>
                </a:solidFill>
              </a:rPr>
              <a:t>CCE 105</a:t>
            </a:r>
          </a:p>
          <a:p>
            <a:pPr marL="0" lvl="0" indent="0" algn="l" rtl="0">
              <a:spcBef>
                <a:spcPts val="0"/>
              </a:spcBef>
              <a:spcAft>
                <a:spcPts val="0"/>
              </a:spcAft>
              <a:buNone/>
            </a:pPr>
            <a:r>
              <a:rPr lang="en-US" sz="1100" b="1" dirty="0">
                <a:solidFill>
                  <a:srgbClr val="C00000"/>
                </a:solidFill>
              </a:rPr>
              <a:t>Data Structures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1"/>
          <p:cNvSpPr txBox="1">
            <a:spLocks noGrp="1"/>
          </p:cNvSpPr>
          <p:nvPr>
            <p:ph type="title"/>
          </p:nvPr>
        </p:nvSpPr>
        <p:spPr>
          <a:xfrm>
            <a:off x="2752275" y="837368"/>
            <a:ext cx="4001700" cy="113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400" dirty="0"/>
              <a:t>Topics</a:t>
            </a:r>
            <a:endParaRPr sz="5400" dirty="0"/>
          </a:p>
        </p:txBody>
      </p:sp>
      <p:sp>
        <p:nvSpPr>
          <p:cNvPr id="389" name="Google Shape;389;p41"/>
          <p:cNvSpPr txBox="1">
            <a:spLocks noGrp="1"/>
          </p:cNvSpPr>
          <p:nvPr>
            <p:ph type="body" idx="1"/>
          </p:nvPr>
        </p:nvSpPr>
        <p:spPr>
          <a:xfrm>
            <a:off x="2844132" y="2119197"/>
            <a:ext cx="4206750" cy="1300800"/>
          </a:xfrm>
          <a:prstGeom prst="rect">
            <a:avLst/>
          </a:prstGeom>
        </p:spPr>
        <p:txBody>
          <a:bodyPr spcFirstLastPara="1" wrap="square" lIns="91425" tIns="91425" rIns="91425" bIns="91425" anchor="t" anchorCtr="0">
            <a:noAutofit/>
          </a:bodyPr>
          <a:lstStyle/>
          <a:p>
            <a:pPr marL="285750" indent="-285750" algn="l"/>
            <a:r>
              <a:rPr lang="en-US" sz="1400" dirty="0"/>
              <a:t>Trees</a:t>
            </a:r>
          </a:p>
          <a:p>
            <a:pPr marL="285750" indent="-285750" algn="l"/>
            <a:r>
              <a:rPr lang="en-US" sz="1400" dirty="0"/>
              <a:t>Binary Tree</a:t>
            </a:r>
          </a:p>
          <a:p>
            <a:pPr marL="285750" indent="-285750" algn="l"/>
            <a:r>
              <a:rPr lang="en-US" sz="1400" dirty="0"/>
              <a:t>Binary Search Tree</a:t>
            </a:r>
          </a:p>
        </p:txBody>
      </p:sp>
      <p:pic>
        <p:nvPicPr>
          <p:cNvPr id="390" name="Google Shape;390;p41"/>
          <p:cNvPicPr preferRelativeResize="0"/>
          <p:nvPr/>
        </p:nvPicPr>
        <p:blipFill rotWithShape="1">
          <a:blip r:embed="rId3">
            <a:alphaModFix amt="78000"/>
          </a:blip>
          <a:srcRect l="19967"/>
          <a:stretch/>
        </p:blipFill>
        <p:spPr>
          <a:xfrm rot="3044709">
            <a:off x="2397403" y="714063"/>
            <a:ext cx="1470368" cy="758224"/>
          </a:xfrm>
          <a:prstGeom prst="rect">
            <a:avLst/>
          </a:prstGeom>
          <a:noFill/>
          <a:ln>
            <a:noFill/>
          </a:ln>
        </p:spPr>
      </p:pic>
      <p:pic>
        <p:nvPicPr>
          <p:cNvPr id="391" name="Google Shape;391;p41"/>
          <p:cNvPicPr preferRelativeResize="0"/>
          <p:nvPr/>
        </p:nvPicPr>
        <p:blipFill>
          <a:blip r:embed="rId4">
            <a:alphaModFix/>
          </a:blip>
          <a:stretch>
            <a:fillRect/>
          </a:stretch>
        </p:blipFill>
        <p:spPr>
          <a:xfrm>
            <a:off x="3448050" y="1754625"/>
            <a:ext cx="2610150" cy="325925"/>
          </a:xfrm>
          <a:prstGeom prst="rect">
            <a:avLst/>
          </a:prstGeom>
          <a:noFill/>
          <a:ln>
            <a:noFill/>
          </a:ln>
        </p:spPr>
      </p:pic>
    </p:spTree>
    <p:extLst>
      <p:ext uri="{BB962C8B-B14F-4D97-AF65-F5344CB8AC3E}">
        <p14:creationId xmlns:p14="http://schemas.microsoft.com/office/powerpoint/2010/main" val="2779010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pic>
        <p:nvPicPr>
          <p:cNvPr id="211" name="Google Shape;211;p32"/>
          <p:cNvPicPr preferRelativeResize="0"/>
          <p:nvPr/>
        </p:nvPicPr>
        <p:blipFill>
          <a:blip r:embed="rId3">
            <a:alphaModFix amt="86000"/>
          </a:blip>
          <a:stretch>
            <a:fillRect/>
          </a:stretch>
        </p:blipFill>
        <p:spPr>
          <a:xfrm rot="1344117">
            <a:off x="3823925" y="1324475"/>
            <a:ext cx="1496149" cy="1160650"/>
          </a:xfrm>
          <a:prstGeom prst="rect">
            <a:avLst/>
          </a:prstGeom>
          <a:noFill/>
          <a:ln>
            <a:noFill/>
          </a:ln>
        </p:spPr>
      </p:pic>
      <p:pic>
        <p:nvPicPr>
          <p:cNvPr id="212" name="Google Shape;212;p32"/>
          <p:cNvPicPr preferRelativeResize="0"/>
          <p:nvPr/>
        </p:nvPicPr>
        <p:blipFill rotWithShape="1">
          <a:blip r:embed="rId4">
            <a:alphaModFix/>
          </a:blip>
          <a:srcRect t="16970" r="8892" b="21025"/>
          <a:stretch/>
        </p:blipFill>
        <p:spPr>
          <a:xfrm rot="10800000">
            <a:off x="833700" y="1225600"/>
            <a:ext cx="2036850" cy="810276"/>
          </a:xfrm>
          <a:prstGeom prst="rect">
            <a:avLst/>
          </a:prstGeom>
          <a:noFill/>
          <a:ln>
            <a:noFill/>
          </a:ln>
        </p:spPr>
      </p:pic>
      <p:pic>
        <p:nvPicPr>
          <p:cNvPr id="213" name="Google Shape;213;p32"/>
          <p:cNvPicPr preferRelativeResize="0"/>
          <p:nvPr/>
        </p:nvPicPr>
        <p:blipFill rotWithShape="1">
          <a:blip r:embed="rId5">
            <a:alphaModFix/>
          </a:blip>
          <a:srcRect t="16734" r="8892" b="18300"/>
          <a:stretch/>
        </p:blipFill>
        <p:spPr>
          <a:xfrm rot="10800000">
            <a:off x="833700" y="1737957"/>
            <a:ext cx="2036850" cy="846042"/>
          </a:xfrm>
          <a:prstGeom prst="rect">
            <a:avLst/>
          </a:prstGeom>
          <a:noFill/>
          <a:ln>
            <a:noFill/>
          </a:ln>
        </p:spPr>
      </p:pic>
      <p:sp>
        <p:nvSpPr>
          <p:cNvPr id="214" name="Google Shape;214;p32"/>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Trees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465199" y="1045460"/>
            <a:ext cx="6899108" cy="1583439"/>
          </a:xfrm>
          <a:prstGeom prst="rect">
            <a:avLst/>
          </a:prstGeom>
        </p:spPr>
        <p:txBody>
          <a:bodyPr spcFirstLastPara="1" wrap="square" lIns="91425" tIns="91425" rIns="91425" bIns="91425" anchor="t" anchorCtr="0">
            <a:noAutofit/>
          </a:bodyPr>
          <a:lstStyle/>
          <a:p>
            <a:r>
              <a:rPr lang="en-US" sz="1400" dirty="0"/>
              <a:t>So far we have seen linear structures</a:t>
            </a:r>
            <a:br>
              <a:rPr lang="en-US" sz="1400" dirty="0"/>
            </a:br>
            <a:r>
              <a:rPr lang="en-US" sz="1400" dirty="0"/>
              <a:t>• linear: before and after relationship</a:t>
            </a:r>
            <a:br>
              <a:rPr lang="en-US" sz="1400" dirty="0"/>
            </a:br>
            <a:r>
              <a:rPr lang="en-US" sz="1400" dirty="0"/>
              <a:t>• lists, vectors, arrays, stacks, queues, </a:t>
            </a:r>
            <a:r>
              <a:rPr lang="en-US" sz="1400" dirty="0" err="1"/>
              <a:t>etc</a:t>
            </a:r>
            <a:br>
              <a:rPr lang="en-US" sz="1400" dirty="0"/>
            </a:br>
            <a:br>
              <a:rPr lang="en-US" sz="1400" dirty="0"/>
            </a:br>
            <a:r>
              <a:rPr lang="en-US" sz="1400" dirty="0"/>
              <a:t>Non-linear structure: trees</a:t>
            </a:r>
            <a:br>
              <a:rPr lang="en-US" sz="1400" dirty="0"/>
            </a:br>
            <a:r>
              <a:rPr lang="en-US" sz="1400" dirty="0"/>
              <a:t>• probably the most fundamental structure in computing</a:t>
            </a:r>
            <a:br>
              <a:rPr lang="en-US" sz="1400" dirty="0"/>
            </a:br>
            <a:r>
              <a:rPr lang="en-US" sz="1400" dirty="0"/>
              <a:t>• hierarchical structure</a:t>
            </a:r>
            <a:br>
              <a:rPr lang="en-US" sz="1400" dirty="0"/>
            </a:br>
            <a:r>
              <a:rPr lang="en-US" sz="1400" dirty="0"/>
              <a:t>• Terminology: from family trees (genealogy)</a:t>
            </a:r>
            <a:endParaRPr lang="en-PH"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Trees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4"/>
          <p:cNvSpPr txBox="1">
            <a:spLocks noGrp="1"/>
          </p:cNvSpPr>
          <p:nvPr>
            <p:ph type="title"/>
          </p:nvPr>
        </p:nvSpPr>
        <p:spPr>
          <a:xfrm>
            <a:off x="1523044" y="1165104"/>
            <a:ext cx="6899108" cy="1583439"/>
          </a:xfrm>
          <a:prstGeom prst="rect">
            <a:avLst/>
          </a:prstGeom>
        </p:spPr>
        <p:txBody>
          <a:bodyPr spcFirstLastPara="1" wrap="square" lIns="91425" tIns="91425" rIns="91425" bIns="91425" anchor="t" anchorCtr="0">
            <a:noAutofit/>
          </a:bodyPr>
          <a:lstStyle/>
          <a:p>
            <a:br>
              <a:rPr lang="en-US" sz="1400" dirty="0"/>
            </a:br>
            <a:r>
              <a:rPr lang="en-US" sz="1400" dirty="0"/>
              <a:t>A tree consists of nodes connected by edges. </a:t>
            </a:r>
            <a:br>
              <a:rPr lang="en-US" sz="1400" dirty="0"/>
            </a:br>
            <a:r>
              <a:rPr lang="en-US" sz="1400" dirty="0"/>
              <a:t>   store elements hierarchically</a:t>
            </a:r>
            <a:br>
              <a:rPr lang="en-US" sz="1400" dirty="0"/>
            </a:br>
            <a:r>
              <a:rPr lang="en-US" sz="1400" dirty="0"/>
              <a:t>   the top element: root</a:t>
            </a:r>
            <a:br>
              <a:rPr lang="en-US" sz="1400" dirty="0"/>
            </a:br>
            <a:r>
              <a:rPr lang="en-US" sz="1400" dirty="0"/>
              <a:t>   except the root, each element has a parent</a:t>
            </a:r>
            <a:br>
              <a:rPr lang="en-US" sz="1400" dirty="0"/>
            </a:br>
            <a:r>
              <a:rPr lang="en-US" sz="1400" dirty="0"/>
              <a:t>   each element has 0 or more children</a:t>
            </a:r>
            <a:endParaRPr lang="en-PH" sz="1400" dirty="0"/>
          </a:p>
        </p:txBody>
      </p:sp>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Trees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Arrow: Right 1">
            <a:extLst>
              <a:ext uri="{FF2B5EF4-FFF2-40B4-BE49-F238E27FC236}">
                <a16:creationId xmlns:a16="http://schemas.microsoft.com/office/drawing/2014/main" id="{B522FF01-1A6F-4E17-A32D-06B69DCE3E0C}"/>
              </a:ext>
            </a:extLst>
          </p:cNvPr>
          <p:cNvSpPr/>
          <p:nvPr/>
        </p:nvSpPr>
        <p:spPr>
          <a:xfrm>
            <a:off x="1666568" y="1732932"/>
            <a:ext cx="169606" cy="1327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4546A877-6A67-453D-B298-1E9EE6F00749}"/>
              </a:ext>
            </a:extLst>
          </p:cNvPr>
          <p:cNvSpPr/>
          <p:nvPr/>
        </p:nvSpPr>
        <p:spPr>
          <a:xfrm>
            <a:off x="1666568" y="1964125"/>
            <a:ext cx="169606" cy="1327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50367844-C248-4403-A203-94C5FDF59837}"/>
              </a:ext>
            </a:extLst>
          </p:cNvPr>
          <p:cNvSpPr/>
          <p:nvPr/>
        </p:nvSpPr>
        <p:spPr>
          <a:xfrm>
            <a:off x="1670255" y="2190334"/>
            <a:ext cx="169606" cy="1327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527957F2-E1BC-4CAC-A75F-0F1A0C311D84}"/>
              </a:ext>
            </a:extLst>
          </p:cNvPr>
          <p:cNvSpPr/>
          <p:nvPr/>
        </p:nvSpPr>
        <p:spPr>
          <a:xfrm>
            <a:off x="1670255" y="2406779"/>
            <a:ext cx="169606" cy="1327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5700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397403" y="714063"/>
            <a:ext cx="1470368" cy="758224"/>
          </a:xfrm>
          <a:prstGeom prst="rect">
            <a:avLst/>
          </a:prstGeom>
          <a:noFill/>
          <a:ln>
            <a:noFill/>
          </a:ln>
        </p:spPr>
      </p:pic>
      <p:pic>
        <p:nvPicPr>
          <p:cNvPr id="391" name="Google Shape;391;p41"/>
          <p:cNvPicPr preferRelativeResize="0"/>
          <p:nvPr/>
        </p:nvPicPr>
        <p:blipFill>
          <a:blip r:embed="rId4">
            <a:alphaModFix/>
          </a:blip>
          <a:stretch>
            <a:fillRect/>
          </a:stretch>
        </p:blipFill>
        <p:spPr>
          <a:xfrm>
            <a:off x="3499669" y="3389398"/>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2903075" y="429533"/>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sz="2400" b="1" dirty="0">
                <a:solidFill>
                  <a:srgbClr val="C00000"/>
                </a:solidFill>
                <a:latin typeface="Concert One" panose="020B0604020202020204" charset="0"/>
              </a:rPr>
              <a:t>Trees</a:t>
            </a:r>
          </a:p>
        </p:txBody>
      </p:sp>
      <p:pic>
        <p:nvPicPr>
          <p:cNvPr id="7" name="Picture 6">
            <a:extLst>
              <a:ext uri="{FF2B5EF4-FFF2-40B4-BE49-F238E27FC236}">
                <a16:creationId xmlns:a16="http://schemas.microsoft.com/office/drawing/2014/main" id="{BAB5E094-7233-49E3-8C26-476E4BA5A812}"/>
              </a:ext>
            </a:extLst>
          </p:cNvPr>
          <p:cNvPicPr>
            <a:picLocks noChangeAspect="1"/>
          </p:cNvPicPr>
          <p:nvPr/>
        </p:nvPicPr>
        <p:blipFill>
          <a:blip r:embed="rId5"/>
          <a:stretch>
            <a:fillRect/>
          </a:stretch>
        </p:blipFill>
        <p:spPr>
          <a:xfrm>
            <a:off x="2903075" y="1856672"/>
            <a:ext cx="3918413" cy="14776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397403" y="714063"/>
            <a:ext cx="1470368" cy="758224"/>
          </a:xfrm>
          <a:prstGeom prst="rect">
            <a:avLst/>
          </a:prstGeom>
          <a:noFill/>
          <a:ln>
            <a:noFill/>
          </a:ln>
        </p:spPr>
      </p:pic>
      <p:pic>
        <p:nvPicPr>
          <p:cNvPr id="391" name="Google Shape;391;p41"/>
          <p:cNvPicPr preferRelativeResize="0"/>
          <p:nvPr/>
        </p:nvPicPr>
        <p:blipFill>
          <a:blip r:embed="rId4">
            <a:alphaModFix/>
          </a:blip>
          <a:stretch>
            <a:fillRect/>
          </a:stretch>
        </p:blipFill>
        <p:spPr>
          <a:xfrm>
            <a:off x="3499669" y="3389398"/>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802727" y="1026405"/>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sz="2400" b="1" dirty="0">
                <a:solidFill>
                  <a:srgbClr val="C00000"/>
                </a:solidFill>
                <a:latin typeface="Concert One" panose="020B0604020202020204" charset="0"/>
              </a:rPr>
              <a:t>Is this a Tree?</a:t>
            </a:r>
          </a:p>
        </p:txBody>
      </p:sp>
      <p:pic>
        <p:nvPicPr>
          <p:cNvPr id="9" name="Picture 8">
            <a:extLst>
              <a:ext uri="{FF2B5EF4-FFF2-40B4-BE49-F238E27FC236}">
                <a16:creationId xmlns:a16="http://schemas.microsoft.com/office/drawing/2014/main" id="{5B197715-F649-4DD9-9015-CB7ADD1D7355}"/>
              </a:ext>
            </a:extLst>
          </p:cNvPr>
          <p:cNvPicPr>
            <a:picLocks noChangeAspect="1"/>
          </p:cNvPicPr>
          <p:nvPr/>
        </p:nvPicPr>
        <p:blipFill>
          <a:blip r:embed="rId5"/>
          <a:stretch>
            <a:fillRect/>
          </a:stretch>
        </p:blipFill>
        <p:spPr>
          <a:xfrm>
            <a:off x="3229897" y="1960209"/>
            <a:ext cx="3266406" cy="1280944"/>
          </a:xfrm>
          <a:prstGeom prst="rect">
            <a:avLst/>
          </a:prstGeom>
        </p:spPr>
      </p:pic>
    </p:spTree>
    <p:extLst>
      <p:ext uri="{BB962C8B-B14F-4D97-AF65-F5344CB8AC3E}">
        <p14:creationId xmlns:p14="http://schemas.microsoft.com/office/powerpoint/2010/main" val="3349449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Tree Terminology</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1" name="Picture 20">
            <a:extLst>
              <a:ext uri="{FF2B5EF4-FFF2-40B4-BE49-F238E27FC236}">
                <a16:creationId xmlns:a16="http://schemas.microsoft.com/office/drawing/2014/main" id="{040DEAB9-5A49-4AD8-A051-ECC2253F2536}"/>
              </a:ext>
            </a:extLst>
          </p:cNvPr>
          <p:cNvPicPr>
            <a:picLocks noChangeAspect="1"/>
          </p:cNvPicPr>
          <p:nvPr/>
        </p:nvPicPr>
        <p:blipFill>
          <a:blip r:embed="rId4"/>
          <a:stretch>
            <a:fillRect/>
          </a:stretch>
        </p:blipFill>
        <p:spPr>
          <a:xfrm>
            <a:off x="2148662" y="1170853"/>
            <a:ext cx="5180311" cy="3199604"/>
          </a:xfrm>
          <a:prstGeom prst="rect">
            <a:avLst/>
          </a:prstGeom>
        </p:spPr>
      </p:pic>
    </p:spTree>
    <p:extLst>
      <p:ext uri="{BB962C8B-B14F-4D97-AF65-F5344CB8AC3E}">
        <p14:creationId xmlns:p14="http://schemas.microsoft.com/office/powerpoint/2010/main" val="4225536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idx="8"/>
          </p:nvPr>
        </p:nvSpPr>
        <p:spPr>
          <a:xfrm>
            <a:off x="493506" y="711175"/>
            <a:ext cx="323046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Tree Terminology</a:t>
            </a:r>
          </a:p>
        </p:txBody>
      </p:sp>
      <p:sp>
        <p:nvSpPr>
          <p:cNvPr id="195" name="Google Shape;195;p31"/>
          <p:cNvSpPr/>
          <p:nvPr/>
        </p:nvSpPr>
        <p:spPr>
          <a:xfrm>
            <a:off x="7639575" y="711175"/>
            <a:ext cx="674863" cy="488424"/>
          </a:xfrm>
          <a:custGeom>
            <a:avLst/>
            <a:gdLst/>
            <a:ahLst/>
            <a:cxnLst/>
            <a:rect l="l" t="t" r="r" b="b"/>
            <a:pathLst>
              <a:path w="35347" h="25582" extrusionOk="0">
                <a:moveTo>
                  <a:pt x="32086" y="1331"/>
                </a:moveTo>
                <a:cubicBezTo>
                  <a:pt x="32060" y="1725"/>
                  <a:pt x="32014" y="2116"/>
                  <a:pt x="31884" y="2511"/>
                </a:cubicBezTo>
                <a:cubicBezTo>
                  <a:pt x="31710" y="3037"/>
                  <a:pt x="31422" y="3448"/>
                  <a:pt x="31140" y="3873"/>
                </a:cubicBezTo>
                <a:lnTo>
                  <a:pt x="31140" y="3875"/>
                </a:lnTo>
                <a:cubicBezTo>
                  <a:pt x="31045" y="3802"/>
                  <a:pt x="30957" y="3717"/>
                  <a:pt x="30879" y="3626"/>
                </a:cubicBezTo>
                <a:cubicBezTo>
                  <a:pt x="30960" y="3537"/>
                  <a:pt x="31004" y="3420"/>
                  <a:pt x="31004" y="3300"/>
                </a:cubicBezTo>
                <a:cubicBezTo>
                  <a:pt x="31012" y="2456"/>
                  <a:pt x="31170" y="1364"/>
                  <a:pt x="32086" y="1331"/>
                </a:cubicBezTo>
                <a:close/>
                <a:moveTo>
                  <a:pt x="33448" y="2151"/>
                </a:moveTo>
                <a:lnTo>
                  <a:pt x="33448" y="2151"/>
                </a:lnTo>
                <a:cubicBezTo>
                  <a:pt x="33674" y="2664"/>
                  <a:pt x="33586" y="3318"/>
                  <a:pt x="33167" y="3795"/>
                </a:cubicBezTo>
                <a:cubicBezTo>
                  <a:pt x="33046" y="3933"/>
                  <a:pt x="32896" y="4044"/>
                  <a:pt x="32729" y="4118"/>
                </a:cubicBezTo>
                <a:cubicBezTo>
                  <a:pt x="33098" y="3528"/>
                  <a:pt x="33326" y="2819"/>
                  <a:pt x="33448" y="2151"/>
                </a:cubicBezTo>
                <a:close/>
                <a:moveTo>
                  <a:pt x="32524" y="1387"/>
                </a:moveTo>
                <a:cubicBezTo>
                  <a:pt x="32540" y="1390"/>
                  <a:pt x="32555" y="1392"/>
                  <a:pt x="32571" y="1397"/>
                </a:cubicBezTo>
                <a:cubicBezTo>
                  <a:pt x="32884" y="1486"/>
                  <a:pt x="33123" y="1661"/>
                  <a:pt x="33289" y="1878"/>
                </a:cubicBezTo>
                <a:cubicBezTo>
                  <a:pt x="33081" y="2445"/>
                  <a:pt x="32804" y="2943"/>
                  <a:pt x="32503" y="3432"/>
                </a:cubicBezTo>
                <a:cubicBezTo>
                  <a:pt x="32416" y="3432"/>
                  <a:pt x="32336" y="3480"/>
                  <a:pt x="32295" y="3557"/>
                </a:cubicBezTo>
                <a:cubicBezTo>
                  <a:pt x="32169" y="3777"/>
                  <a:pt x="32049" y="4000"/>
                  <a:pt x="31925" y="4221"/>
                </a:cubicBezTo>
                <a:cubicBezTo>
                  <a:pt x="31817" y="4204"/>
                  <a:pt x="31712" y="4175"/>
                  <a:pt x="31611" y="4138"/>
                </a:cubicBezTo>
                <a:cubicBezTo>
                  <a:pt x="32171" y="3413"/>
                  <a:pt x="32513" y="2340"/>
                  <a:pt x="32524" y="1387"/>
                </a:cubicBezTo>
                <a:close/>
                <a:moveTo>
                  <a:pt x="9407" y="5159"/>
                </a:moveTo>
                <a:cubicBezTo>
                  <a:pt x="10187" y="6580"/>
                  <a:pt x="10603" y="7882"/>
                  <a:pt x="10645" y="9398"/>
                </a:cubicBezTo>
                <a:cubicBezTo>
                  <a:pt x="10279" y="9775"/>
                  <a:pt x="9939" y="10175"/>
                  <a:pt x="9627" y="10596"/>
                </a:cubicBezTo>
                <a:lnTo>
                  <a:pt x="9626" y="10596"/>
                </a:lnTo>
                <a:cubicBezTo>
                  <a:pt x="9570" y="10548"/>
                  <a:pt x="9511" y="10506"/>
                  <a:pt x="9457" y="10455"/>
                </a:cubicBezTo>
                <a:cubicBezTo>
                  <a:pt x="8958" y="9988"/>
                  <a:pt x="8631" y="9478"/>
                  <a:pt x="8445" y="8950"/>
                </a:cubicBezTo>
                <a:cubicBezTo>
                  <a:pt x="8239" y="7563"/>
                  <a:pt x="8522" y="6110"/>
                  <a:pt x="9407" y="5159"/>
                </a:cubicBezTo>
                <a:close/>
                <a:moveTo>
                  <a:pt x="14031" y="4662"/>
                </a:moveTo>
                <a:lnTo>
                  <a:pt x="14031" y="4662"/>
                </a:lnTo>
                <a:cubicBezTo>
                  <a:pt x="15409" y="5488"/>
                  <a:pt x="16195" y="7133"/>
                  <a:pt x="15661" y="8877"/>
                </a:cubicBezTo>
                <a:lnTo>
                  <a:pt x="15659" y="8877"/>
                </a:lnTo>
                <a:cubicBezTo>
                  <a:pt x="15430" y="9624"/>
                  <a:pt x="15018" y="10217"/>
                  <a:pt x="14503" y="10657"/>
                </a:cubicBezTo>
                <a:cubicBezTo>
                  <a:pt x="15162" y="8733"/>
                  <a:pt x="15142" y="6226"/>
                  <a:pt x="14031" y="4662"/>
                </a:cubicBezTo>
                <a:close/>
                <a:moveTo>
                  <a:pt x="12255" y="4111"/>
                </a:moveTo>
                <a:lnTo>
                  <a:pt x="12255" y="4111"/>
                </a:lnTo>
                <a:cubicBezTo>
                  <a:pt x="12734" y="4141"/>
                  <a:pt x="13204" y="4257"/>
                  <a:pt x="13641" y="4456"/>
                </a:cubicBezTo>
                <a:cubicBezTo>
                  <a:pt x="13946" y="5706"/>
                  <a:pt x="14445" y="6784"/>
                  <a:pt x="14438" y="8128"/>
                </a:cubicBezTo>
                <a:cubicBezTo>
                  <a:pt x="14433" y="9221"/>
                  <a:pt x="14153" y="10170"/>
                  <a:pt x="13778" y="11136"/>
                </a:cubicBezTo>
                <a:lnTo>
                  <a:pt x="13777" y="11136"/>
                </a:lnTo>
                <a:cubicBezTo>
                  <a:pt x="13579" y="11237"/>
                  <a:pt x="13371" y="11320"/>
                  <a:pt x="13158" y="11383"/>
                </a:cubicBezTo>
                <a:cubicBezTo>
                  <a:pt x="13508" y="10596"/>
                  <a:pt x="13480" y="9389"/>
                  <a:pt x="13480" y="8738"/>
                </a:cubicBezTo>
                <a:cubicBezTo>
                  <a:pt x="13481" y="7105"/>
                  <a:pt x="13101" y="5512"/>
                  <a:pt x="12255" y="4111"/>
                </a:cubicBezTo>
                <a:close/>
                <a:moveTo>
                  <a:pt x="10574" y="4370"/>
                </a:moveTo>
                <a:cubicBezTo>
                  <a:pt x="11032" y="5394"/>
                  <a:pt x="11434" y="6425"/>
                  <a:pt x="11654" y="7535"/>
                </a:cubicBezTo>
                <a:cubicBezTo>
                  <a:pt x="11731" y="7917"/>
                  <a:pt x="12221" y="10964"/>
                  <a:pt x="11674" y="11503"/>
                </a:cubicBezTo>
                <a:cubicBezTo>
                  <a:pt x="11256" y="11451"/>
                  <a:pt x="10850" y="11331"/>
                  <a:pt x="10471" y="11147"/>
                </a:cubicBezTo>
                <a:cubicBezTo>
                  <a:pt x="10513" y="11076"/>
                  <a:pt x="10551" y="11003"/>
                  <a:pt x="10593" y="10933"/>
                </a:cubicBezTo>
                <a:cubicBezTo>
                  <a:pt x="10613" y="10979"/>
                  <a:pt x="10666" y="11005"/>
                  <a:pt x="10718" y="11005"/>
                </a:cubicBezTo>
                <a:cubicBezTo>
                  <a:pt x="10776" y="11005"/>
                  <a:pt x="10833" y="10974"/>
                  <a:pt x="10849" y="10909"/>
                </a:cubicBezTo>
                <a:cubicBezTo>
                  <a:pt x="10901" y="10692"/>
                  <a:pt x="10939" y="10473"/>
                  <a:pt x="10966" y="10253"/>
                </a:cubicBezTo>
                <a:cubicBezTo>
                  <a:pt x="11086" y="10020"/>
                  <a:pt x="11201" y="9789"/>
                  <a:pt x="11304" y="9554"/>
                </a:cubicBezTo>
                <a:cubicBezTo>
                  <a:pt x="11399" y="9337"/>
                  <a:pt x="11239" y="9113"/>
                  <a:pt x="11045" y="9113"/>
                </a:cubicBezTo>
                <a:cubicBezTo>
                  <a:pt x="11035" y="9113"/>
                  <a:pt x="11025" y="9113"/>
                  <a:pt x="11016" y="9115"/>
                </a:cubicBezTo>
                <a:cubicBezTo>
                  <a:pt x="10959" y="7642"/>
                  <a:pt x="10449" y="6136"/>
                  <a:pt x="9532" y="5039"/>
                </a:cubicBezTo>
                <a:cubicBezTo>
                  <a:pt x="9833" y="4751"/>
                  <a:pt x="10187" y="4523"/>
                  <a:pt x="10574" y="4370"/>
                </a:cubicBezTo>
                <a:close/>
                <a:moveTo>
                  <a:pt x="12017" y="4105"/>
                </a:moveTo>
                <a:cubicBezTo>
                  <a:pt x="12017" y="4115"/>
                  <a:pt x="12020" y="4125"/>
                  <a:pt x="12023" y="4134"/>
                </a:cubicBezTo>
                <a:cubicBezTo>
                  <a:pt x="12459" y="5230"/>
                  <a:pt x="12828" y="6325"/>
                  <a:pt x="12963" y="7502"/>
                </a:cubicBezTo>
                <a:cubicBezTo>
                  <a:pt x="13008" y="7897"/>
                  <a:pt x="13034" y="10935"/>
                  <a:pt x="12588" y="11499"/>
                </a:cubicBezTo>
                <a:lnTo>
                  <a:pt x="12586" y="11499"/>
                </a:lnTo>
                <a:cubicBezTo>
                  <a:pt x="12468" y="11513"/>
                  <a:pt x="12349" y="11524"/>
                  <a:pt x="12230" y="11527"/>
                </a:cubicBezTo>
                <a:cubicBezTo>
                  <a:pt x="12489" y="10895"/>
                  <a:pt x="12334" y="9818"/>
                  <a:pt x="12313" y="9394"/>
                </a:cubicBezTo>
                <a:cubicBezTo>
                  <a:pt x="12224" y="7606"/>
                  <a:pt x="11756" y="5824"/>
                  <a:pt x="10864" y="4269"/>
                </a:cubicBezTo>
                <a:cubicBezTo>
                  <a:pt x="11115" y="4193"/>
                  <a:pt x="11375" y="4142"/>
                  <a:pt x="11637" y="4117"/>
                </a:cubicBezTo>
                <a:cubicBezTo>
                  <a:pt x="11766" y="4105"/>
                  <a:pt x="11891" y="4105"/>
                  <a:pt x="12017" y="4105"/>
                </a:cubicBezTo>
                <a:close/>
                <a:moveTo>
                  <a:pt x="25741" y="16319"/>
                </a:moveTo>
                <a:cubicBezTo>
                  <a:pt x="26033" y="16319"/>
                  <a:pt x="26325" y="16353"/>
                  <a:pt x="26608" y="16425"/>
                </a:cubicBezTo>
                <a:cubicBezTo>
                  <a:pt x="26757" y="16463"/>
                  <a:pt x="26903" y="16513"/>
                  <a:pt x="27044" y="16574"/>
                </a:cubicBezTo>
                <a:cubicBezTo>
                  <a:pt x="28124" y="17916"/>
                  <a:pt x="26413" y="20133"/>
                  <a:pt x="25036" y="20799"/>
                </a:cubicBezTo>
                <a:cubicBezTo>
                  <a:pt x="24616" y="21002"/>
                  <a:pt x="24156" y="21111"/>
                  <a:pt x="23701" y="21111"/>
                </a:cubicBezTo>
                <a:cubicBezTo>
                  <a:pt x="23171" y="21111"/>
                  <a:pt x="22648" y="20963"/>
                  <a:pt x="22200" y="20645"/>
                </a:cubicBezTo>
                <a:cubicBezTo>
                  <a:pt x="21851" y="20398"/>
                  <a:pt x="21618" y="20077"/>
                  <a:pt x="21492" y="19731"/>
                </a:cubicBezTo>
                <a:cubicBezTo>
                  <a:pt x="21476" y="19396"/>
                  <a:pt x="21503" y="19061"/>
                  <a:pt x="21572" y="18733"/>
                </a:cubicBezTo>
                <a:cubicBezTo>
                  <a:pt x="21617" y="18728"/>
                  <a:pt x="21662" y="18715"/>
                  <a:pt x="21702" y="18694"/>
                </a:cubicBezTo>
                <a:cubicBezTo>
                  <a:pt x="22164" y="18440"/>
                  <a:pt x="22446" y="18033"/>
                  <a:pt x="22768" y="17649"/>
                </a:cubicBezTo>
                <a:cubicBezTo>
                  <a:pt x="23416" y="18221"/>
                  <a:pt x="24064" y="18791"/>
                  <a:pt x="24704" y="19359"/>
                </a:cubicBezTo>
                <a:cubicBezTo>
                  <a:pt x="24857" y="19496"/>
                  <a:pt x="25027" y="19554"/>
                  <a:pt x="25190" y="19554"/>
                </a:cubicBezTo>
                <a:cubicBezTo>
                  <a:pt x="25767" y="19554"/>
                  <a:pt x="26268" y="18836"/>
                  <a:pt x="25734" y="18328"/>
                </a:cubicBezTo>
                <a:cubicBezTo>
                  <a:pt x="25166" y="17789"/>
                  <a:pt x="24597" y="17246"/>
                  <a:pt x="24027" y="16699"/>
                </a:cubicBezTo>
                <a:cubicBezTo>
                  <a:pt x="24563" y="16456"/>
                  <a:pt x="25153" y="16319"/>
                  <a:pt x="25741" y="16319"/>
                </a:cubicBezTo>
                <a:close/>
                <a:moveTo>
                  <a:pt x="27895" y="17098"/>
                </a:moveTo>
                <a:cubicBezTo>
                  <a:pt x="28227" y="17383"/>
                  <a:pt x="28508" y="17724"/>
                  <a:pt x="28723" y="18106"/>
                </a:cubicBezTo>
                <a:cubicBezTo>
                  <a:pt x="28458" y="19552"/>
                  <a:pt x="27924" y="20816"/>
                  <a:pt x="26655" y="21718"/>
                </a:cubicBezTo>
                <a:cubicBezTo>
                  <a:pt x="25884" y="22266"/>
                  <a:pt x="25025" y="22582"/>
                  <a:pt x="24076" y="22639"/>
                </a:cubicBezTo>
                <a:cubicBezTo>
                  <a:pt x="24017" y="22642"/>
                  <a:pt x="23950" y="22644"/>
                  <a:pt x="23875" y="22644"/>
                </a:cubicBezTo>
                <a:cubicBezTo>
                  <a:pt x="23571" y="22644"/>
                  <a:pt x="23149" y="22613"/>
                  <a:pt x="22716" y="22526"/>
                </a:cubicBezTo>
                <a:cubicBezTo>
                  <a:pt x="22231" y="22010"/>
                  <a:pt x="21886" y="21431"/>
                  <a:pt x="21690" y="20830"/>
                </a:cubicBezTo>
                <a:lnTo>
                  <a:pt x="21690" y="20830"/>
                </a:lnTo>
                <a:cubicBezTo>
                  <a:pt x="22236" y="21348"/>
                  <a:pt x="23021" y="21617"/>
                  <a:pt x="23774" y="21617"/>
                </a:cubicBezTo>
                <a:cubicBezTo>
                  <a:pt x="23888" y="21617"/>
                  <a:pt x="24001" y="21610"/>
                  <a:pt x="24112" y="21598"/>
                </a:cubicBezTo>
                <a:cubicBezTo>
                  <a:pt x="25882" y="21400"/>
                  <a:pt x="28208" y="18898"/>
                  <a:pt x="27895" y="17098"/>
                </a:cubicBezTo>
                <a:close/>
                <a:moveTo>
                  <a:pt x="4132" y="21347"/>
                </a:moveTo>
                <a:lnTo>
                  <a:pt x="4132" y="21347"/>
                </a:lnTo>
                <a:cubicBezTo>
                  <a:pt x="4450" y="21713"/>
                  <a:pt x="4661" y="22218"/>
                  <a:pt x="4648" y="22688"/>
                </a:cubicBezTo>
                <a:cubicBezTo>
                  <a:pt x="4476" y="22239"/>
                  <a:pt x="4293" y="21798"/>
                  <a:pt x="4132" y="21347"/>
                </a:cubicBezTo>
                <a:close/>
                <a:moveTo>
                  <a:pt x="2094" y="22062"/>
                </a:moveTo>
                <a:cubicBezTo>
                  <a:pt x="2166" y="22580"/>
                  <a:pt x="2241" y="23104"/>
                  <a:pt x="2354" y="23612"/>
                </a:cubicBezTo>
                <a:cubicBezTo>
                  <a:pt x="2209" y="23502"/>
                  <a:pt x="2084" y="23367"/>
                  <a:pt x="1985" y="23213"/>
                </a:cubicBezTo>
                <a:cubicBezTo>
                  <a:pt x="1858" y="23010"/>
                  <a:pt x="1761" y="22723"/>
                  <a:pt x="1712" y="22412"/>
                </a:cubicBezTo>
                <a:cubicBezTo>
                  <a:pt x="1816" y="22378"/>
                  <a:pt x="1908" y="22323"/>
                  <a:pt x="1972" y="22248"/>
                </a:cubicBezTo>
                <a:cubicBezTo>
                  <a:pt x="2019" y="22190"/>
                  <a:pt x="2059" y="22128"/>
                  <a:pt x="2094" y="22062"/>
                </a:cubicBezTo>
                <a:close/>
                <a:moveTo>
                  <a:pt x="29081" y="18929"/>
                </a:moveTo>
                <a:lnTo>
                  <a:pt x="29081" y="18930"/>
                </a:lnTo>
                <a:cubicBezTo>
                  <a:pt x="29363" y="19840"/>
                  <a:pt x="29336" y="20848"/>
                  <a:pt x="28921" y="21706"/>
                </a:cubicBezTo>
                <a:cubicBezTo>
                  <a:pt x="28288" y="23017"/>
                  <a:pt x="26888" y="23727"/>
                  <a:pt x="25492" y="23727"/>
                </a:cubicBezTo>
                <a:cubicBezTo>
                  <a:pt x="24668" y="23727"/>
                  <a:pt x="23846" y="23480"/>
                  <a:pt x="23183" y="22963"/>
                </a:cubicBezTo>
                <a:lnTo>
                  <a:pt x="23183" y="22963"/>
                </a:lnTo>
                <a:cubicBezTo>
                  <a:pt x="23552" y="23022"/>
                  <a:pt x="23905" y="23051"/>
                  <a:pt x="24198" y="23051"/>
                </a:cubicBezTo>
                <a:cubicBezTo>
                  <a:pt x="24347" y="23051"/>
                  <a:pt x="24480" y="23044"/>
                  <a:pt x="24592" y="23029"/>
                </a:cubicBezTo>
                <a:cubicBezTo>
                  <a:pt x="26773" y="22734"/>
                  <a:pt x="28616" y="21040"/>
                  <a:pt x="29081" y="18929"/>
                </a:cubicBezTo>
                <a:close/>
                <a:moveTo>
                  <a:pt x="3135" y="20825"/>
                </a:moveTo>
                <a:cubicBezTo>
                  <a:pt x="3311" y="20825"/>
                  <a:pt x="3491" y="20875"/>
                  <a:pt x="3656" y="20961"/>
                </a:cubicBezTo>
                <a:cubicBezTo>
                  <a:pt x="3657" y="20976"/>
                  <a:pt x="3661" y="20993"/>
                  <a:pt x="3663" y="21009"/>
                </a:cubicBezTo>
                <a:cubicBezTo>
                  <a:pt x="3656" y="21030"/>
                  <a:pt x="3647" y="21051"/>
                  <a:pt x="3641" y="21072"/>
                </a:cubicBezTo>
                <a:cubicBezTo>
                  <a:pt x="3621" y="21137"/>
                  <a:pt x="3651" y="21196"/>
                  <a:pt x="3697" y="21233"/>
                </a:cubicBezTo>
                <a:cubicBezTo>
                  <a:pt x="3821" y="21992"/>
                  <a:pt x="4033" y="22752"/>
                  <a:pt x="4420" y="23383"/>
                </a:cubicBezTo>
                <a:cubicBezTo>
                  <a:pt x="4377" y="23441"/>
                  <a:pt x="4329" y="23494"/>
                  <a:pt x="4277" y="23544"/>
                </a:cubicBezTo>
                <a:lnTo>
                  <a:pt x="4276" y="23544"/>
                </a:lnTo>
                <a:cubicBezTo>
                  <a:pt x="4147" y="23661"/>
                  <a:pt x="3999" y="23755"/>
                  <a:pt x="3838" y="23822"/>
                </a:cubicBezTo>
                <a:cubicBezTo>
                  <a:pt x="3681" y="23377"/>
                  <a:pt x="3463" y="22951"/>
                  <a:pt x="3325" y="22494"/>
                </a:cubicBezTo>
                <a:cubicBezTo>
                  <a:pt x="3162" y="21951"/>
                  <a:pt x="3080" y="21394"/>
                  <a:pt x="2974" y="20839"/>
                </a:cubicBezTo>
                <a:cubicBezTo>
                  <a:pt x="3027" y="20830"/>
                  <a:pt x="3081" y="20825"/>
                  <a:pt x="3135" y="20825"/>
                </a:cubicBezTo>
                <a:close/>
                <a:moveTo>
                  <a:pt x="2618" y="21003"/>
                </a:moveTo>
                <a:lnTo>
                  <a:pt x="2618" y="21003"/>
                </a:lnTo>
                <a:cubicBezTo>
                  <a:pt x="2610" y="21938"/>
                  <a:pt x="2832" y="23104"/>
                  <a:pt x="3325" y="23932"/>
                </a:cubicBezTo>
                <a:cubicBezTo>
                  <a:pt x="3310" y="23933"/>
                  <a:pt x="3294" y="23933"/>
                  <a:pt x="3278" y="23933"/>
                </a:cubicBezTo>
                <a:cubicBezTo>
                  <a:pt x="3134" y="23933"/>
                  <a:pt x="2991" y="23913"/>
                  <a:pt x="2853" y="23872"/>
                </a:cubicBezTo>
                <a:cubicBezTo>
                  <a:pt x="2744" y="23067"/>
                  <a:pt x="2516" y="22253"/>
                  <a:pt x="2314" y="21464"/>
                </a:cubicBezTo>
                <a:cubicBezTo>
                  <a:pt x="2350" y="21361"/>
                  <a:pt x="2400" y="21260"/>
                  <a:pt x="2462" y="21169"/>
                </a:cubicBezTo>
                <a:cubicBezTo>
                  <a:pt x="2506" y="21107"/>
                  <a:pt x="2558" y="21051"/>
                  <a:pt x="2618" y="21003"/>
                </a:cubicBezTo>
                <a:close/>
                <a:moveTo>
                  <a:pt x="32126" y="1"/>
                </a:moveTo>
                <a:cubicBezTo>
                  <a:pt x="31323" y="1"/>
                  <a:pt x="30546" y="369"/>
                  <a:pt x="30075" y="1049"/>
                </a:cubicBezTo>
                <a:cubicBezTo>
                  <a:pt x="29894" y="1313"/>
                  <a:pt x="29762" y="1606"/>
                  <a:pt x="29685" y="1915"/>
                </a:cubicBezTo>
                <a:cubicBezTo>
                  <a:pt x="29466" y="2456"/>
                  <a:pt x="29447" y="3070"/>
                  <a:pt x="29668" y="3630"/>
                </a:cubicBezTo>
                <a:cubicBezTo>
                  <a:pt x="29978" y="4415"/>
                  <a:pt x="30637" y="4960"/>
                  <a:pt x="31382" y="5195"/>
                </a:cubicBezTo>
                <a:cubicBezTo>
                  <a:pt x="30546" y="6732"/>
                  <a:pt x="29755" y="8294"/>
                  <a:pt x="29009" y="9878"/>
                </a:cubicBezTo>
                <a:cubicBezTo>
                  <a:pt x="28225" y="11546"/>
                  <a:pt x="27286" y="13351"/>
                  <a:pt x="26770" y="15158"/>
                </a:cubicBezTo>
                <a:cubicBezTo>
                  <a:pt x="26431" y="15086"/>
                  <a:pt x="26084" y="15051"/>
                  <a:pt x="25737" y="15051"/>
                </a:cubicBezTo>
                <a:cubicBezTo>
                  <a:pt x="25060" y="15051"/>
                  <a:pt x="24380" y="15183"/>
                  <a:pt x="23751" y="15430"/>
                </a:cubicBezTo>
                <a:cubicBezTo>
                  <a:pt x="23471" y="15476"/>
                  <a:pt x="23197" y="15553"/>
                  <a:pt x="22935" y="15660"/>
                </a:cubicBezTo>
                <a:cubicBezTo>
                  <a:pt x="20905" y="13737"/>
                  <a:pt x="18830" y="11837"/>
                  <a:pt x="16633" y="10158"/>
                </a:cubicBezTo>
                <a:cubicBezTo>
                  <a:pt x="16751" y="9931"/>
                  <a:pt x="16852" y="9696"/>
                  <a:pt x="16936" y="9456"/>
                </a:cubicBezTo>
                <a:cubicBezTo>
                  <a:pt x="18116" y="5988"/>
                  <a:pt x="15474" y="2670"/>
                  <a:pt x="12008" y="2670"/>
                </a:cubicBezTo>
                <a:cubicBezTo>
                  <a:pt x="11713" y="2670"/>
                  <a:pt x="11413" y="2694"/>
                  <a:pt x="11109" y="2743"/>
                </a:cubicBezTo>
                <a:cubicBezTo>
                  <a:pt x="7757" y="3292"/>
                  <a:pt x="5808" y="7543"/>
                  <a:pt x="7713" y="10306"/>
                </a:cubicBezTo>
                <a:cubicBezTo>
                  <a:pt x="7866" y="10571"/>
                  <a:pt x="8043" y="10822"/>
                  <a:pt x="8242" y="11054"/>
                </a:cubicBezTo>
                <a:cubicBezTo>
                  <a:pt x="8437" y="11277"/>
                  <a:pt x="8650" y="11485"/>
                  <a:pt x="8877" y="11673"/>
                </a:cubicBezTo>
                <a:cubicBezTo>
                  <a:pt x="8169" y="12760"/>
                  <a:pt x="7533" y="13914"/>
                  <a:pt x="6898" y="14949"/>
                </a:cubicBezTo>
                <a:cubicBezTo>
                  <a:pt x="6032" y="16364"/>
                  <a:pt x="5044" y="17822"/>
                  <a:pt x="4317" y="19357"/>
                </a:cubicBezTo>
                <a:cubicBezTo>
                  <a:pt x="3940" y="19175"/>
                  <a:pt x="3537" y="19084"/>
                  <a:pt x="3136" y="19084"/>
                </a:cubicBezTo>
                <a:cubicBezTo>
                  <a:pt x="2551" y="19084"/>
                  <a:pt x="1971" y="19278"/>
                  <a:pt x="1493" y="19666"/>
                </a:cubicBezTo>
                <a:cubicBezTo>
                  <a:pt x="1421" y="19724"/>
                  <a:pt x="1353" y="19788"/>
                  <a:pt x="1288" y="19853"/>
                </a:cubicBezTo>
                <a:cubicBezTo>
                  <a:pt x="1005" y="19986"/>
                  <a:pt x="760" y="20189"/>
                  <a:pt x="578" y="20442"/>
                </a:cubicBezTo>
                <a:cubicBezTo>
                  <a:pt x="3" y="21266"/>
                  <a:pt x="0" y="22476"/>
                  <a:pt x="318" y="23394"/>
                </a:cubicBezTo>
                <a:cubicBezTo>
                  <a:pt x="793" y="24766"/>
                  <a:pt x="2029" y="25582"/>
                  <a:pt x="3317" y="25582"/>
                </a:cubicBezTo>
                <a:cubicBezTo>
                  <a:pt x="3993" y="25582"/>
                  <a:pt x="4683" y="25357"/>
                  <a:pt x="5286" y="24870"/>
                </a:cubicBezTo>
                <a:cubicBezTo>
                  <a:pt x="6926" y="23545"/>
                  <a:pt x="6474" y="21038"/>
                  <a:pt x="4975" y="19786"/>
                </a:cubicBezTo>
                <a:cubicBezTo>
                  <a:pt x="5861" y="18451"/>
                  <a:pt x="6601" y="16991"/>
                  <a:pt x="7440" y="15647"/>
                </a:cubicBezTo>
                <a:cubicBezTo>
                  <a:pt x="8141" y="14525"/>
                  <a:pt x="8983" y="13408"/>
                  <a:pt x="9754" y="12263"/>
                </a:cubicBezTo>
                <a:cubicBezTo>
                  <a:pt x="10515" y="12669"/>
                  <a:pt x="11345" y="12866"/>
                  <a:pt x="12168" y="12866"/>
                </a:cubicBezTo>
                <a:cubicBezTo>
                  <a:pt x="13591" y="12866"/>
                  <a:pt x="14989" y="12276"/>
                  <a:pt x="15959" y="11158"/>
                </a:cubicBezTo>
                <a:cubicBezTo>
                  <a:pt x="17703" y="13071"/>
                  <a:pt x="19638" y="14863"/>
                  <a:pt x="21595" y="16608"/>
                </a:cubicBezTo>
                <a:cubicBezTo>
                  <a:pt x="20579" y="17737"/>
                  <a:pt x="20201" y="19474"/>
                  <a:pt x="20622" y="21087"/>
                </a:cubicBezTo>
                <a:cubicBezTo>
                  <a:pt x="20529" y="21504"/>
                  <a:pt x="20700" y="21849"/>
                  <a:pt x="21021" y="22127"/>
                </a:cubicBezTo>
                <a:cubicBezTo>
                  <a:pt x="21030" y="22145"/>
                  <a:pt x="21037" y="22162"/>
                  <a:pt x="21047" y="22181"/>
                </a:cubicBezTo>
                <a:cubicBezTo>
                  <a:pt x="21464" y="22969"/>
                  <a:pt x="22080" y="23635"/>
                  <a:pt x="22834" y="24112"/>
                </a:cubicBezTo>
                <a:cubicBezTo>
                  <a:pt x="23111" y="24337"/>
                  <a:pt x="23434" y="24500"/>
                  <a:pt x="23779" y="24592"/>
                </a:cubicBezTo>
                <a:cubicBezTo>
                  <a:pt x="24377" y="24820"/>
                  <a:pt x="25014" y="24938"/>
                  <a:pt x="25653" y="24938"/>
                </a:cubicBezTo>
                <a:cubicBezTo>
                  <a:pt x="26938" y="24938"/>
                  <a:pt x="28232" y="24460"/>
                  <a:pt x="29242" y="23441"/>
                </a:cubicBezTo>
                <a:cubicBezTo>
                  <a:pt x="31489" y="21171"/>
                  <a:pt x="30665" y="17008"/>
                  <a:pt x="27890" y="15554"/>
                </a:cubicBezTo>
                <a:cubicBezTo>
                  <a:pt x="27687" y="15450"/>
                  <a:pt x="27477" y="15363"/>
                  <a:pt x="27260" y="15293"/>
                </a:cubicBezTo>
                <a:cubicBezTo>
                  <a:pt x="28160" y="13554"/>
                  <a:pt x="28800" y="11634"/>
                  <a:pt x="29632" y="9868"/>
                </a:cubicBezTo>
                <a:cubicBezTo>
                  <a:pt x="30359" y="8325"/>
                  <a:pt x="31134" y="6808"/>
                  <a:pt x="31942" y="5308"/>
                </a:cubicBezTo>
                <a:cubicBezTo>
                  <a:pt x="32029" y="5316"/>
                  <a:pt x="32117" y="5321"/>
                  <a:pt x="32204" y="5321"/>
                </a:cubicBezTo>
                <a:cubicBezTo>
                  <a:pt x="32892" y="5321"/>
                  <a:pt x="33575" y="5053"/>
                  <a:pt x="34071" y="4464"/>
                </a:cubicBezTo>
                <a:cubicBezTo>
                  <a:pt x="35347" y="2948"/>
                  <a:pt x="34697" y="521"/>
                  <a:pt x="32711" y="67"/>
                </a:cubicBezTo>
                <a:cubicBezTo>
                  <a:pt x="32517" y="22"/>
                  <a:pt x="32320" y="1"/>
                  <a:pt x="32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1"/>
          <p:cNvSpPr/>
          <p:nvPr/>
        </p:nvSpPr>
        <p:spPr>
          <a:xfrm>
            <a:off x="7125750" y="544900"/>
            <a:ext cx="564034" cy="445373"/>
          </a:xfrm>
          <a:custGeom>
            <a:avLst/>
            <a:gdLst/>
            <a:ahLst/>
            <a:cxnLst/>
            <a:rect l="l" t="t" r="r" b="b"/>
            <a:pathLst>
              <a:path w="39020" h="30811" extrusionOk="0">
                <a:moveTo>
                  <a:pt x="30681" y="3474"/>
                </a:moveTo>
                <a:cubicBezTo>
                  <a:pt x="32090" y="5955"/>
                  <a:pt x="33478" y="8448"/>
                  <a:pt x="34883" y="10930"/>
                </a:cubicBezTo>
                <a:cubicBezTo>
                  <a:pt x="35369" y="11788"/>
                  <a:pt x="35855" y="12647"/>
                  <a:pt x="36340" y="13505"/>
                </a:cubicBezTo>
                <a:cubicBezTo>
                  <a:pt x="34784" y="12409"/>
                  <a:pt x="33095" y="11459"/>
                  <a:pt x="31412" y="10597"/>
                </a:cubicBezTo>
                <a:cubicBezTo>
                  <a:pt x="29978" y="9864"/>
                  <a:pt x="28301" y="8917"/>
                  <a:pt x="26670" y="8527"/>
                </a:cubicBezTo>
                <a:cubicBezTo>
                  <a:pt x="27959" y="6807"/>
                  <a:pt x="29296" y="5122"/>
                  <a:pt x="30681" y="3474"/>
                </a:cubicBezTo>
                <a:close/>
                <a:moveTo>
                  <a:pt x="29411" y="1254"/>
                </a:moveTo>
                <a:cubicBezTo>
                  <a:pt x="29708" y="1768"/>
                  <a:pt x="30001" y="2286"/>
                  <a:pt x="30296" y="2802"/>
                </a:cubicBezTo>
                <a:cubicBezTo>
                  <a:pt x="30250" y="2825"/>
                  <a:pt x="30209" y="2858"/>
                  <a:pt x="30176" y="2898"/>
                </a:cubicBezTo>
                <a:cubicBezTo>
                  <a:pt x="28464" y="4922"/>
                  <a:pt x="26824" y="7005"/>
                  <a:pt x="25256" y="9144"/>
                </a:cubicBezTo>
                <a:cubicBezTo>
                  <a:pt x="24435" y="10273"/>
                  <a:pt x="23639" y="11420"/>
                  <a:pt x="22870" y="12586"/>
                </a:cubicBezTo>
                <a:cubicBezTo>
                  <a:pt x="22370" y="13341"/>
                  <a:pt x="21985" y="14172"/>
                  <a:pt x="21048" y="14438"/>
                </a:cubicBezTo>
                <a:cubicBezTo>
                  <a:pt x="20343" y="14637"/>
                  <a:pt x="19521" y="14657"/>
                  <a:pt x="18799" y="14757"/>
                </a:cubicBezTo>
                <a:cubicBezTo>
                  <a:pt x="15724" y="15183"/>
                  <a:pt x="12643" y="15575"/>
                  <a:pt x="9548" y="15813"/>
                </a:cubicBezTo>
                <a:cubicBezTo>
                  <a:pt x="6956" y="16012"/>
                  <a:pt x="4377" y="15977"/>
                  <a:pt x="1788" y="16009"/>
                </a:cubicBezTo>
                <a:cubicBezTo>
                  <a:pt x="1837" y="15879"/>
                  <a:pt x="1855" y="15736"/>
                  <a:pt x="1816" y="15615"/>
                </a:cubicBezTo>
                <a:cubicBezTo>
                  <a:pt x="1798" y="15556"/>
                  <a:pt x="1778" y="15497"/>
                  <a:pt x="1759" y="15438"/>
                </a:cubicBezTo>
                <a:cubicBezTo>
                  <a:pt x="1745" y="15392"/>
                  <a:pt x="1726" y="15347"/>
                  <a:pt x="1703" y="15306"/>
                </a:cubicBezTo>
                <a:cubicBezTo>
                  <a:pt x="10986" y="10717"/>
                  <a:pt x="20120" y="5833"/>
                  <a:pt x="29411" y="1254"/>
                </a:cubicBezTo>
                <a:close/>
                <a:moveTo>
                  <a:pt x="26395" y="8892"/>
                </a:moveTo>
                <a:cubicBezTo>
                  <a:pt x="28004" y="9838"/>
                  <a:pt x="29911" y="10434"/>
                  <a:pt x="31549" y="11326"/>
                </a:cubicBezTo>
                <a:cubicBezTo>
                  <a:pt x="33390" y="12329"/>
                  <a:pt x="35083" y="13505"/>
                  <a:pt x="36814" y="14674"/>
                </a:cubicBezTo>
                <a:cubicBezTo>
                  <a:pt x="36810" y="14693"/>
                  <a:pt x="36810" y="14712"/>
                  <a:pt x="36805" y="14732"/>
                </a:cubicBezTo>
                <a:cubicBezTo>
                  <a:pt x="36673" y="15199"/>
                  <a:pt x="36153" y="15305"/>
                  <a:pt x="35745" y="15521"/>
                </a:cubicBezTo>
                <a:cubicBezTo>
                  <a:pt x="33939" y="16469"/>
                  <a:pt x="32140" y="17429"/>
                  <a:pt x="30339" y="18384"/>
                </a:cubicBezTo>
                <a:lnTo>
                  <a:pt x="10312" y="29005"/>
                </a:lnTo>
                <a:cubicBezTo>
                  <a:pt x="10650" y="26988"/>
                  <a:pt x="10593" y="24814"/>
                  <a:pt x="10861" y="22800"/>
                </a:cubicBezTo>
                <a:cubicBezTo>
                  <a:pt x="11148" y="20642"/>
                  <a:pt x="11717" y="18486"/>
                  <a:pt x="11935" y="16319"/>
                </a:cubicBezTo>
                <a:cubicBezTo>
                  <a:pt x="14570" y="16042"/>
                  <a:pt x="17185" y="15652"/>
                  <a:pt x="19712" y="15320"/>
                </a:cubicBezTo>
                <a:cubicBezTo>
                  <a:pt x="20602" y="15204"/>
                  <a:pt x="21612" y="15215"/>
                  <a:pt x="22318" y="14591"/>
                </a:cubicBezTo>
                <a:cubicBezTo>
                  <a:pt x="23239" y="13777"/>
                  <a:pt x="23839" y="12448"/>
                  <a:pt x="24543" y="11446"/>
                </a:cubicBezTo>
                <a:cubicBezTo>
                  <a:pt x="25149" y="10585"/>
                  <a:pt x="25769" y="9736"/>
                  <a:pt x="26395" y="8892"/>
                </a:cubicBezTo>
                <a:close/>
                <a:moveTo>
                  <a:pt x="11565" y="16355"/>
                </a:moveTo>
                <a:cubicBezTo>
                  <a:pt x="10848" y="18447"/>
                  <a:pt x="10590" y="20799"/>
                  <a:pt x="10286" y="22960"/>
                </a:cubicBezTo>
                <a:cubicBezTo>
                  <a:pt x="10010" y="24932"/>
                  <a:pt x="9540" y="27177"/>
                  <a:pt x="9673" y="29206"/>
                </a:cubicBezTo>
                <a:cubicBezTo>
                  <a:pt x="8215" y="27203"/>
                  <a:pt x="6825" y="25154"/>
                  <a:pt x="5529" y="23041"/>
                </a:cubicBezTo>
                <a:cubicBezTo>
                  <a:pt x="4815" y="21877"/>
                  <a:pt x="4127" y="20697"/>
                  <a:pt x="3466" y="19503"/>
                </a:cubicBezTo>
                <a:cubicBezTo>
                  <a:pt x="3136" y="18907"/>
                  <a:pt x="2811" y="18305"/>
                  <a:pt x="2495" y="17701"/>
                </a:cubicBezTo>
                <a:cubicBezTo>
                  <a:pt x="2372" y="17469"/>
                  <a:pt x="2008" y="16935"/>
                  <a:pt x="1782" y="16461"/>
                </a:cubicBezTo>
                <a:lnTo>
                  <a:pt x="1782" y="16461"/>
                </a:lnTo>
                <a:cubicBezTo>
                  <a:pt x="3104" y="16615"/>
                  <a:pt x="4445" y="16680"/>
                  <a:pt x="5796" y="16680"/>
                </a:cubicBezTo>
                <a:cubicBezTo>
                  <a:pt x="7709" y="16680"/>
                  <a:pt x="9641" y="16549"/>
                  <a:pt x="11565" y="16355"/>
                </a:cubicBezTo>
                <a:close/>
                <a:moveTo>
                  <a:pt x="29638" y="1"/>
                </a:moveTo>
                <a:cubicBezTo>
                  <a:pt x="29542" y="1"/>
                  <a:pt x="29444" y="23"/>
                  <a:pt x="29354" y="67"/>
                </a:cubicBezTo>
                <a:cubicBezTo>
                  <a:pt x="19808" y="4672"/>
                  <a:pt x="10218" y="9366"/>
                  <a:pt x="1071" y="14724"/>
                </a:cubicBezTo>
                <a:cubicBezTo>
                  <a:pt x="965" y="14785"/>
                  <a:pt x="908" y="14870"/>
                  <a:pt x="886" y="14959"/>
                </a:cubicBezTo>
                <a:cubicBezTo>
                  <a:pt x="700" y="14987"/>
                  <a:pt x="517" y="15082"/>
                  <a:pt x="443" y="15256"/>
                </a:cubicBezTo>
                <a:cubicBezTo>
                  <a:pt x="1" y="16298"/>
                  <a:pt x="752" y="17207"/>
                  <a:pt x="1237" y="18139"/>
                </a:cubicBezTo>
                <a:cubicBezTo>
                  <a:pt x="1987" y="19577"/>
                  <a:pt x="2773" y="20994"/>
                  <a:pt x="3599" y="22390"/>
                </a:cubicBezTo>
                <a:cubicBezTo>
                  <a:pt x="5248" y="25185"/>
                  <a:pt x="7051" y="27880"/>
                  <a:pt x="8980" y="30488"/>
                </a:cubicBezTo>
                <a:cubicBezTo>
                  <a:pt x="9128" y="30689"/>
                  <a:pt x="9332" y="30810"/>
                  <a:pt x="9556" y="30810"/>
                </a:cubicBezTo>
                <a:cubicBezTo>
                  <a:pt x="9661" y="30810"/>
                  <a:pt x="9771" y="30783"/>
                  <a:pt x="9882" y="30724"/>
                </a:cubicBezTo>
                <a:lnTo>
                  <a:pt x="33215" y="18348"/>
                </a:lnTo>
                <a:cubicBezTo>
                  <a:pt x="34116" y="17871"/>
                  <a:pt x="35016" y="17394"/>
                  <a:pt x="35917" y="16917"/>
                </a:cubicBezTo>
                <a:cubicBezTo>
                  <a:pt x="36568" y="16569"/>
                  <a:pt x="37474" y="16245"/>
                  <a:pt x="37968" y="15675"/>
                </a:cubicBezTo>
                <a:cubicBezTo>
                  <a:pt x="39019" y="14464"/>
                  <a:pt x="37236" y="12516"/>
                  <a:pt x="36631" y="11474"/>
                </a:cubicBezTo>
                <a:cubicBezTo>
                  <a:pt x="34460" y="7732"/>
                  <a:pt x="32244" y="4018"/>
                  <a:pt x="30100" y="262"/>
                </a:cubicBezTo>
                <a:cubicBezTo>
                  <a:pt x="29998" y="84"/>
                  <a:pt x="29822" y="1"/>
                  <a:pt x="296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1"/>
          <p:cNvSpPr txBox="1">
            <a:spLocks noGrp="1"/>
          </p:cNvSpPr>
          <p:nvPr>
            <p:ph type="title"/>
          </p:nvPr>
        </p:nvSpPr>
        <p:spPr>
          <a:xfrm>
            <a:off x="806168" y="1845572"/>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Path</a:t>
            </a:r>
          </a:p>
        </p:txBody>
      </p:sp>
      <p:sp>
        <p:nvSpPr>
          <p:cNvPr id="198" name="Google Shape;198;p31"/>
          <p:cNvSpPr txBox="1">
            <a:spLocks noGrp="1"/>
          </p:cNvSpPr>
          <p:nvPr>
            <p:ph type="subTitle" idx="1"/>
          </p:nvPr>
        </p:nvSpPr>
        <p:spPr>
          <a:xfrm>
            <a:off x="633818" y="2242478"/>
            <a:ext cx="3438673"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100" dirty="0"/>
              <a:t>Think of someone walking from node to node along the edges that connect them. The resulting sequence of nodes is called a path.</a:t>
            </a:r>
          </a:p>
        </p:txBody>
      </p:sp>
      <p:sp>
        <p:nvSpPr>
          <p:cNvPr id="26" name="Google Shape;197;p31">
            <a:extLst>
              <a:ext uri="{FF2B5EF4-FFF2-40B4-BE49-F238E27FC236}">
                <a16:creationId xmlns:a16="http://schemas.microsoft.com/office/drawing/2014/main" id="{60F00A77-6FA6-4E01-A8B6-282F28FA4B28}"/>
              </a:ext>
            </a:extLst>
          </p:cNvPr>
          <p:cNvSpPr txBox="1">
            <a:spLocks/>
          </p:cNvSpPr>
          <p:nvPr/>
        </p:nvSpPr>
        <p:spPr>
          <a:xfrm>
            <a:off x="5048115" y="1858718"/>
            <a:ext cx="29178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en-US" dirty="0"/>
              <a:t>Root</a:t>
            </a:r>
          </a:p>
        </p:txBody>
      </p:sp>
      <p:sp>
        <p:nvSpPr>
          <p:cNvPr id="27" name="Google Shape;198;p31">
            <a:extLst>
              <a:ext uri="{FF2B5EF4-FFF2-40B4-BE49-F238E27FC236}">
                <a16:creationId xmlns:a16="http://schemas.microsoft.com/office/drawing/2014/main" id="{643F6010-33C2-4EA7-9F1B-C4C559B45A33}"/>
              </a:ext>
            </a:extLst>
          </p:cNvPr>
          <p:cNvSpPr txBox="1">
            <a:spLocks/>
          </p:cNvSpPr>
          <p:nvPr/>
        </p:nvSpPr>
        <p:spPr>
          <a:xfrm>
            <a:off x="4996052" y="2255624"/>
            <a:ext cx="3318386" cy="71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1pPr>
            <a:lvl2pPr marL="914400" marR="0" lvl="1"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2pPr>
            <a:lvl3pPr marL="1371600" marR="0" lvl="2"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3pPr>
            <a:lvl4pPr marL="1828800" marR="0" lvl="3"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4pPr>
            <a:lvl5pPr marL="2286000" marR="0" lvl="4"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5pPr>
            <a:lvl6pPr marL="2743200" marR="0" lvl="5"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6pPr>
            <a:lvl7pPr marL="3200400" marR="0" lvl="6"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7pPr>
            <a:lvl8pPr marL="3657600" marR="0" lvl="7"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8pPr>
            <a:lvl9pPr marL="4114800" marR="0" lvl="8"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9pPr>
          </a:lstStyle>
          <a:p>
            <a:pPr marL="0" indent="0"/>
            <a:r>
              <a:rPr lang="en-US" sz="1100" dirty="0"/>
              <a:t>The node at the top of the tree is called the root. There is only one root in a tree. For a collection of nodes and edges to be defined as a tree, there must be one (and only one!) path from the root to any other node.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idx="8"/>
          </p:nvPr>
        </p:nvSpPr>
        <p:spPr>
          <a:xfrm>
            <a:off x="493506" y="711175"/>
            <a:ext cx="323046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Tree Terminology</a:t>
            </a:r>
          </a:p>
        </p:txBody>
      </p:sp>
      <p:sp>
        <p:nvSpPr>
          <p:cNvPr id="195" name="Google Shape;195;p31"/>
          <p:cNvSpPr/>
          <p:nvPr/>
        </p:nvSpPr>
        <p:spPr>
          <a:xfrm>
            <a:off x="7639575" y="711175"/>
            <a:ext cx="674863" cy="488424"/>
          </a:xfrm>
          <a:custGeom>
            <a:avLst/>
            <a:gdLst/>
            <a:ahLst/>
            <a:cxnLst/>
            <a:rect l="l" t="t" r="r" b="b"/>
            <a:pathLst>
              <a:path w="35347" h="25582" extrusionOk="0">
                <a:moveTo>
                  <a:pt x="32086" y="1331"/>
                </a:moveTo>
                <a:cubicBezTo>
                  <a:pt x="32060" y="1725"/>
                  <a:pt x="32014" y="2116"/>
                  <a:pt x="31884" y="2511"/>
                </a:cubicBezTo>
                <a:cubicBezTo>
                  <a:pt x="31710" y="3037"/>
                  <a:pt x="31422" y="3448"/>
                  <a:pt x="31140" y="3873"/>
                </a:cubicBezTo>
                <a:lnTo>
                  <a:pt x="31140" y="3875"/>
                </a:lnTo>
                <a:cubicBezTo>
                  <a:pt x="31045" y="3802"/>
                  <a:pt x="30957" y="3717"/>
                  <a:pt x="30879" y="3626"/>
                </a:cubicBezTo>
                <a:cubicBezTo>
                  <a:pt x="30960" y="3537"/>
                  <a:pt x="31004" y="3420"/>
                  <a:pt x="31004" y="3300"/>
                </a:cubicBezTo>
                <a:cubicBezTo>
                  <a:pt x="31012" y="2456"/>
                  <a:pt x="31170" y="1364"/>
                  <a:pt x="32086" y="1331"/>
                </a:cubicBezTo>
                <a:close/>
                <a:moveTo>
                  <a:pt x="33448" y="2151"/>
                </a:moveTo>
                <a:lnTo>
                  <a:pt x="33448" y="2151"/>
                </a:lnTo>
                <a:cubicBezTo>
                  <a:pt x="33674" y="2664"/>
                  <a:pt x="33586" y="3318"/>
                  <a:pt x="33167" y="3795"/>
                </a:cubicBezTo>
                <a:cubicBezTo>
                  <a:pt x="33046" y="3933"/>
                  <a:pt x="32896" y="4044"/>
                  <a:pt x="32729" y="4118"/>
                </a:cubicBezTo>
                <a:cubicBezTo>
                  <a:pt x="33098" y="3528"/>
                  <a:pt x="33326" y="2819"/>
                  <a:pt x="33448" y="2151"/>
                </a:cubicBezTo>
                <a:close/>
                <a:moveTo>
                  <a:pt x="32524" y="1387"/>
                </a:moveTo>
                <a:cubicBezTo>
                  <a:pt x="32540" y="1390"/>
                  <a:pt x="32555" y="1392"/>
                  <a:pt x="32571" y="1397"/>
                </a:cubicBezTo>
                <a:cubicBezTo>
                  <a:pt x="32884" y="1486"/>
                  <a:pt x="33123" y="1661"/>
                  <a:pt x="33289" y="1878"/>
                </a:cubicBezTo>
                <a:cubicBezTo>
                  <a:pt x="33081" y="2445"/>
                  <a:pt x="32804" y="2943"/>
                  <a:pt x="32503" y="3432"/>
                </a:cubicBezTo>
                <a:cubicBezTo>
                  <a:pt x="32416" y="3432"/>
                  <a:pt x="32336" y="3480"/>
                  <a:pt x="32295" y="3557"/>
                </a:cubicBezTo>
                <a:cubicBezTo>
                  <a:pt x="32169" y="3777"/>
                  <a:pt x="32049" y="4000"/>
                  <a:pt x="31925" y="4221"/>
                </a:cubicBezTo>
                <a:cubicBezTo>
                  <a:pt x="31817" y="4204"/>
                  <a:pt x="31712" y="4175"/>
                  <a:pt x="31611" y="4138"/>
                </a:cubicBezTo>
                <a:cubicBezTo>
                  <a:pt x="32171" y="3413"/>
                  <a:pt x="32513" y="2340"/>
                  <a:pt x="32524" y="1387"/>
                </a:cubicBezTo>
                <a:close/>
                <a:moveTo>
                  <a:pt x="9407" y="5159"/>
                </a:moveTo>
                <a:cubicBezTo>
                  <a:pt x="10187" y="6580"/>
                  <a:pt x="10603" y="7882"/>
                  <a:pt x="10645" y="9398"/>
                </a:cubicBezTo>
                <a:cubicBezTo>
                  <a:pt x="10279" y="9775"/>
                  <a:pt x="9939" y="10175"/>
                  <a:pt x="9627" y="10596"/>
                </a:cubicBezTo>
                <a:lnTo>
                  <a:pt x="9626" y="10596"/>
                </a:lnTo>
                <a:cubicBezTo>
                  <a:pt x="9570" y="10548"/>
                  <a:pt x="9511" y="10506"/>
                  <a:pt x="9457" y="10455"/>
                </a:cubicBezTo>
                <a:cubicBezTo>
                  <a:pt x="8958" y="9988"/>
                  <a:pt x="8631" y="9478"/>
                  <a:pt x="8445" y="8950"/>
                </a:cubicBezTo>
                <a:cubicBezTo>
                  <a:pt x="8239" y="7563"/>
                  <a:pt x="8522" y="6110"/>
                  <a:pt x="9407" y="5159"/>
                </a:cubicBezTo>
                <a:close/>
                <a:moveTo>
                  <a:pt x="14031" y="4662"/>
                </a:moveTo>
                <a:lnTo>
                  <a:pt x="14031" y="4662"/>
                </a:lnTo>
                <a:cubicBezTo>
                  <a:pt x="15409" y="5488"/>
                  <a:pt x="16195" y="7133"/>
                  <a:pt x="15661" y="8877"/>
                </a:cubicBezTo>
                <a:lnTo>
                  <a:pt x="15659" y="8877"/>
                </a:lnTo>
                <a:cubicBezTo>
                  <a:pt x="15430" y="9624"/>
                  <a:pt x="15018" y="10217"/>
                  <a:pt x="14503" y="10657"/>
                </a:cubicBezTo>
                <a:cubicBezTo>
                  <a:pt x="15162" y="8733"/>
                  <a:pt x="15142" y="6226"/>
                  <a:pt x="14031" y="4662"/>
                </a:cubicBezTo>
                <a:close/>
                <a:moveTo>
                  <a:pt x="12255" y="4111"/>
                </a:moveTo>
                <a:lnTo>
                  <a:pt x="12255" y="4111"/>
                </a:lnTo>
                <a:cubicBezTo>
                  <a:pt x="12734" y="4141"/>
                  <a:pt x="13204" y="4257"/>
                  <a:pt x="13641" y="4456"/>
                </a:cubicBezTo>
                <a:cubicBezTo>
                  <a:pt x="13946" y="5706"/>
                  <a:pt x="14445" y="6784"/>
                  <a:pt x="14438" y="8128"/>
                </a:cubicBezTo>
                <a:cubicBezTo>
                  <a:pt x="14433" y="9221"/>
                  <a:pt x="14153" y="10170"/>
                  <a:pt x="13778" y="11136"/>
                </a:cubicBezTo>
                <a:lnTo>
                  <a:pt x="13777" y="11136"/>
                </a:lnTo>
                <a:cubicBezTo>
                  <a:pt x="13579" y="11237"/>
                  <a:pt x="13371" y="11320"/>
                  <a:pt x="13158" y="11383"/>
                </a:cubicBezTo>
                <a:cubicBezTo>
                  <a:pt x="13508" y="10596"/>
                  <a:pt x="13480" y="9389"/>
                  <a:pt x="13480" y="8738"/>
                </a:cubicBezTo>
                <a:cubicBezTo>
                  <a:pt x="13481" y="7105"/>
                  <a:pt x="13101" y="5512"/>
                  <a:pt x="12255" y="4111"/>
                </a:cubicBezTo>
                <a:close/>
                <a:moveTo>
                  <a:pt x="10574" y="4370"/>
                </a:moveTo>
                <a:cubicBezTo>
                  <a:pt x="11032" y="5394"/>
                  <a:pt x="11434" y="6425"/>
                  <a:pt x="11654" y="7535"/>
                </a:cubicBezTo>
                <a:cubicBezTo>
                  <a:pt x="11731" y="7917"/>
                  <a:pt x="12221" y="10964"/>
                  <a:pt x="11674" y="11503"/>
                </a:cubicBezTo>
                <a:cubicBezTo>
                  <a:pt x="11256" y="11451"/>
                  <a:pt x="10850" y="11331"/>
                  <a:pt x="10471" y="11147"/>
                </a:cubicBezTo>
                <a:cubicBezTo>
                  <a:pt x="10513" y="11076"/>
                  <a:pt x="10551" y="11003"/>
                  <a:pt x="10593" y="10933"/>
                </a:cubicBezTo>
                <a:cubicBezTo>
                  <a:pt x="10613" y="10979"/>
                  <a:pt x="10666" y="11005"/>
                  <a:pt x="10718" y="11005"/>
                </a:cubicBezTo>
                <a:cubicBezTo>
                  <a:pt x="10776" y="11005"/>
                  <a:pt x="10833" y="10974"/>
                  <a:pt x="10849" y="10909"/>
                </a:cubicBezTo>
                <a:cubicBezTo>
                  <a:pt x="10901" y="10692"/>
                  <a:pt x="10939" y="10473"/>
                  <a:pt x="10966" y="10253"/>
                </a:cubicBezTo>
                <a:cubicBezTo>
                  <a:pt x="11086" y="10020"/>
                  <a:pt x="11201" y="9789"/>
                  <a:pt x="11304" y="9554"/>
                </a:cubicBezTo>
                <a:cubicBezTo>
                  <a:pt x="11399" y="9337"/>
                  <a:pt x="11239" y="9113"/>
                  <a:pt x="11045" y="9113"/>
                </a:cubicBezTo>
                <a:cubicBezTo>
                  <a:pt x="11035" y="9113"/>
                  <a:pt x="11025" y="9113"/>
                  <a:pt x="11016" y="9115"/>
                </a:cubicBezTo>
                <a:cubicBezTo>
                  <a:pt x="10959" y="7642"/>
                  <a:pt x="10449" y="6136"/>
                  <a:pt x="9532" y="5039"/>
                </a:cubicBezTo>
                <a:cubicBezTo>
                  <a:pt x="9833" y="4751"/>
                  <a:pt x="10187" y="4523"/>
                  <a:pt x="10574" y="4370"/>
                </a:cubicBezTo>
                <a:close/>
                <a:moveTo>
                  <a:pt x="12017" y="4105"/>
                </a:moveTo>
                <a:cubicBezTo>
                  <a:pt x="12017" y="4115"/>
                  <a:pt x="12020" y="4125"/>
                  <a:pt x="12023" y="4134"/>
                </a:cubicBezTo>
                <a:cubicBezTo>
                  <a:pt x="12459" y="5230"/>
                  <a:pt x="12828" y="6325"/>
                  <a:pt x="12963" y="7502"/>
                </a:cubicBezTo>
                <a:cubicBezTo>
                  <a:pt x="13008" y="7897"/>
                  <a:pt x="13034" y="10935"/>
                  <a:pt x="12588" y="11499"/>
                </a:cubicBezTo>
                <a:lnTo>
                  <a:pt x="12586" y="11499"/>
                </a:lnTo>
                <a:cubicBezTo>
                  <a:pt x="12468" y="11513"/>
                  <a:pt x="12349" y="11524"/>
                  <a:pt x="12230" y="11527"/>
                </a:cubicBezTo>
                <a:cubicBezTo>
                  <a:pt x="12489" y="10895"/>
                  <a:pt x="12334" y="9818"/>
                  <a:pt x="12313" y="9394"/>
                </a:cubicBezTo>
                <a:cubicBezTo>
                  <a:pt x="12224" y="7606"/>
                  <a:pt x="11756" y="5824"/>
                  <a:pt x="10864" y="4269"/>
                </a:cubicBezTo>
                <a:cubicBezTo>
                  <a:pt x="11115" y="4193"/>
                  <a:pt x="11375" y="4142"/>
                  <a:pt x="11637" y="4117"/>
                </a:cubicBezTo>
                <a:cubicBezTo>
                  <a:pt x="11766" y="4105"/>
                  <a:pt x="11891" y="4105"/>
                  <a:pt x="12017" y="4105"/>
                </a:cubicBezTo>
                <a:close/>
                <a:moveTo>
                  <a:pt x="25741" y="16319"/>
                </a:moveTo>
                <a:cubicBezTo>
                  <a:pt x="26033" y="16319"/>
                  <a:pt x="26325" y="16353"/>
                  <a:pt x="26608" y="16425"/>
                </a:cubicBezTo>
                <a:cubicBezTo>
                  <a:pt x="26757" y="16463"/>
                  <a:pt x="26903" y="16513"/>
                  <a:pt x="27044" y="16574"/>
                </a:cubicBezTo>
                <a:cubicBezTo>
                  <a:pt x="28124" y="17916"/>
                  <a:pt x="26413" y="20133"/>
                  <a:pt x="25036" y="20799"/>
                </a:cubicBezTo>
                <a:cubicBezTo>
                  <a:pt x="24616" y="21002"/>
                  <a:pt x="24156" y="21111"/>
                  <a:pt x="23701" y="21111"/>
                </a:cubicBezTo>
                <a:cubicBezTo>
                  <a:pt x="23171" y="21111"/>
                  <a:pt x="22648" y="20963"/>
                  <a:pt x="22200" y="20645"/>
                </a:cubicBezTo>
                <a:cubicBezTo>
                  <a:pt x="21851" y="20398"/>
                  <a:pt x="21618" y="20077"/>
                  <a:pt x="21492" y="19731"/>
                </a:cubicBezTo>
                <a:cubicBezTo>
                  <a:pt x="21476" y="19396"/>
                  <a:pt x="21503" y="19061"/>
                  <a:pt x="21572" y="18733"/>
                </a:cubicBezTo>
                <a:cubicBezTo>
                  <a:pt x="21617" y="18728"/>
                  <a:pt x="21662" y="18715"/>
                  <a:pt x="21702" y="18694"/>
                </a:cubicBezTo>
                <a:cubicBezTo>
                  <a:pt x="22164" y="18440"/>
                  <a:pt x="22446" y="18033"/>
                  <a:pt x="22768" y="17649"/>
                </a:cubicBezTo>
                <a:cubicBezTo>
                  <a:pt x="23416" y="18221"/>
                  <a:pt x="24064" y="18791"/>
                  <a:pt x="24704" y="19359"/>
                </a:cubicBezTo>
                <a:cubicBezTo>
                  <a:pt x="24857" y="19496"/>
                  <a:pt x="25027" y="19554"/>
                  <a:pt x="25190" y="19554"/>
                </a:cubicBezTo>
                <a:cubicBezTo>
                  <a:pt x="25767" y="19554"/>
                  <a:pt x="26268" y="18836"/>
                  <a:pt x="25734" y="18328"/>
                </a:cubicBezTo>
                <a:cubicBezTo>
                  <a:pt x="25166" y="17789"/>
                  <a:pt x="24597" y="17246"/>
                  <a:pt x="24027" y="16699"/>
                </a:cubicBezTo>
                <a:cubicBezTo>
                  <a:pt x="24563" y="16456"/>
                  <a:pt x="25153" y="16319"/>
                  <a:pt x="25741" y="16319"/>
                </a:cubicBezTo>
                <a:close/>
                <a:moveTo>
                  <a:pt x="27895" y="17098"/>
                </a:moveTo>
                <a:cubicBezTo>
                  <a:pt x="28227" y="17383"/>
                  <a:pt x="28508" y="17724"/>
                  <a:pt x="28723" y="18106"/>
                </a:cubicBezTo>
                <a:cubicBezTo>
                  <a:pt x="28458" y="19552"/>
                  <a:pt x="27924" y="20816"/>
                  <a:pt x="26655" y="21718"/>
                </a:cubicBezTo>
                <a:cubicBezTo>
                  <a:pt x="25884" y="22266"/>
                  <a:pt x="25025" y="22582"/>
                  <a:pt x="24076" y="22639"/>
                </a:cubicBezTo>
                <a:cubicBezTo>
                  <a:pt x="24017" y="22642"/>
                  <a:pt x="23950" y="22644"/>
                  <a:pt x="23875" y="22644"/>
                </a:cubicBezTo>
                <a:cubicBezTo>
                  <a:pt x="23571" y="22644"/>
                  <a:pt x="23149" y="22613"/>
                  <a:pt x="22716" y="22526"/>
                </a:cubicBezTo>
                <a:cubicBezTo>
                  <a:pt x="22231" y="22010"/>
                  <a:pt x="21886" y="21431"/>
                  <a:pt x="21690" y="20830"/>
                </a:cubicBezTo>
                <a:lnTo>
                  <a:pt x="21690" y="20830"/>
                </a:lnTo>
                <a:cubicBezTo>
                  <a:pt x="22236" y="21348"/>
                  <a:pt x="23021" y="21617"/>
                  <a:pt x="23774" y="21617"/>
                </a:cubicBezTo>
                <a:cubicBezTo>
                  <a:pt x="23888" y="21617"/>
                  <a:pt x="24001" y="21610"/>
                  <a:pt x="24112" y="21598"/>
                </a:cubicBezTo>
                <a:cubicBezTo>
                  <a:pt x="25882" y="21400"/>
                  <a:pt x="28208" y="18898"/>
                  <a:pt x="27895" y="17098"/>
                </a:cubicBezTo>
                <a:close/>
                <a:moveTo>
                  <a:pt x="4132" y="21347"/>
                </a:moveTo>
                <a:lnTo>
                  <a:pt x="4132" y="21347"/>
                </a:lnTo>
                <a:cubicBezTo>
                  <a:pt x="4450" y="21713"/>
                  <a:pt x="4661" y="22218"/>
                  <a:pt x="4648" y="22688"/>
                </a:cubicBezTo>
                <a:cubicBezTo>
                  <a:pt x="4476" y="22239"/>
                  <a:pt x="4293" y="21798"/>
                  <a:pt x="4132" y="21347"/>
                </a:cubicBezTo>
                <a:close/>
                <a:moveTo>
                  <a:pt x="2094" y="22062"/>
                </a:moveTo>
                <a:cubicBezTo>
                  <a:pt x="2166" y="22580"/>
                  <a:pt x="2241" y="23104"/>
                  <a:pt x="2354" y="23612"/>
                </a:cubicBezTo>
                <a:cubicBezTo>
                  <a:pt x="2209" y="23502"/>
                  <a:pt x="2084" y="23367"/>
                  <a:pt x="1985" y="23213"/>
                </a:cubicBezTo>
                <a:cubicBezTo>
                  <a:pt x="1858" y="23010"/>
                  <a:pt x="1761" y="22723"/>
                  <a:pt x="1712" y="22412"/>
                </a:cubicBezTo>
                <a:cubicBezTo>
                  <a:pt x="1816" y="22378"/>
                  <a:pt x="1908" y="22323"/>
                  <a:pt x="1972" y="22248"/>
                </a:cubicBezTo>
                <a:cubicBezTo>
                  <a:pt x="2019" y="22190"/>
                  <a:pt x="2059" y="22128"/>
                  <a:pt x="2094" y="22062"/>
                </a:cubicBezTo>
                <a:close/>
                <a:moveTo>
                  <a:pt x="29081" y="18929"/>
                </a:moveTo>
                <a:lnTo>
                  <a:pt x="29081" y="18930"/>
                </a:lnTo>
                <a:cubicBezTo>
                  <a:pt x="29363" y="19840"/>
                  <a:pt x="29336" y="20848"/>
                  <a:pt x="28921" y="21706"/>
                </a:cubicBezTo>
                <a:cubicBezTo>
                  <a:pt x="28288" y="23017"/>
                  <a:pt x="26888" y="23727"/>
                  <a:pt x="25492" y="23727"/>
                </a:cubicBezTo>
                <a:cubicBezTo>
                  <a:pt x="24668" y="23727"/>
                  <a:pt x="23846" y="23480"/>
                  <a:pt x="23183" y="22963"/>
                </a:cubicBezTo>
                <a:lnTo>
                  <a:pt x="23183" y="22963"/>
                </a:lnTo>
                <a:cubicBezTo>
                  <a:pt x="23552" y="23022"/>
                  <a:pt x="23905" y="23051"/>
                  <a:pt x="24198" y="23051"/>
                </a:cubicBezTo>
                <a:cubicBezTo>
                  <a:pt x="24347" y="23051"/>
                  <a:pt x="24480" y="23044"/>
                  <a:pt x="24592" y="23029"/>
                </a:cubicBezTo>
                <a:cubicBezTo>
                  <a:pt x="26773" y="22734"/>
                  <a:pt x="28616" y="21040"/>
                  <a:pt x="29081" y="18929"/>
                </a:cubicBezTo>
                <a:close/>
                <a:moveTo>
                  <a:pt x="3135" y="20825"/>
                </a:moveTo>
                <a:cubicBezTo>
                  <a:pt x="3311" y="20825"/>
                  <a:pt x="3491" y="20875"/>
                  <a:pt x="3656" y="20961"/>
                </a:cubicBezTo>
                <a:cubicBezTo>
                  <a:pt x="3657" y="20976"/>
                  <a:pt x="3661" y="20993"/>
                  <a:pt x="3663" y="21009"/>
                </a:cubicBezTo>
                <a:cubicBezTo>
                  <a:pt x="3656" y="21030"/>
                  <a:pt x="3647" y="21051"/>
                  <a:pt x="3641" y="21072"/>
                </a:cubicBezTo>
                <a:cubicBezTo>
                  <a:pt x="3621" y="21137"/>
                  <a:pt x="3651" y="21196"/>
                  <a:pt x="3697" y="21233"/>
                </a:cubicBezTo>
                <a:cubicBezTo>
                  <a:pt x="3821" y="21992"/>
                  <a:pt x="4033" y="22752"/>
                  <a:pt x="4420" y="23383"/>
                </a:cubicBezTo>
                <a:cubicBezTo>
                  <a:pt x="4377" y="23441"/>
                  <a:pt x="4329" y="23494"/>
                  <a:pt x="4277" y="23544"/>
                </a:cubicBezTo>
                <a:lnTo>
                  <a:pt x="4276" y="23544"/>
                </a:lnTo>
                <a:cubicBezTo>
                  <a:pt x="4147" y="23661"/>
                  <a:pt x="3999" y="23755"/>
                  <a:pt x="3838" y="23822"/>
                </a:cubicBezTo>
                <a:cubicBezTo>
                  <a:pt x="3681" y="23377"/>
                  <a:pt x="3463" y="22951"/>
                  <a:pt x="3325" y="22494"/>
                </a:cubicBezTo>
                <a:cubicBezTo>
                  <a:pt x="3162" y="21951"/>
                  <a:pt x="3080" y="21394"/>
                  <a:pt x="2974" y="20839"/>
                </a:cubicBezTo>
                <a:cubicBezTo>
                  <a:pt x="3027" y="20830"/>
                  <a:pt x="3081" y="20825"/>
                  <a:pt x="3135" y="20825"/>
                </a:cubicBezTo>
                <a:close/>
                <a:moveTo>
                  <a:pt x="2618" y="21003"/>
                </a:moveTo>
                <a:lnTo>
                  <a:pt x="2618" y="21003"/>
                </a:lnTo>
                <a:cubicBezTo>
                  <a:pt x="2610" y="21938"/>
                  <a:pt x="2832" y="23104"/>
                  <a:pt x="3325" y="23932"/>
                </a:cubicBezTo>
                <a:cubicBezTo>
                  <a:pt x="3310" y="23933"/>
                  <a:pt x="3294" y="23933"/>
                  <a:pt x="3278" y="23933"/>
                </a:cubicBezTo>
                <a:cubicBezTo>
                  <a:pt x="3134" y="23933"/>
                  <a:pt x="2991" y="23913"/>
                  <a:pt x="2853" y="23872"/>
                </a:cubicBezTo>
                <a:cubicBezTo>
                  <a:pt x="2744" y="23067"/>
                  <a:pt x="2516" y="22253"/>
                  <a:pt x="2314" y="21464"/>
                </a:cubicBezTo>
                <a:cubicBezTo>
                  <a:pt x="2350" y="21361"/>
                  <a:pt x="2400" y="21260"/>
                  <a:pt x="2462" y="21169"/>
                </a:cubicBezTo>
                <a:cubicBezTo>
                  <a:pt x="2506" y="21107"/>
                  <a:pt x="2558" y="21051"/>
                  <a:pt x="2618" y="21003"/>
                </a:cubicBezTo>
                <a:close/>
                <a:moveTo>
                  <a:pt x="32126" y="1"/>
                </a:moveTo>
                <a:cubicBezTo>
                  <a:pt x="31323" y="1"/>
                  <a:pt x="30546" y="369"/>
                  <a:pt x="30075" y="1049"/>
                </a:cubicBezTo>
                <a:cubicBezTo>
                  <a:pt x="29894" y="1313"/>
                  <a:pt x="29762" y="1606"/>
                  <a:pt x="29685" y="1915"/>
                </a:cubicBezTo>
                <a:cubicBezTo>
                  <a:pt x="29466" y="2456"/>
                  <a:pt x="29447" y="3070"/>
                  <a:pt x="29668" y="3630"/>
                </a:cubicBezTo>
                <a:cubicBezTo>
                  <a:pt x="29978" y="4415"/>
                  <a:pt x="30637" y="4960"/>
                  <a:pt x="31382" y="5195"/>
                </a:cubicBezTo>
                <a:cubicBezTo>
                  <a:pt x="30546" y="6732"/>
                  <a:pt x="29755" y="8294"/>
                  <a:pt x="29009" y="9878"/>
                </a:cubicBezTo>
                <a:cubicBezTo>
                  <a:pt x="28225" y="11546"/>
                  <a:pt x="27286" y="13351"/>
                  <a:pt x="26770" y="15158"/>
                </a:cubicBezTo>
                <a:cubicBezTo>
                  <a:pt x="26431" y="15086"/>
                  <a:pt x="26084" y="15051"/>
                  <a:pt x="25737" y="15051"/>
                </a:cubicBezTo>
                <a:cubicBezTo>
                  <a:pt x="25060" y="15051"/>
                  <a:pt x="24380" y="15183"/>
                  <a:pt x="23751" y="15430"/>
                </a:cubicBezTo>
                <a:cubicBezTo>
                  <a:pt x="23471" y="15476"/>
                  <a:pt x="23197" y="15553"/>
                  <a:pt x="22935" y="15660"/>
                </a:cubicBezTo>
                <a:cubicBezTo>
                  <a:pt x="20905" y="13737"/>
                  <a:pt x="18830" y="11837"/>
                  <a:pt x="16633" y="10158"/>
                </a:cubicBezTo>
                <a:cubicBezTo>
                  <a:pt x="16751" y="9931"/>
                  <a:pt x="16852" y="9696"/>
                  <a:pt x="16936" y="9456"/>
                </a:cubicBezTo>
                <a:cubicBezTo>
                  <a:pt x="18116" y="5988"/>
                  <a:pt x="15474" y="2670"/>
                  <a:pt x="12008" y="2670"/>
                </a:cubicBezTo>
                <a:cubicBezTo>
                  <a:pt x="11713" y="2670"/>
                  <a:pt x="11413" y="2694"/>
                  <a:pt x="11109" y="2743"/>
                </a:cubicBezTo>
                <a:cubicBezTo>
                  <a:pt x="7757" y="3292"/>
                  <a:pt x="5808" y="7543"/>
                  <a:pt x="7713" y="10306"/>
                </a:cubicBezTo>
                <a:cubicBezTo>
                  <a:pt x="7866" y="10571"/>
                  <a:pt x="8043" y="10822"/>
                  <a:pt x="8242" y="11054"/>
                </a:cubicBezTo>
                <a:cubicBezTo>
                  <a:pt x="8437" y="11277"/>
                  <a:pt x="8650" y="11485"/>
                  <a:pt x="8877" y="11673"/>
                </a:cubicBezTo>
                <a:cubicBezTo>
                  <a:pt x="8169" y="12760"/>
                  <a:pt x="7533" y="13914"/>
                  <a:pt x="6898" y="14949"/>
                </a:cubicBezTo>
                <a:cubicBezTo>
                  <a:pt x="6032" y="16364"/>
                  <a:pt x="5044" y="17822"/>
                  <a:pt x="4317" y="19357"/>
                </a:cubicBezTo>
                <a:cubicBezTo>
                  <a:pt x="3940" y="19175"/>
                  <a:pt x="3537" y="19084"/>
                  <a:pt x="3136" y="19084"/>
                </a:cubicBezTo>
                <a:cubicBezTo>
                  <a:pt x="2551" y="19084"/>
                  <a:pt x="1971" y="19278"/>
                  <a:pt x="1493" y="19666"/>
                </a:cubicBezTo>
                <a:cubicBezTo>
                  <a:pt x="1421" y="19724"/>
                  <a:pt x="1353" y="19788"/>
                  <a:pt x="1288" y="19853"/>
                </a:cubicBezTo>
                <a:cubicBezTo>
                  <a:pt x="1005" y="19986"/>
                  <a:pt x="760" y="20189"/>
                  <a:pt x="578" y="20442"/>
                </a:cubicBezTo>
                <a:cubicBezTo>
                  <a:pt x="3" y="21266"/>
                  <a:pt x="0" y="22476"/>
                  <a:pt x="318" y="23394"/>
                </a:cubicBezTo>
                <a:cubicBezTo>
                  <a:pt x="793" y="24766"/>
                  <a:pt x="2029" y="25582"/>
                  <a:pt x="3317" y="25582"/>
                </a:cubicBezTo>
                <a:cubicBezTo>
                  <a:pt x="3993" y="25582"/>
                  <a:pt x="4683" y="25357"/>
                  <a:pt x="5286" y="24870"/>
                </a:cubicBezTo>
                <a:cubicBezTo>
                  <a:pt x="6926" y="23545"/>
                  <a:pt x="6474" y="21038"/>
                  <a:pt x="4975" y="19786"/>
                </a:cubicBezTo>
                <a:cubicBezTo>
                  <a:pt x="5861" y="18451"/>
                  <a:pt x="6601" y="16991"/>
                  <a:pt x="7440" y="15647"/>
                </a:cubicBezTo>
                <a:cubicBezTo>
                  <a:pt x="8141" y="14525"/>
                  <a:pt x="8983" y="13408"/>
                  <a:pt x="9754" y="12263"/>
                </a:cubicBezTo>
                <a:cubicBezTo>
                  <a:pt x="10515" y="12669"/>
                  <a:pt x="11345" y="12866"/>
                  <a:pt x="12168" y="12866"/>
                </a:cubicBezTo>
                <a:cubicBezTo>
                  <a:pt x="13591" y="12866"/>
                  <a:pt x="14989" y="12276"/>
                  <a:pt x="15959" y="11158"/>
                </a:cubicBezTo>
                <a:cubicBezTo>
                  <a:pt x="17703" y="13071"/>
                  <a:pt x="19638" y="14863"/>
                  <a:pt x="21595" y="16608"/>
                </a:cubicBezTo>
                <a:cubicBezTo>
                  <a:pt x="20579" y="17737"/>
                  <a:pt x="20201" y="19474"/>
                  <a:pt x="20622" y="21087"/>
                </a:cubicBezTo>
                <a:cubicBezTo>
                  <a:pt x="20529" y="21504"/>
                  <a:pt x="20700" y="21849"/>
                  <a:pt x="21021" y="22127"/>
                </a:cubicBezTo>
                <a:cubicBezTo>
                  <a:pt x="21030" y="22145"/>
                  <a:pt x="21037" y="22162"/>
                  <a:pt x="21047" y="22181"/>
                </a:cubicBezTo>
                <a:cubicBezTo>
                  <a:pt x="21464" y="22969"/>
                  <a:pt x="22080" y="23635"/>
                  <a:pt x="22834" y="24112"/>
                </a:cubicBezTo>
                <a:cubicBezTo>
                  <a:pt x="23111" y="24337"/>
                  <a:pt x="23434" y="24500"/>
                  <a:pt x="23779" y="24592"/>
                </a:cubicBezTo>
                <a:cubicBezTo>
                  <a:pt x="24377" y="24820"/>
                  <a:pt x="25014" y="24938"/>
                  <a:pt x="25653" y="24938"/>
                </a:cubicBezTo>
                <a:cubicBezTo>
                  <a:pt x="26938" y="24938"/>
                  <a:pt x="28232" y="24460"/>
                  <a:pt x="29242" y="23441"/>
                </a:cubicBezTo>
                <a:cubicBezTo>
                  <a:pt x="31489" y="21171"/>
                  <a:pt x="30665" y="17008"/>
                  <a:pt x="27890" y="15554"/>
                </a:cubicBezTo>
                <a:cubicBezTo>
                  <a:pt x="27687" y="15450"/>
                  <a:pt x="27477" y="15363"/>
                  <a:pt x="27260" y="15293"/>
                </a:cubicBezTo>
                <a:cubicBezTo>
                  <a:pt x="28160" y="13554"/>
                  <a:pt x="28800" y="11634"/>
                  <a:pt x="29632" y="9868"/>
                </a:cubicBezTo>
                <a:cubicBezTo>
                  <a:pt x="30359" y="8325"/>
                  <a:pt x="31134" y="6808"/>
                  <a:pt x="31942" y="5308"/>
                </a:cubicBezTo>
                <a:cubicBezTo>
                  <a:pt x="32029" y="5316"/>
                  <a:pt x="32117" y="5321"/>
                  <a:pt x="32204" y="5321"/>
                </a:cubicBezTo>
                <a:cubicBezTo>
                  <a:pt x="32892" y="5321"/>
                  <a:pt x="33575" y="5053"/>
                  <a:pt x="34071" y="4464"/>
                </a:cubicBezTo>
                <a:cubicBezTo>
                  <a:pt x="35347" y="2948"/>
                  <a:pt x="34697" y="521"/>
                  <a:pt x="32711" y="67"/>
                </a:cubicBezTo>
                <a:cubicBezTo>
                  <a:pt x="32517" y="22"/>
                  <a:pt x="32320" y="1"/>
                  <a:pt x="32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1"/>
          <p:cNvSpPr/>
          <p:nvPr/>
        </p:nvSpPr>
        <p:spPr>
          <a:xfrm>
            <a:off x="7125750" y="544900"/>
            <a:ext cx="564034" cy="445373"/>
          </a:xfrm>
          <a:custGeom>
            <a:avLst/>
            <a:gdLst/>
            <a:ahLst/>
            <a:cxnLst/>
            <a:rect l="l" t="t" r="r" b="b"/>
            <a:pathLst>
              <a:path w="39020" h="30811" extrusionOk="0">
                <a:moveTo>
                  <a:pt x="30681" y="3474"/>
                </a:moveTo>
                <a:cubicBezTo>
                  <a:pt x="32090" y="5955"/>
                  <a:pt x="33478" y="8448"/>
                  <a:pt x="34883" y="10930"/>
                </a:cubicBezTo>
                <a:cubicBezTo>
                  <a:pt x="35369" y="11788"/>
                  <a:pt x="35855" y="12647"/>
                  <a:pt x="36340" y="13505"/>
                </a:cubicBezTo>
                <a:cubicBezTo>
                  <a:pt x="34784" y="12409"/>
                  <a:pt x="33095" y="11459"/>
                  <a:pt x="31412" y="10597"/>
                </a:cubicBezTo>
                <a:cubicBezTo>
                  <a:pt x="29978" y="9864"/>
                  <a:pt x="28301" y="8917"/>
                  <a:pt x="26670" y="8527"/>
                </a:cubicBezTo>
                <a:cubicBezTo>
                  <a:pt x="27959" y="6807"/>
                  <a:pt x="29296" y="5122"/>
                  <a:pt x="30681" y="3474"/>
                </a:cubicBezTo>
                <a:close/>
                <a:moveTo>
                  <a:pt x="29411" y="1254"/>
                </a:moveTo>
                <a:cubicBezTo>
                  <a:pt x="29708" y="1768"/>
                  <a:pt x="30001" y="2286"/>
                  <a:pt x="30296" y="2802"/>
                </a:cubicBezTo>
                <a:cubicBezTo>
                  <a:pt x="30250" y="2825"/>
                  <a:pt x="30209" y="2858"/>
                  <a:pt x="30176" y="2898"/>
                </a:cubicBezTo>
                <a:cubicBezTo>
                  <a:pt x="28464" y="4922"/>
                  <a:pt x="26824" y="7005"/>
                  <a:pt x="25256" y="9144"/>
                </a:cubicBezTo>
                <a:cubicBezTo>
                  <a:pt x="24435" y="10273"/>
                  <a:pt x="23639" y="11420"/>
                  <a:pt x="22870" y="12586"/>
                </a:cubicBezTo>
                <a:cubicBezTo>
                  <a:pt x="22370" y="13341"/>
                  <a:pt x="21985" y="14172"/>
                  <a:pt x="21048" y="14438"/>
                </a:cubicBezTo>
                <a:cubicBezTo>
                  <a:pt x="20343" y="14637"/>
                  <a:pt x="19521" y="14657"/>
                  <a:pt x="18799" y="14757"/>
                </a:cubicBezTo>
                <a:cubicBezTo>
                  <a:pt x="15724" y="15183"/>
                  <a:pt x="12643" y="15575"/>
                  <a:pt x="9548" y="15813"/>
                </a:cubicBezTo>
                <a:cubicBezTo>
                  <a:pt x="6956" y="16012"/>
                  <a:pt x="4377" y="15977"/>
                  <a:pt x="1788" y="16009"/>
                </a:cubicBezTo>
                <a:cubicBezTo>
                  <a:pt x="1837" y="15879"/>
                  <a:pt x="1855" y="15736"/>
                  <a:pt x="1816" y="15615"/>
                </a:cubicBezTo>
                <a:cubicBezTo>
                  <a:pt x="1798" y="15556"/>
                  <a:pt x="1778" y="15497"/>
                  <a:pt x="1759" y="15438"/>
                </a:cubicBezTo>
                <a:cubicBezTo>
                  <a:pt x="1745" y="15392"/>
                  <a:pt x="1726" y="15347"/>
                  <a:pt x="1703" y="15306"/>
                </a:cubicBezTo>
                <a:cubicBezTo>
                  <a:pt x="10986" y="10717"/>
                  <a:pt x="20120" y="5833"/>
                  <a:pt x="29411" y="1254"/>
                </a:cubicBezTo>
                <a:close/>
                <a:moveTo>
                  <a:pt x="26395" y="8892"/>
                </a:moveTo>
                <a:cubicBezTo>
                  <a:pt x="28004" y="9838"/>
                  <a:pt x="29911" y="10434"/>
                  <a:pt x="31549" y="11326"/>
                </a:cubicBezTo>
                <a:cubicBezTo>
                  <a:pt x="33390" y="12329"/>
                  <a:pt x="35083" y="13505"/>
                  <a:pt x="36814" y="14674"/>
                </a:cubicBezTo>
                <a:cubicBezTo>
                  <a:pt x="36810" y="14693"/>
                  <a:pt x="36810" y="14712"/>
                  <a:pt x="36805" y="14732"/>
                </a:cubicBezTo>
                <a:cubicBezTo>
                  <a:pt x="36673" y="15199"/>
                  <a:pt x="36153" y="15305"/>
                  <a:pt x="35745" y="15521"/>
                </a:cubicBezTo>
                <a:cubicBezTo>
                  <a:pt x="33939" y="16469"/>
                  <a:pt x="32140" y="17429"/>
                  <a:pt x="30339" y="18384"/>
                </a:cubicBezTo>
                <a:lnTo>
                  <a:pt x="10312" y="29005"/>
                </a:lnTo>
                <a:cubicBezTo>
                  <a:pt x="10650" y="26988"/>
                  <a:pt x="10593" y="24814"/>
                  <a:pt x="10861" y="22800"/>
                </a:cubicBezTo>
                <a:cubicBezTo>
                  <a:pt x="11148" y="20642"/>
                  <a:pt x="11717" y="18486"/>
                  <a:pt x="11935" y="16319"/>
                </a:cubicBezTo>
                <a:cubicBezTo>
                  <a:pt x="14570" y="16042"/>
                  <a:pt x="17185" y="15652"/>
                  <a:pt x="19712" y="15320"/>
                </a:cubicBezTo>
                <a:cubicBezTo>
                  <a:pt x="20602" y="15204"/>
                  <a:pt x="21612" y="15215"/>
                  <a:pt x="22318" y="14591"/>
                </a:cubicBezTo>
                <a:cubicBezTo>
                  <a:pt x="23239" y="13777"/>
                  <a:pt x="23839" y="12448"/>
                  <a:pt x="24543" y="11446"/>
                </a:cubicBezTo>
                <a:cubicBezTo>
                  <a:pt x="25149" y="10585"/>
                  <a:pt x="25769" y="9736"/>
                  <a:pt x="26395" y="8892"/>
                </a:cubicBezTo>
                <a:close/>
                <a:moveTo>
                  <a:pt x="11565" y="16355"/>
                </a:moveTo>
                <a:cubicBezTo>
                  <a:pt x="10848" y="18447"/>
                  <a:pt x="10590" y="20799"/>
                  <a:pt x="10286" y="22960"/>
                </a:cubicBezTo>
                <a:cubicBezTo>
                  <a:pt x="10010" y="24932"/>
                  <a:pt x="9540" y="27177"/>
                  <a:pt x="9673" y="29206"/>
                </a:cubicBezTo>
                <a:cubicBezTo>
                  <a:pt x="8215" y="27203"/>
                  <a:pt x="6825" y="25154"/>
                  <a:pt x="5529" y="23041"/>
                </a:cubicBezTo>
                <a:cubicBezTo>
                  <a:pt x="4815" y="21877"/>
                  <a:pt x="4127" y="20697"/>
                  <a:pt x="3466" y="19503"/>
                </a:cubicBezTo>
                <a:cubicBezTo>
                  <a:pt x="3136" y="18907"/>
                  <a:pt x="2811" y="18305"/>
                  <a:pt x="2495" y="17701"/>
                </a:cubicBezTo>
                <a:cubicBezTo>
                  <a:pt x="2372" y="17469"/>
                  <a:pt x="2008" y="16935"/>
                  <a:pt x="1782" y="16461"/>
                </a:cubicBezTo>
                <a:lnTo>
                  <a:pt x="1782" y="16461"/>
                </a:lnTo>
                <a:cubicBezTo>
                  <a:pt x="3104" y="16615"/>
                  <a:pt x="4445" y="16680"/>
                  <a:pt x="5796" y="16680"/>
                </a:cubicBezTo>
                <a:cubicBezTo>
                  <a:pt x="7709" y="16680"/>
                  <a:pt x="9641" y="16549"/>
                  <a:pt x="11565" y="16355"/>
                </a:cubicBezTo>
                <a:close/>
                <a:moveTo>
                  <a:pt x="29638" y="1"/>
                </a:moveTo>
                <a:cubicBezTo>
                  <a:pt x="29542" y="1"/>
                  <a:pt x="29444" y="23"/>
                  <a:pt x="29354" y="67"/>
                </a:cubicBezTo>
                <a:cubicBezTo>
                  <a:pt x="19808" y="4672"/>
                  <a:pt x="10218" y="9366"/>
                  <a:pt x="1071" y="14724"/>
                </a:cubicBezTo>
                <a:cubicBezTo>
                  <a:pt x="965" y="14785"/>
                  <a:pt x="908" y="14870"/>
                  <a:pt x="886" y="14959"/>
                </a:cubicBezTo>
                <a:cubicBezTo>
                  <a:pt x="700" y="14987"/>
                  <a:pt x="517" y="15082"/>
                  <a:pt x="443" y="15256"/>
                </a:cubicBezTo>
                <a:cubicBezTo>
                  <a:pt x="1" y="16298"/>
                  <a:pt x="752" y="17207"/>
                  <a:pt x="1237" y="18139"/>
                </a:cubicBezTo>
                <a:cubicBezTo>
                  <a:pt x="1987" y="19577"/>
                  <a:pt x="2773" y="20994"/>
                  <a:pt x="3599" y="22390"/>
                </a:cubicBezTo>
                <a:cubicBezTo>
                  <a:pt x="5248" y="25185"/>
                  <a:pt x="7051" y="27880"/>
                  <a:pt x="8980" y="30488"/>
                </a:cubicBezTo>
                <a:cubicBezTo>
                  <a:pt x="9128" y="30689"/>
                  <a:pt x="9332" y="30810"/>
                  <a:pt x="9556" y="30810"/>
                </a:cubicBezTo>
                <a:cubicBezTo>
                  <a:pt x="9661" y="30810"/>
                  <a:pt x="9771" y="30783"/>
                  <a:pt x="9882" y="30724"/>
                </a:cubicBezTo>
                <a:lnTo>
                  <a:pt x="33215" y="18348"/>
                </a:lnTo>
                <a:cubicBezTo>
                  <a:pt x="34116" y="17871"/>
                  <a:pt x="35016" y="17394"/>
                  <a:pt x="35917" y="16917"/>
                </a:cubicBezTo>
                <a:cubicBezTo>
                  <a:pt x="36568" y="16569"/>
                  <a:pt x="37474" y="16245"/>
                  <a:pt x="37968" y="15675"/>
                </a:cubicBezTo>
                <a:cubicBezTo>
                  <a:pt x="39019" y="14464"/>
                  <a:pt x="37236" y="12516"/>
                  <a:pt x="36631" y="11474"/>
                </a:cubicBezTo>
                <a:cubicBezTo>
                  <a:pt x="34460" y="7732"/>
                  <a:pt x="32244" y="4018"/>
                  <a:pt x="30100" y="262"/>
                </a:cubicBezTo>
                <a:cubicBezTo>
                  <a:pt x="29998" y="84"/>
                  <a:pt x="29822" y="1"/>
                  <a:pt x="296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1"/>
          <p:cNvSpPr txBox="1">
            <a:spLocks noGrp="1"/>
          </p:cNvSpPr>
          <p:nvPr>
            <p:ph type="title"/>
          </p:nvPr>
        </p:nvSpPr>
        <p:spPr>
          <a:xfrm>
            <a:off x="806168" y="1328541"/>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Parent</a:t>
            </a:r>
          </a:p>
        </p:txBody>
      </p:sp>
      <p:sp>
        <p:nvSpPr>
          <p:cNvPr id="198" name="Google Shape;198;p31"/>
          <p:cNvSpPr txBox="1">
            <a:spLocks noGrp="1"/>
          </p:cNvSpPr>
          <p:nvPr>
            <p:ph type="subTitle" idx="1"/>
          </p:nvPr>
        </p:nvSpPr>
        <p:spPr>
          <a:xfrm>
            <a:off x="633818" y="1725447"/>
            <a:ext cx="3438673"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100" dirty="0"/>
              <a:t>Any node (except the root) has exactly one edge running upward to another node. The node above it is called the parent of the node.</a:t>
            </a:r>
          </a:p>
        </p:txBody>
      </p:sp>
      <p:sp>
        <p:nvSpPr>
          <p:cNvPr id="26" name="Google Shape;197;p31">
            <a:extLst>
              <a:ext uri="{FF2B5EF4-FFF2-40B4-BE49-F238E27FC236}">
                <a16:creationId xmlns:a16="http://schemas.microsoft.com/office/drawing/2014/main" id="{60F00A77-6FA6-4E01-A8B6-282F28FA4B28}"/>
              </a:ext>
            </a:extLst>
          </p:cNvPr>
          <p:cNvSpPr txBox="1">
            <a:spLocks/>
          </p:cNvSpPr>
          <p:nvPr/>
        </p:nvSpPr>
        <p:spPr>
          <a:xfrm>
            <a:off x="5057768" y="1299465"/>
            <a:ext cx="29178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en-US" dirty="0"/>
              <a:t>Leaf</a:t>
            </a:r>
          </a:p>
        </p:txBody>
      </p:sp>
      <p:sp>
        <p:nvSpPr>
          <p:cNvPr id="27" name="Google Shape;198;p31">
            <a:extLst>
              <a:ext uri="{FF2B5EF4-FFF2-40B4-BE49-F238E27FC236}">
                <a16:creationId xmlns:a16="http://schemas.microsoft.com/office/drawing/2014/main" id="{643F6010-33C2-4EA7-9F1B-C4C559B45A33}"/>
              </a:ext>
            </a:extLst>
          </p:cNvPr>
          <p:cNvSpPr txBox="1">
            <a:spLocks/>
          </p:cNvSpPr>
          <p:nvPr/>
        </p:nvSpPr>
        <p:spPr>
          <a:xfrm>
            <a:off x="5005705" y="1696371"/>
            <a:ext cx="3318386" cy="71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1pPr>
            <a:lvl2pPr marL="914400" marR="0" lvl="1"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2pPr>
            <a:lvl3pPr marL="1371600" marR="0" lvl="2"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3pPr>
            <a:lvl4pPr marL="1828800" marR="0" lvl="3"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4pPr>
            <a:lvl5pPr marL="2286000" marR="0" lvl="4"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5pPr>
            <a:lvl6pPr marL="2743200" marR="0" lvl="5"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6pPr>
            <a:lvl7pPr marL="3200400" marR="0" lvl="6"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7pPr>
            <a:lvl8pPr marL="3657600" marR="0" lvl="7"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8pPr>
            <a:lvl9pPr marL="4114800" marR="0" lvl="8"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9pPr>
          </a:lstStyle>
          <a:p>
            <a:pPr marL="0" indent="0"/>
            <a:r>
              <a:rPr lang="en-US" sz="1100" dirty="0"/>
              <a:t>A node that has no children is called a leaf node or simply a leaf. There can be only one root in a tree, but there can be many leaves.</a:t>
            </a:r>
          </a:p>
        </p:txBody>
      </p:sp>
      <p:sp>
        <p:nvSpPr>
          <p:cNvPr id="9" name="Google Shape;197;p31">
            <a:extLst>
              <a:ext uri="{FF2B5EF4-FFF2-40B4-BE49-F238E27FC236}">
                <a16:creationId xmlns:a16="http://schemas.microsoft.com/office/drawing/2014/main" id="{BBF6450B-46DF-4DB1-BD8F-6128E5F045D0}"/>
              </a:ext>
            </a:extLst>
          </p:cNvPr>
          <p:cNvSpPr txBox="1">
            <a:spLocks/>
          </p:cNvSpPr>
          <p:nvPr/>
        </p:nvSpPr>
        <p:spPr>
          <a:xfrm>
            <a:off x="829562" y="2728124"/>
            <a:ext cx="29178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en-US" dirty="0"/>
              <a:t>Child</a:t>
            </a:r>
          </a:p>
        </p:txBody>
      </p:sp>
      <p:sp>
        <p:nvSpPr>
          <p:cNvPr id="10" name="Google Shape;198;p31">
            <a:extLst>
              <a:ext uri="{FF2B5EF4-FFF2-40B4-BE49-F238E27FC236}">
                <a16:creationId xmlns:a16="http://schemas.microsoft.com/office/drawing/2014/main" id="{0871F99E-E3C3-44A7-9A6C-B416F3BE65EB}"/>
              </a:ext>
            </a:extLst>
          </p:cNvPr>
          <p:cNvSpPr txBox="1">
            <a:spLocks/>
          </p:cNvSpPr>
          <p:nvPr/>
        </p:nvSpPr>
        <p:spPr>
          <a:xfrm>
            <a:off x="657212" y="3125030"/>
            <a:ext cx="3438673" cy="71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1pPr>
            <a:lvl2pPr marL="914400" marR="0" lvl="1"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2pPr>
            <a:lvl3pPr marL="1371600" marR="0" lvl="2"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3pPr>
            <a:lvl4pPr marL="1828800" marR="0" lvl="3"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4pPr>
            <a:lvl5pPr marL="2286000" marR="0" lvl="4"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5pPr>
            <a:lvl6pPr marL="2743200" marR="0" lvl="5"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6pPr>
            <a:lvl7pPr marL="3200400" marR="0" lvl="6"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7pPr>
            <a:lvl8pPr marL="3657600" marR="0" lvl="7"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8pPr>
            <a:lvl9pPr marL="4114800" marR="0" lvl="8"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9pPr>
          </a:lstStyle>
          <a:p>
            <a:pPr marL="0" indent="0"/>
            <a:r>
              <a:rPr lang="en-US" sz="1100" dirty="0"/>
              <a:t>Any node may have one or more lines running downward to other nodes. These nodes below a given node are called its children.</a:t>
            </a:r>
          </a:p>
        </p:txBody>
      </p:sp>
      <p:sp>
        <p:nvSpPr>
          <p:cNvPr id="11" name="Google Shape;197;p31">
            <a:extLst>
              <a:ext uri="{FF2B5EF4-FFF2-40B4-BE49-F238E27FC236}">
                <a16:creationId xmlns:a16="http://schemas.microsoft.com/office/drawing/2014/main" id="{84B96905-1D77-4C9D-BC62-674C67E979D3}"/>
              </a:ext>
            </a:extLst>
          </p:cNvPr>
          <p:cNvSpPr txBox="1">
            <a:spLocks/>
          </p:cNvSpPr>
          <p:nvPr/>
        </p:nvSpPr>
        <p:spPr>
          <a:xfrm>
            <a:off x="5005705" y="2728124"/>
            <a:ext cx="29178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en-US" dirty="0"/>
              <a:t>Subtree</a:t>
            </a:r>
          </a:p>
        </p:txBody>
      </p:sp>
      <p:sp>
        <p:nvSpPr>
          <p:cNvPr id="12" name="Google Shape;198;p31">
            <a:extLst>
              <a:ext uri="{FF2B5EF4-FFF2-40B4-BE49-F238E27FC236}">
                <a16:creationId xmlns:a16="http://schemas.microsoft.com/office/drawing/2014/main" id="{A81C0B38-A63E-4D6A-AA0D-90F9E670A3FA}"/>
              </a:ext>
            </a:extLst>
          </p:cNvPr>
          <p:cNvSpPr txBox="1">
            <a:spLocks/>
          </p:cNvSpPr>
          <p:nvPr/>
        </p:nvSpPr>
        <p:spPr>
          <a:xfrm>
            <a:off x="4953642" y="3125030"/>
            <a:ext cx="3318386" cy="71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1pPr>
            <a:lvl2pPr marL="914400" marR="0" lvl="1"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2pPr>
            <a:lvl3pPr marL="1371600" marR="0" lvl="2"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3pPr>
            <a:lvl4pPr marL="1828800" marR="0" lvl="3"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4pPr>
            <a:lvl5pPr marL="2286000" marR="0" lvl="4"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5pPr>
            <a:lvl6pPr marL="2743200" marR="0" lvl="5"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6pPr>
            <a:lvl7pPr marL="3200400" marR="0" lvl="6"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7pPr>
            <a:lvl8pPr marL="3657600" marR="0" lvl="7"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8pPr>
            <a:lvl9pPr marL="4114800" marR="0" lvl="8"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9pPr>
          </a:lstStyle>
          <a:p>
            <a:pPr marL="0" indent="0"/>
            <a:r>
              <a:rPr lang="en-US" sz="1100" dirty="0"/>
              <a:t>Any node may be considered to be the root of a subtree, which consists of its children, and its children’s children, and so on. If you think in terms of families, a node’s subtree contains all its descendants.</a:t>
            </a:r>
          </a:p>
        </p:txBody>
      </p:sp>
    </p:spTree>
    <p:extLst>
      <p:ext uri="{BB962C8B-B14F-4D97-AF65-F5344CB8AC3E}">
        <p14:creationId xmlns:p14="http://schemas.microsoft.com/office/powerpoint/2010/main" val="3868992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idx="8"/>
          </p:nvPr>
        </p:nvSpPr>
        <p:spPr>
          <a:xfrm>
            <a:off x="493506" y="711175"/>
            <a:ext cx="3230462"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Tree Terminology</a:t>
            </a:r>
          </a:p>
        </p:txBody>
      </p:sp>
      <p:sp>
        <p:nvSpPr>
          <p:cNvPr id="195" name="Google Shape;195;p31"/>
          <p:cNvSpPr/>
          <p:nvPr/>
        </p:nvSpPr>
        <p:spPr>
          <a:xfrm>
            <a:off x="7639575" y="711175"/>
            <a:ext cx="674863" cy="488424"/>
          </a:xfrm>
          <a:custGeom>
            <a:avLst/>
            <a:gdLst/>
            <a:ahLst/>
            <a:cxnLst/>
            <a:rect l="l" t="t" r="r" b="b"/>
            <a:pathLst>
              <a:path w="35347" h="25582" extrusionOk="0">
                <a:moveTo>
                  <a:pt x="32086" y="1331"/>
                </a:moveTo>
                <a:cubicBezTo>
                  <a:pt x="32060" y="1725"/>
                  <a:pt x="32014" y="2116"/>
                  <a:pt x="31884" y="2511"/>
                </a:cubicBezTo>
                <a:cubicBezTo>
                  <a:pt x="31710" y="3037"/>
                  <a:pt x="31422" y="3448"/>
                  <a:pt x="31140" y="3873"/>
                </a:cubicBezTo>
                <a:lnTo>
                  <a:pt x="31140" y="3875"/>
                </a:lnTo>
                <a:cubicBezTo>
                  <a:pt x="31045" y="3802"/>
                  <a:pt x="30957" y="3717"/>
                  <a:pt x="30879" y="3626"/>
                </a:cubicBezTo>
                <a:cubicBezTo>
                  <a:pt x="30960" y="3537"/>
                  <a:pt x="31004" y="3420"/>
                  <a:pt x="31004" y="3300"/>
                </a:cubicBezTo>
                <a:cubicBezTo>
                  <a:pt x="31012" y="2456"/>
                  <a:pt x="31170" y="1364"/>
                  <a:pt x="32086" y="1331"/>
                </a:cubicBezTo>
                <a:close/>
                <a:moveTo>
                  <a:pt x="33448" y="2151"/>
                </a:moveTo>
                <a:lnTo>
                  <a:pt x="33448" y="2151"/>
                </a:lnTo>
                <a:cubicBezTo>
                  <a:pt x="33674" y="2664"/>
                  <a:pt x="33586" y="3318"/>
                  <a:pt x="33167" y="3795"/>
                </a:cubicBezTo>
                <a:cubicBezTo>
                  <a:pt x="33046" y="3933"/>
                  <a:pt x="32896" y="4044"/>
                  <a:pt x="32729" y="4118"/>
                </a:cubicBezTo>
                <a:cubicBezTo>
                  <a:pt x="33098" y="3528"/>
                  <a:pt x="33326" y="2819"/>
                  <a:pt x="33448" y="2151"/>
                </a:cubicBezTo>
                <a:close/>
                <a:moveTo>
                  <a:pt x="32524" y="1387"/>
                </a:moveTo>
                <a:cubicBezTo>
                  <a:pt x="32540" y="1390"/>
                  <a:pt x="32555" y="1392"/>
                  <a:pt x="32571" y="1397"/>
                </a:cubicBezTo>
                <a:cubicBezTo>
                  <a:pt x="32884" y="1486"/>
                  <a:pt x="33123" y="1661"/>
                  <a:pt x="33289" y="1878"/>
                </a:cubicBezTo>
                <a:cubicBezTo>
                  <a:pt x="33081" y="2445"/>
                  <a:pt x="32804" y="2943"/>
                  <a:pt x="32503" y="3432"/>
                </a:cubicBezTo>
                <a:cubicBezTo>
                  <a:pt x="32416" y="3432"/>
                  <a:pt x="32336" y="3480"/>
                  <a:pt x="32295" y="3557"/>
                </a:cubicBezTo>
                <a:cubicBezTo>
                  <a:pt x="32169" y="3777"/>
                  <a:pt x="32049" y="4000"/>
                  <a:pt x="31925" y="4221"/>
                </a:cubicBezTo>
                <a:cubicBezTo>
                  <a:pt x="31817" y="4204"/>
                  <a:pt x="31712" y="4175"/>
                  <a:pt x="31611" y="4138"/>
                </a:cubicBezTo>
                <a:cubicBezTo>
                  <a:pt x="32171" y="3413"/>
                  <a:pt x="32513" y="2340"/>
                  <a:pt x="32524" y="1387"/>
                </a:cubicBezTo>
                <a:close/>
                <a:moveTo>
                  <a:pt x="9407" y="5159"/>
                </a:moveTo>
                <a:cubicBezTo>
                  <a:pt x="10187" y="6580"/>
                  <a:pt x="10603" y="7882"/>
                  <a:pt x="10645" y="9398"/>
                </a:cubicBezTo>
                <a:cubicBezTo>
                  <a:pt x="10279" y="9775"/>
                  <a:pt x="9939" y="10175"/>
                  <a:pt x="9627" y="10596"/>
                </a:cubicBezTo>
                <a:lnTo>
                  <a:pt x="9626" y="10596"/>
                </a:lnTo>
                <a:cubicBezTo>
                  <a:pt x="9570" y="10548"/>
                  <a:pt x="9511" y="10506"/>
                  <a:pt x="9457" y="10455"/>
                </a:cubicBezTo>
                <a:cubicBezTo>
                  <a:pt x="8958" y="9988"/>
                  <a:pt x="8631" y="9478"/>
                  <a:pt x="8445" y="8950"/>
                </a:cubicBezTo>
                <a:cubicBezTo>
                  <a:pt x="8239" y="7563"/>
                  <a:pt x="8522" y="6110"/>
                  <a:pt x="9407" y="5159"/>
                </a:cubicBezTo>
                <a:close/>
                <a:moveTo>
                  <a:pt x="14031" y="4662"/>
                </a:moveTo>
                <a:lnTo>
                  <a:pt x="14031" y="4662"/>
                </a:lnTo>
                <a:cubicBezTo>
                  <a:pt x="15409" y="5488"/>
                  <a:pt x="16195" y="7133"/>
                  <a:pt x="15661" y="8877"/>
                </a:cubicBezTo>
                <a:lnTo>
                  <a:pt x="15659" y="8877"/>
                </a:lnTo>
                <a:cubicBezTo>
                  <a:pt x="15430" y="9624"/>
                  <a:pt x="15018" y="10217"/>
                  <a:pt x="14503" y="10657"/>
                </a:cubicBezTo>
                <a:cubicBezTo>
                  <a:pt x="15162" y="8733"/>
                  <a:pt x="15142" y="6226"/>
                  <a:pt x="14031" y="4662"/>
                </a:cubicBezTo>
                <a:close/>
                <a:moveTo>
                  <a:pt x="12255" y="4111"/>
                </a:moveTo>
                <a:lnTo>
                  <a:pt x="12255" y="4111"/>
                </a:lnTo>
                <a:cubicBezTo>
                  <a:pt x="12734" y="4141"/>
                  <a:pt x="13204" y="4257"/>
                  <a:pt x="13641" y="4456"/>
                </a:cubicBezTo>
                <a:cubicBezTo>
                  <a:pt x="13946" y="5706"/>
                  <a:pt x="14445" y="6784"/>
                  <a:pt x="14438" y="8128"/>
                </a:cubicBezTo>
                <a:cubicBezTo>
                  <a:pt x="14433" y="9221"/>
                  <a:pt x="14153" y="10170"/>
                  <a:pt x="13778" y="11136"/>
                </a:cubicBezTo>
                <a:lnTo>
                  <a:pt x="13777" y="11136"/>
                </a:lnTo>
                <a:cubicBezTo>
                  <a:pt x="13579" y="11237"/>
                  <a:pt x="13371" y="11320"/>
                  <a:pt x="13158" y="11383"/>
                </a:cubicBezTo>
                <a:cubicBezTo>
                  <a:pt x="13508" y="10596"/>
                  <a:pt x="13480" y="9389"/>
                  <a:pt x="13480" y="8738"/>
                </a:cubicBezTo>
                <a:cubicBezTo>
                  <a:pt x="13481" y="7105"/>
                  <a:pt x="13101" y="5512"/>
                  <a:pt x="12255" y="4111"/>
                </a:cubicBezTo>
                <a:close/>
                <a:moveTo>
                  <a:pt x="10574" y="4370"/>
                </a:moveTo>
                <a:cubicBezTo>
                  <a:pt x="11032" y="5394"/>
                  <a:pt x="11434" y="6425"/>
                  <a:pt x="11654" y="7535"/>
                </a:cubicBezTo>
                <a:cubicBezTo>
                  <a:pt x="11731" y="7917"/>
                  <a:pt x="12221" y="10964"/>
                  <a:pt x="11674" y="11503"/>
                </a:cubicBezTo>
                <a:cubicBezTo>
                  <a:pt x="11256" y="11451"/>
                  <a:pt x="10850" y="11331"/>
                  <a:pt x="10471" y="11147"/>
                </a:cubicBezTo>
                <a:cubicBezTo>
                  <a:pt x="10513" y="11076"/>
                  <a:pt x="10551" y="11003"/>
                  <a:pt x="10593" y="10933"/>
                </a:cubicBezTo>
                <a:cubicBezTo>
                  <a:pt x="10613" y="10979"/>
                  <a:pt x="10666" y="11005"/>
                  <a:pt x="10718" y="11005"/>
                </a:cubicBezTo>
                <a:cubicBezTo>
                  <a:pt x="10776" y="11005"/>
                  <a:pt x="10833" y="10974"/>
                  <a:pt x="10849" y="10909"/>
                </a:cubicBezTo>
                <a:cubicBezTo>
                  <a:pt x="10901" y="10692"/>
                  <a:pt x="10939" y="10473"/>
                  <a:pt x="10966" y="10253"/>
                </a:cubicBezTo>
                <a:cubicBezTo>
                  <a:pt x="11086" y="10020"/>
                  <a:pt x="11201" y="9789"/>
                  <a:pt x="11304" y="9554"/>
                </a:cubicBezTo>
                <a:cubicBezTo>
                  <a:pt x="11399" y="9337"/>
                  <a:pt x="11239" y="9113"/>
                  <a:pt x="11045" y="9113"/>
                </a:cubicBezTo>
                <a:cubicBezTo>
                  <a:pt x="11035" y="9113"/>
                  <a:pt x="11025" y="9113"/>
                  <a:pt x="11016" y="9115"/>
                </a:cubicBezTo>
                <a:cubicBezTo>
                  <a:pt x="10959" y="7642"/>
                  <a:pt x="10449" y="6136"/>
                  <a:pt x="9532" y="5039"/>
                </a:cubicBezTo>
                <a:cubicBezTo>
                  <a:pt x="9833" y="4751"/>
                  <a:pt x="10187" y="4523"/>
                  <a:pt x="10574" y="4370"/>
                </a:cubicBezTo>
                <a:close/>
                <a:moveTo>
                  <a:pt x="12017" y="4105"/>
                </a:moveTo>
                <a:cubicBezTo>
                  <a:pt x="12017" y="4115"/>
                  <a:pt x="12020" y="4125"/>
                  <a:pt x="12023" y="4134"/>
                </a:cubicBezTo>
                <a:cubicBezTo>
                  <a:pt x="12459" y="5230"/>
                  <a:pt x="12828" y="6325"/>
                  <a:pt x="12963" y="7502"/>
                </a:cubicBezTo>
                <a:cubicBezTo>
                  <a:pt x="13008" y="7897"/>
                  <a:pt x="13034" y="10935"/>
                  <a:pt x="12588" y="11499"/>
                </a:cubicBezTo>
                <a:lnTo>
                  <a:pt x="12586" y="11499"/>
                </a:lnTo>
                <a:cubicBezTo>
                  <a:pt x="12468" y="11513"/>
                  <a:pt x="12349" y="11524"/>
                  <a:pt x="12230" y="11527"/>
                </a:cubicBezTo>
                <a:cubicBezTo>
                  <a:pt x="12489" y="10895"/>
                  <a:pt x="12334" y="9818"/>
                  <a:pt x="12313" y="9394"/>
                </a:cubicBezTo>
                <a:cubicBezTo>
                  <a:pt x="12224" y="7606"/>
                  <a:pt x="11756" y="5824"/>
                  <a:pt x="10864" y="4269"/>
                </a:cubicBezTo>
                <a:cubicBezTo>
                  <a:pt x="11115" y="4193"/>
                  <a:pt x="11375" y="4142"/>
                  <a:pt x="11637" y="4117"/>
                </a:cubicBezTo>
                <a:cubicBezTo>
                  <a:pt x="11766" y="4105"/>
                  <a:pt x="11891" y="4105"/>
                  <a:pt x="12017" y="4105"/>
                </a:cubicBezTo>
                <a:close/>
                <a:moveTo>
                  <a:pt x="25741" y="16319"/>
                </a:moveTo>
                <a:cubicBezTo>
                  <a:pt x="26033" y="16319"/>
                  <a:pt x="26325" y="16353"/>
                  <a:pt x="26608" y="16425"/>
                </a:cubicBezTo>
                <a:cubicBezTo>
                  <a:pt x="26757" y="16463"/>
                  <a:pt x="26903" y="16513"/>
                  <a:pt x="27044" y="16574"/>
                </a:cubicBezTo>
                <a:cubicBezTo>
                  <a:pt x="28124" y="17916"/>
                  <a:pt x="26413" y="20133"/>
                  <a:pt x="25036" y="20799"/>
                </a:cubicBezTo>
                <a:cubicBezTo>
                  <a:pt x="24616" y="21002"/>
                  <a:pt x="24156" y="21111"/>
                  <a:pt x="23701" y="21111"/>
                </a:cubicBezTo>
                <a:cubicBezTo>
                  <a:pt x="23171" y="21111"/>
                  <a:pt x="22648" y="20963"/>
                  <a:pt x="22200" y="20645"/>
                </a:cubicBezTo>
                <a:cubicBezTo>
                  <a:pt x="21851" y="20398"/>
                  <a:pt x="21618" y="20077"/>
                  <a:pt x="21492" y="19731"/>
                </a:cubicBezTo>
                <a:cubicBezTo>
                  <a:pt x="21476" y="19396"/>
                  <a:pt x="21503" y="19061"/>
                  <a:pt x="21572" y="18733"/>
                </a:cubicBezTo>
                <a:cubicBezTo>
                  <a:pt x="21617" y="18728"/>
                  <a:pt x="21662" y="18715"/>
                  <a:pt x="21702" y="18694"/>
                </a:cubicBezTo>
                <a:cubicBezTo>
                  <a:pt x="22164" y="18440"/>
                  <a:pt x="22446" y="18033"/>
                  <a:pt x="22768" y="17649"/>
                </a:cubicBezTo>
                <a:cubicBezTo>
                  <a:pt x="23416" y="18221"/>
                  <a:pt x="24064" y="18791"/>
                  <a:pt x="24704" y="19359"/>
                </a:cubicBezTo>
                <a:cubicBezTo>
                  <a:pt x="24857" y="19496"/>
                  <a:pt x="25027" y="19554"/>
                  <a:pt x="25190" y="19554"/>
                </a:cubicBezTo>
                <a:cubicBezTo>
                  <a:pt x="25767" y="19554"/>
                  <a:pt x="26268" y="18836"/>
                  <a:pt x="25734" y="18328"/>
                </a:cubicBezTo>
                <a:cubicBezTo>
                  <a:pt x="25166" y="17789"/>
                  <a:pt x="24597" y="17246"/>
                  <a:pt x="24027" y="16699"/>
                </a:cubicBezTo>
                <a:cubicBezTo>
                  <a:pt x="24563" y="16456"/>
                  <a:pt x="25153" y="16319"/>
                  <a:pt x="25741" y="16319"/>
                </a:cubicBezTo>
                <a:close/>
                <a:moveTo>
                  <a:pt x="27895" y="17098"/>
                </a:moveTo>
                <a:cubicBezTo>
                  <a:pt x="28227" y="17383"/>
                  <a:pt x="28508" y="17724"/>
                  <a:pt x="28723" y="18106"/>
                </a:cubicBezTo>
                <a:cubicBezTo>
                  <a:pt x="28458" y="19552"/>
                  <a:pt x="27924" y="20816"/>
                  <a:pt x="26655" y="21718"/>
                </a:cubicBezTo>
                <a:cubicBezTo>
                  <a:pt x="25884" y="22266"/>
                  <a:pt x="25025" y="22582"/>
                  <a:pt x="24076" y="22639"/>
                </a:cubicBezTo>
                <a:cubicBezTo>
                  <a:pt x="24017" y="22642"/>
                  <a:pt x="23950" y="22644"/>
                  <a:pt x="23875" y="22644"/>
                </a:cubicBezTo>
                <a:cubicBezTo>
                  <a:pt x="23571" y="22644"/>
                  <a:pt x="23149" y="22613"/>
                  <a:pt x="22716" y="22526"/>
                </a:cubicBezTo>
                <a:cubicBezTo>
                  <a:pt x="22231" y="22010"/>
                  <a:pt x="21886" y="21431"/>
                  <a:pt x="21690" y="20830"/>
                </a:cubicBezTo>
                <a:lnTo>
                  <a:pt x="21690" y="20830"/>
                </a:lnTo>
                <a:cubicBezTo>
                  <a:pt x="22236" y="21348"/>
                  <a:pt x="23021" y="21617"/>
                  <a:pt x="23774" y="21617"/>
                </a:cubicBezTo>
                <a:cubicBezTo>
                  <a:pt x="23888" y="21617"/>
                  <a:pt x="24001" y="21610"/>
                  <a:pt x="24112" y="21598"/>
                </a:cubicBezTo>
                <a:cubicBezTo>
                  <a:pt x="25882" y="21400"/>
                  <a:pt x="28208" y="18898"/>
                  <a:pt x="27895" y="17098"/>
                </a:cubicBezTo>
                <a:close/>
                <a:moveTo>
                  <a:pt x="4132" y="21347"/>
                </a:moveTo>
                <a:lnTo>
                  <a:pt x="4132" y="21347"/>
                </a:lnTo>
                <a:cubicBezTo>
                  <a:pt x="4450" y="21713"/>
                  <a:pt x="4661" y="22218"/>
                  <a:pt x="4648" y="22688"/>
                </a:cubicBezTo>
                <a:cubicBezTo>
                  <a:pt x="4476" y="22239"/>
                  <a:pt x="4293" y="21798"/>
                  <a:pt x="4132" y="21347"/>
                </a:cubicBezTo>
                <a:close/>
                <a:moveTo>
                  <a:pt x="2094" y="22062"/>
                </a:moveTo>
                <a:cubicBezTo>
                  <a:pt x="2166" y="22580"/>
                  <a:pt x="2241" y="23104"/>
                  <a:pt x="2354" y="23612"/>
                </a:cubicBezTo>
                <a:cubicBezTo>
                  <a:pt x="2209" y="23502"/>
                  <a:pt x="2084" y="23367"/>
                  <a:pt x="1985" y="23213"/>
                </a:cubicBezTo>
                <a:cubicBezTo>
                  <a:pt x="1858" y="23010"/>
                  <a:pt x="1761" y="22723"/>
                  <a:pt x="1712" y="22412"/>
                </a:cubicBezTo>
                <a:cubicBezTo>
                  <a:pt x="1816" y="22378"/>
                  <a:pt x="1908" y="22323"/>
                  <a:pt x="1972" y="22248"/>
                </a:cubicBezTo>
                <a:cubicBezTo>
                  <a:pt x="2019" y="22190"/>
                  <a:pt x="2059" y="22128"/>
                  <a:pt x="2094" y="22062"/>
                </a:cubicBezTo>
                <a:close/>
                <a:moveTo>
                  <a:pt x="29081" y="18929"/>
                </a:moveTo>
                <a:lnTo>
                  <a:pt x="29081" y="18930"/>
                </a:lnTo>
                <a:cubicBezTo>
                  <a:pt x="29363" y="19840"/>
                  <a:pt x="29336" y="20848"/>
                  <a:pt x="28921" y="21706"/>
                </a:cubicBezTo>
                <a:cubicBezTo>
                  <a:pt x="28288" y="23017"/>
                  <a:pt x="26888" y="23727"/>
                  <a:pt x="25492" y="23727"/>
                </a:cubicBezTo>
                <a:cubicBezTo>
                  <a:pt x="24668" y="23727"/>
                  <a:pt x="23846" y="23480"/>
                  <a:pt x="23183" y="22963"/>
                </a:cubicBezTo>
                <a:lnTo>
                  <a:pt x="23183" y="22963"/>
                </a:lnTo>
                <a:cubicBezTo>
                  <a:pt x="23552" y="23022"/>
                  <a:pt x="23905" y="23051"/>
                  <a:pt x="24198" y="23051"/>
                </a:cubicBezTo>
                <a:cubicBezTo>
                  <a:pt x="24347" y="23051"/>
                  <a:pt x="24480" y="23044"/>
                  <a:pt x="24592" y="23029"/>
                </a:cubicBezTo>
                <a:cubicBezTo>
                  <a:pt x="26773" y="22734"/>
                  <a:pt x="28616" y="21040"/>
                  <a:pt x="29081" y="18929"/>
                </a:cubicBezTo>
                <a:close/>
                <a:moveTo>
                  <a:pt x="3135" y="20825"/>
                </a:moveTo>
                <a:cubicBezTo>
                  <a:pt x="3311" y="20825"/>
                  <a:pt x="3491" y="20875"/>
                  <a:pt x="3656" y="20961"/>
                </a:cubicBezTo>
                <a:cubicBezTo>
                  <a:pt x="3657" y="20976"/>
                  <a:pt x="3661" y="20993"/>
                  <a:pt x="3663" y="21009"/>
                </a:cubicBezTo>
                <a:cubicBezTo>
                  <a:pt x="3656" y="21030"/>
                  <a:pt x="3647" y="21051"/>
                  <a:pt x="3641" y="21072"/>
                </a:cubicBezTo>
                <a:cubicBezTo>
                  <a:pt x="3621" y="21137"/>
                  <a:pt x="3651" y="21196"/>
                  <a:pt x="3697" y="21233"/>
                </a:cubicBezTo>
                <a:cubicBezTo>
                  <a:pt x="3821" y="21992"/>
                  <a:pt x="4033" y="22752"/>
                  <a:pt x="4420" y="23383"/>
                </a:cubicBezTo>
                <a:cubicBezTo>
                  <a:pt x="4377" y="23441"/>
                  <a:pt x="4329" y="23494"/>
                  <a:pt x="4277" y="23544"/>
                </a:cubicBezTo>
                <a:lnTo>
                  <a:pt x="4276" y="23544"/>
                </a:lnTo>
                <a:cubicBezTo>
                  <a:pt x="4147" y="23661"/>
                  <a:pt x="3999" y="23755"/>
                  <a:pt x="3838" y="23822"/>
                </a:cubicBezTo>
                <a:cubicBezTo>
                  <a:pt x="3681" y="23377"/>
                  <a:pt x="3463" y="22951"/>
                  <a:pt x="3325" y="22494"/>
                </a:cubicBezTo>
                <a:cubicBezTo>
                  <a:pt x="3162" y="21951"/>
                  <a:pt x="3080" y="21394"/>
                  <a:pt x="2974" y="20839"/>
                </a:cubicBezTo>
                <a:cubicBezTo>
                  <a:pt x="3027" y="20830"/>
                  <a:pt x="3081" y="20825"/>
                  <a:pt x="3135" y="20825"/>
                </a:cubicBezTo>
                <a:close/>
                <a:moveTo>
                  <a:pt x="2618" y="21003"/>
                </a:moveTo>
                <a:lnTo>
                  <a:pt x="2618" y="21003"/>
                </a:lnTo>
                <a:cubicBezTo>
                  <a:pt x="2610" y="21938"/>
                  <a:pt x="2832" y="23104"/>
                  <a:pt x="3325" y="23932"/>
                </a:cubicBezTo>
                <a:cubicBezTo>
                  <a:pt x="3310" y="23933"/>
                  <a:pt x="3294" y="23933"/>
                  <a:pt x="3278" y="23933"/>
                </a:cubicBezTo>
                <a:cubicBezTo>
                  <a:pt x="3134" y="23933"/>
                  <a:pt x="2991" y="23913"/>
                  <a:pt x="2853" y="23872"/>
                </a:cubicBezTo>
                <a:cubicBezTo>
                  <a:pt x="2744" y="23067"/>
                  <a:pt x="2516" y="22253"/>
                  <a:pt x="2314" y="21464"/>
                </a:cubicBezTo>
                <a:cubicBezTo>
                  <a:pt x="2350" y="21361"/>
                  <a:pt x="2400" y="21260"/>
                  <a:pt x="2462" y="21169"/>
                </a:cubicBezTo>
                <a:cubicBezTo>
                  <a:pt x="2506" y="21107"/>
                  <a:pt x="2558" y="21051"/>
                  <a:pt x="2618" y="21003"/>
                </a:cubicBezTo>
                <a:close/>
                <a:moveTo>
                  <a:pt x="32126" y="1"/>
                </a:moveTo>
                <a:cubicBezTo>
                  <a:pt x="31323" y="1"/>
                  <a:pt x="30546" y="369"/>
                  <a:pt x="30075" y="1049"/>
                </a:cubicBezTo>
                <a:cubicBezTo>
                  <a:pt x="29894" y="1313"/>
                  <a:pt x="29762" y="1606"/>
                  <a:pt x="29685" y="1915"/>
                </a:cubicBezTo>
                <a:cubicBezTo>
                  <a:pt x="29466" y="2456"/>
                  <a:pt x="29447" y="3070"/>
                  <a:pt x="29668" y="3630"/>
                </a:cubicBezTo>
                <a:cubicBezTo>
                  <a:pt x="29978" y="4415"/>
                  <a:pt x="30637" y="4960"/>
                  <a:pt x="31382" y="5195"/>
                </a:cubicBezTo>
                <a:cubicBezTo>
                  <a:pt x="30546" y="6732"/>
                  <a:pt x="29755" y="8294"/>
                  <a:pt x="29009" y="9878"/>
                </a:cubicBezTo>
                <a:cubicBezTo>
                  <a:pt x="28225" y="11546"/>
                  <a:pt x="27286" y="13351"/>
                  <a:pt x="26770" y="15158"/>
                </a:cubicBezTo>
                <a:cubicBezTo>
                  <a:pt x="26431" y="15086"/>
                  <a:pt x="26084" y="15051"/>
                  <a:pt x="25737" y="15051"/>
                </a:cubicBezTo>
                <a:cubicBezTo>
                  <a:pt x="25060" y="15051"/>
                  <a:pt x="24380" y="15183"/>
                  <a:pt x="23751" y="15430"/>
                </a:cubicBezTo>
                <a:cubicBezTo>
                  <a:pt x="23471" y="15476"/>
                  <a:pt x="23197" y="15553"/>
                  <a:pt x="22935" y="15660"/>
                </a:cubicBezTo>
                <a:cubicBezTo>
                  <a:pt x="20905" y="13737"/>
                  <a:pt x="18830" y="11837"/>
                  <a:pt x="16633" y="10158"/>
                </a:cubicBezTo>
                <a:cubicBezTo>
                  <a:pt x="16751" y="9931"/>
                  <a:pt x="16852" y="9696"/>
                  <a:pt x="16936" y="9456"/>
                </a:cubicBezTo>
                <a:cubicBezTo>
                  <a:pt x="18116" y="5988"/>
                  <a:pt x="15474" y="2670"/>
                  <a:pt x="12008" y="2670"/>
                </a:cubicBezTo>
                <a:cubicBezTo>
                  <a:pt x="11713" y="2670"/>
                  <a:pt x="11413" y="2694"/>
                  <a:pt x="11109" y="2743"/>
                </a:cubicBezTo>
                <a:cubicBezTo>
                  <a:pt x="7757" y="3292"/>
                  <a:pt x="5808" y="7543"/>
                  <a:pt x="7713" y="10306"/>
                </a:cubicBezTo>
                <a:cubicBezTo>
                  <a:pt x="7866" y="10571"/>
                  <a:pt x="8043" y="10822"/>
                  <a:pt x="8242" y="11054"/>
                </a:cubicBezTo>
                <a:cubicBezTo>
                  <a:pt x="8437" y="11277"/>
                  <a:pt x="8650" y="11485"/>
                  <a:pt x="8877" y="11673"/>
                </a:cubicBezTo>
                <a:cubicBezTo>
                  <a:pt x="8169" y="12760"/>
                  <a:pt x="7533" y="13914"/>
                  <a:pt x="6898" y="14949"/>
                </a:cubicBezTo>
                <a:cubicBezTo>
                  <a:pt x="6032" y="16364"/>
                  <a:pt x="5044" y="17822"/>
                  <a:pt x="4317" y="19357"/>
                </a:cubicBezTo>
                <a:cubicBezTo>
                  <a:pt x="3940" y="19175"/>
                  <a:pt x="3537" y="19084"/>
                  <a:pt x="3136" y="19084"/>
                </a:cubicBezTo>
                <a:cubicBezTo>
                  <a:pt x="2551" y="19084"/>
                  <a:pt x="1971" y="19278"/>
                  <a:pt x="1493" y="19666"/>
                </a:cubicBezTo>
                <a:cubicBezTo>
                  <a:pt x="1421" y="19724"/>
                  <a:pt x="1353" y="19788"/>
                  <a:pt x="1288" y="19853"/>
                </a:cubicBezTo>
                <a:cubicBezTo>
                  <a:pt x="1005" y="19986"/>
                  <a:pt x="760" y="20189"/>
                  <a:pt x="578" y="20442"/>
                </a:cubicBezTo>
                <a:cubicBezTo>
                  <a:pt x="3" y="21266"/>
                  <a:pt x="0" y="22476"/>
                  <a:pt x="318" y="23394"/>
                </a:cubicBezTo>
                <a:cubicBezTo>
                  <a:pt x="793" y="24766"/>
                  <a:pt x="2029" y="25582"/>
                  <a:pt x="3317" y="25582"/>
                </a:cubicBezTo>
                <a:cubicBezTo>
                  <a:pt x="3993" y="25582"/>
                  <a:pt x="4683" y="25357"/>
                  <a:pt x="5286" y="24870"/>
                </a:cubicBezTo>
                <a:cubicBezTo>
                  <a:pt x="6926" y="23545"/>
                  <a:pt x="6474" y="21038"/>
                  <a:pt x="4975" y="19786"/>
                </a:cubicBezTo>
                <a:cubicBezTo>
                  <a:pt x="5861" y="18451"/>
                  <a:pt x="6601" y="16991"/>
                  <a:pt x="7440" y="15647"/>
                </a:cubicBezTo>
                <a:cubicBezTo>
                  <a:pt x="8141" y="14525"/>
                  <a:pt x="8983" y="13408"/>
                  <a:pt x="9754" y="12263"/>
                </a:cubicBezTo>
                <a:cubicBezTo>
                  <a:pt x="10515" y="12669"/>
                  <a:pt x="11345" y="12866"/>
                  <a:pt x="12168" y="12866"/>
                </a:cubicBezTo>
                <a:cubicBezTo>
                  <a:pt x="13591" y="12866"/>
                  <a:pt x="14989" y="12276"/>
                  <a:pt x="15959" y="11158"/>
                </a:cubicBezTo>
                <a:cubicBezTo>
                  <a:pt x="17703" y="13071"/>
                  <a:pt x="19638" y="14863"/>
                  <a:pt x="21595" y="16608"/>
                </a:cubicBezTo>
                <a:cubicBezTo>
                  <a:pt x="20579" y="17737"/>
                  <a:pt x="20201" y="19474"/>
                  <a:pt x="20622" y="21087"/>
                </a:cubicBezTo>
                <a:cubicBezTo>
                  <a:pt x="20529" y="21504"/>
                  <a:pt x="20700" y="21849"/>
                  <a:pt x="21021" y="22127"/>
                </a:cubicBezTo>
                <a:cubicBezTo>
                  <a:pt x="21030" y="22145"/>
                  <a:pt x="21037" y="22162"/>
                  <a:pt x="21047" y="22181"/>
                </a:cubicBezTo>
                <a:cubicBezTo>
                  <a:pt x="21464" y="22969"/>
                  <a:pt x="22080" y="23635"/>
                  <a:pt x="22834" y="24112"/>
                </a:cubicBezTo>
                <a:cubicBezTo>
                  <a:pt x="23111" y="24337"/>
                  <a:pt x="23434" y="24500"/>
                  <a:pt x="23779" y="24592"/>
                </a:cubicBezTo>
                <a:cubicBezTo>
                  <a:pt x="24377" y="24820"/>
                  <a:pt x="25014" y="24938"/>
                  <a:pt x="25653" y="24938"/>
                </a:cubicBezTo>
                <a:cubicBezTo>
                  <a:pt x="26938" y="24938"/>
                  <a:pt x="28232" y="24460"/>
                  <a:pt x="29242" y="23441"/>
                </a:cubicBezTo>
                <a:cubicBezTo>
                  <a:pt x="31489" y="21171"/>
                  <a:pt x="30665" y="17008"/>
                  <a:pt x="27890" y="15554"/>
                </a:cubicBezTo>
                <a:cubicBezTo>
                  <a:pt x="27687" y="15450"/>
                  <a:pt x="27477" y="15363"/>
                  <a:pt x="27260" y="15293"/>
                </a:cubicBezTo>
                <a:cubicBezTo>
                  <a:pt x="28160" y="13554"/>
                  <a:pt x="28800" y="11634"/>
                  <a:pt x="29632" y="9868"/>
                </a:cubicBezTo>
                <a:cubicBezTo>
                  <a:pt x="30359" y="8325"/>
                  <a:pt x="31134" y="6808"/>
                  <a:pt x="31942" y="5308"/>
                </a:cubicBezTo>
                <a:cubicBezTo>
                  <a:pt x="32029" y="5316"/>
                  <a:pt x="32117" y="5321"/>
                  <a:pt x="32204" y="5321"/>
                </a:cubicBezTo>
                <a:cubicBezTo>
                  <a:pt x="32892" y="5321"/>
                  <a:pt x="33575" y="5053"/>
                  <a:pt x="34071" y="4464"/>
                </a:cubicBezTo>
                <a:cubicBezTo>
                  <a:pt x="35347" y="2948"/>
                  <a:pt x="34697" y="521"/>
                  <a:pt x="32711" y="67"/>
                </a:cubicBezTo>
                <a:cubicBezTo>
                  <a:pt x="32517" y="22"/>
                  <a:pt x="32320" y="1"/>
                  <a:pt x="32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1"/>
          <p:cNvSpPr/>
          <p:nvPr/>
        </p:nvSpPr>
        <p:spPr>
          <a:xfrm>
            <a:off x="7125750" y="544900"/>
            <a:ext cx="564034" cy="445373"/>
          </a:xfrm>
          <a:custGeom>
            <a:avLst/>
            <a:gdLst/>
            <a:ahLst/>
            <a:cxnLst/>
            <a:rect l="l" t="t" r="r" b="b"/>
            <a:pathLst>
              <a:path w="39020" h="30811" extrusionOk="0">
                <a:moveTo>
                  <a:pt x="30681" y="3474"/>
                </a:moveTo>
                <a:cubicBezTo>
                  <a:pt x="32090" y="5955"/>
                  <a:pt x="33478" y="8448"/>
                  <a:pt x="34883" y="10930"/>
                </a:cubicBezTo>
                <a:cubicBezTo>
                  <a:pt x="35369" y="11788"/>
                  <a:pt x="35855" y="12647"/>
                  <a:pt x="36340" y="13505"/>
                </a:cubicBezTo>
                <a:cubicBezTo>
                  <a:pt x="34784" y="12409"/>
                  <a:pt x="33095" y="11459"/>
                  <a:pt x="31412" y="10597"/>
                </a:cubicBezTo>
                <a:cubicBezTo>
                  <a:pt x="29978" y="9864"/>
                  <a:pt x="28301" y="8917"/>
                  <a:pt x="26670" y="8527"/>
                </a:cubicBezTo>
                <a:cubicBezTo>
                  <a:pt x="27959" y="6807"/>
                  <a:pt x="29296" y="5122"/>
                  <a:pt x="30681" y="3474"/>
                </a:cubicBezTo>
                <a:close/>
                <a:moveTo>
                  <a:pt x="29411" y="1254"/>
                </a:moveTo>
                <a:cubicBezTo>
                  <a:pt x="29708" y="1768"/>
                  <a:pt x="30001" y="2286"/>
                  <a:pt x="30296" y="2802"/>
                </a:cubicBezTo>
                <a:cubicBezTo>
                  <a:pt x="30250" y="2825"/>
                  <a:pt x="30209" y="2858"/>
                  <a:pt x="30176" y="2898"/>
                </a:cubicBezTo>
                <a:cubicBezTo>
                  <a:pt x="28464" y="4922"/>
                  <a:pt x="26824" y="7005"/>
                  <a:pt x="25256" y="9144"/>
                </a:cubicBezTo>
                <a:cubicBezTo>
                  <a:pt x="24435" y="10273"/>
                  <a:pt x="23639" y="11420"/>
                  <a:pt x="22870" y="12586"/>
                </a:cubicBezTo>
                <a:cubicBezTo>
                  <a:pt x="22370" y="13341"/>
                  <a:pt x="21985" y="14172"/>
                  <a:pt x="21048" y="14438"/>
                </a:cubicBezTo>
                <a:cubicBezTo>
                  <a:pt x="20343" y="14637"/>
                  <a:pt x="19521" y="14657"/>
                  <a:pt x="18799" y="14757"/>
                </a:cubicBezTo>
                <a:cubicBezTo>
                  <a:pt x="15724" y="15183"/>
                  <a:pt x="12643" y="15575"/>
                  <a:pt x="9548" y="15813"/>
                </a:cubicBezTo>
                <a:cubicBezTo>
                  <a:pt x="6956" y="16012"/>
                  <a:pt x="4377" y="15977"/>
                  <a:pt x="1788" y="16009"/>
                </a:cubicBezTo>
                <a:cubicBezTo>
                  <a:pt x="1837" y="15879"/>
                  <a:pt x="1855" y="15736"/>
                  <a:pt x="1816" y="15615"/>
                </a:cubicBezTo>
                <a:cubicBezTo>
                  <a:pt x="1798" y="15556"/>
                  <a:pt x="1778" y="15497"/>
                  <a:pt x="1759" y="15438"/>
                </a:cubicBezTo>
                <a:cubicBezTo>
                  <a:pt x="1745" y="15392"/>
                  <a:pt x="1726" y="15347"/>
                  <a:pt x="1703" y="15306"/>
                </a:cubicBezTo>
                <a:cubicBezTo>
                  <a:pt x="10986" y="10717"/>
                  <a:pt x="20120" y="5833"/>
                  <a:pt x="29411" y="1254"/>
                </a:cubicBezTo>
                <a:close/>
                <a:moveTo>
                  <a:pt x="26395" y="8892"/>
                </a:moveTo>
                <a:cubicBezTo>
                  <a:pt x="28004" y="9838"/>
                  <a:pt x="29911" y="10434"/>
                  <a:pt x="31549" y="11326"/>
                </a:cubicBezTo>
                <a:cubicBezTo>
                  <a:pt x="33390" y="12329"/>
                  <a:pt x="35083" y="13505"/>
                  <a:pt x="36814" y="14674"/>
                </a:cubicBezTo>
                <a:cubicBezTo>
                  <a:pt x="36810" y="14693"/>
                  <a:pt x="36810" y="14712"/>
                  <a:pt x="36805" y="14732"/>
                </a:cubicBezTo>
                <a:cubicBezTo>
                  <a:pt x="36673" y="15199"/>
                  <a:pt x="36153" y="15305"/>
                  <a:pt x="35745" y="15521"/>
                </a:cubicBezTo>
                <a:cubicBezTo>
                  <a:pt x="33939" y="16469"/>
                  <a:pt x="32140" y="17429"/>
                  <a:pt x="30339" y="18384"/>
                </a:cubicBezTo>
                <a:lnTo>
                  <a:pt x="10312" y="29005"/>
                </a:lnTo>
                <a:cubicBezTo>
                  <a:pt x="10650" y="26988"/>
                  <a:pt x="10593" y="24814"/>
                  <a:pt x="10861" y="22800"/>
                </a:cubicBezTo>
                <a:cubicBezTo>
                  <a:pt x="11148" y="20642"/>
                  <a:pt x="11717" y="18486"/>
                  <a:pt x="11935" y="16319"/>
                </a:cubicBezTo>
                <a:cubicBezTo>
                  <a:pt x="14570" y="16042"/>
                  <a:pt x="17185" y="15652"/>
                  <a:pt x="19712" y="15320"/>
                </a:cubicBezTo>
                <a:cubicBezTo>
                  <a:pt x="20602" y="15204"/>
                  <a:pt x="21612" y="15215"/>
                  <a:pt x="22318" y="14591"/>
                </a:cubicBezTo>
                <a:cubicBezTo>
                  <a:pt x="23239" y="13777"/>
                  <a:pt x="23839" y="12448"/>
                  <a:pt x="24543" y="11446"/>
                </a:cubicBezTo>
                <a:cubicBezTo>
                  <a:pt x="25149" y="10585"/>
                  <a:pt x="25769" y="9736"/>
                  <a:pt x="26395" y="8892"/>
                </a:cubicBezTo>
                <a:close/>
                <a:moveTo>
                  <a:pt x="11565" y="16355"/>
                </a:moveTo>
                <a:cubicBezTo>
                  <a:pt x="10848" y="18447"/>
                  <a:pt x="10590" y="20799"/>
                  <a:pt x="10286" y="22960"/>
                </a:cubicBezTo>
                <a:cubicBezTo>
                  <a:pt x="10010" y="24932"/>
                  <a:pt x="9540" y="27177"/>
                  <a:pt x="9673" y="29206"/>
                </a:cubicBezTo>
                <a:cubicBezTo>
                  <a:pt x="8215" y="27203"/>
                  <a:pt x="6825" y="25154"/>
                  <a:pt x="5529" y="23041"/>
                </a:cubicBezTo>
                <a:cubicBezTo>
                  <a:pt x="4815" y="21877"/>
                  <a:pt x="4127" y="20697"/>
                  <a:pt x="3466" y="19503"/>
                </a:cubicBezTo>
                <a:cubicBezTo>
                  <a:pt x="3136" y="18907"/>
                  <a:pt x="2811" y="18305"/>
                  <a:pt x="2495" y="17701"/>
                </a:cubicBezTo>
                <a:cubicBezTo>
                  <a:pt x="2372" y="17469"/>
                  <a:pt x="2008" y="16935"/>
                  <a:pt x="1782" y="16461"/>
                </a:cubicBezTo>
                <a:lnTo>
                  <a:pt x="1782" y="16461"/>
                </a:lnTo>
                <a:cubicBezTo>
                  <a:pt x="3104" y="16615"/>
                  <a:pt x="4445" y="16680"/>
                  <a:pt x="5796" y="16680"/>
                </a:cubicBezTo>
                <a:cubicBezTo>
                  <a:pt x="7709" y="16680"/>
                  <a:pt x="9641" y="16549"/>
                  <a:pt x="11565" y="16355"/>
                </a:cubicBezTo>
                <a:close/>
                <a:moveTo>
                  <a:pt x="29638" y="1"/>
                </a:moveTo>
                <a:cubicBezTo>
                  <a:pt x="29542" y="1"/>
                  <a:pt x="29444" y="23"/>
                  <a:pt x="29354" y="67"/>
                </a:cubicBezTo>
                <a:cubicBezTo>
                  <a:pt x="19808" y="4672"/>
                  <a:pt x="10218" y="9366"/>
                  <a:pt x="1071" y="14724"/>
                </a:cubicBezTo>
                <a:cubicBezTo>
                  <a:pt x="965" y="14785"/>
                  <a:pt x="908" y="14870"/>
                  <a:pt x="886" y="14959"/>
                </a:cubicBezTo>
                <a:cubicBezTo>
                  <a:pt x="700" y="14987"/>
                  <a:pt x="517" y="15082"/>
                  <a:pt x="443" y="15256"/>
                </a:cubicBezTo>
                <a:cubicBezTo>
                  <a:pt x="1" y="16298"/>
                  <a:pt x="752" y="17207"/>
                  <a:pt x="1237" y="18139"/>
                </a:cubicBezTo>
                <a:cubicBezTo>
                  <a:pt x="1987" y="19577"/>
                  <a:pt x="2773" y="20994"/>
                  <a:pt x="3599" y="22390"/>
                </a:cubicBezTo>
                <a:cubicBezTo>
                  <a:pt x="5248" y="25185"/>
                  <a:pt x="7051" y="27880"/>
                  <a:pt x="8980" y="30488"/>
                </a:cubicBezTo>
                <a:cubicBezTo>
                  <a:pt x="9128" y="30689"/>
                  <a:pt x="9332" y="30810"/>
                  <a:pt x="9556" y="30810"/>
                </a:cubicBezTo>
                <a:cubicBezTo>
                  <a:pt x="9661" y="30810"/>
                  <a:pt x="9771" y="30783"/>
                  <a:pt x="9882" y="30724"/>
                </a:cubicBezTo>
                <a:lnTo>
                  <a:pt x="33215" y="18348"/>
                </a:lnTo>
                <a:cubicBezTo>
                  <a:pt x="34116" y="17871"/>
                  <a:pt x="35016" y="17394"/>
                  <a:pt x="35917" y="16917"/>
                </a:cubicBezTo>
                <a:cubicBezTo>
                  <a:pt x="36568" y="16569"/>
                  <a:pt x="37474" y="16245"/>
                  <a:pt x="37968" y="15675"/>
                </a:cubicBezTo>
                <a:cubicBezTo>
                  <a:pt x="39019" y="14464"/>
                  <a:pt x="37236" y="12516"/>
                  <a:pt x="36631" y="11474"/>
                </a:cubicBezTo>
                <a:cubicBezTo>
                  <a:pt x="34460" y="7732"/>
                  <a:pt x="32244" y="4018"/>
                  <a:pt x="30100" y="262"/>
                </a:cubicBezTo>
                <a:cubicBezTo>
                  <a:pt x="29998" y="84"/>
                  <a:pt x="29822" y="1"/>
                  <a:pt x="296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1"/>
          <p:cNvSpPr txBox="1">
            <a:spLocks noGrp="1"/>
          </p:cNvSpPr>
          <p:nvPr>
            <p:ph type="title"/>
          </p:nvPr>
        </p:nvSpPr>
        <p:spPr>
          <a:xfrm>
            <a:off x="806168" y="1328541"/>
            <a:ext cx="2917800" cy="488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Visiting</a:t>
            </a:r>
          </a:p>
        </p:txBody>
      </p:sp>
      <p:sp>
        <p:nvSpPr>
          <p:cNvPr id="198" name="Google Shape;198;p31"/>
          <p:cNvSpPr txBox="1">
            <a:spLocks noGrp="1"/>
          </p:cNvSpPr>
          <p:nvPr>
            <p:ph type="subTitle" idx="1"/>
          </p:nvPr>
        </p:nvSpPr>
        <p:spPr>
          <a:xfrm>
            <a:off x="633818" y="1725447"/>
            <a:ext cx="3438673" cy="71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100" dirty="0"/>
              <a:t>A node is visited when program control arrives at the node, usually for the purpose of carrying out some operation on the node, such as checking the value of one of its data fields or displaying it. Merely passing over a node on the path from one node to another is not considered to be visiting the node.</a:t>
            </a:r>
          </a:p>
        </p:txBody>
      </p:sp>
      <p:sp>
        <p:nvSpPr>
          <p:cNvPr id="26" name="Google Shape;197;p31">
            <a:extLst>
              <a:ext uri="{FF2B5EF4-FFF2-40B4-BE49-F238E27FC236}">
                <a16:creationId xmlns:a16="http://schemas.microsoft.com/office/drawing/2014/main" id="{60F00A77-6FA6-4E01-A8B6-282F28FA4B28}"/>
              </a:ext>
            </a:extLst>
          </p:cNvPr>
          <p:cNvSpPr txBox="1">
            <a:spLocks/>
          </p:cNvSpPr>
          <p:nvPr/>
        </p:nvSpPr>
        <p:spPr>
          <a:xfrm>
            <a:off x="5057768" y="1299465"/>
            <a:ext cx="29178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en-US" dirty="0"/>
              <a:t>Levels</a:t>
            </a:r>
          </a:p>
        </p:txBody>
      </p:sp>
      <p:sp>
        <p:nvSpPr>
          <p:cNvPr id="27" name="Google Shape;198;p31">
            <a:extLst>
              <a:ext uri="{FF2B5EF4-FFF2-40B4-BE49-F238E27FC236}">
                <a16:creationId xmlns:a16="http://schemas.microsoft.com/office/drawing/2014/main" id="{643F6010-33C2-4EA7-9F1B-C4C559B45A33}"/>
              </a:ext>
            </a:extLst>
          </p:cNvPr>
          <p:cNvSpPr txBox="1">
            <a:spLocks/>
          </p:cNvSpPr>
          <p:nvPr/>
        </p:nvSpPr>
        <p:spPr>
          <a:xfrm>
            <a:off x="5005705" y="1696371"/>
            <a:ext cx="3318386" cy="71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1pPr>
            <a:lvl2pPr marL="914400" marR="0" lvl="1"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2pPr>
            <a:lvl3pPr marL="1371600" marR="0" lvl="2"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3pPr>
            <a:lvl4pPr marL="1828800" marR="0" lvl="3"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4pPr>
            <a:lvl5pPr marL="2286000" marR="0" lvl="4"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5pPr>
            <a:lvl6pPr marL="2743200" marR="0" lvl="5"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6pPr>
            <a:lvl7pPr marL="3200400" marR="0" lvl="6"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7pPr>
            <a:lvl8pPr marL="3657600" marR="0" lvl="7"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8pPr>
            <a:lvl9pPr marL="4114800" marR="0" lvl="8"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9pPr>
          </a:lstStyle>
          <a:p>
            <a:pPr marL="0" indent="0"/>
            <a:r>
              <a:rPr lang="en-US" sz="1100" dirty="0"/>
              <a:t>The level of a particular node refers to how many generations the node is from </a:t>
            </a:r>
            <a:r>
              <a:rPr lang="en-US" sz="1100" dirty="0" err="1"/>
              <a:t>theroot</a:t>
            </a:r>
            <a:r>
              <a:rPr lang="en-US" sz="1100" dirty="0"/>
              <a:t>. If we assume the root is Level 0, then its children will be Level 1, its grandchildren will be Level 2, and so on.</a:t>
            </a:r>
          </a:p>
        </p:txBody>
      </p:sp>
      <p:sp>
        <p:nvSpPr>
          <p:cNvPr id="9" name="Google Shape;197;p31">
            <a:extLst>
              <a:ext uri="{FF2B5EF4-FFF2-40B4-BE49-F238E27FC236}">
                <a16:creationId xmlns:a16="http://schemas.microsoft.com/office/drawing/2014/main" id="{BBF6450B-46DF-4DB1-BD8F-6128E5F045D0}"/>
              </a:ext>
            </a:extLst>
          </p:cNvPr>
          <p:cNvSpPr txBox="1">
            <a:spLocks/>
          </p:cNvSpPr>
          <p:nvPr/>
        </p:nvSpPr>
        <p:spPr>
          <a:xfrm>
            <a:off x="806168" y="3353330"/>
            <a:ext cx="29178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en-US" dirty="0"/>
              <a:t>Traversing</a:t>
            </a:r>
          </a:p>
        </p:txBody>
      </p:sp>
      <p:sp>
        <p:nvSpPr>
          <p:cNvPr id="10" name="Google Shape;198;p31">
            <a:extLst>
              <a:ext uri="{FF2B5EF4-FFF2-40B4-BE49-F238E27FC236}">
                <a16:creationId xmlns:a16="http://schemas.microsoft.com/office/drawing/2014/main" id="{0871F99E-E3C3-44A7-9A6C-B416F3BE65EB}"/>
              </a:ext>
            </a:extLst>
          </p:cNvPr>
          <p:cNvSpPr txBox="1">
            <a:spLocks/>
          </p:cNvSpPr>
          <p:nvPr/>
        </p:nvSpPr>
        <p:spPr>
          <a:xfrm>
            <a:off x="633818" y="3691244"/>
            <a:ext cx="3438673" cy="71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1pPr>
            <a:lvl2pPr marL="914400" marR="0" lvl="1"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2pPr>
            <a:lvl3pPr marL="1371600" marR="0" lvl="2"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3pPr>
            <a:lvl4pPr marL="1828800" marR="0" lvl="3"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4pPr>
            <a:lvl5pPr marL="2286000" marR="0" lvl="4"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5pPr>
            <a:lvl6pPr marL="2743200" marR="0" lvl="5"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6pPr>
            <a:lvl7pPr marL="3200400" marR="0" lvl="6"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7pPr>
            <a:lvl8pPr marL="3657600" marR="0" lvl="7"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8pPr>
            <a:lvl9pPr marL="4114800" marR="0" lvl="8"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9pPr>
          </a:lstStyle>
          <a:p>
            <a:pPr marL="0" indent="0"/>
            <a:r>
              <a:rPr lang="en-US" sz="1100" dirty="0"/>
              <a:t>To traverse a tree means to visit all the nodes in some specified order. For example, you might visit all the nodes in order of ascending key value. There are other ways to traverse a tree, as we’ll see later.</a:t>
            </a:r>
          </a:p>
        </p:txBody>
      </p:sp>
      <p:sp>
        <p:nvSpPr>
          <p:cNvPr id="11" name="Google Shape;197;p31">
            <a:extLst>
              <a:ext uri="{FF2B5EF4-FFF2-40B4-BE49-F238E27FC236}">
                <a16:creationId xmlns:a16="http://schemas.microsoft.com/office/drawing/2014/main" id="{84B96905-1D77-4C9D-BC62-674C67E979D3}"/>
              </a:ext>
            </a:extLst>
          </p:cNvPr>
          <p:cNvSpPr txBox="1">
            <a:spLocks/>
          </p:cNvSpPr>
          <p:nvPr/>
        </p:nvSpPr>
        <p:spPr>
          <a:xfrm>
            <a:off x="5005705" y="2728124"/>
            <a:ext cx="2917800" cy="488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2"/>
              </a:buClr>
              <a:buSzPts val="2100"/>
              <a:buFont typeface="Concert One"/>
              <a:buNone/>
              <a:defRPr sz="2100" b="1" i="0" u="none" strike="noStrike" cap="none">
                <a:solidFill>
                  <a:schemeClr val="accent2"/>
                </a:solidFill>
                <a:latin typeface="Concert One"/>
                <a:ea typeface="Concert One"/>
                <a:cs typeface="Concert One"/>
                <a:sym typeface="Concert One"/>
              </a:defRPr>
            </a:lvl1pPr>
            <a:lvl2pPr marR="0" lvl="1"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2pPr>
            <a:lvl3pPr marR="0" lvl="2"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3pPr>
            <a:lvl4pPr marR="0" lvl="3"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4pPr>
            <a:lvl5pPr marR="0" lvl="4"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5pPr>
            <a:lvl6pPr marR="0" lvl="5"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6pPr>
            <a:lvl7pPr marR="0" lvl="6"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7pPr>
            <a:lvl8pPr marR="0" lvl="7"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8pPr>
            <a:lvl9pPr marR="0" lvl="8" algn="ctr" rtl="0">
              <a:lnSpc>
                <a:spcPct val="100000"/>
              </a:lnSpc>
              <a:spcBef>
                <a:spcPts val="0"/>
              </a:spcBef>
              <a:spcAft>
                <a:spcPts val="0"/>
              </a:spcAft>
              <a:buClr>
                <a:schemeClr val="accent2"/>
              </a:buClr>
              <a:buSzPts val="3900"/>
              <a:buFont typeface="Arial"/>
              <a:buNone/>
              <a:defRPr sz="3900" b="0" i="0" u="none" strike="noStrike" cap="none">
                <a:solidFill>
                  <a:schemeClr val="accent2"/>
                </a:solidFill>
                <a:latin typeface="Arial"/>
                <a:ea typeface="Arial"/>
                <a:cs typeface="Arial"/>
                <a:sym typeface="Arial"/>
              </a:defRPr>
            </a:lvl9pPr>
          </a:lstStyle>
          <a:p>
            <a:r>
              <a:rPr lang="en-US" dirty="0"/>
              <a:t>Keys</a:t>
            </a:r>
          </a:p>
        </p:txBody>
      </p:sp>
      <p:sp>
        <p:nvSpPr>
          <p:cNvPr id="12" name="Google Shape;198;p31">
            <a:extLst>
              <a:ext uri="{FF2B5EF4-FFF2-40B4-BE49-F238E27FC236}">
                <a16:creationId xmlns:a16="http://schemas.microsoft.com/office/drawing/2014/main" id="{A81C0B38-A63E-4D6A-AA0D-90F9E670A3FA}"/>
              </a:ext>
            </a:extLst>
          </p:cNvPr>
          <p:cNvSpPr txBox="1">
            <a:spLocks/>
          </p:cNvSpPr>
          <p:nvPr/>
        </p:nvSpPr>
        <p:spPr>
          <a:xfrm>
            <a:off x="4953642" y="3125030"/>
            <a:ext cx="3318386" cy="716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1pPr>
            <a:lvl2pPr marL="914400" marR="0" lvl="1"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2pPr>
            <a:lvl3pPr marL="1371600" marR="0" lvl="2"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3pPr>
            <a:lvl4pPr marL="1828800" marR="0" lvl="3"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4pPr>
            <a:lvl5pPr marL="2286000" marR="0" lvl="4"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5pPr>
            <a:lvl6pPr marL="2743200" marR="0" lvl="5"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6pPr>
            <a:lvl7pPr marL="3200400" marR="0" lvl="6"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7pPr>
            <a:lvl8pPr marL="3657600" marR="0" lvl="7"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8pPr>
            <a:lvl9pPr marL="4114800" marR="0" lvl="8" indent="-317500" algn="ctr" rtl="0">
              <a:lnSpc>
                <a:spcPct val="100000"/>
              </a:lnSpc>
              <a:spcBef>
                <a:spcPts val="0"/>
              </a:spcBef>
              <a:spcAft>
                <a:spcPts val="0"/>
              </a:spcAft>
              <a:buClr>
                <a:schemeClr val="dk2"/>
              </a:buClr>
              <a:buSzPts val="1600"/>
              <a:buFont typeface="Roboto Mono Medium"/>
              <a:buNone/>
              <a:defRPr sz="1600" b="0" i="0" u="none" strike="noStrike" cap="none">
                <a:solidFill>
                  <a:schemeClr val="dk2"/>
                </a:solidFill>
                <a:latin typeface="Roboto Mono Medium"/>
                <a:ea typeface="Roboto Mono Medium"/>
                <a:cs typeface="Roboto Mono Medium"/>
                <a:sym typeface="Roboto Mono Medium"/>
              </a:defRPr>
            </a:lvl9pPr>
          </a:lstStyle>
          <a:p>
            <a:pPr marL="0" indent="0"/>
            <a:r>
              <a:rPr lang="en-US" sz="1100" dirty="0"/>
              <a:t>We’ve seen that one data field in an object is usually designated a key value. This value is used to search for the item or perform other operations on it. In tree diagrams, when a circle represents a node holding a data item, the key value of the item is typically shown in the circle. </a:t>
            </a:r>
          </a:p>
        </p:txBody>
      </p:sp>
    </p:spTree>
    <p:extLst>
      <p:ext uri="{BB962C8B-B14F-4D97-AF65-F5344CB8AC3E}">
        <p14:creationId xmlns:p14="http://schemas.microsoft.com/office/powerpoint/2010/main" val="1134977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pic>
        <p:nvPicPr>
          <p:cNvPr id="211" name="Google Shape;211;p32"/>
          <p:cNvPicPr preferRelativeResize="0"/>
          <p:nvPr/>
        </p:nvPicPr>
        <p:blipFill>
          <a:blip r:embed="rId3">
            <a:alphaModFix amt="86000"/>
          </a:blip>
          <a:stretch>
            <a:fillRect/>
          </a:stretch>
        </p:blipFill>
        <p:spPr>
          <a:xfrm rot="1344117">
            <a:off x="3922700" y="1324475"/>
            <a:ext cx="1496149" cy="1160650"/>
          </a:xfrm>
          <a:prstGeom prst="rect">
            <a:avLst/>
          </a:prstGeom>
          <a:noFill/>
          <a:ln>
            <a:noFill/>
          </a:ln>
        </p:spPr>
      </p:pic>
      <p:pic>
        <p:nvPicPr>
          <p:cNvPr id="212" name="Google Shape;212;p32"/>
          <p:cNvPicPr preferRelativeResize="0"/>
          <p:nvPr/>
        </p:nvPicPr>
        <p:blipFill rotWithShape="1">
          <a:blip r:embed="rId4">
            <a:alphaModFix/>
          </a:blip>
          <a:srcRect t="16970" r="8892" b="21025"/>
          <a:stretch/>
        </p:blipFill>
        <p:spPr>
          <a:xfrm rot="10800000">
            <a:off x="833700" y="1225600"/>
            <a:ext cx="2036850" cy="810276"/>
          </a:xfrm>
          <a:prstGeom prst="rect">
            <a:avLst/>
          </a:prstGeom>
          <a:noFill/>
          <a:ln>
            <a:noFill/>
          </a:ln>
        </p:spPr>
      </p:pic>
      <p:pic>
        <p:nvPicPr>
          <p:cNvPr id="213" name="Google Shape;213;p32"/>
          <p:cNvPicPr preferRelativeResize="0"/>
          <p:nvPr/>
        </p:nvPicPr>
        <p:blipFill rotWithShape="1">
          <a:blip r:embed="rId5">
            <a:alphaModFix/>
          </a:blip>
          <a:srcRect t="16734" r="8892" b="18300"/>
          <a:stretch/>
        </p:blipFill>
        <p:spPr>
          <a:xfrm rot="10800000">
            <a:off x="833700" y="1737957"/>
            <a:ext cx="2036850" cy="846042"/>
          </a:xfrm>
          <a:prstGeom prst="rect">
            <a:avLst/>
          </a:prstGeom>
          <a:noFill/>
          <a:ln>
            <a:noFill/>
          </a:ln>
        </p:spPr>
      </p:pic>
      <p:sp>
        <p:nvSpPr>
          <p:cNvPr id="214" name="Google Shape;214;p32"/>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Binary Trees</a:t>
            </a:r>
          </a:p>
        </p:txBody>
      </p:sp>
    </p:spTree>
    <p:extLst>
      <p:ext uri="{BB962C8B-B14F-4D97-AF65-F5344CB8AC3E}">
        <p14:creationId xmlns:p14="http://schemas.microsoft.com/office/powerpoint/2010/main" val="4019496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Use Binary Trees?</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233;p34">
            <a:extLst>
              <a:ext uri="{FF2B5EF4-FFF2-40B4-BE49-F238E27FC236}">
                <a16:creationId xmlns:a16="http://schemas.microsoft.com/office/drawing/2014/main" id="{40AD8177-B63E-464C-9672-DB804136FCBB}"/>
              </a:ext>
            </a:extLst>
          </p:cNvPr>
          <p:cNvSpPr txBox="1">
            <a:spLocks noGrp="1"/>
          </p:cNvSpPr>
          <p:nvPr>
            <p:ph type="title"/>
          </p:nvPr>
        </p:nvSpPr>
        <p:spPr>
          <a:xfrm>
            <a:off x="1324217" y="1145662"/>
            <a:ext cx="6899108" cy="1583439"/>
          </a:xfrm>
          <a:prstGeom prst="rect">
            <a:avLst/>
          </a:prstGeom>
        </p:spPr>
        <p:txBody>
          <a:bodyPr spcFirstLastPara="1" wrap="square" lIns="91425" tIns="91425" rIns="91425" bIns="91425" anchor="t" anchorCtr="0">
            <a:noAutofit/>
          </a:bodyPr>
          <a:lstStyle/>
          <a:p>
            <a:r>
              <a:rPr lang="en-US" sz="1400" dirty="0"/>
              <a:t>	It combines the advantages of two other structures: an ordered array and a linked list. You can search a tree quickly, as you can an ordered array, and you can also insert and delete items quickly, as you can with a linked list.</a:t>
            </a:r>
            <a:br>
              <a:rPr lang="en-US" sz="1400" dirty="0"/>
            </a:br>
            <a:br>
              <a:rPr lang="en-US" sz="1400" dirty="0"/>
            </a:br>
            <a:r>
              <a:rPr lang="en-US" sz="1400" dirty="0"/>
              <a:t>	If every node in a tree can have at most two children, the tree is called a </a:t>
            </a:r>
            <a:r>
              <a:rPr lang="en-US" sz="1400" b="1" u="sng" dirty="0"/>
              <a:t>binary tree</a:t>
            </a:r>
            <a:r>
              <a:rPr lang="en-US" sz="1400" dirty="0"/>
              <a:t>.</a:t>
            </a:r>
            <a:br>
              <a:rPr lang="en-US" sz="1400" dirty="0"/>
            </a:br>
            <a:r>
              <a:rPr lang="en-US" sz="1400" dirty="0"/>
              <a:t>	</a:t>
            </a:r>
            <a:br>
              <a:rPr lang="en-US" sz="1400" dirty="0"/>
            </a:br>
            <a:r>
              <a:rPr lang="en-US" sz="1400" dirty="0"/>
              <a:t>	The two children of each node in a binary tree are called the </a:t>
            </a:r>
            <a:r>
              <a:rPr lang="en-US" sz="1400" b="1" u="sng" dirty="0"/>
              <a:t>left child</a:t>
            </a:r>
            <a:r>
              <a:rPr lang="en-US" sz="1400" dirty="0"/>
              <a:t> and the </a:t>
            </a:r>
            <a:r>
              <a:rPr lang="en-US" sz="1400" b="1" u="sng" dirty="0"/>
              <a:t>right child</a:t>
            </a:r>
            <a:r>
              <a:rPr lang="en-US" sz="1400" dirty="0"/>
              <a:t>, corresponding to their positions when you draw a picture of a tree. A node in a binary tree doesn’t necessarily have the maximum of two children; it may have only a left child, or only a right child, or it can have no children at all (in which case it’s a leaf).</a:t>
            </a:r>
            <a:br>
              <a:rPr lang="en-PH" sz="1400" dirty="0"/>
            </a:br>
            <a:endParaRPr lang="en-PH" sz="1400" dirty="0"/>
          </a:p>
        </p:txBody>
      </p:sp>
    </p:spTree>
    <p:extLst>
      <p:ext uri="{BB962C8B-B14F-4D97-AF65-F5344CB8AC3E}">
        <p14:creationId xmlns:p14="http://schemas.microsoft.com/office/powerpoint/2010/main" val="2466314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397403" y="714063"/>
            <a:ext cx="1470368" cy="758224"/>
          </a:xfrm>
          <a:prstGeom prst="rect">
            <a:avLst/>
          </a:prstGeom>
          <a:noFill/>
          <a:ln>
            <a:noFill/>
          </a:ln>
        </p:spPr>
      </p:pic>
      <p:pic>
        <p:nvPicPr>
          <p:cNvPr id="391" name="Google Shape;391;p41"/>
          <p:cNvPicPr preferRelativeResize="0"/>
          <p:nvPr/>
        </p:nvPicPr>
        <p:blipFill>
          <a:blip r:embed="rId4">
            <a:alphaModFix/>
          </a:blip>
          <a:stretch>
            <a:fillRect/>
          </a:stretch>
        </p:blipFill>
        <p:spPr>
          <a:xfrm>
            <a:off x="3625983" y="3971820"/>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132587" y="473340"/>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sz="2400" b="1" dirty="0">
                <a:solidFill>
                  <a:srgbClr val="C00000"/>
                </a:solidFill>
                <a:latin typeface="Concert One" panose="020B0604020202020204" charset="0"/>
              </a:rPr>
              <a:t>A Binary Tree</a:t>
            </a:r>
          </a:p>
        </p:txBody>
      </p:sp>
      <p:pic>
        <p:nvPicPr>
          <p:cNvPr id="7" name="Picture 6">
            <a:extLst>
              <a:ext uri="{FF2B5EF4-FFF2-40B4-BE49-F238E27FC236}">
                <a16:creationId xmlns:a16="http://schemas.microsoft.com/office/drawing/2014/main" id="{5DE3E84D-B44F-48C9-9D08-257128C950E8}"/>
              </a:ext>
            </a:extLst>
          </p:cNvPr>
          <p:cNvPicPr>
            <a:picLocks noChangeAspect="1"/>
          </p:cNvPicPr>
          <p:nvPr/>
        </p:nvPicPr>
        <p:blipFill>
          <a:blip r:embed="rId5"/>
          <a:stretch>
            <a:fillRect/>
          </a:stretch>
        </p:blipFill>
        <p:spPr>
          <a:xfrm>
            <a:off x="3297052" y="1787312"/>
            <a:ext cx="3110569" cy="2101736"/>
          </a:xfrm>
          <a:prstGeom prst="rect">
            <a:avLst/>
          </a:prstGeom>
        </p:spPr>
      </p:pic>
      <p:sp>
        <p:nvSpPr>
          <p:cNvPr id="2" name="TextBox 1">
            <a:extLst>
              <a:ext uri="{FF2B5EF4-FFF2-40B4-BE49-F238E27FC236}">
                <a16:creationId xmlns:a16="http://schemas.microsoft.com/office/drawing/2014/main" id="{7487C3F9-08DE-40B2-9EA8-989635C3D671}"/>
              </a:ext>
            </a:extLst>
          </p:cNvPr>
          <p:cNvSpPr txBox="1"/>
          <p:nvPr/>
        </p:nvSpPr>
        <p:spPr>
          <a:xfrm>
            <a:off x="7016263" y="639149"/>
            <a:ext cx="1729154" cy="1615827"/>
          </a:xfrm>
          <a:prstGeom prst="rect">
            <a:avLst/>
          </a:prstGeom>
          <a:noFill/>
        </p:spPr>
        <p:txBody>
          <a:bodyPr wrap="square" rtlCol="0">
            <a:spAutoFit/>
          </a:bodyPr>
          <a:lstStyle/>
          <a:p>
            <a:r>
              <a:rPr lang="en-US" sz="1100" dirty="0">
                <a:solidFill>
                  <a:srgbClr val="F8F8F8"/>
                </a:solidFill>
                <a:latin typeface="Oxygen" panose="02000503000000000000" pitchFamily="2" charset="0"/>
              </a:rPr>
              <a:t>Based on the Binary Tree on the left, identify the following:</a:t>
            </a:r>
          </a:p>
          <a:p>
            <a:endParaRPr lang="en-US" sz="1100" dirty="0">
              <a:solidFill>
                <a:srgbClr val="F8F8F8"/>
              </a:solidFill>
              <a:latin typeface="Oxygen" panose="02000503000000000000" pitchFamily="2" charset="0"/>
            </a:endParaRPr>
          </a:p>
          <a:p>
            <a:r>
              <a:rPr lang="en-US" sz="1100" b="1" dirty="0">
                <a:solidFill>
                  <a:srgbClr val="F8F8F8"/>
                </a:solidFill>
                <a:latin typeface="Oxygen" panose="02000503000000000000" pitchFamily="2" charset="0"/>
              </a:rPr>
              <a:t>1. Root</a:t>
            </a:r>
          </a:p>
          <a:p>
            <a:r>
              <a:rPr lang="en-US" sz="1100" b="1" dirty="0">
                <a:solidFill>
                  <a:srgbClr val="F8F8F8"/>
                </a:solidFill>
                <a:latin typeface="Oxygen" panose="02000503000000000000" pitchFamily="2" charset="0"/>
              </a:rPr>
              <a:t>2. Leaf</a:t>
            </a:r>
          </a:p>
          <a:p>
            <a:r>
              <a:rPr lang="en-US" sz="1100" b="1" dirty="0">
                <a:solidFill>
                  <a:srgbClr val="F8F8F8"/>
                </a:solidFill>
                <a:latin typeface="Oxygen" panose="02000503000000000000" pitchFamily="2" charset="0"/>
              </a:rPr>
              <a:t>3. Subtree</a:t>
            </a:r>
          </a:p>
          <a:p>
            <a:r>
              <a:rPr lang="en-US" sz="1100" b="1" dirty="0">
                <a:solidFill>
                  <a:srgbClr val="F8F8F8"/>
                </a:solidFill>
                <a:latin typeface="Oxygen" panose="02000503000000000000" pitchFamily="2" charset="0"/>
              </a:rPr>
              <a:t>4. Levels</a:t>
            </a:r>
          </a:p>
          <a:p>
            <a:endParaRPr lang="en-US" sz="1100" dirty="0">
              <a:solidFill>
                <a:srgbClr val="F8F8F8"/>
              </a:solidFill>
              <a:latin typeface="Oxygen" panose="02000503000000000000" pitchFamily="2" charset="0"/>
            </a:endParaRPr>
          </a:p>
        </p:txBody>
      </p:sp>
      <p:pic>
        <p:nvPicPr>
          <p:cNvPr id="4" name="Graphic 3" descr="Scientific Thought with solid fill">
            <a:extLst>
              <a:ext uri="{FF2B5EF4-FFF2-40B4-BE49-F238E27FC236}">
                <a16:creationId xmlns:a16="http://schemas.microsoft.com/office/drawing/2014/main" id="{E07BCBEE-273D-4D57-B65D-6A7E8A0B4E3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70631" y="182004"/>
            <a:ext cx="667919" cy="667919"/>
          </a:xfrm>
          <a:prstGeom prst="rect">
            <a:avLst/>
          </a:prstGeom>
        </p:spPr>
      </p:pic>
    </p:spTree>
    <p:extLst>
      <p:ext uri="{BB962C8B-B14F-4D97-AF65-F5344CB8AC3E}">
        <p14:creationId xmlns:p14="http://schemas.microsoft.com/office/powerpoint/2010/main" val="3758321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34"/>
          <p:cNvSpPr txBox="1">
            <a:spLocks noGrp="1"/>
          </p:cNvSpPr>
          <p:nvPr>
            <p:ph type="subTitle" idx="1"/>
          </p:nvPr>
        </p:nvSpPr>
        <p:spPr>
          <a:xfrm>
            <a:off x="1307759" y="531752"/>
            <a:ext cx="3439500"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Binary Tree Sample</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a:extLst>
              <a:ext uri="{FF2B5EF4-FFF2-40B4-BE49-F238E27FC236}">
                <a16:creationId xmlns:a16="http://schemas.microsoft.com/office/drawing/2014/main" id="{957E8529-5ADF-492F-B654-453C66729060}"/>
              </a:ext>
            </a:extLst>
          </p:cNvPr>
          <p:cNvPicPr>
            <a:picLocks noChangeAspect="1"/>
          </p:cNvPicPr>
          <p:nvPr/>
        </p:nvPicPr>
        <p:blipFill>
          <a:blip r:embed="rId4"/>
          <a:stretch>
            <a:fillRect/>
          </a:stretch>
        </p:blipFill>
        <p:spPr>
          <a:xfrm>
            <a:off x="2179370" y="1157800"/>
            <a:ext cx="4509023" cy="2982031"/>
          </a:xfrm>
          <a:prstGeom prst="rect">
            <a:avLst/>
          </a:prstGeom>
        </p:spPr>
      </p:pic>
    </p:spTree>
    <p:extLst>
      <p:ext uri="{BB962C8B-B14F-4D97-AF65-F5344CB8AC3E}">
        <p14:creationId xmlns:p14="http://schemas.microsoft.com/office/powerpoint/2010/main" val="648974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a:spLocks noGrp="1"/>
          </p:cNvSpPr>
          <p:nvPr>
            <p:ph type="title" idx="2"/>
          </p:nvPr>
        </p:nvSpPr>
        <p:spPr>
          <a:xfrm>
            <a:off x="3778200" y="1403800"/>
            <a:ext cx="1587600" cy="10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pic>
        <p:nvPicPr>
          <p:cNvPr id="211" name="Google Shape;211;p32"/>
          <p:cNvPicPr preferRelativeResize="0"/>
          <p:nvPr/>
        </p:nvPicPr>
        <p:blipFill>
          <a:blip r:embed="rId3">
            <a:alphaModFix amt="86000"/>
          </a:blip>
          <a:stretch>
            <a:fillRect/>
          </a:stretch>
        </p:blipFill>
        <p:spPr>
          <a:xfrm rot="1344117">
            <a:off x="3922699" y="1324475"/>
            <a:ext cx="1496149" cy="1160650"/>
          </a:xfrm>
          <a:prstGeom prst="rect">
            <a:avLst/>
          </a:prstGeom>
          <a:noFill/>
          <a:ln>
            <a:noFill/>
          </a:ln>
        </p:spPr>
      </p:pic>
      <p:pic>
        <p:nvPicPr>
          <p:cNvPr id="212" name="Google Shape;212;p32"/>
          <p:cNvPicPr preferRelativeResize="0"/>
          <p:nvPr/>
        </p:nvPicPr>
        <p:blipFill rotWithShape="1">
          <a:blip r:embed="rId4">
            <a:alphaModFix/>
          </a:blip>
          <a:srcRect t="16970" r="8892" b="21025"/>
          <a:stretch/>
        </p:blipFill>
        <p:spPr>
          <a:xfrm rot="10800000">
            <a:off x="833700" y="1225600"/>
            <a:ext cx="2036850" cy="810276"/>
          </a:xfrm>
          <a:prstGeom prst="rect">
            <a:avLst/>
          </a:prstGeom>
          <a:noFill/>
          <a:ln>
            <a:noFill/>
          </a:ln>
        </p:spPr>
      </p:pic>
      <p:pic>
        <p:nvPicPr>
          <p:cNvPr id="213" name="Google Shape;213;p32"/>
          <p:cNvPicPr preferRelativeResize="0"/>
          <p:nvPr/>
        </p:nvPicPr>
        <p:blipFill rotWithShape="1">
          <a:blip r:embed="rId5">
            <a:alphaModFix/>
          </a:blip>
          <a:srcRect t="16734" r="8892" b="18300"/>
          <a:stretch/>
        </p:blipFill>
        <p:spPr>
          <a:xfrm rot="10800000">
            <a:off x="833700" y="1737957"/>
            <a:ext cx="2036850" cy="846042"/>
          </a:xfrm>
          <a:prstGeom prst="rect">
            <a:avLst/>
          </a:prstGeom>
          <a:noFill/>
          <a:ln>
            <a:noFill/>
          </a:ln>
        </p:spPr>
      </p:pic>
      <p:sp>
        <p:nvSpPr>
          <p:cNvPr id="214" name="Google Shape;214;p32"/>
          <p:cNvSpPr txBox="1">
            <a:spLocks noGrp="1"/>
          </p:cNvSpPr>
          <p:nvPr>
            <p:ph type="title"/>
          </p:nvPr>
        </p:nvSpPr>
        <p:spPr>
          <a:xfrm>
            <a:off x="2673000" y="2550900"/>
            <a:ext cx="3798000" cy="815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Binary Search Trees</a:t>
            </a:r>
          </a:p>
        </p:txBody>
      </p:sp>
    </p:spTree>
    <p:extLst>
      <p:ext uri="{BB962C8B-B14F-4D97-AF65-F5344CB8AC3E}">
        <p14:creationId xmlns:p14="http://schemas.microsoft.com/office/powerpoint/2010/main" val="4223959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34"/>
          <p:cNvSpPr txBox="1">
            <a:spLocks noGrp="1"/>
          </p:cNvSpPr>
          <p:nvPr>
            <p:ph type="subTitle" idx="1"/>
          </p:nvPr>
        </p:nvSpPr>
        <p:spPr>
          <a:xfrm>
            <a:off x="1307758" y="531752"/>
            <a:ext cx="510041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How Do Binary Search Trees Work?</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233;p34">
            <a:extLst>
              <a:ext uri="{FF2B5EF4-FFF2-40B4-BE49-F238E27FC236}">
                <a16:creationId xmlns:a16="http://schemas.microsoft.com/office/drawing/2014/main" id="{40AD8177-B63E-464C-9672-DB804136FCBB}"/>
              </a:ext>
            </a:extLst>
          </p:cNvPr>
          <p:cNvSpPr txBox="1">
            <a:spLocks noGrp="1"/>
          </p:cNvSpPr>
          <p:nvPr>
            <p:ph type="title"/>
          </p:nvPr>
        </p:nvSpPr>
        <p:spPr>
          <a:xfrm>
            <a:off x="1324217" y="1145662"/>
            <a:ext cx="6899108" cy="1583439"/>
          </a:xfrm>
          <a:prstGeom prst="rect">
            <a:avLst/>
          </a:prstGeom>
        </p:spPr>
        <p:txBody>
          <a:bodyPr spcFirstLastPara="1" wrap="square" lIns="91425" tIns="91425" rIns="91425" bIns="91425" anchor="t" anchorCtr="0">
            <a:noAutofit/>
          </a:bodyPr>
          <a:lstStyle/>
          <a:p>
            <a:r>
              <a:rPr lang="en-US" sz="1400" dirty="0"/>
              <a:t>Common binary tree operations:</a:t>
            </a:r>
            <a:br>
              <a:rPr lang="en-US" sz="1400" dirty="0"/>
            </a:br>
            <a:r>
              <a:rPr lang="en-US" sz="1400" dirty="0"/>
              <a:t>    finding a node with a given key</a:t>
            </a:r>
            <a:br>
              <a:rPr lang="en-US" sz="1400" dirty="0"/>
            </a:br>
            <a:r>
              <a:rPr lang="en-US" sz="1400" dirty="0"/>
              <a:t>    inserting a new node</a:t>
            </a:r>
            <a:br>
              <a:rPr lang="en-US" sz="1400" dirty="0"/>
            </a:br>
            <a:r>
              <a:rPr lang="en-US" sz="1400" dirty="0"/>
              <a:t>    traversing the tree</a:t>
            </a:r>
            <a:br>
              <a:rPr lang="en-US" sz="1400" dirty="0"/>
            </a:br>
            <a:r>
              <a:rPr lang="en-US" sz="1400" dirty="0"/>
              <a:t>    deleting a node</a:t>
            </a:r>
            <a:endParaRPr lang="en-PH" sz="1400" dirty="0"/>
          </a:p>
        </p:txBody>
      </p:sp>
      <p:sp>
        <p:nvSpPr>
          <p:cNvPr id="15" name="Arrow: Right 14">
            <a:extLst>
              <a:ext uri="{FF2B5EF4-FFF2-40B4-BE49-F238E27FC236}">
                <a16:creationId xmlns:a16="http://schemas.microsoft.com/office/drawing/2014/main" id="{C7863840-F5AF-453B-84DA-C3363BABAF78}"/>
              </a:ext>
            </a:extLst>
          </p:cNvPr>
          <p:cNvSpPr/>
          <p:nvPr/>
        </p:nvSpPr>
        <p:spPr>
          <a:xfrm>
            <a:off x="1670255" y="1511908"/>
            <a:ext cx="169606" cy="1327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2CC56A1D-46EC-4FB3-9E8B-B9995A4B830A}"/>
              </a:ext>
            </a:extLst>
          </p:cNvPr>
          <p:cNvSpPr/>
          <p:nvPr/>
        </p:nvSpPr>
        <p:spPr>
          <a:xfrm>
            <a:off x="1670255" y="1733577"/>
            <a:ext cx="169606" cy="1327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19AD361E-3B2C-4DBA-A2F9-197D2E85989E}"/>
              </a:ext>
            </a:extLst>
          </p:cNvPr>
          <p:cNvSpPr/>
          <p:nvPr/>
        </p:nvSpPr>
        <p:spPr>
          <a:xfrm>
            <a:off x="1670255" y="1925750"/>
            <a:ext cx="169606" cy="1327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FC20B66A-7886-4F59-A41D-1F96EF969076}"/>
              </a:ext>
            </a:extLst>
          </p:cNvPr>
          <p:cNvSpPr/>
          <p:nvPr/>
        </p:nvSpPr>
        <p:spPr>
          <a:xfrm>
            <a:off x="1670255" y="2147419"/>
            <a:ext cx="169606" cy="13273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29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3" name="Google Shape;253;p35"/>
          <p:cNvSpPr txBox="1">
            <a:spLocks noGrp="1"/>
          </p:cNvSpPr>
          <p:nvPr>
            <p:ph type="title"/>
          </p:nvPr>
        </p:nvSpPr>
        <p:spPr>
          <a:xfrm>
            <a:off x="606627" y="490097"/>
            <a:ext cx="3355823" cy="5055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Binary Search Tree Sample Program</a:t>
            </a:r>
          </a:p>
        </p:txBody>
      </p:sp>
      <p:pic>
        <p:nvPicPr>
          <p:cNvPr id="257" name="Google Shape;257;p35"/>
          <p:cNvPicPr preferRelativeResize="0"/>
          <p:nvPr/>
        </p:nvPicPr>
        <p:blipFill>
          <a:blip r:embed="rId3">
            <a:alphaModFix amt="80000"/>
          </a:blip>
          <a:stretch>
            <a:fillRect/>
          </a:stretch>
        </p:blipFill>
        <p:spPr>
          <a:xfrm rot="-6023610">
            <a:off x="7963517" y="2555734"/>
            <a:ext cx="1579416" cy="716443"/>
          </a:xfrm>
          <a:prstGeom prst="rect">
            <a:avLst/>
          </a:prstGeom>
          <a:noFill/>
          <a:ln>
            <a:noFill/>
          </a:ln>
        </p:spPr>
      </p:pic>
      <p:pic>
        <p:nvPicPr>
          <p:cNvPr id="13" name="Picture 12">
            <a:extLst>
              <a:ext uri="{FF2B5EF4-FFF2-40B4-BE49-F238E27FC236}">
                <a16:creationId xmlns:a16="http://schemas.microsoft.com/office/drawing/2014/main" id="{8750BB47-A177-4766-B94F-C1F8D6D19123}"/>
              </a:ext>
            </a:extLst>
          </p:cNvPr>
          <p:cNvPicPr>
            <a:picLocks noChangeAspect="1"/>
          </p:cNvPicPr>
          <p:nvPr/>
        </p:nvPicPr>
        <p:blipFill>
          <a:blip r:embed="rId4"/>
          <a:stretch>
            <a:fillRect/>
          </a:stretch>
        </p:blipFill>
        <p:spPr>
          <a:xfrm>
            <a:off x="1879316" y="1405225"/>
            <a:ext cx="6136432" cy="3252309"/>
          </a:xfrm>
          <a:prstGeom prst="roundRect">
            <a:avLst>
              <a:gd name="adj" fmla="val 3876"/>
            </a:avLst>
          </a:prstGeom>
          <a:ln>
            <a:solidFill>
              <a:schemeClr val="accent1"/>
            </a:solidFill>
          </a:ln>
          <a:effectLst/>
        </p:spPr>
      </p:pic>
      <p:sp>
        <p:nvSpPr>
          <p:cNvPr id="256" name="Google Shape;256;p35"/>
          <p:cNvSpPr/>
          <p:nvPr/>
        </p:nvSpPr>
        <p:spPr>
          <a:xfrm rot="-2700000">
            <a:off x="7692030" y="4453610"/>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5" name="Google Shape;255;p35"/>
          <p:cNvSpPr/>
          <p:nvPr/>
        </p:nvSpPr>
        <p:spPr>
          <a:xfrm rot="-2700000">
            <a:off x="1555596" y="1272059"/>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Tree>
    <p:extLst>
      <p:ext uri="{BB962C8B-B14F-4D97-AF65-F5344CB8AC3E}">
        <p14:creationId xmlns:p14="http://schemas.microsoft.com/office/powerpoint/2010/main" val="2047388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4">
            <a:alphaModFix/>
          </a:blip>
          <a:stretch>
            <a:fillRect/>
          </a:stretch>
        </p:blipFill>
        <p:spPr>
          <a:xfrm>
            <a:off x="3495926" y="4189091"/>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355877" y="482496"/>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b="1" dirty="0">
                <a:solidFill>
                  <a:srgbClr val="C00000"/>
                </a:solidFill>
                <a:latin typeface="Concert One" panose="020B0604020202020204" charset="0"/>
              </a:rPr>
              <a:t>Inserting a Node</a:t>
            </a:r>
          </a:p>
        </p:txBody>
      </p:sp>
      <p:sp>
        <p:nvSpPr>
          <p:cNvPr id="2" name="TextBox 1">
            <a:extLst>
              <a:ext uri="{FF2B5EF4-FFF2-40B4-BE49-F238E27FC236}">
                <a16:creationId xmlns:a16="http://schemas.microsoft.com/office/drawing/2014/main" id="{AD5394C2-2775-4E67-85F4-2918A5507EF9}"/>
              </a:ext>
            </a:extLst>
          </p:cNvPr>
          <p:cNvSpPr txBox="1"/>
          <p:nvPr/>
        </p:nvSpPr>
        <p:spPr>
          <a:xfrm>
            <a:off x="3355877" y="791446"/>
            <a:ext cx="3244799" cy="261610"/>
          </a:xfrm>
          <a:prstGeom prst="rect">
            <a:avLst/>
          </a:prstGeom>
          <a:noFill/>
        </p:spPr>
        <p:txBody>
          <a:bodyPr wrap="none" rtlCol="0">
            <a:spAutoFit/>
          </a:bodyPr>
          <a:lstStyle/>
          <a:p>
            <a:r>
              <a:rPr lang="en-US" sz="1100" b="0" i="0" dirty="0">
                <a:solidFill>
                  <a:srgbClr val="444444"/>
                </a:solidFill>
                <a:effectLst/>
                <a:latin typeface="Oxygen" panose="020B0604020202020204" pitchFamily="2" charset="0"/>
              </a:rPr>
              <a:t>Input:   { </a:t>
            </a:r>
            <a:r>
              <a:rPr lang="en-US" sz="1100" b="1" i="0" dirty="0">
                <a:solidFill>
                  <a:srgbClr val="444444"/>
                </a:solidFill>
                <a:effectLst/>
                <a:latin typeface="Oxygen" panose="020B0604020202020204" pitchFamily="2" charset="0"/>
              </a:rPr>
              <a:t>40, 4, 34, 45, 14, 55, 48, 13, 15, 49, 47 </a:t>
            </a:r>
            <a:r>
              <a:rPr lang="en-US" sz="1100" b="0" i="0" dirty="0">
                <a:solidFill>
                  <a:srgbClr val="444444"/>
                </a:solidFill>
                <a:effectLst/>
                <a:latin typeface="Oxygen" panose="020B0604020202020204" pitchFamily="2" charset="0"/>
              </a:rPr>
              <a:t>}</a:t>
            </a:r>
            <a:endParaRPr lang="en-US" sz="1100" dirty="0"/>
          </a:p>
        </p:txBody>
      </p:sp>
      <p:sp>
        <p:nvSpPr>
          <p:cNvPr id="3" name="Oval 2">
            <a:extLst>
              <a:ext uri="{FF2B5EF4-FFF2-40B4-BE49-F238E27FC236}">
                <a16:creationId xmlns:a16="http://schemas.microsoft.com/office/drawing/2014/main" id="{8BC2788A-8C79-4CB6-BF7F-E0A0F4D7B13E}"/>
              </a:ext>
            </a:extLst>
          </p:cNvPr>
          <p:cNvSpPr/>
          <p:nvPr/>
        </p:nvSpPr>
        <p:spPr>
          <a:xfrm>
            <a:off x="4442543" y="133057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40</a:t>
            </a:r>
          </a:p>
        </p:txBody>
      </p:sp>
      <p:sp>
        <p:nvSpPr>
          <p:cNvPr id="5" name="Rectangle 4">
            <a:extLst>
              <a:ext uri="{FF2B5EF4-FFF2-40B4-BE49-F238E27FC236}">
                <a16:creationId xmlns:a16="http://schemas.microsoft.com/office/drawing/2014/main" id="{49AF76E1-86A0-46A5-88B9-57649F8F2773}"/>
              </a:ext>
            </a:extLst>
          </p:cNvPr>
          <p:cNvSpPr/>
          <p:nvPr/>
        </p:nvSpPr>
        <p:spPr>
          <a:xfrm>
            <a:off x="2935741" y="1326587"/>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40</a:t>
            </a:r>
          </a:p>
        </p:txBody>
      </p:sp>
      <p:cxnSp>
        <p:nvCxnSpPr>
          <p:cNvPr id="10" name="Straight Arrow Connector 9">
            <a:extLst>
              <a:ext uri="{FF2B5EF4-FFF2-40B4-BE49-F238E27FC236}">
                <a16:creationId xmlns:a16="http://schemas.microsoft.com/office/drawing/2014/main" id="{0E185E4D-61F1-4ED7-8305-35B1C79E91B4}"/>
              </a:ext>
            </a:extLst>
          </p:cNvPr>
          <p:cNvCxnSpPr>
            <a:stCxn id="3" idx="3"/>
          </p:cNvCxnSpPr>
          <p:nvPr/>
        </p:nvCxnSpPr>
        <p:spPr>
          <a:xfrm flipH="1">
            <a:off x="3810503" y="1608769"/>
            <a:ext cx="697279" cy="218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D0405D29-D7ED-4D6D-8BCA-EDE3AC6E2D04}"/>
              </a:ext>
            </a:extLst>
          </p:cNvPr>
          <p:cNvSpPr/>
          <p:nvPr/>
        </p:nvSpPr>
        <p:spPr>
          <a:xfrm>
            <a:off x="3432267" y="1794407"/>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a:t>
            </a:r>
          </a:p>
        </p:txBody>
      </p:sp>
      <p:sp>
        <p:nvSpPr>
          <p:cNvPr id="15" name="Rectangle 14">
            <a:extLst>
              <a:ext uri="{FF2B5EF4-FFF2-40B4-BE49-F238E27FC236}">
                <a16:creationId xmlns:a16="http://schemas.microsoft.com/office/drawing/2014/main" id="{3B9A044A-AE9B-48B4-9A90-09FAB836C26D}"/>
              </a:ext>
            </a:extLst>
          </p:cNvPr>
          <p:cNvSpPr/>
          <p:nvPr/>
        </p:nvSpPr>
        <p:spPr>
          <a:xfrm>
            <a:off x="2935741" y="1321680"/>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a:t>
            </a:r>
          </a:p>
        </p:txBody>
      </p:sp>
      <p:sp>
        <p:nvSpPr>
          <p:cNvPr id="16" name="Rectangle 15">
            <a:extLst>
              <a:ext uri="{FF2B5EF4-FFF2-40B4-BE49-F238E27FC236}">
                <a16:creationId xmlns:a16="http://schemas.microsoft.com/office/drawing/2014/main" id="{CC0D0930-C07B-4980-91BD-BE9C517CF217}"/>
              </a:ext>
            </a:extLst>
          </p:cNvPr>
          <p:cNvSpPr/>
          <p:nvPr/>
        </p:nvSpPr>
        <p:spPr>
          <a:xfrm>
            <a:off x="2935740" y="1321679"/>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34</a:t>
            </a:r>
          </a:p>
        </p:txBody>
      </p:sp>
      <p:sp>
        <p:nvSpPr>
          <p:cNvPr id="17" name="Oval 16">
            <a:extLst>
              <a:ext uri="{FF2B5EF4-FFF2-40B4-BE49-F238E27FC236}">
                <a16:creationId xmlns:a16="http://schemas.microsoft.com/office/drawing/2014/main" id="{F9BBE720-B219-4261-845F-A37E83B91900}"/>
              </a:ext>
            </a:extLst>
          </p:cNvPr>
          <p:cNvSpPr/>
          <p:nvPr/>
        </p:nvSpPr>
        <p:spPr>
          <a:xfrm>
            <a:off x="4285043" y="2190867"/>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34</a:t>
            </a:r>
          </a:p>
        </p:txBody>
      </p:sp>
      <p:cxnSp>
        <p:nvCxnSpPr>
          <p:cNvPr id="12" name="Straight Arrow Connector 11">
            <a:extLst>
              <a:ext uri="{FF2B5EF4-FFF2-40B4-BE49-F238E27FC236}">
                <a16:creationId xmlns:a16="http://schemas.microsoft.com/office/drawing/2014/main" id="{DF3C4393-0E92-4CDC-A001-6F966E164CDC}"/>
              </a:ext>
            </a:extLst>
          </p:cNvPr>
          <p:cNvCxnSpPr>
            <a:stCxn id="14" idx="6"/>
            <a:endCxn id="17" idx="1"/>
          </p:cNvCxnSpPr>
          <p:nvPr/>
        </p:nvCxnSpPr>
        <p:spPr>
          <a:xfrm>
            <a:off x="3877744" y="1957370"/>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C7FDBB1A-4BD6-40FF-A391-A6CA26BAD592}"/>
              </a:ext>
            </a:extLst>
          </p:cNvPr>
          <p:cNvSpPr/>
          <p:nvPr/>
        </p:nvSpPr>
        <p:spPr>
          <a:xfrm>
            <a:off x="2935739" y="1326125"/>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45</a:t>
            </a:r>
          </a:p>
        </p:txBody>
      </p:sp>
      <p:sp>
        <p:nvSpPr>
          <p:cNvPr id="21" name="Oval 20">
            <a:extLst>
              <a:ext uri="{FF2B5EF4-FFF2-40B4-BE49-F238E27FC236}">
                <a16:creationId xmlns:a16="http://schemas.microsoft.com/office/drawing/2014/main" id="{62426349-93C7-4ECC-A5F9-3048B4203387}"/>
              </a:ext>
            </a:extLst>
          </p:cNvPr>
          <p:cNvSpPr/>
          <p:nvPr/>
        </p:nvSpPr>
        <p:spPr>
          <a:xfrm>
            <a:off x="5277993" y="1779906"/>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45</a:t>
            </a:r>
          </a:p>
        </p:txBody>
      </p:sp>
      <p:cxnSp>
        <p:nvCxnSpPr>
          <p:cNvPr id="22" name="Straight Arrow Connector 21">
            <a:extLst>
              <a:ext uri="{FF2B5EF4-FFF2-40B4-BE49-F238E27FC236}">
                <a16:creationId xmlns:a16="http://schemas.microsoft.com/office/drawing/2014/main" id="{73A91691-CE25-48A6-A159-D0617293EC91}"/>
              </a:ext>
            </a:extLst>
          </p:cNvPr>
          <p:cNvCxnSpPr>
            <a:endCxn id="21" idx="1"/>
          </p:cNvCxnSpPr>
          <p:nvPr/>
        </p:nvCxnSpPr>
        <p:spPr>
          <a:xfrm>
            <a:off x="4870694" y="1546409"/>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70467B5-052F-4223-B254-09C492C1E20A}"/>
              </a:ext>
            </a:extLst>
          </p:cNvPr>
          <p:cNvSpPr/>
          <p:nvPr/>
        </p:nvSpPr>
        <p:spPr>
          <a:xfrm>
            <a:off x="2933856" y="1325663"/>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14</a:t>
            </a:r>
          </a:p>
        </p:txBody>
      </p:sp>
      <p:cxnSp>
        <p:nvCxnSpPr>
          <p:cNvPr id="24" name="Straight Arrow Connector 23">
            <a:extLst>
              <a:ext uri="{FF2B5EF4-FFF2-40B4-BE49-F238E27FC236}">
                <a16:creationId xmlns:a16="http://schemas.microsoft.com/office/drawing/2014/main" id="{A1182170-E3CE-4D4D-9A84-9FFA18BB4E6A}"/>
              </a:ext>
            </a:extLst>
          </p:cNvPr>
          <p:cNvCxnSpPr>
            <a:cxnSpLocks/>
            <a:stCxn id="17" idx="2"/>
          </p:cNvCxnSpPr>
          <p:nvPr/>
        </p:nvCxnSpPr>
        <p:spPr>
          <a:xfrm flipH="1">
            <a:off x="3653005" y="2353830"/>
            <a:ext cx="632038" cy="350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BA2F04C-4965-4BD2-B570-6FFBC130A215}"/>
              </a:ext>
            </a:extLst>
          </p:cNvPr>
          <p:cNvSpPr/>
          <p:nvPr/>
        </p:nvSpPr>
        <p:spPr>
          <a:xfrm>
            <a:off x="3274767" y="267091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14</a:t>
            </a:r>
          </a:p>
        </p:txBody>
      </p:sp>
      <p:sp>
        <p:nvSpPr>
          <p:cNvPr id="28" name="Oval 27">
            <a:extLst>
              <a:ext uri="{FF2B5EF4-FFF2-40B4-BE49-F238E27FC236}">
                <a16:creationId xmlns:a16="http://schemas.microsoft.com/office/drawing/2014/main" id="{21FF5419-C941-4FB6-BC7C-65D7F5A78FC4}"/>
              </a:ext>
            </a:extLst>
          </p:cNvPr>
          <p:cNvSpPr/>
          <p:nvPr/>
        </p:nvSpPr>
        <p:spPr>
          <a:xfrm>
            <a:off x="6106076" y="2250338"/>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55</a:t>
            </a:r>
          </a:p>
        </p:txBody>
      </p:sp>
      <p:cxnSp>
        <p:nvCxnSpPr>
          <p:cNvPr id="29" name="Straight Arrow Connector 28">
            <a:extLst>
              <a:ext uri="{FF2B5EF4-FFF2-40B4-BE49-F238E27FC236}">
                <a16:creationId xmlns:a16="http://schemas.microsoft.com/office/drawing/2014/main" id="{BD07AF66-E14A-4013-A828-11DBCA6A0300}"/>
              </a:ext>
            </a:extLst>
          </p:cNvPr>
          <p:cNvCxnSpPr>
            <a:endCxn id="28" idx="1"/>
          </p:cNvCxnSpPr>
          <p:nvPr/>
        </p:nvCxnSpPr>
        <p:spPr>
          <a:xfrm>
            <a:off x="5698777" y="2016841"/>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AC6F557-3D34-4C04-9CCC-5A44A07DF502}"/>
              </a:ext>
            </a:extLst>
          </p:cNvPr>
          <p:cNvSpPr/>
          <p:nvPr/>
        </p:nvSpPr>
        <p:spPr>
          <a:xfrm>
            <a:off x="2961460" y="1319709"/>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55</a:t>
            </a:r>
          </a:p>
        </p:txBody>
      </p:sp>
      <p:cxnSp>
        <p:nvCxnSpPr>
          <p:cNvPr id="31" name="Straight Arrow Connector 30">
            <a:extLst>
              <a:ext uri="{FF2B5EF4-FFF2-40B4-BE49-F238E27FC236}">
                <a16:creationId xmlns:a16="http://schemas.microsoft.com/office/drawing/2014/main" id="{84F76CA1-1857-439F-84CB-01080D576109}"/>
              </a:ext>
            </a:extLst>
          </p:cNvPr>
          <p:cNvCxnSpPr>
            <a:cxnSpLocks/>
          </p:cNvCxnSpPr>
          <p:nvPr/>
        </p:nvCxnSpPr>
        <p:spPr>
          <a:xfrm flipH="1">
            <a:off x="5769413" y="2522393"/>
            <a:ext cx="365311" cy="217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7612F660-91EB-4D4C-B244-3983A3731A4E}"/>
              </a:ext>
            </a:extLst>
          </p:cNvPr>
          <p:cNvSpPr/>
          <p:nvPr/>
        </p:nvSpPr>
        <p:spPr>
          <a:xfrm>
            <a:off x="5471947" y="274007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48</a:t>
            </a:r>
          </a:p>
        </p:txBody>
      </p:sp>
      <p:sp>
        <p:nvSpPr>
          <p:cNvPr id="33" name="Rectangle 32">
            <a:extLst>
              <a:ext uri="{FF2B5EF4-FFF2-40B4-BE49-F238E27FC236}">
                <a16:creationId xmlns:a16="http://schemas.microsoft.com/office/drawing/2014/main" id="{3717BB00-94F2-4361-95D2-DB62D161F75C}"/>
              </a:ext>
            </a:extLst>
          </p:cNvPr>
          <p:cNvSpPr/>
          <p:nvPr/>
        </p:nvSpPr>
        <p:spPr>
          <a:xfrm>
            <a:off x="2918506" y="1319708"/>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48</a:t>
            </a:r>
          </a:p>
        </p:txBody>
      </p:sp>
      <p:cxnSp>
        <p:nvCxnSpPr>
          <p:cNvPr id="34" name="Straight Arrow Connector 33">
            <a:extLst>
              <a:ext uri="{FF2B5EF4-FFF2-40B4-BE49-F238E27FC236}">
                <a16:creationId xmlns:a16="http://schemas.microsoft.com/office/drawing/2014/main" id="{E761BC1E-C9D9-435A-AEE0-F63F8A34A8DE}"/>
              </a:ext>
            </a:extLst>
          </p:cNvPr>
          <p:cNvCxnSpPr>
            <a:cxnSpLocks/>
          </p:cNvCxnSpPr>
          <p:nvPr/>
        </p:nvCxnSpPr>
        <p:spPr>
          <a:xfrm flipH="1">
            <a:off x="2988494" y="2969588"/>
            <a:ext cx="393916" cy="344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AF0C108D-80CC-4A23-BE87-DF5D42D4AF2E}"/>
              </a:ext>
            </a:extLst>
          </p:cNvPr>
          <p:cNvSpPr/>
          <p:nvPr/>
        </p:nvSpPr>
        <p:spPr>
          <a:xfrm>
            <a:off x="2650660" y="331392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13</a:t>
            </a:r>
          </a:p>
        </p:txBody>
      </p:sp>
      <p:sp>
        <p:nvSpPr>
          <p:cNvPr id="36" name="Rectangle 35">
            <a:extLst>
              <a:ext uri="{FF2B5EF4-FFF2-40B4-BE49-F238E27FC236}">
                <a16:creationId xmlns:a16="http://schemas.microsoft.com/office/drawing/2014/main" id="{237B590B-034A-4A4E-8B35-411FBE015910}"/>
              </a:ext>
            </a:extLst>
          </p:cNvPr>
          <p:cNvSpPr/>
          <p:nvPr/>
        </p:nvSpPr>
        <p:spPr>
          <a:xfrm>
            <a:off x="2936594" y="131369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13</a:t>
            </a:r>
          </a:p>
        </p:txBody>
      </p:sp>
      <p:sp>
        <p:nvSpPr>
          <p:cNvPr id="39" name="Oval 38">
            <a:extLst>
              <a:ext uri="{FF2B5EF4-FFF2-40B4-BE49-F238E27FC236}">
                <a16:creationId xmlns:a16="http://schemas.microsoft.com/office/drawing/2014/main" id="{CB4DF653-3CCA-4493-A2DE-D85C7DCDB425}"/>
              </a:ext>
            </a:extLst>
          </p:cNvPr>
          <p:cNvSpPr/>
          <p:nvPr/>
        </p:nvSpPr>
        <p:spPr>
          <a:xfrm>
            <a:off x="3839566" y="3298189"/>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15</a:t>
            </a:r>
          </a:p>
        </p:txBody>
      </p:sp>
      <p:cxnSp>
        <p:nvCxnSpPr>
          <p:cNvPr id="40" name="Straight Arrow Connector 39">
            <a:extLst>
              <a:ext uri="{FF2B5EF4-FFF2-40B4-BE49-F238E27FC236}">
                <a16:creationId xmlns:a16="http://schemas.microsoft.com/office/drawing/2014/main" id="{6E47E0B8-65C2-4267-A8DA-C51B52B2E40E}"/>
              </a:ext>
            </a:extLst>
          </p:cNvPr>
          <p:cNvCxnSpPr>
            <a:cxnSpLocks/>
          </p:cNvCxnSpPr>
          <p:nvPr/>
        </p:nvCxnSpPr>
        <p:spPr>
          <a:xfrm>
            <a:off x="3639269" y="2971396"/>
            <a:ext cx="282100" cy="341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C3CD75A6-5355-49EB-BD8F-17BD53F401F8}"/>
              </a:ext>
            </a:extLst>
          </p:cNvPr>
          <p:cNvSpPr/>
          <p:nvPr/>
        </p:nvSpPr>
        <p:spPr>
          <a:xfrm>
            <a:off x="2931276" y="1320167"/>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15</a:t>
            </a:r>
          </a:p>
        </p:txBody>
      </p:sp>
      <p:sp>
        <p:nvSpPr>
          <p:cNvPr id="43" name="Oval 42">
            <a:extLst>
              <a:ext uri="{FF2B5EF4-FFF2-40B4-BE49-F238E27FC236}">
                <a16:creationId xmlns:a16="http://schemas.microsoft.com/office/drawing/2014/main" id="{7CE9492D-142E-4FB2-AE4A-E0B52F0348DB}"/>
              </a:ext>
            </a:extLst>
          </p:cNvPr>
          <p:cNvSpPr/>
          <p:nvPr/>
        </p:nvSpPr>
        <p:spPr>
          <a:xfrm>
            <a:off x="6106075" y="330105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49</a:t>
            </a:r>
          </a:p>
        </p:txBody>
      </p:sp>
      <p:cxnSp>
        <p:nvCxnSpPr>
          <p:cNvPr id="44" name="Straight Arrow Connector 43">
            <a:extLst>
              <a:ext uri="{FF2B5EF4-FFF2-40B4-BE49-F238E27FC236}">
                <a16:creationId xmlns:a16="http://schemas.microsoft.com/office/drawing/2014/main" id="{5C713234-0596-4BAA-B96D-C3F5C3FF6C4A}"/>
              </a:ext>
            </a:extLst>
          </p:cNvPr>
          <p:cNvCxnSpPr>
            <a:cxnSpLocks/>
          </p:cNvCxnSpPr>
          <p:nvPr/>
        </p:nvCxnSpPr>
        <p:spPr>
          <a:xfrm>
            <a:off x="5916433" y="3018269"/>
            <a:ext cx="269842" cy="294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018489B8-14E6-4ED6-81A5-B7C4695A867A}"/>
              </a:ext>
            </a:extLst>
          </p:cNvPr>
          <p:cNvSpPr/>
          <p:nvPr/>
        </p:nvSpPr>
        <p:spPr>
          <a:xfrm>
            <a:off x="2931276" y="132016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49</a:t>
            </a:r>
          </a:p>
        </p:txBody>
      </p:sp>
      <p:cxnSp>
        <p:nvCxnSpPr>
          <p:cNvPr id="46" name="Straight Arrow Connector 45">
            <a:extLst>
              <a:ext uri="{FF2B5EF4-FFF2-40B4-BE49-F238E27FC236}">
                <a16:creationId xmlns:a16="http://schemas.microsoft.com/office/drawing/2014/main" id="{C18128DF-E12F-4503-B29C-F74AD98AD6CE}"/>
              </a:ext>
            </a:extLst>
          </p:cNvPr>
          <p:cNvCxnSpPr>
            <a:cxnSpLocks/>
          </p:cNvCxnSpPr>
          <p:nvPr/>
        </p:nvCxnSpPr>
        <p:spPr>
          <a:xfrm flipH="1">
            <a:off x="5200431" y="3019888"/>
            <a:ext cx="271516" cy="276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6787364-26DE-46E5-AFF5-FADFFCAF13AB}"/>
              </a:ext>
            </a:extLst>
          </p:cNvPr>
          <p:cNvSpPr/>
          <p:nvPr/>
        </p:nvSpPr>
        <p:spPr>
          <a:xfrm>
            <a:off x="4855345" y="3303520"/>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47</a:t>
            </a:r>
          </a:p>
        </p:txBody>
      </p:sp>
      <p:sp>
        <p:nvSpPr>
          <p:cNvPr id="48" name="Rectangle 47">
            <a:extLst>
              <a:ext uri="{FF2B5EF4-FFF2-40B4-BE49-F238E27FC236}">
                <a16:creationId xmlns:a16="http://schemas.microsoft.com/office/drawing/2014/main" id="{7D7FAC09-7FE6-4253-95DF-59F7A6AD9A5B}"/>
              </a:ext>
            </a:extLst>
          </p:cNvPr>
          <p:cNvSpPr/>
          <p:nvPr/>
        </p:nvSpPr>
        <p:spPr>
          <a:xfrm>
            <a:off x="2937626" y="130727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47</a:t>
            </a:r>
          </a:p>
        </p:txBody>
      </p:sp>
      <p:pic>
        <p:nvPicPr>
          <p:cNvPr id="55" name="Picture 54" descr="Graphical user interface&#10;&#10;Description automatically generated with low confidence">
            <a:extLst>
              <a:ext uri="{FF2B5EF4-FFF2-40B4-BE49-F238E27FC236}">
                <a16:creationId xmlns:a16="http://schemas.microsoft.com/office/drawing/2014/main" id="{07463AAA-9B17-48FD-8124-BED11CCA7423}"/>
              </a:ext>
            </a:extLst>
          </p:cNvPr>
          <p:cNvPicPr>
            <a:picLocks noChangeAspect="1"/>
          </p:cNvPicPr>
          <p:nvPr/>
        </p:nvPicPr>
        <p:blipFill>
          <a:blip r:embed="rId5"/>
          <a:stretch>
            <a:fillRect/>
          </a:stretch>
        </p:blipFill>
        <p:spPr>
          <a:xfrm>
            <a:off x="7060030" y="3293063"/>
            <a:ext cx="1757856" cy="1309603"/>
          </a:xfrm>
          <a:prstGeom prst="rect">
            <a:avLst/>
          </a:prstGeom>
        </p:spPr>
      </p:pic>
    </p:spTree>
    <p:extLst>
      <p:ext uri="{BB962C8B-B14F-4D97-AF65-F5344CB8AC3E}">
        <p14:creationId xmlns:p14="http://schemas.microsoft.com/office/powerpoint/2010/main" val="358824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5" grpId="0" animBg="1"/>
      <p:bldP spid="16" grpId="0" animBg="1"/>
      <p:bldP spid="17" grpId="0" animBg="1"/>
      <p:bldP spid="20" grpId="0" animBg="1"/>
      <p:bldP spid="21" grpId="0" animBg="1"/>
      <p:bldP spid="23" grpId="0" animBg="1"/>
      <p:bldP spid="25" grpId="0" animBg="1"/>
      <p:bldP spid="28" grpId="0" animBg="1"/>
      <p:bldP spid="30" grpId="0" animBg="1"/>
      <p:bldP spid="32" grpId="0" animBg="1"/>
      <p:bldP spid="33" grpId="0" animBg="1"/>
      <p:bldP spid="35" grpId="0" animBg="1"/>
      <p:bldP spid="36" grpId="0" animBg="1"/>
      <p:bldP spid="39" grpId="0" animBg="1"/>
      <p:bldP spid="41" grpId="0" animBg="1"/>
      <p:bldP spid="43" grpId="0" animBg="1"/>
      <p:bldP spid="45" grpId="0" animBg="1"/>
      <p:bldP spid="47" grpId="0" animBg="1"/>
      <p:bldP spid="4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CD770DC-101E-4EE1-A0F2-70D9BC57ACEE}"/>
              </a:ext>
            </a:extLst>
          </p:cNvPr>
          <p:cNvSpPr/>
          <p:nvPr/>
        </p:nvSpPr>
        <p:spPr>
          <a:xfrm>
            <a:off x="4700954" y="2878015"/>
            <a:ext cx="509954" cy="3634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0" name="Google Shape;390;p41"/>
          <p:cNvPicPr preferRelativeResize="0"/>
          <p:nvPr/>
        </p:nvPicPr>
        <p:blipFill rotWithShape="1">
          <a:blip r:embed="rId3">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4">
            <a:alphaModFix/>
          </a:blip>
          <a:stretch>
            <a:fillRect/>
          </a:stretch>
        </p:blipFill>
        <p:spPr>
          <a:xfrm>
            <a:off x="3538389" y="3962215"/>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355877" y="482496"/>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b="1" dirty="0">
                <a:solidFill>
                  <a:srgbClr val="C00000"/>
                </a:solidFill>
                <a:latin typeface="Concert One" panose="020B0604020202020204" charset="0"/>
              </a:rPr>
              <a:t>Inserting a Node</a:t>
            </a:r>
          </a:p>
        </p:txBody>
      </p:sp>
      <p:pic>
        <p:nvPicPr>
          <p:cNvPr id="7" name="Picture 6">
            <a:extLst>
              <a:ext uri="{FF2B5EF4-FFF2-40B4-BE49-F238E27FC236}">
                <a16:creationId xmlns:a16="http://schemas.microsoft.com/office/drawing/2014/main" id="{CE535C9D-C5D2-4ECB-BBC0-0116B98A9781}"/>
              </a:ext>
            </a:extLst>
          </p:cNvPr>
          <p:cNvPicPr>
            <a:picLocks noChangeAspect="1"/>
          </p:cNvPicPr>
          <p:nvPr/>
        </p:nvPicPr>
        <p:blipFill>
          <a:blip r:embed="rId5"/>
          <a:stretch>
            <a:fillRect/>
          </a:stretch>
        </p:blipFill>
        <p:spPr>
          <a:xfrm>
            <a:off x="2988493" y="1390081"/>
            <a:ext cx="3709943" cy="2525615"/>
          </a:xfrm>
          <a:prstGeom prst="rect">
            <a:avLst/>
          </a:prstGeom>
        </p:spPr>
      </p:pic>
      <p:sp>
        <p:nvSpPr>
          <p:cNvPr id="2" name="TextBox 1">
            <a:extLst>
              <a:ext uri="{FF2B5EF4-FFF2-40B4-BE49-F238E27FC236}">
                <a16:creationId xmlns:a16="http://schemas.microsoft.com/office/drawing/2014/main" id="{87014DA2-1DB3-46BF-BD88-AC2C034302A4}"/>
              </a:ext>
            </a:extLst>
          </p:cNvPr>
          <p:cNvSpPr txBox="1"/>
          <p:nvPr/>
        </p:nvSpPr>
        <p:spPr>
          <a:xfrm>
            <a:off x="3619405" y="1073054"/>
            <a:ext cx="1529586" cy="261610"/>
          </a:xfrm>
          <a:prstGeom prst="rect">
            <a:avLst/>
          </a:prstGeom>
          <a:noFill/>
        </p:spPr>
        <p:txBody>
          <a:bodyPr wrap="none" rtlCol="0">
            <a:spAutoFit/>
          </a:bodyPr>
          <a:lstStyle/>
          <a:p>
            <a:r>
              <a:rPr lang="en-US" sz="1100" dirty="0">
                <a:latin typeface="Oxygen" panose="02000503000000000000" pitchFamily="2" charset="0"/>
              </a:rPr>
              <a:t>Let us try to insert </a:t>
            </a:r>
            <a:r>
              <a:rPr lang="en-US" sz="1100" b="1" dirty="0">
                <a:latin typeface="Oxygen" panose="02000503000000000000" pitchFamily="2" charset="0"/>
              </a:rPr>
              <a:t>45</a:t>
            </a:r>
          </a:p>
        </p:txBody>
      </p:sp>
      <p:cxnSp>
        <p:nvCxnSpPr>
          <p:cNvPr id="5" name="Straight Arrow Connector 4">
            <a:extLst>
              <a:ext uri="{FF2B5EF4-FFF2-40B4-BE49-F238E27FC236}">
                <a16:creationId xmlns:a16="http://schemas.microsoft.com/office/drawing/2014/main" id="{89AE0F98-453B-4B58-BA57-BF0E29C6DACD}"/>
              </a:ext>
            </a:extLst>
          </p:cNvPr>
          <p:cNvCxnSpPr/>
          <p:nvPr/>
        </p:nvCxnSpPr>
        <p:spPr>
          <a:xfrm flipH="1">
            <a:off x="5064369" y="3130062"/>
            <a:ext cx="2168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6137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4">
            <a:alphaModFix/>
          </a:blip>
          <a:stretch>
            <a:fillRect/>
          </a:stretch>
        </p:blipFill>
        <p:spPr>
          <a:xfrm>
            <a:off x="3495926" y="4189091"/>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384587" y="735656"/>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b="1" dirty="0">
                <a:solidFill>
                  <a:srgbClr val="C00000"/>
                </a:solidFill>
                <a:latin typeface="Concert One" panose="020B0604020202020204" charset="0"/>
              </a:rPr>
              <a:t>Let us create a Binary Tree!</a:t>
            </a:r>
          </a:p>
        </p:txBody>
      </p:sp>
      <p:sp>
        <p:nvSpPr>
          <p:cNvPr id="2" name="TextBox 1">
            <a:extLst>
              <a:ext uri="{FF2B5EF4-FFF2-40B4-BE49-F238E27FC236}">
                <a16:creationId xmlns:a16="http://schemas.microsoft.com/office/drawing/2014/main" id="{AD5394C2-2775-4E67-85F4-2918A5507EF9}"/>
              </a:ext>
            </a:extLst>
          </p:cNvPr>
          <p:cNvSpPr txBox="1"/>
          <p:nvPr/>
        </p:nvSpPr>
        <p:spPr>
          <a:xfrm>
            <a:off x="3262091" y="1107522"/>
            <a:ext cx="3619902" cy="261610"/>
          </a:xfrm>
          <a:prstGeom prst="rect">
            <a:avLst/>
          </a:prstGeom>
          <a:noFill/>
        </p:spPr>
        <p:txBody>
          <a:bodyPr wrap="none" rtlCol="0">
            <a:spAutoFit/>
          </a:bodyPr>
          <a:lstStyle/>
          <a:p>
            <a:r>
              <a:rPr lang="en-US" sz="1100" b="0" i="0" dirty="0">
                <a:solidFill>
                  <a:srgbClr val="444444"/>
                </a:solidFill>
                <a:effectLst/>
                <a:latin typeface="Oxygen" panose="020B0604020202020204" pitchFamily="2" charset="0"/>
              </a:rPr>
              <a:t>Input:   { </a:t>
            </a:r>
            <a:r>
              <a:rPr lang="en-US" sz="1100" b="1" i="0" dirty="0">
                <a:solidFill>
                  <a:srgbClr val="444444"/>
                </a:solidFill>
                <a:effectLst/>
                <a:latin typeface="Oxygen" panose="020B0604020202020204" pitchFamily="2" charset="0"/>
              </a:rPr>
              <a:t>63, 80, 70, 27, 92, 13, 51, 26, 58, 33, 60, 57, 82</a:t>
            </a:r>
            <a:r>
              <a:rPr lang="en-US" sz="1100" b="0" i="0" dirty="0">
                <a:solidFill>
                  <a:srgbClr val="444444"/>
                </a:solidFill>
                <a:effectLst/>
                <a:latin typeface="Oxygen" panose="020B0604020202020204" pitchFamily="2" charset="0"/>
              </a:rPr>
              <a:t>}</a:t>
            </a:r>
            <a:endParaRPr lang="en-US" sz="1100" dirty="0"/>
          </a:p>
        </p:txBody>
      </p:sp>
      <p:pic>
        <p:nvPicPr>
          <p:cNvPr id="10" name="Google Shape;235;p34">
            <a:extLst>
              <a:ext uri="{FF2B5EF4-FFF2-40B4-BE49-F238E27FC236}">
                <a16:creationId xmlns:a16="http://schemas.microsoft.com/office/drawing/2014/main" id="{B19549D6-C88C-45D4-A00E-BED404FE8C26}"/>
              </a:ext>
            </a:extLst>
          </p:cNvPr>
          <p:cNvPicPr preferRelativeResize="0"/>
          <p:nvPr/>
        </p:nvPicPr>
        <p:blipFill>
          <a:blip r:embed="rId5">
            <a:alphaModFix/>
          </a:blip>
          <a:stretch>
            <a:fillRect/>
          </a:stretch>
        </p:blipFill>
        <p:spPr>
          <a:xfrm>
            <a:off x="7308137" y="563900"/>
            <a:ext cx="1241024" cy="1610463"/>
          </a:xfrm>
          <a:prstGeom prst="rect">
            <a:avLst/>
          </a:prstGeom>
          <a:noFill/>
          <a:ln>
            <a:noFill/>
          </a:ln>
          <a:effectLst>
            <a:outerShdw blurRad="57150" dist="19050" dir="5400000" algn="bl" rotWithShape="0">
              <a:srgbClr val="000000">
                <a:alpha val="50000"/>
              </a:srgbClr>
            </a:outerShdw>
          </a:effectLst>
        </p:spPr>
      </p:pic>
      <p:sp>
        <p:nvSpPr>
          <p:cNvPr id="3" name="TextBox 2">
            <a:extLst>
              <a:ext uri="{FF2B5EF4-FFF2-40B4-BE49-F238E27FC236}">
                <a16:creationId xmlns:a16="http://schemas.microsoft.com/office/drawing/2014/main" id="{A22BCF87-748C-49B2-9E9A-19A2ADBDE326}"/>
              </a:ext>
            </a:extLst>
          </p:cNvPr>
          <p:cNvSpPr txBox="1"/>
          <p:nvPr/>
        </p:nvSpPr>
        <p:spPr>
          <a:xfrm>
            <a:off x="7429954" y="1107522"/>
            <a:ext cx="997389" cy="415498"/>
          </a:xfrm>
          <a:prstGeom prst="rect">
            <a:avLst/>
          </a:prstGeom>
          <a:noFill/>
        </p:spPr>
        <p:txBody>
          <a:bodyPr wrap="none" rtlCol="0">
            <a:spAutoFit/>
          </a:bodyPr>
          <a:lstStyle/>
          <a:p>
            <a:r>
              <a:rPr lang="en-US" sz="1050" dirty="0">
                <a:latin typeface="Oxygen" panose="02000503000000000000" pitchFamily="2" charset="0"/>
              </a:rPr>
              <a:t>Get your pen </a:t>
            </a:r>
          </a:p>
          <a:p>
            <a:r>
              <a:rPr lang="en-US" sz="1050" dirty="0">
                <a:latin typeface="Oxygen" panose="02000503000000000000" pitchFamily="2" charset="0"/>
              </a:rPr>
              <a:t>and paper</a:t>
            </a:r>
          </a:p>
        </p:txBody>
      </p:sp>
      <p:sp>
        <p:nvSpPr>
          <p:cNvPr id="11" name="Oval 10">
            <a:extLst>
              <a:ext uri="{FF2B5EF4-FFF2-40B4-BE49-F238E27FC236}">
                <a16:creationId xmlns:a16="http://schemas.microsoft.com/office/drawing/2014/main" id="{86638EBC-B7CE-4965-B618-CAFE7F5A7476}"/>
              </a:ext>
            </a:extLst>
          </p:cNvPr>
          <p:cNvSpPr/>
          <p:nvPr/>
        </p:nvSpPr>
        <p:spPr>
          <a:xfrm>
            <a:off x="4394879" y="1451314"/>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63</a:t>
            </a:r>
          </a:p>
        </p:txBody>
      </p:sp>
      <p:cxnSp>
        <p:nvCxnSpPr>
          <p:cNvPr id="13" name="Straight Arrow Connector 12">
            <a:extLst>
              <a:ext uri="{FF2B5EF4-FFF2-40B4-BE49-F238E27FC236}">
                <a16:creationId xmlns:a16="http://schemas.microsoft.com/office/drawing/2014/main" id="{14838CBB-525B-40A3-AA46-9EA9B6D5C650}"/>
              </a:ext>
            </a:extLst>
          </p:cNvPr>
          <p:cNvCxnSpPr>
            <a:cxnSpLocks/>
            <a:endCxn id="16" idx="0"/>
          </p:cNvCxnSpPr>
          <p:nvPr/>
        </p:nvCxnSpPr>
        <p:spPr>
          <a:xfrm>
            <a:off x="4884661" y="1617569"/>
            <a:ext cx="632277" cy="4043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Oval 15">
            <a:extLst>
              <a:ext uri="{FF2B5EF4-FFF2-40B4-BE49-F238E27FC236}">
                <a16:creationId xmlns:a16="http://schemas.microsoft.com/office/drawing/2014/main" id="{0AFE9D38-6D76-4824-9FFA-04DA37BAFF6E}"/>
              </a:ext>
            </a:extLst>
          </p:cNvPr>
          <p:cNvSpPr/>
          <p:nvPr/>
        </p:nvSpPr>
        <p:spPr>
          <a:xfrm>
            <a:off x="5284770" y="2021874"/>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80</a:t>
            </a:r>
          </a:p>
        </p:txBody>
      </p:sp>
      <p:sp>
        <p:nvSpPr>
          <p:cNvPr id="17" name="Oval 16">
            <a:extLst>
              <a:ext uri="{FF2B5EF4-FFF2-40B4-BE49-F238E27FC236}">
                <a16:creationId xmlns:a16="http://schemas.microsoft.com/office/drawing/2014/main" id="{784E0DE8-7E3E-479D-9D16-CFF613A883B5}"/>
              </a:ext>
            </a:extLst>
          </p:cNvPr>
          <p:cNvSpPr/>
          <p:nvPr/>
        </p:nvSpPr>
        <p:spPr>
          <a:xfrm>
            <a:off x="4801001" y="2571750"/>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70</a:t>
            </a:r>
          </a:p>
        </p:txBody>
      </p:sp>
      <p:cxnSp>
        <p:nvCxnSpPr>
          <p:cNvPr id="15" name="Straight Arrow Connector 14">
            <a:extLst>
              <a:ext uri="{FF2B5EF4-FFF2-40B4-BE49-F238E27FC236}">
                <a16:creationId xmlns:a16="http://schemas.microsoft.com/office/drawing/2014/main" id="{971CFFF4-AF08-41EB-981F-374639A79FE0}"/>
              </a:ext>
            </a:extLst>
          </p:cNvPr>
          <p:cNvCxnSpPr>
            <a:cxnSpLocks/>
            <a:stCxn id="16" idx="3"/>
            <a:endCxn id="17" idx="0"/>
          </p:cNvCxnSpPr>
          <p:nvPr/>
        </p:nvCxnSpPr>
        <p:spPr>
          <a:xfrm flipH="1">
            <a:off x="5033169" y="2300068"/>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Oval 19">
            <a:extLst>
              <a:ext uri="{FF2B5EF4-FFF2-40B4-BE49-F238E27FC236}">
                <a16:creationId xmlns:a16="http://schemas.microsoft.com/office/drawing/2014/main" id="{A4F20220-AD5E-45BD-A976-99C694DD5958}"/>
              </a:ext>
            </a:extLst>
          </p:cNvPr>
          <p:cNvSpPr/>
          <p:nvPr/>
        </p:nvSpPr>
        <p:spPr>
          <a:xfrm>
            <a:off x="3635287" y="2001283"/>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27</a:t>
            </a:r>
          </a:p>
        </p:txBody>
      </p:sp>
      <p:cxnSp>
        <p:nvCxnSpPr>
          <p:cNvPr id="21" name="Straight Arrow Connector 20">
            <a:extLst>
              <a:ext uri="{FF2B5EF4-FFF2-40B4-BE49-F238E27FC236}">
                <a16:creationId xmlns:a16="http://schemas.microsoft.com/office/drawing/2014/main" id="{09765C05-56B6-417B-A5D6-4643422B53A1}"/>
              </a:ext>
            </a:extLst>
          </p:cNvPr>
          <p:cNvCxnSpPr>
            <a:cxnSpLocks/>
            <a:stCxn id="11" idx="2"/>
            <a:endCxn id="20" idx="0"/>
          </p:cNvCxnSpPr>
          <p:nvPr/>
        </p:nvCxnSpPr>
        <p:spPr>
          <a:xfrm flipH="1">
            <a:off x="3867455" y="1614276"/>
            <a:ext cx="527424" cy="3870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F5FBBC02-A8DE-48CE-849B-F6D14D566D0E}"/>
              </a:ext>
            </a:extLst>
          </p:cNvPr>
          <p:cNvSpPr/>
          <p:nvPr/>
        </p:nvSpPr>
        <p:spPr>
          <a:xfrm>
            <a:off x="5873908" y="2577022"/>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92</a:t>
            </a:r>
          </a:p>
        </p:txBody>
      </p:sp>
      <p:cxnSp>
        <p:nvCxnSpPr>
          <p:cNvPr id="31" name="Straight Arrow Connector 30">
            <a:extLst>
              <a:ext uri="{FF2B5EF4-FFF2-40B4-BE49-F238E27FC236}">
                <a16:creationId xmlns:a16="http://schemas.microsoft.com/office/drawing/2014/main" id="{831BB6B6-D225-425E-A069-7E9365FC8D11}"/>
              </a:ext>
            </a:extLst>
          </p:cNvPr>
          <p:cNvCxnSpPr>
            <a:cxnSpLocks/>
          </p:cNvCxnSpPr>
          <p:nvPr/>
        </p:nvCxnSpPr>
        <p:spPr>
          <a:xfrm>
            <a:off x="5733973" y="2270759"/>
            <a:ext cx="360379" cy="3121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Oval 38">
            <a:extLst>
              <a:ext uri="{FF2B5EF4-FFF2-40B4-BE49-F238E27FC236}">
                <a16:creationId xmlns:a16="http://schemas.microsoft.com/office/drawing/2014/main" id="{C3770309-7B8D-40FE-8B29-AD280D1C7998}"/>
              </a:ext>
            </a:extLst>
          </p:cNvPr>
          <p:cNvSpPr/>
          <p:nvPr/>
        </p:nvSpPr>
        <p:spPr>
          <a:xfrm>
            <a:off x="2983349" y="2560241"/>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13</a:t>
            </a:r>
          </a:p>
        </p:txBody>
      </p:sp>
      <p:cxnSp>
        <p:nvCxnSpPr>
          <p:cNvPr id="38" name="Straight Arrow Connector 37">
            <a:extLst>
              <a:ext uri="{FF2B5EF4-FFF2-40B4-BE49-F238E27FC236}">
                <a16:creationId xmlns:a16="http://schemas.microsoft.com/office/drawing/2014/main" id="{B7BCB79C-E4B4-4293-ACAB-6C825A13EA2C}"/>
              </a:ext>
            </a:extLst>
          </p:cNvPr>
          <p:cNvCxnSpPr>
            <a:cxnSpLocks/>
            <a:stCxn id="20" idx="3"/>
          </p:cNvCxnSpPr>
          <p:nvPr/>
        </p:nvCxnSpPr>
        <p:spPr>
          <a:xfrm flipH="1">
            <a:off x="3303531" y="2279477"/>
            <a:ext cx="399756" cy="3034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Oval 53">
            <a:extLst>
              <a:ext uri="{FF2B5EF4-FFF2-40B4-BE49-F238E27FC236}">
                <a16:creationId xmlns:a16="http://schemas.microsoft.com/office/drawing/2014/main" id="{F2609350-0311-42F9-A9DC-0D22B630B930}"/>
              </a:ext>
            </a:extLst>
          </p:cNvPr>
          <p:cNvSpPr/>
          <p:nvPr/>
        </p:nvSpPr>
        <p:spPr>
          <a:xfrm>
            <a:off x="4196730" y="2571750"/>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51</a:t>
            </a:r>
          </a:p>
        </p:txBody>
      </p:sp>
      <p:cxnSp>
        <p:nvCxnSpPr>
          <p:cNvPr id="55" name="Straight Arrow Connector 54">
            <a:extLst>
              <a:ext uri="{FF2B5EF4-FFF2-40B4-BE49-F238E27FC236}">
                <a16:creationId xmlns:a16="http://schemas.microsoft.com/office/drawing/2014/main" id="{BDF6D94E-0526-4327-872E-3AFF59FD1890}"/>
              </a:ext>
            </a:extLst>
          </p:cNvPr>
          <p:cNvCxnSpPr>
            <a:cxnSpLocks/>
          </p:cNvCxnSpPr>
          <p:nvPr/>
        </p:nvCxnSpPr>
        <p:spPr>
          <a:xfrm>
            <a:off x="4056795" y="2265487"/>
            <a:ext cx="360379" cy="3121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 name="Oval 55">
            <a:extLst>
              <a:ext uri="{FF2B5EF4-FFF2-40B4-BE49-F238E27FC236}">
                <a16:creationId xmlns:a16="http://schemas.microsoft.com/office/drawing/2014/main" id="{274DC1BC-1D3A-454A-BCCB-36996398A3E2}"/>
              </a:ext>
            </a:extLst>
          </p:cNvPr>
          <p:cNvSpPr/>
          <p:nvPr/>
        </p:nvSpPr>
        <p:spPr>
          <a:xfrm>
            <a:off x="3279788" y="3156922"/>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26</a:t>
            </a:r>
          </a:p>
        </p:txBody>
      </p:sp>
      <p:cxnSp>
        <p:nvCxnSpPr>
          <p:cNvPr id="57" name="Straight Arrow Connector 56">
            <a:extLst>
              <a:ext uri="{FF2B5EF4-FFF2-40B4-BE49-F238E27FC236}">
                <a16:creationId xmlns:a16="http://schemas.microsoft.com/office/drawing/2014/main" id="{45AC2DDF-5C82-42A5-8416-8E694FCFEBFD}"/>
              </a:ext>
            </a:extLst>
          </p:cNvPr>
          <p:cNvCxnSpPr>
            <a:cxnSpLocks/>
            <a:endCxn id="56" idx="0"/>
          </p:cNvCxnSpPr>
          <p:nvPr/>
        </p:nvCxnSpPr>
        <p:spPr>
          <a:xfrm>
            <a:off x="3342438" y="2844216"/>
            <a:ext cx="169518" cy="312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Oval 57">
            <a:extLst>
              <a:ext uri="{FF2B5EF4-FFF2-40B4-BE49-F238E27FC236}">
                <a16:creationId xmlns:a16="http://schemas.microsoft.com/office/drawing/2014/main" id="{7741E02B-D363-4CAC-96C2-DCE9D2A06906}"/>
              </a:ext>
            </a:extLst>
          </p:cNvPr>
          <p:cNvSpPr/>
          <p:nvPr/>
        </p:nvSpPr>
        <p:spPr>
          <a:xfrm>
            <a:off x="4660527" y="3181831"/>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58</a:t>
            </a:r>
          </a:p>
        </p:txBody>
      </p:sp>
      <p:cxnSp>
        <p:nvCxnSpPr>
          <p:cNvPr id="59" name="Straight Arrow Connector 58">
            <a:extLst>
              <a:ext uri="{FF2B5EF4-FFF2-40B4-BE49-F238E27FC236}">
                <a16:creationId xmlns:a16="http://schemas.microsoft.com/office/drawing/2014/main" id="{6256AE8C-23C8-490E-A88F-F4F29D7920B2}"/>
              </a:ext>
            </a:extLst>
          </p:cNvPr>
          <p:cNvCxnSpPr>
            <a:cxnSpLocks/>
          </p:cNvCxnSpPr>
          <p:nvPr/>
        </p:nvCxnSpPr>
        <p:spPr>
          <a:xfrm>
            <a:off x="4520592" y="2875568"/>
            <a:ext cx="360379" cy="3121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Oval 59">
            <a:extLst>
              <a:ext uri="{FF2B5EF4-FFF2-40B4-BE49-F238E27FC236}">
                <a16:creationId xmlns:a16="http://schemas.microsoft.com/office/drawing/2014/main" id="{8CEB8CE8-CDCA-4B50-8ABE-8BD8D1DC113D}"/>
              </a:ext>
            </a:extLst>
          </p:cNvPr>
          <p:cNvSpPr/>
          <p:nvPr/>
        </p:nvSpPr>
        <p:spPr>
          <a:xfrm>
            <a:off x="3792100" y="3158014"/>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33</a:t>
            </a:r>
          </a:p>
        </p:txBody>
      </p:sp>
      <p:cxnSp>
        <p:nvCxnSpPr>
          <p:cNvPr id="61" name="Straight Arrow Connector 60">
            <a:extLst>
              <a:ext uri="{FF2B5EF4-FFF2-40B4-BE49-F238E27FC236}">
                <a16:creationId xmlns:a16="http://schemas.microsoft.com/office/drawing/2014/main" id="{AF38C6D1-9426-46C2-B00B-01867903802D}"/>
              </a:ext>
            </a:extLst>
          </p:cNvPr>
          <p:cNvCxnSpPr>
            <a:cxnSpLocks/>
          </p:cNvCxnSpPr>
          <p:nvPr/>
        </p:nvCxnSpPr>
        <p:spPr>
          <a:xfrm flipH="1">
            <a:off x="4045716" y="2885240"/>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Oval 63">
            <a:extLst>
              <a:ext uri="{FF2B5EF4-FFF2-40B4-BE49-F238E27FC236}">
                <a16:creationId xmlns:a16="http://schemas.microsoft.com/office/drawing/2014/main" id="{33341460-B07E-4A79-92B0-44271FF3F196}"/>
              </a:ext>
            </a:extLst>
          </p:cNvPr>
          <p:cNvSpPr/>
          <p:nvPr/>
        </p:nvSpPr>
        <p:spPr>
          <a:xfrm>
            <a:off x="5217373" y="3720796"/>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60</a:t>
            </a:r>
          </a:p>
        </p:txBody>
      </p:sp>
      <p:cxnSp>
        <p:nvCxnSpPr>
          <p:cNvPr id="65" name="Straight Arrow Connector 64">
            <a:extLst>
              <a:ext uri="{FF2B5EF4-FFF2-40B4-BE49-F238E27FC236}">
                <a16:creationId xmlns:a16="http://schemas.microsoft.com/office/drawing/2014/main" id="{BC4CD16A-E6CE-4064-B456-1F525C9738CF}"/>
              </a:ext>
            </a:extLst>
          </p:cNvPr>
          <p:cNvCxnSpPr>
            <a:cxnSpLocks/>
            <a:endCxn id="64" idx="1"/>
          </p:cNvCxnSpPr>
          <p:nvPr/>
        </p:nvCxnSpPr>
        <p:spPr>
          <a:xfrm>
            <a:off x="5037183" y="3472018"/>
            <a:ext cx="248190" cy="296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Oval 66">
            <a:extLst>
              <a:ext uri="{FF2B5EF4-FFF2-40B4-BE49-F238E27FC236}">
                <a16:creationId xmlns:a16="http://schemas.microsoft.com/office/drawing/2014/main" id="{A4256360-CAA3-445C-B996-91F68F2367B6}"/>
              </a:ext>
            </a:extLst>
          </p:cNvPr>
          <p:cNvSpPr/>
          <p:nvPr/>
        </p:nvSpPr>
        <p:spPr>
          <a:xfrm>
            <a:off x="4135113" y="3717731"/>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57</a:t>
            </a:r>
          </a:p>
        </p:txBody>
      </p:sp>
      <p:cxnSp>
        <p:nvCxnSpPr>
          <p:cNvPr id="68" name="Straight Arrow Connector 67">
            <a:extLst>
              <a:ext uri="{FF2B5EF4-FFF2-40B4-BE49-F238E27FC236}">
                <a16:creationId xmlns:a16="http://schemas.microsoft.com/office/drawing/2014/main" id="{FB741C1C-77FC-4EF9-92D7-3F7A8730A170}"/>
              </a:ext>
            </a:extLst>
          </p:cNvPr>
          <p:cNvCxnSpPr>
            <a:cxnSpLocks/>
          </p:cNvCxnSpPr>
          <p:nvPr/>
        </p:nvCxnSpPr>
        <p:spPr>
          <a:xfrm flipH="1">
            <a:off x="4388729" y="3444957"/>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Oval 68">
            <a:extLst>
              <a:ext uri="{FF2B5EF4-FFF2-40B4-BE49-F238E27FC236}">
                <a16:creationId xmlns:a16="http://schemas.microsoft.com/office/drawing/2014/main" id="{9CEE34C3-30AD-4E30-934B-23AF97F36032}"/>
              </a:ext>
            </a:extLst>
          </p:cNvPr>
          <p:cNvSpPr/>
          <p:nvPr/>
        </p:nvSpPr>
        <p:spPr>
          <a:xfrm>
            <a:off x="5437534" y="3139982"/>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82</a:t>
            </a:r>
          </a:p>
        </p:txBody>
      </p:sp>
      <p:cxnSp>
        <p:nvCxnSpPr>
          <p:cNvPr id="70" name="Straight Arrow Connector 69">
            <a:extLst>
              <a:ext uri="{FF2B5EF4-FFF2-40B4-BE49-F238E27FC236}">
                <a16:creationId xmlns:a16="http://schemas.microsoft.com/office/drawing/2014/main" id="{A62EFEF3-8CEF-4A37-8925-E5B5A53DCA38}"/>
              </a:ext>
            </a:extLst>
          </p:cNvPr>
          <p:cNvCxnSpPr>
            <a:cxnSpLocks/>
            <a:endCxn id="69" idx="0"/>
          </p:cNvCxnSpPr>
          <p:nvPr/>
        </p:nvCxnSpPr>
        <p:spPr>
          <a:xfrm flipH="1">
            <a:off x="5669702" y="2868300"/>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82905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17" grpId="0" animBg="1"/>
      <p:bldP spid="20" grpId="0" animBg="1"/>
      <p:bldP spid="29" grpId="0" animBg="1"/>
      <p:bldP spid="39" grpId="0" animBg="1"/>
      <p:bldP spid="54" grpId="0" animBg="1"/>
      <p:bldP spid="56" grpId="0" animBg="1"/>
      <p:bldP spid="58" grpId="0" animBg="1"/>
      <p:bldP spid="60" grpId="0" animBg="1"/>
      <p:bldP spid="64" grpId="0" animBg="1"/>
      <p:bldP spid="67" grpId="0" animBg="1"/>
      <p:bldP spid="6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4">
            <a:alphaModFix/>
          </a:blip>
          <a:stretch>
            <a:fillRect/>
          </a:stretch>
        </p:blipFill>
        <p:spPr>
          <a:xfrm>
            <a:off x="3495926" y="4189091"/>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384587" y="735656"/>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b="1" dirty="0">
                <a:solidFill>
                  <a:srgbClr val="C00000"/>
                </a:solidFill>
                <a:latin typeface="Concert One" panose="020B0604020202020204" charset="0"/>
              </a:rPr>
              <a:t>Let us create a Binary Tree!</a:t>
            </a:r>
          </a:p>
        </p:txBody>
      </p:sp>
      <p:sp>
        <p:nvSpPr>
          <p:cNvPr id="2" name="TextBox 1">
            <a:extLst>
              <a:ext uri="{FF2B5EF4-FFF2-40B4-BE49-F238E27FC236}">
                <a16:creationId xmlns:a16="http://schemas.microsoft.com/office/drawing/2014/main" id="{AD5394C2-2775-4E67-85F4-2918A5507EF9}"/>
              </a:ext>
            </a:extLst>
          </p:cNvPr>
          <p:cNvSpPr txBox="1"/>
          <p:nvPr/>
        </p:nvSpPr>
        <p:spPr>
          <a:xfrm>
            <a:off x="3262091" y="1107522"/>
            <a:ext cx="1394934" cy="261610"/>
          </a:xfrm>
          <a:prstGeom prst="rect">
            <a:avLst/>
          </a:prstGeom>
          <a:noFill/>
        </p:spPr>
        <p:txBody>
          <a:bodyPr wrap="none" rtlCol="0">
            <a:spAutoFit/>
          </a:bodyPr>
          <a:lstStyle/>
          <a:p>
            <a:r>
              <a:rPr lang="en-US" sz="1100" b="0" i="0" dirty="0">
                <a:solidFill>
                  <a:srgbClr val="444444"/>
                </a:solidFill>
                <a:effectLst/>
                <a:latin typeface="Oxygen" panose="020B0604020202020204" pitchFamily="2" charset="0"/>
              </a:rPr>
              <a:t>Insert: </a:t>
            </a:r>
            <a:r>
              <a:rPr lang="en-US" sz="1100" b="1" i="0" dirty="0">
                <a:solidFill>
                  <a:srgbClr val="444444"/>
                </a:solidFill>
                <a:effectLst/>
                <a:latin typeface="Oxygen" panose="020B0604020202020204" pitchFamily="2" charset="0"/>
              </a:rPr>
              <a:t>30, 95, 86, 9</a:t>
            </a:r>
            <a:endParaRPr lang="en-US" sz="1100" b="1" dirty="0"/>
          </a:p>
        </p:txBody>
      </p:sp>
      <p:pic>
        <p:nvPicPr>
          <p:cNvPr id="10" name="Google Shape;235;p34">
            <a:extLst>
              <a:ext uri="{FF2B5EF4-FFF2-40B4-BE49-F238E27FC236}">
                <a16:creationId xmlns:a16="http://schemas.microsoft.com/office/drawing/2014/main" id="{B19549D6-C88C-45D4-A00E-BED404FE8C26}"/>
              </a:ext>
            </a:extLst>
          </p:cNvPr>
          <p:cNvPicPr preferRelativeResize="0"/>
          <p:nvPr/>
        </p:nvPicPr>
        <p:blipFill>
          <a:blip r:embed="rId5">
            <a:alphaModFix/>
          </a:blip>
          <a:stretch>
            <a:fillRect/>
          </a:stretch>
        </p:blipFill>
        <p:spPr>
          <a:xfrm>
            <a:off x="7308137" y="563900"/>
            <a:ext cx="1241024" cy="1610463"/>
          </a:xfrm>
          <a:prstGeom prst="rect">
            <a:avLst/>
          </a:prstGeom>
          <a:noFill/>
          <a:ln>
            <a:noFill/>
          </a:ln>
          <a:effectLst>
            <a:outerShdw blurRad="57150" dist="19050" dir="5400000" algn="bl" rotWithShape="0">
              <a:srgbClr val="000000">
                <a:alpha val="50000"/>
              </a:srgbClr>
            </a:outerShdw>
          </a:effectLst>
        </p:spPr>
      </p:pic>
      <p:sp>
        <p:nvSpPr>
          <p:cNvPr id="3" name="TextBox 2">
            <a:extLst>
              <a:ext uri="{FF2B5EF4-FFF2-40B4-BE49-F238E27FC236}">
                <a16:creationId xmlns:a16="http://schemas.microsoft.com/office/drawing/2014/main" id="{A22BCF87-748C-49B2-9E9A-19A2ADBDE326}"/>
              </a:ext>
            </a:extLst>
          </p:cNvPr>
          <p:cNvSpPr txBox="1"/>
          <p:nvPr/>
        </p:nvSpPr>
        <p:spPr>
          <a:xfrm>
            <a:off x="7429954" y="1107522"/>
            <a:ext cx="997389" cy="415498"/>
          </a:xfrm>
          <a:prstGeom prst="rect">
            <a:avLst/>
          </a:prstGeom>
          <a:noFill/>
        </p:spPr>
        <p:txBody>
          <a:bodyPr wrap="none" rtlCol="0">
            <a:spAutoFit/>
          </a:bodyPr>
          <a:lstStyle/>
          <a:p>
            <a:r>
              <a:rPr lang="en-US" sz="1050" dirty="0">
                <a:latin typeface="Oxygen" panose="02000503000000000000" pitchFamily="2" charset="0"/>
              </a:rPr>
              <a:t>Get your pen </a:t>
            </a:r>
          </a:p>
          <a:p>
            <a:r>
              <a:rPr lang="en-US" sz="1050" dirty="0">
                <a:latin typeface="Oxygen" panose="02000503000000000000" pitchFamily="2" charset="0"/>
              </a:rPr>
              <a:t>and paper</a:t>
            </a:r>
          </a:p>
        </p:txBody>
      </p:sp>
      <p:sp>
        <p:nvSpPr>
          <p:cNvPr id="11" name="Oval 10">
            <a:extLst>
              <a:ext uri="{FF2B5EF4-FFF2-40B4-BE49-F238E27FC236}">
                <a16:creationId xmlns:a16="http://schemas.microsoft.com/office/drawing/2014/main" id="{86638EBC-B7CE-4965-B618-CAFE7F5A7476}"/>
              </a:ext>
            </a:extLst>
          </p:cNvPr>
          <p:cNvSpPr/>
          <p:nvPr/>
        </p:nvSpPr>
        <p:spPr>
          <a:xfrm>
            <a:off x="4394879" y="1451314"/>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63</a:t>
            </a:r>
          </a:p>
        </p:txBody>
      </p:sp>
      <p:cxnSp>
        <p:nvCxnSpPr>
          <p:cNvPr id="13" name="Straight Arrow Connector 12">
            <a:extLst>
              <a:ext uri="{FF2B5EF4-FFF2-40B4-BE49-F238E27FC236}">
                <a16:creationId xmlns:a16="http://schemas.microsoft.com/office/drawing/2014/main" id="{14838CBB-525B-40A3-AA46-9EA9B6D5C650}"/>
              </a:ext>
            </a:extLst>
          </p:cNvPr>
          <p:cNvCxnSpPr>
            <a:cxnSpLocks/>
            <a:endCxn id="16" idx="0"/>
          </p:cNvCxnSpPr>
          <p:nvPr/>
        </p:nvCxnSpPr>
        <p:spPr>
          <a:xfrm>
            <a:off x="4884661" y="1617569"/>
            <a:ext cx="632277" cy="4043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Oval 15">
            <a:extLst>
              <a:ext uri="{FF2B5EF4-FFF2-40B4-BE49-F238E27FC236}">
                <a16:creationId xmlns:a16="http://schemas.microsoft.com/office/drawing/2014/main" id="{0AFE9D38-6D76-4824-9FFA-04DA37BAFF6E}"/>
              </a:ext>
            </a:extLst>
          </p:cNvPr>
          <p:cNvSpPr/>
          <p:nvPr/>
        </p:nvSpPr>
        <p:spPr>
          <a:xfrm>
            <a:off x="5284770" y="2021874"/>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80</a:t>
            </a:r>
          </a:p>
        </p:txBody>
      </p:sp>
      <p:sp>
        <p:nvSpPr>
          <p:cNvPr id="17" name="Oval 16">
            <a:extLst>
              <a:ext uri="{FF2B5EF4-FFF2-40B4-BE49-F238E27FC236}">
                <a16:creationId xmlns:a16="http://schemas.microsoft.com/office/drawing/2014/main" id="{784E0DE8-7E3E-479D-9D16-CFF613A883B5}"/>
              </a:ext>
            </a:extLst>
          </p:cNvPr>
          <p:cNvSpPr/>
          <p:nvPr/>
        </p:nvSpPr>
        <p:spPr>
          <a:xfrm>
            <a:off x="4801001" y="2571750"/>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70</a:t>
            </a:r>
          </a:p>
        </p:txBody>
      </p:sp>
      <p:cxnSp>
        <p:nvCxnSpPr>
          <p:cNvPr id="15" name="Straight Arrow Connector 14">
            <a:extLst>
              <a:ext uri="{FF2B5EF4-FFF2-40B4-BE49-F238E27FC236}">
                <a16:creationId xmlns:a16="http://schemas.microsoft.com/office/drawing/2014/main" id="{971CFFF4-AF08-41EB-981F-374639A79FE0}"/>
              </a:ext>
            </a:extLst>
          </p:cNvPr>
          <p:cNvCxnSpPr>
            <a:cxnSpLocks/>
            <a:stCxn id="16" idx="3"/>
            <a:endCxn id="17" idx="0"/>
          </p:cNvCxnSpPr>
          <p:nvPr/>
        </p:nvCxnSpPr>
        <p:spPr>
          <a:xfrm flipH="1">
            <a:off x="5033169" y="2300068"/>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Oval 19">
            <a:extLst>
              <a:ext uri="{FF2B5EF4-FFF2-40B4-BE49-F238E27FC236}">
                <a16:creationId xmlns:a16="http://schemas.microsoft.com/office/drawing/2014/main" id="{A4F20220-AD5E-45BD-A976-99C694DD5958}"/>
              </a:ext>
            </a:extLst>
          </p:cNvPr>
          <p:cNvSpPr/>
          <p:nvPr/>
        </p:nvSpPr>
        <p:spPr>
          <a:xfrm>
            <a:off x="3635287" y="2001283"/>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27</a:t>
            </a:r>
          </a:p>
        </p:txBody>
      </p:sp>
      <p:cxnSp>
        <p:nvCxnSpPr>
          <p:cNvPr id="21" name="Straight Arrow Connector 20">
            <a:extLst>
              <a:ext uri="{FF2B5EF4-FFF2-40B4-BE49-F238E27FC236}">
                <a16:creationId xmlns:a16="http://schemas.microsoft.com/office/drawing/2014/main" id="{09765C05-56B6-417B-A5D6-4643422B53A1}"/>
              </a:ext>
            </a:extLst>
          </p:cNvPr>
          <p:cNvCxnSpPr>
            <a:cxnSpLocks/>
            <a:stCxn id="11" idx="2"/>
            <a:endCxn id="20" idx="0"/>
          </p:cNvCxnSpPr>
          <p:nvPr/>
        </p:nvCxnSpPr>
        <p:spPr>
          <a:xfrm flipH="1">
            <a:off x="3867455" y="1614276"/>
            <a:ext cx="527424" cy="3870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Oval 28">
            <a:extLst>
              <a:ext uri="{FF2B5EF4-FFF2-40B4-BE49-F238E27FC236}">
                <a16:creationId xmlns:a16="http://schemas.microsoft.com/office/drawing/2014/main" id="{F5FBBC02-A8DE-48CE-849B-F6D14D566D0E}"/>
              </a:ext>
            </a:extLst>
          </p:cNvPr>
          <p:cNvSpPr/>
          <p:nvPr/>
        </p:nvSpPr>
        <p:spPr>
          <a:xfrm>
            <a:off x="5873908" y="2577022"/>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92</a:t>
            </a:r>
          </a:p>
        </p:txBody>
      </p:sp>
      <p:cxnSp>
        <p:nvCxnSpPr>
          <p:cNvPr id="31" name="Straight Arrow Connector 30">
            <a:extLst>
              <a:ext uri="{FF2B5EF4-FFF2-40B4-BE49-F238E27FC236}">
                <a16:creationId xmlns:a16="http://schemas.microsoft.com/office/drawing/2014/main" id="{831BB6B6-D225-425E-A069-7E9365FC8D11}"/>
              </a:ext>
            </a:extLst>
          </p:cNvPr>
          <p:cNvCxnSpPr>
            <a:cxnSpLocks/>
          </p:cNvCxnSpPr>
          <p:nvPr/>
        </p:nvCxnSpPr>
        <p:spPr>
          <a:xfrm>
            <a:off x="5733973" y="2270759"/>
            <a:ext cx="360379" cy="3121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Oval 38">
            <a:extLst>
              <a:ext uri="{FF2B5EF4-FFF2-40B4-BE49-F238E27FC236}">
                <a16:creationId xmlns:a16="http://schemas.microsoft.com/office/drawing/2014/main" id="{C3770309-7B8D-40FE-8B29-AD280D1C7998}"/>
              </a:ext>
            </a:extLst>
          </p:cNvPr>
          <p:cNvSpPr/>
          <p:nvPr/>
        </p:nvSpPr>
        <p:spPr>
          <a:xfrm>
            <a:off x="2983349" y="2560241"/>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13</a:t>
            </a:r>
          </a:p>
        </p:txBody>
      </p:sp>
      <p:cxnSp>
        <p:nvCxnSpPr>
          <p:cNvPr id="38" name="Straight Arrow Connector 37">
            <a:extLst>
              <a:ext uri="{FF2B5EF4-FFF2-40B4-BE49-F238E27FC236}">
                <a16:creationId xmlns:a16="http://schemas.microsoft.com/office/drawing/2014/main" id="{B7BCB79C-E4B4-4293-ACAB-6C825A13EA2C}"/>
              </a:ext>
            </a:extLst>
          </p:cNvPr>
          <p:cNvCxnSpPr>
            <a:cxnSpLocks/>
            <a:stCxn id="20" idx="3"/>
          </p:cNvCxnSpPr>
          <p:nvPr/>
        </p:nvCxnSpPr>
        <p:spPr>
          <a:xfrm flipH="1">
            <a:off x="3303531" y="2279477"/>
            <a:ext cx="399756" cy="3034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Oval 53">
            <a:extLst>
              <a:ext uri="{FF2B5EF4-FFF2-40B4-BE49-F238E27FC236}">
                <a16:creationId xmlns:a16="http://schemas.microsoft.com/office/drawing/2014/main" id="{F2609350-0311-42F9-A9DC-0D22B630B930}"/>
              </a:ext>
            </a:extLst>
          </p:cNvPr>
          <p:cNvSpPr/>
          <p:nvPr/>
        </p:nvSpPr>
        <p:spPr>
          <a:xfrm>
            <a:off x="4196730" y="2571750"/>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51</a:t>
            </a:r>
          </a:p>
        </p:txBody>
      </p:sp>
      <p:cxnSp>
        <p:nvCxnSpPr>
          <p:cNvPr id="55" name="Straight Arrow Connector 54">
            <a:extLst>
              <a:ext uri="{FF2B5EF4-FFF2-40B4-BE49-F238E27FC236}">
                <a16:creationId xmlns:a16="http://schemas.microsoft.com/office/drawing/2014/main" id="{BDF6D94E-0526-4327-872E-3AFF59FD1890}"/>
              </a:ext>
            </a:extLst>
          </p:cNvPr>
          <p:cNvCxnSpPr>
            <a:cxnSpLocks/>
          </p:cNvCxnSpPr>
          <p:nvPr/>
        </p:nvCxnSpPr>
        <p:spPr>
          <a:xfrm>
            <a:off x="4056795" y="2265487"/>
            <a:ext cx="360379" cy="3121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 name="Oval 55">
            <a:extLst>
              <a:ext uri="{FF2B5EF4-FFF2-40B4-BE49-F238E27FC236}">
                <a16:creationId xmlns:a16="http://schemas.microsoft.com/office/drawing/2014/main" id="{274DC1BC-1D3A-454A-BCCB-36996398A3E2}"/>
              </a:ext>
            </a:extLst>
          </p:cNvPr>
          <p:cNvSpPr/>
          <p:nvPr/>
        </p:nvSpPr>
        <p:spPr>
          <a:xfrm>
            <a:off x="3279788" y="3156922"/>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26</a:t>
            </a:r>
          </a:p>
        </p:txBody>
      </p:sp>
      <p:cxnSp>
        <p:nvCxnSpPr>
          <p:cNvPr id="57" name="Straight Arrow Connector 56">
            <a:extLst>
              <a:ext uri="{FF2B5EF4-FFF2-40B4-BE49-F238E27FC236}">
                <a16:creationId xmlns:a16="http://schemas.microsoft.com/office/drawing/2014/main" id="{45AC2DDF-5C82-42A5-8416-8E694FCFEBFD}"/>
              </a:ext>
            </a:extLst>
          </p:cNvPr>
          <p:cNvCxnSpPr>
            <a:cxnSpLocks/>
            <a:endCxn id="56" idx="0"/>
          </p:cNvCxnSpPr>
          <p:nvPr/>
        </p:nvCxnSpPr>
        <p:spPr>
          <a:xfrm>
            <a:off x="3342438" y="2844216"/>
            <a:ext cx="169518" cy="312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Oval 57">
            <a:extLst>
              <a:ext uri="{FF2B5EF4-FFF2-40B4-BE49-F238E27FC236}">
                <a16:creationId xmlns:a16="http://schemas.microsoft.com/office/drawing/2014/main" id="{7741E02B-D363-4CAC-96C2-DCE9D2A06906}"/>
              </a:ext>
            </a:extLst>
          </p:cNvPr>
          <p:cNvSpPr/>
          <p:nvPr/>
        </p:nvSpPr>
        <p:spPr>
          <a:xfrm>
            <a:off x="4660527" y="3181831"/>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58</a:t>
            </a:r>
          </a:p>
        </p:txBody>
      </p:sp>
      <p:cxnSp>
        <p:nvCxnSpPr>
          <p:cNvPr id="59" name="Straight Arrow Connector 58">
            <a:extLst>
              <a:ext uri="{FF2B5EF4-FFF2-40B4-BE49-F238E27FC236}">
                <a16:creationId xmlns:a16="http://schemas.microsoft.com/office/drawing/2014/main" id="{6256AE8C-23C8-490E-A88F-F4F29D7920B2}"/>
              </a:ext>
            </a:extLst>
          </p:cNvPr>
          <p:cNvCxnSpPr>
            <a:cxnSpLocks/>
          </p:cNvCxnSpPr>
          <p:nvPr/>
        </p:nvCxnSpPr>
        <p:spPr>
          <a:xfrm>
            <a:off x="4520592" y="2875568"/>
            <a:ext cx="360379" cy="3121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Oval 59">
            <a:extLst>
              <a:ext uri="{FF2B5EF4-FFF2-40B4-BE49-F238E27FC236}">
                <a16:creationId xmlns:a16="http://schemas.microsoft.com/office/drawing/2014/main" id="{8CEB8CE8-CDCA-4B50-8ABE-8BD8D1DC113D}"/>
              </a:ext>
            </a:extLst>
          </p:cNvPr>
          <p:cNvSpPr/>
          <p:nvPr/>
        </p:nvSpPr>
        <p:spPr>
          <a:xfrm>
            <a:off x="3792100" y="3158014"/>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33</a:t>
            </a:r>
          </a:p>
        </p:txBody>
      </p:sp>
      <p:cxnSp>
        <p:nvCxnSpPr>
          <p:cNvPr id="61" name="Straight Arrow Connector 60">
            <a:extLst>
              <a:ext uri="{FF2B5EF4-FFF2-40B4-BE49-F238E27FC236}">
                <a16:creationId xmlns:a16="http://schemas.microsoft.com/office/drawing/2014/main" id="{AF38C6D1-9426-46C2-B00B-01867903802D}"/>
              </a:ext>
            </a:extLst>
          </p:cNvPr>
          <p:cNvCxnSpPr>
            <a:cxnSpLocks/>
          </p:cNvCxnSpPr>
          <p:nvPr/>
        </p:nvCxnSpPr>
        <p:spPr>
          <a:xfrm flipH="1">
            <a:off x="4045716" y="2885240"/>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Oval 63">
            <a:extLst>
              <a:ext uri="{FF2B5EF4-FFF2-40B4-BE49-F238E27FC236}">
                <a16:creationId xmlns:a16="http://schemas.microsoft.com/office/drawing/2014/main" id="{33341460-B07E-4A79-92B0-44271FF3F196}"/>
              </a:ext>
            </a:extLst>
          </p:cNvPr>
          <p:cNvSpPr/>
          <p:nvPr/>
        </p:nvSpPr>
        <p:spPr>
          <a:xfrm>
            <a:off x="5217373" y="3720796"/>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60</a:t>
            </a:r>
          </a:p>
        </p:txBody>
      </p:sp>
      <p:cxnSp>
        <p:nvCxnSpPr>
          <p:cNvPr id="65" name="Straight Arrow Connector 64">
            <a:extLst>
              <a:ext uri="{FF2B5EF4-FFF2-40B4-BE49-F238E27FC236}">
                <a16:creationId xmlns:a16="http://schemas.microsoft.com/office/drawing/2014/main" id="{BC4CD16A-E6CE-4064-B456-1F525C9738CF}"/>
              </a:ext>
            </a:extLst>
          </p:cNvPr>
          <p:cNvCxnSpPr>
            <a:cxnSpLocks/>
            <a:endCxn id="64" idx="1"/>
          </p:cNvCxnSpPr>
          <p:nvPr/>
        </p:nvCxnSpPr>
        <p:spPr>
          <a:xfrm>
            <a:off x="5037183" y="3472018"/>
            <a:ext cx="248190" cy="296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 name="Oval 66">
            <a:extLst>
              <a:ext uri="{FF2B5EF4-FFF2-40B4-BE49-F238E27FC236}">
                <a16:creationId xmlns:a16="http://schemas.microsoft.com/office/drawing/2014/main" id="{A4256360-CAA3-445C-B996-91F68F2367B6}"/>
              </a:ext>
            </a:extLst>
          </p:cNvPr>
          <p:cNvSpPr/>
          <p:nvPr/>
        </p:nvSpPr>
        <p:spPr>
          <a:xfrm>
            <a:off x="4135113" y="3717731"/>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57</a:t>
            </a:r>
          </a:p>
        </p:txBody>
      </p:sp>
      <p:cxnSp>
        <p:nvCxnSpPr>
          <p:cNvPr id="68" name="Straight Arrow Connector 67">
            <a:extLst>
              <a:ext uri="{FF2B5EF4-FFF2-40B4-BE49-F238E27FC236}">
                <a16:creationId xmlns:a16="http://schemas.microsoft.com/office/drawing/2014/main" id="{FB741C1C-77FC-4EF9-92D7-3F7A8730A170}"/>
              </a:ext>
            </a:extLst>
          </p:cNvPr>
          <p:cNvCxnSpPr>
            <a:cxnSpLocks/>
          </p:cNvCxnSpPr>
          <p:nvPr/>
        </p:nvCxnSpPr>
        <p:spPr>
          <a:xfrm flipH="1">
            <a:off x="4388729" y="3444957"/>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Oval 68">
            <a:extLst>
              <a:ext uri="{FF2B5EF4-FFF2-40B4-BE49-F238E27FC236}">
                <a16:creationId xmlns:a16="http://schemas.microsoft.com/office/drawing/2014/main" id="{9CEE34C3-30AD-4E30-934B-23AF97F36032}"/>
              </a:ext>
            </a:extLst>
          </p:cNvPr>
          <p:cNvSpPr/>
          <p:nvPr/>
        </p:nvSpPr>
        <p:spPr>
          <a:xfrm>
            <a:off x="5437534" y="3139982"/>
            <a:ext cx="464336" cy="3259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82</a:t>
            </a:r>
          </a:p>
        </p:txBody>
      </p:sp>
      <p:cxnSp>
        <p:nvCxnSpPr>
          <p:cNvPr id="70" name="Straight Arrow Connector 69">
            <a:extLst>
              <a:ext uri="{FF2B5EF4-FFF2-40B4-BE49-F238E27FC236}">
                <a16:creationId xmlns:a16="http://schemas.microsoft.com/office/drawing/2014/main" id="{A62EFEF3-8CEF-4A37-8925-E5B5A53DCA38}"/>
              </a:ext>
            </a:extLst>
          </p:cNvPr>
          <p:cNvCxnSpPr>
            <a:cxnSpLocks/>
            <a:endCxn id="69" idx="0"/>
          </p:cNvCxnSpPr>
          <p:nvPr/>
        </p:nvCxnSpPr>
        <p:spPr>
          <a:xfrm flipH="1">
            <a:off x="5669702" y="2868300"/>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Oval 32">
            <a:extLst>
              <a:ext uri="{FF2B5EF4-FFF2-40B4-BE49-F238E27FC236}">
                <a16:creationId xmlns:a16="http://schemas.microsoft.com/office/drawing/2014/main" id="{3B52AEB8-8A97-4ED5-9629-16FEE6AA6AEF}"/>
              </a:ext>
            </a:extLst>
          </p:cNvPr>
          <p:cNvSpPr/>
          <p:nvPr/>
        </p:nvSpPr>
        <p:spPr>
          <a:xfrm>
            <a:off x="3299603" y="3740449"/>
            <a:ext cx="464336" cy="32592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30</a:t>
            </a:r>
          </a:p>
        </p:txBody>
      </p:sp>
      <p:cxnSp>
        <p:nvCxnSpPr>
          <p:cNvPr id="34" name="Straight Arrow Connector 33">
            <a:extLst>
              <a:ext uri="{FF2B5EF4-FFF2-40B4-BE49-F238E27FC236}">
                <a16:creationId xmlns:a16="http://schemas.microsoft.com/office/drawing/2014/main" id="{1B37A3DD-84D8-4144-85D1-BBF87E680137}"/>
              </a:ext>
            </a:extLst>
          </p:cNvPr>
          <p:cNvCxnSpPr>
            <a:cxnSpLocks/>
          </p:cNvCxnSpPr>
          <p:nvPr/>
        </p:nvCxnSpPr>
        <p:spPr>
          <a:xfrm flipH="1">
            <a:off x="3553219" y="3467675"/>
            <a:ext cx="319601" cy="2716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Oval 34">
            <a:extLst>
              <a:ext uri="{FF2B5EF4-FFF2-40B4-BE49-F238E27FC236}">
                <a16:creationId xmlns:a16="http://schemas.microsoft.com/office/drawing/2014/main" id="{00325010-A4DB-4D9E-8A55-08C1F40BD740}"/>
              </a:ext>
            </a:extLst>
          </p:cNvPr>
          <p:cNvSpPr/>
          <p:nvPr/>
        </p:nvSpPr>
        <p:spPr>
          <a:xfrm>
            <a:off x="6458433" y="3121374"/>
            <a:ext cx="464336" cy="32592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95</a:t>
            </a:r>
          </a:p>
        </p:txBody>
      </p:sp>
      <p:cxnSp>
        <p:nvCxnSpPr>
          <p:cNvPr id="36" name="Straight Arrow Connector 35">
            <a:extLst>
              <a:ext uri="{FF2B5EF4-FFF2-40B4-BE49-F238E27FC236}">
                <a16:creationId xmlns:a16="http://schemas.microsoft.com/office/drawing/2014/main" id="{8A6A0923-0AEF-4D64-A833-9A31D392BE06}"/>
              </a:ext>
            </a:extLst>
          </p:cNvPr>
          <p:cNvCxnSpPr>
            <a:cxnSpLocks/>
          </p:cNvCxnSpPr>
          <p:nvPr/>
        </p:nvCxnSpPr>
        <p:spPr>
          <a:xfrm>
            <a:off x="6318498" y="2815111"/>
            <a:ext cx="360379" cy="3121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Oval 36">
            <a:extLst>
              <a:ext uri="{FF2B5EF4-FFF2-40B4-BE49-F238E27FC236}">
                <a16:creationId xmlns:a16="http://schemas.microsoft.com/office/drawing/2014/main" id="{B674C33B-04ED-42F9-B699-0E05CA051878}"/>
              </a:ext>
            </a:extLst>
          </p:cNvPr>
          <p:cNvSpPr/>
          <p:nvPr/>
        </p:nvSpPr>
        <p:spPr>
          <a:xfrm>
            <a:off x="6082059" y="3704901"/>
            <a:ext cx="464336" cy="32592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86</a:t>
            </a:r>
          </a:p>
        </p:txBody>
      </p:sp>
      <p:cxnSp>
        <p:nvCxnSpPr>
          <p:cNvPr id="40" name="Straight Arrow Connector 39">
            <a:extLst>
              <a:ext uri="{FF2B5EF4-FFF2-40B4-BE49-F238E27FC236}">
                <a16:creationId xmlns:a16="http://schemas.microsoft.com/office/drawing/2014/main" id="{B94EA41E-B6B1-494D-A2C3-4299EB77DC11}"/>
              </a:ext>
            </a:extLst>
          </p:cNvPr>
          <p:cNvCxnSpPr>
            <a:cxnSpLocks/>
            <a:endCxn id="37" idx="0"/>
          </p:cNvCxnSpPr>
          <p:nvPr/>
        </p:nvCxnSpPr>
        <p:spPr>
          <a:xfrm>
            <a:off x="5901870" y="3363980"/>
            <a:ext cx="412357" cy="3409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4C818FF0-8D3C-48D1-90DC-541DEF401DE8}"/>
              </a:ext>
            </a:extLst>
          </p:cNvPr>
          <p:cNvSpPr/>
          <p:nvPr/>
        </p:nvSpPr>
        <p:spPr>
          <a:xfrm>
            <a:off x="2575387" y="3139982"/>
            <a:ext cx="464336" cy="325924"/>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rgbClr val="9A0000"/>
                </a:solidFill>
              </a:rPr>
              <a:t>9</a:t>
            </a:r>
          </a:p>
        </p:txBody>
      </p:sp>
      <p:cxnSp>
        <p:nvCxnSpPr>
          <p:cNvPr id="42" name="Straight Arrow Connector 41">
            <a:extLst>
              <a:ext uri="{FF2B5EF4-FFF2-40B4-BE49-F238E27FC236}">
                <a16:creationId xmlns:a16="http://schemas.microsoft.com/office/drawing/2014/main" id="{BBE831E6-24B7-4DB5-81F3-DF172B9DAF7F}"/>
              </a:ext>
            </a:extLst>
          </p:cNvPr>
          <p:cNvCxnSpPr>
            <a:cxnSpLocks/>
            <a:endCxn id="41" idx="0"/>
          </p:cNvCxnSpPr>
          <p:nvPr/>
        </p:nvCxnSpPr>
        <p:spPr>
          <a:xfrm flipH="1">
            <a:off x="2807555" y="2849692"/>
            <a:ext cx="297446" cy="2902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31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5" grpId="0" animBg="1"/>
      <p:bldP spid="37" grpId="0" animBg="1"/>
      <p:bldP spid="4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3" name="Google Shape;253;p35"/>
          <p:cNvSpPr txBox="1">
            <a:spLocks noGrp="1"/>
          </p:cNvSpPr>
          <p:nvPr>
            <p:ph type="title"/>
          </p:nvPr>
        </p:nvSpPr>
        <p:spPr>
          <a:xfrm>
            <a:off x="606627" y="490097"/>
            <a:ext cx="3355823" cy="5055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Binary Search Tree Sample Program</a:t>
            </a:r>
          </a:p>
        </p:txBody>
      </p:sp>
      <p:sp>
        <p:nvSpPr>
          <p:cNvPr id="8" name="Google Shape;234;p34">
            <a:extLst>
              <a:ext uri="{FF2B5EF4-FFF2-40B4-BE49-F238E27FC236}">
                <a16:creationId xmlns:a16="http://schemas.microsoft.com/office/drawing/2014/main" id="{201D6E1F-06F4-457F-AA95-D138DE4A469B}"/>
              </a:ext>
            </a:extLst>
          </p:cNvPr>
          <p:cNvSpPr txBox="1">
            <a:spLocks/>
          </p:cNvSpPr>
          <p:nvPr/>
        </p:nvSpPr>
        <p:spPr>
          <a:xfrm>
            <a:off x="1020513" y="1165658"/>
            <a:ext cx="3439500" cy="3169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sz="1400" u="sng" dirty="0">
                <a:solidFill>
                  <a:srgbClr val="C00000"/>
                </a:solidFill>
                <a:latin typeface="Concert One" panose="020B0604020202020204" charset="0"/>
              </a:rPr>
              <a:t>Inserting a Node</a:t>
            </a:r>
          </a:p>
        </p:txBody>
      </p:sp>
      <p:pic>
        <p:nvPicPr>
          <p:cNvPr id="9" name="Picture 8">
            <a:extLst>
              <a:ext uri="{FF2B5EF4-FFF2-40B4-BE49-F238E27FC236}">
                <a16:creationId xmlns:a16="http://schemas.microsoft.com/office/drawing/2014/main" id="{104B1186-F162-4200-BCB0-2AF2FDC7DD8C}"/>
              </a:ext>
            </a:extLst>
          </p:cNvPr>
          <p:cNvPicPr>
            <a:picLocks noChangeAspect="1"/>
          </p:cNvPicPr>
          <p:nvPr/>
        </p:nvPicPr>
        <p:blipFill>
          <a:blip r:embed="rId3"/>
          <a:stretch>
            <a:fillRect/>
          </a:stretch>
        </p:blipFill>
        <p:spPr>
          <a:xfrm>
            <a:off x="523877" y="1577564"/>
            <a:ext cx="4048123" cy="3075839"/>
          </a:xfrm>
          <a:prstGeom prst="rect">
            <a:avLst/>
          </a:prstGeom>
        </p:spPr>
      </p:pic>
      <p:sp>
        <p:nvSpPr>
          <p:cNvPr id="256" name="Google Shape;256;p35"/>
          <p:cNvSpPr/>
          <p:nvPr/>
        </p:nvSpPr>
        <p:spPr>
          <a:xfrm rot="-2700000">
            <a:off x="4248281" y="4520238"/>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
        <p:nvSpPr>
          <p:cNvPr id="255" name="Google Shape;255;p35"/>
          <p:cNvSpPr/>
          <p:nvPr/>
        </p:nvSpPr>
        <p:spPr>
          <a:xfrm rot="-2700000">
            <a:off x="282909" y="1512055"/>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2"/>
              </a:solidFill>
            </a:endParaRPr>
          </a:p>
        </p:txBody>
      </p:sp>
    </p:spTree>
    <p:extLst>
      <p:ext uri="{BB962C8B-B14F-4D97-AF65-F5344CB8AC3E}">
        <p14:creationId xmlns:p14="http://schemas.microsoft.com/office/powerpoint/2010/main" val="1544178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4">
            <a:alphaModFix/>
          </a:blip>
          <a:stretch>
            <a:fillRect/>
          </a:stretch>
        </p:blipFill>
        <p:spPr>
          <a:xfrm>
            <a:off x="3625983" y="4200420"/>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132587" y="473340"/>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b="1" dirty="0">
                <a:solidFill>
                  <a:srgbClr val="C00000"/>
                </a:solidFill>
                <a:latin typeface="Concert One" panose="020B0604020202020204" charset="0"/>
              </a:rPr>
              <a:t>Finding a node with a given key</a:t>
            </a:r>
          </a:p>
        </p:txBody>
      </p:sp>
      <p:pic>
        <p:nvPicPr>
          <p:cNvPr id="8" name="Picture 7">
            <a:extLst>
              <a:ext uri="{FF2B5EF4-FFF2-40B4-BE49-F238E27FC236}">
                <a16:creationId xmlns:a16="http://schemas.microsoft.com/office/drawing/2014/main" id="{F348D095-630F-4713-B7D3-4347337A5776}"/>
              </a:ext>
            </a:extLst>
          </p:cNvPr>
          <p:cNvPicPr>
            <a:picLocks noChangeAspect="1"/>
          </p:cNvPicPr>
          <p:nvPr/>
        </p:nvPicPr>
        <p:blipFill>
          <a:blip r:embed="rId5"/>
          <a:stretch>
            <a:fillRect/>
          </a:stretch>
        </p:blipFill>
        <p:spPr>
          <a:xfrm>
            <a:off x="3283574" y="1292941"/>
            <a:ext cx="3365074" cy="2829234"/>
          </a:xfrm>
          <a:prstGeom prst="rect">
            <a:avLst/>
          </a:prstGeom>
        </p:spPr>
      </p:pic>
    </p:spTree>
    <p:extLst>
      <p:ext uri="{BB962C8B-B14F-4D97-AF65-F5344CB8AC3E}">
        <p14:creationId xmlns:p14="http://schemas.microsoft.com/office/powerpoint/2010/main" val="14556912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4">
            <a:alphaModFix/>
          </a:blip>
          <a:stretch>
            <a:fillRect/>
          </a:stretch>
        </p:blipFill>
        <p:spPr>
          <a:xfrm>
            <a:off x="3584952" y="4042921"/>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132587" y="473340"/>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b="1" dirty="0">
                <a:solidFill>
                  <a:srgbClr val="C00000"/>
                </a:solidFill>
                <a:latin typeface="Concert One" panose="020B0604020202020204" charset="0"/>
              </a:rPr>
              <a:t>Finding a node with a given key</a:t>
            </a:r>
          </a:p>
        </p:txBody>
      </p:sp>
      <p:sp>
        <p:nvSpPr>
          <p:cNvPr id="7" name="TextBox 6">
            <a:extLst>
              <a:ext uri="{FF2B5EF4-FFF2-40B4-BE49-F238E27FC236}">
                <a16:creationId xmlns:a16="http://schemas.microsoft.com/office/drawing/2014/main" id="{E2AC426E-EBAF-4D74-8A43-DC96FA9012B6}"/>
              </a:ext>
            </a:extLst>
          </p:cNvPr>
          <p:cNvSpPr txBox="1"/>
          <p:nvPr/>
        </p:nvSpPr>
        <p:spPr>
          <a:xfrm>
            <a:off x="3450985" y="857939"/>
            <a:ext cx="1874231" cy="261610"/>
          </a:xfrm>
          <a:prstGeom prst="rect">
            <a:avLst/>
          </a:prstGeom>
          <a:noFill/>
        </p:spPr>
        <p:txBody>
          <a:bodyPr wrap="none" rtlCol="0">
            <a:spAutoFit/>
          </a:bodyPr>
          <a:lstStyle/>
          <a:p>
            <a:r>
              <a:rPr lang="en-US" sz="1100" dirty="0">
                <a:solidFill>
                  <a:srgbClr val="C00000"/>
                </a:solidFill>
                <a:latin typeface="Oxygen" panose="02000503000000000000" pitchFamily="2" charset="0"/>
              </a:rPr>
              <a:t>Let’s try to search Node 27</a:t>
            </a:r>
          </a:p>
        </p:txBody>
      </p:sp>
      <p:pic>
        <p:nvPicPr>
          <p:cNvPr id="3" name="Picture 2" descr="Diagram&#10;&#10;Description automatically generated">
            <a:extLst>
              <a:ext uri="{FF2B5EF4-FFF2-40B4-BE49-F238E27FC236}">
                <a16:creationId xmlns:a16="http://schemas.microsoft.com/office/drawing/2014/main" id="{20E28B34-C965-4081-A9C4-D81743102A6D}"/>
              </a:ext>
            </a:extLst>
          </p:cNvPr>
          <p:cNvPicPr>
            <a:picLocks noChangeAspect="1"/>
          </p:cNvPicPr>
          <p:nvPr/>
        </p:nvPicPr>
        <p:blipFill>
          <a:blip r:embed="rId5"/>
          <a:stretch>
            <a:fillRect/>
          </a:stretch>
        </p:blipFill>
        <p:spPr>
          <a:xfrm>
            <a:off x="3344090" y="1240242"/>
            <a:ext cx="3254620" cy="2733881"/>
          </a:xfrm>
          <a:prstGeom prst="rect">
            <a:avLst/>
          </a:prstGeom>
        </p:spPr>
      </p:pic>
      <p:sp>
        <p:nvSpPr>
          <p:cNvPr id="4" name="Rectangle 3">
            <a:extLst>
              <a:ext uri="{FF2B5EF4-FFF2-40B4-BE49-F238E27FC236}">
                <a16:creationId xmlns:a16="http://schemas.microsoft.com/office/drawing/2014/main" id="{7983C835-37D1-483C-B667-85DB9ED06215}"/>
              </a:ext>
            </a:extLst>
          </p:cNvPr>
          <p:cNvSpPr/>
          <p:nvPr/>
        </p:nvSpPr>
        <p:spPr>
          <a:xfrm>
            <a:off x="3344090" y="3839309"/>
            <a:ext cx="3254620" cy="146538"/>
          </a:xfrm>
          <a:prstGeom prst="rect">
            <a:avLst/>
          </a:prstGeom>
          <a:solidFill>
            <a:srgbClr val="F8F8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8456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4">
            <a:alphaModFix/>
          </a:blip>
          <a:stretch>
            <a:fillRect/>
          </a:stretch>
        </p:blipFill>
        <p:spPr>
          <a:xfrm>
            <a:off x="3625983" y="4200420"/>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132587" y="473340"/>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b="1" dirty="0">
                <a:solidFill>
                  <a:srgbClr val="C00000"/>
                </a:solidFill>
                <a:latin typeface="Concert One" panose="020B0604020202020204" charset="0"/>
              </a:rPr>
              <a:t>Finding a node with a given key</a:t>
            </a:r>
          </a:p>
        </p:txBody>
      </p:sp>
      <p:pic>
        <p:nvPicPr>
          <p:cNvPr id="5" name="Picture 4" descr="A picture containing watch, clock&#10;&#10;Description automatically generated">
            <a:extLst>
              <a:ext uri="{FF2B5EF4-FFF2-40B4-BE49-F238E27FC236}">
                <a16:creationId xmlns:a16="http://schemas.microsoft.com/office/drawing/2014/main" id="{F0708B99-33B2-413E-9476-1A4374D125AE}"/>
              </a:ext>
            </a:extLst>
          </p:cNvPr>
          <p:cNvPicPr>
            <a:picLocks noChangeAspect="1"/>
          </p:cNvPicPr>
          <p:nvPr/>
        </p:nvPicPr>
        <p:blipFill>
          <a:blip r:embed="rId5"/>
          <a:stretch>
            <a:fillRect/>
          </a:stretch>
        </p:blipFill>
        <p:spPr>
          <a:xfrm>
            <a:off x="3132587" y="1563770"/>
            <a:ext cx="3240958" cy="2414514"/>
          </a:xfrm>
          <a:prstGeom prst="rect">
            <a:avLst/>
          </a:prstGeom>
        </p:spPr>
      </p:pic>
      <p:sp>
        <p:nvSpPr>
          <p:cNvPr id="7" name="TextBox 6">
            <a:extLst>
              <a:ext uri="{FF2B5EF4-FFF2-40B4-BE49-F238E27FC236}">
                <a16:creationId xmlns:a16="http://schemas.microsoft.com/office/drawing/2014/main" id="{4C5B1854-AB16-4B6D-8D7F-EA5344C3B9CC}"/>
              </a:ext>
            </a:extLst>
          </p:cNvPr>
          <p:cNvSpPr txBox="1"/>
          <p:nvPr/>
        </p:nvSpPr>
        <p:spPr>
          <a:xfrm>
            <a:off x="3450985" y="857939"/>
            <a:ext cx="1851789" cy="261610"/>
          </a:xfrm>
          <a:prstGeom prst="rect">
            <a:avLst/>
          </a:prstGeom>
          <a:noFill/>
        </p:spPr>
        <p:txBody>
          <a:bodyPr wrap="none" rtlCol="0">
            <a:spAutoFit/>
          </a:bodyPr>
          <a:lstStyle/>
          <a:p>
            <a:r>
              <a:rPr lang="en-US" sz="1100" dirty="0">
                <a:solidFill>
                  <a:srgbClr val="C00000"/>
                </a:solidFill>
                <a:latin typeface="Oxygen" panose="02000503000000000000" pitchFamily="2" charset="0"/>
              </a:rPr>
              <a:t>Let’s try to search Node 14</a:t>
            </a:r>
          </a:p>
        </p:txBody>
      </p:sp>
    </p:spTree>
    <p:extLst>
      <p:ext uri="{BB962C8B-B14F-4D97-AF65-F5344CB8AC3E}">
        <p14:creationId xmlns:p14="http://schemas.microsoft.com/office/powerpoint/2010/main" val="729897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3" name="Google Shape;253;p35"/>
          <p:cNvSpPr txBox="1">
            <a:spLocks noGrp="1"/>
          </p:cNvSpPr>
          <p:nvPr>
            <p:ph type="title"/>
          </p:nvPr>
        </p:nvSpPr>
        <p:spPr>
          <a:xfrm>
            <a:off x="606627" y="490097"/>
            <a:ext cx="3355823" cy="5055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Binary Search Tree Sample Program</a:t>
            </a:r>
          </a:p>
        </p:txBody>
      </p:sp>
      <p:pic>
        <p:nvPicPr>
          <p:cNvPr id="257" name="Google Shape;257;p35"/>
          <p:cNvPicPr preferRelativeResize="0"/>
          <p:nvPr/>
        </p:nvPicPr>
        <p:blipFill>
          <a:blip r:embed="rId3">
            <a:alphaModFix amt="80000"/>
          </a:blip>
          <a:stretch>
            <a:fillRect/>
          </a:stretch>
        </p:blipFill>
        <p:spPr>
          <a:xfrm rot="-6023610">
            <a:off x="7026282" y="2213528"/>
            <a:ext cx="1579416" cy="716443"/>
          </a:xfrm>
          <a:prstGeom prst="rect">
            <a:avLst/>
          </a:prstGeom>
          <a:noFill/>
          <a:ln>
            <a:noFill/>
          </a:ln>
        </p:spPr>
      </p:pic>
      <p:pic>
        <p:nvPicPr>
          <p:cNvPr id="7" name="Picture 6">
            <a:extLst>
              <a:ext uri="{FF2B5EF4-FFF2-40B4-BE49-F238E27FC236}">
                <a16:creationId xmlns:a16="http://schemas.microsoft.com/office/drawing/2014/main" id="{00AC6CC4-B242-46D3-8226-FEADB6150A66}"/>
              </a:ext>
            </a:extLst>
          </p:cNvPr>
          <p:cNvPicPr>
            <a:picLocks noChangeAspect="1"/>
          </p:cNvPicPr>
          <p:nvPr/>
        </p:nvPicPr>
        <p:blipFill>
          <a:blip r:embed="rId4"/>
          <a:stretch>
            <a:fillRect/>
          </a:stretch>
        </p:blipFill>
        <p:spPr>
          <a:xfrm>
            <a:off x="2408857" y="1571060"/>
            <a:ext cx="4714614" cy="3015715"/>
          </a:xfrm>
          <a:prstGeom prst="rect">
            <a:avLst/>
          </a:prstGeom>
        </p:spPr>
      </p:pic>
      <p:sp>
        <p:nvSpPr>
          <p:cNvPr id="255" name="Google Shape;255;p35"/>
          <p:cNvSpPr/>
          <p:nvPr/>
        </p:nvSpPr>
        <p:spPr>
          <a:xfrm rot="-2700000">
            <a:off x="2085139" y="1437895"/>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6" name="Google Shape;256;p35"/>
          <p:cNvSpPr/>
          <p:nvPr/>
        </p:nvSpPr>
        <p:spPr>
          <a:xfrm rot="-2700000">
            <a:off x="6799755" y="4453609"/>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8" name="Google Shape;234;p34">
            <a:extLst>
              <a:ext uri="{FF2B5EF4-FFF2-40B4-BE49-F238E27FC236}">
                <a16:creationId xmlns:a16="http://schemas.microsoft.com/office/drawing/2014/main" id="{201D6E1F-06F4-457F-AA95-D138DE4A469B}"/>
              </a:ext>
            </a:extLst>
          </p:cNvPr>
          <p:cNvSpPr txBox="1">
            <a:spLocks/>
          </p:cNvSpPr>
          <p:nvPr/>
        </p:nvSpPr>
        <p:spPr>
          <a:xfrm>
            <a:off x="4977123" y="1175102"/>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sz="1400" u="sng" dirty="0">
                <a:solidFill>
                  <a:srgbClr val="C00000"/>
                </a:solidFill>
                <a:latin typeface="Concert One" panose="020B0604020202020204" charset="0"/>
              </a:rPr>
              <a:t>Finding a node with a given key</a:t>
            </a:r>
          </a:p>
        </p:txBody>
      </p:sp>
    </p:spTree>
    <p:extLst>
      <p:ext uri="{BB962C8B-B14F-4D97-AF65-F5344CB8AC3E}">
        <p14:creationId xmlns:p14="http://schemas.microsoft.com/office/powerpoint/2010/main" val="1593285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34"/>
          <p:cNvSpPr txBox="1">
            <a:spLocks noGrp="1"/>
          </p:cNvSpPr>
          <p:nvPr>
            <p:ph type="subTitle" idx="1"/>
          </p:nvPr>
        </p:nvSpPr>
        <p:spPr>
          <a:xfrm>
            <a:off x="1307758" y="531752"/>
            <a:ext cx="510041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Traversing the Tree	</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6" name="Google Shape;233;p34">
            <a:extLst>
              <a:ext uri="{FF2B5EF4-FFF2-40B4-BE49-F238E27FC236}">
                <a16:creationId xmlns:a16="http://schemas.microsoft.com/office/drawing/2014/main" id="{40AD8177-B63E-464C-9672-DB804136FCBB}"/>
              </a:ext>
            </a:extLst>
          </p:cNvPr>
          <p:cNvSpPr txBox="1">
            <a:spLocks noGrp="1"/>
          </p:cNvSpPr>
          <p:nvPr>
            <p:ph type="title"/>
          </p:nvPr>
        </p:nvSpPr>
        <p:spPr>
          <a:xfrm>
            <a:off x="1388749" y="1356685"/>
            <a:ext cx="6899108" cy="1583439"/>
          </a:xfrm>
          <a:prstGeom prst="rect">
            <a:avLst/>
          </a:prstGeom>
        </p:spPr>
        <p:txBody>
          <a:bodyPr spcFirstLastPara="1" wrap="square" lIns="91425" tIns="91425" rIns="91425" bIns="91425" anchor="t" anchorCtr="0">
            <a:noAutofit/>
          </a:bodyPr>
          <a:lstStyle/>
          <a:p>
            <a:r>
              <a:rPr lang="en-US" sz="1400" dirty="0"/>
              <a:t>	Traversing a tree means visiting each node in a specified order. </a:t>
            </a:r>
            <a:br>
              <a:rPr lang="en-US" sz="1400" dirty="0"/>
            </a:br>
            <a:r>
              <a:rPr lang="en-US" sz="1400" dirty="0"/>
              <a:t>	There are three simple ways to traverse a tree. They're called </a:t>
            </a:r>
            <a:r>
              <a:rPr lang="en-US" sz="1400" b="1" u="sng" dirty="0"/>
              <a:t>preorder</a:t>
            </a:r>
            <a:r>
              <a:rPr lang="en-US" sz="1400" dirty="0"/>
              <a:t>, </a:t>
            </a:r>
            <a:r>
              <a:rPr lang="en-US" sz="1400" b="1" u="sng" dirty="0" err="1"/>
              <a:t>inorder</a:t>
            </a:r>
            <a:r>
              <a:rPr lang="en-US" sz="1400" dirty="0"/>
              <a:t>, and </a:t>
            </a:r>
            <a:r>
              <a:rPr lang="en-US" sz="1400" b="1" u="sng" dirty="0" err="1"/>
              <a:t>postorder</a:t>
            </a:r>
            <a:r>
              <a:rPr lang="en-US" sz="1400" dirty="0"/>
              <a:t>. </a:t>
            </a:r>
          </a:p>
        </p:txBody>
      </p:sp>
    </p:spTree>
    <p:extLst>
      <p:ext uri="{BB962C8B-B14F-4D97-AF65-F5344CB8AC3E}">
        <p14:creationId xmlns:p14="http://schemas.microsoft.com/office/powerpoint/2010/main" val="3836965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p34"/>
          <p:cNvSpPr txBox="1">
            <a:spLocks noGrp="1"/>
          </p:cNvSpPr>
          <p:nvPr>
            <p:ph type="subTitle" idx="1"/>
          </p:nvPr>
        </p:nvSpPr>
        <p:spPr>
          <a:xfrm>
            <a:off x="1307758" y="531752"/>
            <a:ext cx="5100415" cy="5351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Traversing the Tree	</a:t>
            </a:r>
          </a:p>
        </p:txBody>
      </p:sp>
      <p:pic>
        <p:nvPicPr>
          <p:cNvPr id="235" name="Google Shape;235;p34"/>
          <p:cNvPicPr preferRelativeResize="0"/>
          <p:nvPr/>
        </p:nvPicPr>
        <p:blipFill>
          <a:blip r:embed="rId3">
            <a:alphaModFix/>
          </a:blip>
          <a:stretch>
            <a:fillRect/>
          </a:stretch>
        </p:blipFill>
        <p:spPr>
          <a:xfrm rot="-695460">
            <a:off x="7765338" y="3361772"/>
            <a:ext cx="1241024" cy="1610463"/>
          </a:xfrm>
          <a:prstGeom prst="rect">
            <a:avLst/>
          </a:prstGeom>
          <a:noFill/>
          <a:ln>
            <a:noFill/>
          </a:ln>
          <a:effectLst>
            <a:outerShdw blurRad="57150" dist="19050" dir="5400000" algn="bl" rotWithShape="0">
              <a:srgbClr val="000000">
                <a:alpha val="50000"/>
              </a:srgbClr>
            </a:outerShdw>
          </a:effectLst>
        </p:spPr>
      </p:pic>
      <p:grpSp>
        <p:nvGrpSpPr>
          <p:cNvPr id="236" name="Google Shape;236;p34"/>
          <p:cNvGrpSpPr/>
          <p:nvPr/>
        </p:nvGrpSpPr>
        <p:grpSpPr>
          <a:xfrm rot="790859">
            <a:off x="7973758" y="3964891"/>
            <a:ext cx="824184" cy="712067"/>
            <a:chOff x="2341425" y="238100"/>
            <a:chExt cx="1328900" cy="1148125"/>
          </a:xfrm>
        </p:grpSpPr>
        <p:sp>
          <p:nvSpPr>
            <p:cNvPr id="237" name="Google Shape;237;p34"/>
            <p:cNvSpPr/>
            <p:nvPr/>
          </p:nvSpPr>
          <p:spPr>
            <a:xfrm>
              <a:off x="2341425" y="238100"/>
              <a:ext cx="1328900" cy="1148125"/>
            </a:xfrm>
            <a:custGeom>
              <a:avLst/>
              <a:gdLst/>
              <a:ahLst/>
              <a:cxnLst/>
              <a:rect l="l" t="t" r="r" b="b"/>
              <a:pathLst>
                <a:path w="53156" h="45925" extrusionOk="0">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4"/>
            <p:cNvSpPr/>
            <p:nvPr/>
          </p:nvSpPr>
          <p:spPr>
            <a:xfrm>
              <a:off x="2990175" y="381350"/>
              <a:ext cx="254450" cy="209600"/>
            </a:xfrm>
            <a:custGeom>
              <a:avLst/>
              <a:gdLst/>
              <a:ahLst/>
              <a:cxnLst/>
              <a:rect l="l" t="t" r="r" b="b"/>
              <a:pathLst>
                <a:path w="10178" h="8384" extrusionOk="0">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4"/>
            <p:cNvSpPr/>
            <p:nvPr/>
          </p:nvSpPr>
          <p:spPr>
            <a:xfrm>
              <a:off x="3026350" y="441550"/>
              <a:ext cx="247225" cy="201350"/>
            </a:xfrm>
            <a:custGeom>
              <a:avLst/>
              <a:gdLst/>
              <a:ahLst/>
              <a:cxnLst/>
              <a:rect l="l" t="t" r="r" b="b"/>
              <a:pathLst>
                <a:path w="9889" h="8054" extrusionOk="0">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4"/>
            <p:cNvSpPr/>
            <p:nvPr/>
          </p:nvSpPr>
          <p:spPr>
            <a:xfrm>
              <a:off x="3172850" y="661350"/>
              <a:ext cx="224850" cy="198300"/>
            </a:xfrm>
            <a:custGeom>
              <a:avLst/>
              <a:gdLst/>
              <a:ahLst/>
              <a:cxnLst/>
              <a:rect l="l" t="t" r="r" b="b"/>
              <a:pathLst>
                <a:path w="8994" h="7932" extrusionOk="0">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4"/>
            <p:cNvSpPr/>
            <p:nvPr/>
          </p:nvSpPr>
          <p:spPr>
            <a:xfrm>
              <a:off x="3219000" y="725650"/>
              <a:ext cx="226500" cy="215375"/>
            </a:xfrm>
            <a:custGeom>
              <a:avLst/>
              <a:gdLst/>
              <a:ahLst/>
              <a:cxnLst/>
              <a:rect l="l" t="t" r="r" b="b"/>
              <a:pathLst>
                <a:path w="9060" h="8615" extrusionOk="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a:off x="2528200" y="658025"/>
              <a:ext cx="405900" cy="260600"/>
            </a:xfrm>
            <a:custGeom>
              <a:avLst/>
              <a:gdLst/>
              <a:ahLst/>
              <a:cxnLst/>
              <a:rect l="l" t="t" r="r" b="b"/>
              <a:pathLst>
                <a:path w="16236" h="10424" extrusionOk="0">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2739725" y="878000"/>
              <a:ext cx="265375" cy="114400"/>
            </a:xfrm>
            <a:custGeom>
              <a:avLst/>
              <a:gdLst/>
              <a:ahLst/>
              <a:cxnLst/>
              <a:rect l="l" t="t" r="r" b="b"/>
              <a:pathLst>
                <a:path w="10615" h="4576" extrusionOk="0">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4"/>
            <p:cNvSpPr/>
            <p:nvPr/>
          </p:nvSpPr>
          <p:spPr>
            <a:xfrm>
              <a:off x="2783475" y="946275"/>
              <a:ext cx="254775" cy="113000"/>
            </a:xfrm>
            <a:custGeom>
              <a:avLst/>
              <a:gdLst/>
              <a:ahLst/>
              <a:cxnLst/>
              <a:rect l="l" t="t" r="r" b="b"/>
              <a:pathLst>
                <a:path w="10191" h="4520" extrusionOk="0">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p:nvPr/>
          </p:nvSpPr>
          <p:spPr>
            <a:xfrm>
              <a:off x="2839925" y="1007825"/>
              <a:ext cx="259925" cy="117700"/>
            </a:xfrm>
            <a:custGeom>
              <a:avLst/>
              <a:gdLst/>
              <a:ahLst/>
              <a:cxnLst/>
              <a:rect l="l" t="t" r="r" b="b"/>
              <a:pathLst>
                <a:path w="10397" h="4708" extrusionOk="0">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233;p34">
            <a:extLst>
              <a:ext uri="{FF2B5EF4-FFF2-40B4-BE49-F238E27FC236}">
                <a16:creationId xmlns:a16="http://schemas.microsoft.com/office/drawing/2014/main" id="{40AD8177-B63E-464C-9672-DB804136FCBB}"/>
              </a:ext>
            </a:extLst>
          </p:cNvPr>
          <p:cNvSpPr txBox="1">
            <a:spLocks noGrp="1"/>
          </p:cNvSpPr>
          <p:nvPr>
            <p:ph type="title"/>
          </p:nvPr>
        </p:nvSpPr>
        <p:spPr>
          <a:xfrm>
            <a:off x="1388749" y="1356685"/>
            <a:ext cx="6899108" cy="1583439"/>
          </a:xfrm>
          <a:prstGeom prst="rect">
            <a:avLst/>
          </a:prstGeom>
        </p:spPr>
        <p:txBody>
          <a:bodyPr spcFirstLastPara="1" wrap="square" lIns="91425" tIns="91425" rIns="91425" bIns="91425" anchor="t" anchorCtr="0">
            <a:noAutofit/>
          </a:bodyPr>
          <a:lstStyle/>
          <a:p>
            <a:r>
              <a:rPr lang="en-US" sz="1800" b="1" dirty="0">
                <a:solidFill>
                  <a:srgbClr val="C00000"/>
                </a:solidFill>
                <a:latin typeface="Concert One" panose="020B0604020202020204" charset="0"/>
              </a:rPr>
              <a:t>   </a:t>
            </a:r>
            <a:r>
              <a:rPr lang="en-US" sz="1800" b="1" dirty="0" err="1">
                <a:solidFill>
                  <a:srgbClr val="C00000"/>
                </a:solidFill>
                <a:latin typeface="Concert One" panose="020B0604020202020204" charset="0"/>
              </a:rPr>
              <a:t>Inorder</a:t>
            </a:r>
            <a:r>
              <a:rPr lang="en-US" sz="1800" b="1" dirty="0">
                <a:solidFill>
                  <a:srgbClr val="C00000"/>
                </a:solidFill>
                <a:latin typeface="Concert One" panose="020B0604020202020204" charset="0"/>
              </a:rPr>
              <a:t> Traversal</a:t>
            </a:r>
            <a:br>
              <a:rPr lang="en-US" sz="1400" dirty="0"/>
            </a:br>
            <a:br>
              <a:rPr lang="en-US" sz="1400" dirty="0"/>
            </a:br>
            <a:r>
              <a:rPr lang="en-US" sz="1400" dirty="0"/>
              <a:t>	An </a:t>
            </a:r>
            <a:r>
              <a:rPr lang="en-US" sz="1400" dirty="0" err="1"/>
              <a:t>inorder</a:t>
            </a:r>
            <a:r>
              <a:rPr lang="en-US" sz="1400" dirty="0"/>
              <a:t> traversal of a binary search tree will cause all the nodes to be visited in ascending order, based on their key values. If you want to create a sorted list of the data in a binary tree, this is one way to do it.</a:t>
            </a:r>
          </a:p>
        </p:txBody>
      </p:sp>
      <p:sp>
        <p:nvSpPr>
          <p:cNvPr id="2" name="Rectangle: Rounded Corners 1">
            <a:extLst>
              <a:ext uri="{FF2B5EF4-FFF2-40B4-BE49-F238E27FC236}">
                <a16:creationId xmlns:a16="http://schemas.microsoft.com/office/drawing/2014/main" id="{5BF2D9A3-BFA0-42A2-A5EB-2D9A1CE01C44}"/>
              </a:ext>
            </a:extLst>
          </p:cNvPr>
          <p:cNvSpPr/>
          <p:nvPr/>
        </p:nvSpPr>
        <p:spPr>
          <a:xfrm>
            <a:off x="1501887" y="1496962"/>
            <a:ext cx="179428" cy="14748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1004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idx="8"/>
          </p:nvPr>
        </p:nvSpPr>
        <p:spPr>
          <a:xfrm>
            <a:off x="640989" y="486050"/>
            <a:ext cx="3178336" cy="5272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Traversing the Tree</a:t>
            </a:r>
            <a:br>
              <a:rPr lang="en-US" dirty="0"/>
            </a:br>
            <a:r>
              <a:rPr lang="en-US" u="sng" dirty="0" err="1"/>
              <a:t>Inorder</a:t>
            </a:r>
            <a:r>
              <a:rPr lang="en-US" u="sng" dirty="0"/>
              <a:t> Traversal</a:t>
            </a:r>
          </a:p>
        </p:txBody>
      </p:sp>
      <p:pic>
        <p:nvPicPr>
          <p:cNvPr id="265" name="Google Shape;265;p36"/>
          <p:cNvPicPr preferRelativeResize="0"/>
          <p:nvPr/>
        </p:nvPicPr>
        <p:blipFill>
          <a:blip r:embed="rId3">
            <a:alphaModFix/>
          </a:blip>
          <a:stretch>
            <a:fillRect/>
          </a:stretch>
        </p:blipFill>
        <p:spPr>
          <a:xfrm rot="-695467">
            <a:off x="7428349" y="264518"/>
            <a:ext cx="1323877" cy="1547814"/>
          </a:xfrm>
          <a:prstGeom prst="rect">
            <a:avLst/>
          </a:prstGeom>
          <a:noFill/>
          <a:ln>
            <a:noFill/>
          </a:ln>
          <a:effectLst>
            <a:outerShdw blurRad="57150" dist="19050" dir="5400000" algn="bl" rotWithShape="0">
              <a:srgbClr val="000000">
                <a:alpha val="50000"/>
              </a:srgbClr>
            </a:outerShdw>
          </a:effectLst>
        </p:spPr>
      </p:pic>
      <p:grpSp>
        <p:nvGrpSpPr>
          <p:cNvPr id="267" name="Google Shape;267;p36"/>
          <p:cNvGrpSpPr/>
          <p:nvPr/>
        </p:nvGrpSpPr>
        <p:grpSpPr>
          <a:xfrm>
            <a:off x="7664560" y="910185"/>
            <a:ext cx="272906" cy="434118"/>
            <a:chOff x="1312450" y="4093350"/>
            <a:chExt cx="685350" cy="1090200"/>
          </a:xfrm>
        </p:grpSpPr>
        <p:sp>
          <p:nvSpPr>
            <p:cNvPr id="268" name="Google Shape;268;p36"/>
            <p:cNvSpPr/>
            <p:nvPr/>
          </p:nvSpPr>
          <p:spPr>
            <a:xfrm>
              <a:off x="1312450" y="4093350"/>
              <a:ext cx="685350" cy="1090200"/>
            </a:xfrm>
            <a:custGeom>
              <a:avLst/>
              <a:gdLst/>
              <a:ahLst/>
              <a:cxnLst/>
              <a:rect l="l" t="t" r="r" b="b"/>
              <a:pathLst>
                <a:path w="27414" h="43608" extrusionOk="0">
                  <a:moveTo>
                    <a:pt x="5201" y="10009"/>
                  </a:moveTo>
                  <a:lnTo>
                    <a:pt x="5201" y="10009"/>
                  </a:lnTo>
                  <a:cubicBezTo>
                    <a:pt x="5040" y="10996"/>
                    <a:pt x="5002" y="11987"/>
                    <a:pt x="5102" y="12937"/>
                  </a:cubicBezTo>
                  <a:cubicBezTo>
                    <a:pt x="5170" y="13571"/>
                    <a:pt x="5297" y="14196"/>
                    <a:pt x="5478" y="14807"/>
                  </a:cubicBezTo>
                  <a:cubicBezTo>
                    <a:pt x="4743" y="13294"/>
                    <a:pt x="4728" y="11634"/>
                    <a:pt x="5201" y="10009"/>
                  </a:cubicBezTo>
                  <a:close/>
                  <a:moveTo>
                    <a:pt x="15811" y="1265"/>
                  </a:moveTo>
                  <a:cubicBezTo>
                    <a:pt x="20541" y="1265"/>
                    <a:pt x="25145" y="5101"/>
                    <a:pt x="25884" y="9796"/>
                  </a:cubicBezTo>
                  <a:cubicBezTo>
                    <a:pt x="26649" y="14663"/>
                    <a:pt x="23581" y="19908"/>
                    <a:pt x="18734" y="21156"/>
                  </a:cubicBezTo>
                  <a:lnTo>
                    <a:pt x="18733" y="21156"/>
                  </a:lnTo>
                  <a:cubicBezTo>
                    <a:pt x="17919" y="21366"/>
                    <a:pt x="17082" y="21467"/>
                    <a:pt x="16245" y="21467"/>
                  </a:cubicBezTo>
                  <a:cubicBezTo>
                    <a:pt x="12150" y="21467"/>
                    <a:pt x="8059" y="19044"/>
                    <a:pt x="6641" y="15088"/>
                  </a:cubicBezTo>
                  <a:cubicBezTo>
                    <a:pt x="5469" y="11816"/>
                    <a:pt x="6172" y="7764"/>
                    <a:pt x="8270" y="4955"/>
                  </a:cubicBezTo>
                  <a:cubicBezTo>
                    <a:pt x="9623" y="3549"/>
                    <a:pt x="11222" y="2430"/>
                    <a:pt x="12774" y="1829"/>
                  </a:cubicBezTo>
                  <a:cubicBezTo>
                    <a:pt x="13408" y="1665"/>
                    <a:pt x="14061" y="1582"/>
                    <a:pt x="14715" y="1582"/>
                  </a:cubicBezTo>
                  <a:cubicBezTo>
                    <a:pt x="14773" y="1582"/>
                    <a:pt x="14831" y="1582"/>
                    <a:pt x="14889" y="1584"/>
                  </a:cubicBezTo>
                  <a:cubicBezTo>
                    <a:pt x="14890" y="1584"/>
                    <a:pt x="14891" y="1584"/>
                    <a:pt x="14891" y="1584"/>
                  </a:cubicBezTo>
                  <a:cubicBezTo>
                    <a:pt x="15042" y="1584"/>
                    <a:pt x="15084" y="1340"/>
                    <a:pt x="14936" y="1309"/>
                  </a:cubicBezTo>
                  <a:cubicBezTo>
                    <a:pt x="15228" y="1279"/>
                    <a:pt x="15519" y="1265"/>
                    <a:pt x="15811" y="1265"/>
                  </a:cubicBezTo>
                  <a:close/>
                  <a:moveTo>
                    <a:pt x="11744" y="28418"/>
                  </a:moveTo>
                  <a:lnTo>
                    <a:pt x="11744" y="28418"/>
                  </a:lnTo>
                  <a:cubicBezTo>
                    <a:pt x="12408" y="28787"/>
                    <a:pt x="13268" y="28878"/>
                    <a:pt x="14064" y="28978"/>
                  </a:cubicBezTo>
                  <a:cubicBezTo>
                    <a:pt x="13489" y="31053"/>
                    <a:pt x="12936" y="33136"/>
                    <a:pt x="12378" y="35217"/>
                  </a:cubicBezTo>
                  <a:lnTo>
                    <a:pt x="12377" y="35217"/>
                  </a:lnTo>
                  <a:lnTo>
                    <a:pt x="11752" y="37548"/>
                  </a:lnTo>
                  <a:cubicBezTo>
                    <a:pt x="11436" y="37515"/>
                    <a:pt x="11118" y="37500"/>
                    <a:pt x="10804" y="37432"/>
                  </a:cubicBezTo>
                  <a:cubicBezTo>
                    <a:pt x="10450" y="37354"/>
                    <a:pt x="10108" y="37230"/>
                    <a:pt x="9772" y="37098"/>
                  </a:cubicBezTo>
                  <a:cubicBezTo>
                    <a:pt x="9899" y="36422"/>
                    <a:pt x="10035" y="35749"/>
                    <a:pt x="10185" y="35077"/>
                  </a:cubicBezTo>
                  <a:cubicBezTo>
                    <a:pt x="10425" y="33999"/>
                    <a:pt x="10695" y="32928"/>
                    <a:pt x="10992" y="31864"/>
                  </a:cubicBezTo>
                  <a:cubicBezTo>
                    <a:pt x="11305" y="30745"/>
                    <a:pt x="11807" y="29661"/>
                    <a:pt x="11760" y="28491"/>
                  </a:cubicBezTo>
                  <a:cubicBezTo>
                    <a:pt x="11757" y="28467"/>
                    <a:pt x="11752" y="28442"/>
                    <a:pt x="11744" y="28418"/>
                  </a:cubicBezTo>
                  <a:close/>
                  <a:moveTo>
                    <a:pt x="9701" y="37483"/>
                  </a:moveTo>
                  <a:cubicBezTo>
                    <a:pt x="10246" y="37833"/>
                    <a:pt x="10942" y="38077"/>
                    <a:pt x="11595" y="38077"/>
                  </a:cubicBezTo>
                  <a:cubicBezTo>
                    <a:pt x="11600" y="38077"/>
                    <a:pt x="11605" y="38077"/>
                    <a:pt x="11609" y="38077"/>
                  </a:cubicBezTo>
                  <a:lnTo>
                    <a:pt x="11609" y="38077"/>
                  </a:lnTo>
                  <a:cubicBezTo>
                    <a:pt x="11580" y="38193"/>
                    <a:pt x="11549" y="38311"/>
                    <a:pt x="11517" y="38428"/>
                  </a:cubicBezTo>
                  <a:lnTo>
                    <a:pt x="11517" y="38427"/>
                  </a:lnTo>
                  <a:cubicBezTo>
                    <a:pt x="11470" y="38603"/>
                    <a:pt x="11418" y="38860"/>
                    <a:pt x="11359" y="39156"/>
                  </a:cubicBezTo>
                  <a:cubicBezTo>
                    <a:pt x="11204" y="39085"/>
                    <a:pt x="11033" y="39072"/>
                    <a:pt x="10858" y="39072"/>
                  </a:cubicBezTo>
                  <a:cubicBezTo>
                    <a:pt x="10752" y="39072"/>
                    <a:pt x="10645" y="39077"/>
                    <a:pt x="10540" y="39077"/>
                  </a:cubicBezTo>
                  <a:cubicBezTo>
                    <a:pt x="10481" y="39077"/>
                    <a:pt x="10423" y="39075"/>
                    <a:pt x="10366" y="39070"/>
                  </a:cubicBezTo>
                  <a:cubicBezTo>
                    <a:pt x="10056" y="39046"/>
                    <a:pt x="9752" y="38970"/>
                    <a:pt x="9446" y="38922"/>
                  </a:cubicBezTo>
                  <a:cubicBezTo>
                    <a:pt x="9465" y="38818"/>
                    <a:pt x="9482" y="38724"/>
                    <a:pt x="9492" y="38655"/>
                  </a:cubicBezTo>
                  <a:cubicBezTo>
                    <a:pt x="9556" y="38264"/>
                    <a:pt x="9631" y="37874"/>
                    <a:pt x="9701" y="37483"/>
                  </a:cubicBezTo>
                  <a:close/>
                  <a:moveTo>
                    <a:pt x="9371" y="39374"/>
                  </a:moveTo>
                  <a:cubicBezTo>
                    <a:pt x="9633" y="39480"/>
                    <a:pt x="9916" y="39543"/>
                    <a:pt x="10196" y="39580"/>
                  </a:cubicBezTo>
                  <a:cubicBezTo>
                    <a:pt x="10388" y="39606"/>
                    <a:pt x="10607" y="39642"/>
                    <a:pt x="10819" y="39642"/>
                  </a:cubicBezTo>
                  <a:cubicBezTo>
                    <a:pt x="10980" y="39642"/>
                    <a:pt x="11137" y="39622"/>
                    <a:pt x="11275" y="39560"/>
                  </a:cubicBezTo>
                  <a:lnTo>
                    <a:pt x="11275" y="39560"/>
                  </a:lnTo>
                  <a:cubicBezTo>
                    <a:pt x="11189" y="39985"/>
                    <a:pt x="11082" y="40437"/>
                    <a:pt x="10950" y="40815"/>
                  </a:cubicBezTo>
                  <a:cubicBezTo>
                    <a:pt x="10924" y="40814"/>
                    <a:pt x="10899" y="40814"/>
                    <a:pt x="10873" y="40814"/>
                  </a:cubicBezTo>
                  <a:cubicBezTo>
                    <a:pt x="10639" y="40814"/>
                    <a:pt x="10398" y="40862"/>
                    <a:pt x="10159" y="40862"/>
                  </a:cubicBezTo>
                  <a:cubicBezTo>
                    <a:pt x="10125" y="40862"/>
                    <a:pt x="10090" y="40861"/>
                    <a:pt x="10056" y="40859"/>
                  </a:cubicBezTo>
                  <a:cubicBezTo>
                    <a:pt x="9795" y="40841"/>
                    <a:pt x="9538" y="40801"/>
                    <a:pt x="9284" y="40736"/>
                  </a:cubicBezTo>
                  <a:cubicBezTo>
                    <a:pt x="9251" y="40301"/>
                    <a:pt x="9306" y="39796"/>
                    <a:pt x="9371" y="39374"/>
                  </a:cubicBezTo>
                  <a:close/>
                  <a:moveTo>
                    <a:pt x="9402" y="41289"/>
                  </a:moveTo>
                  <a:lnTo>
                    <a:pt x="9402" y="41289"/>
                  </a:lnTo>
                  <a:cubicBezTo>
                    <a:pt x="9559" y="41334"/>
                    <a:pt x="9718" y="41367"/>
                    <a:pt x="9881" y="41388"/>
                  </a:cubicBezTo>
                  <a:cubicBezTo>
                    <a:pt x="10049" y="41410"/>
                    <a:pt x="10255" y="41433"/>
                    <a:pt x="10462" y="41433"/>
                  </a:cubicBezTo>
                  <a:cubicBezTo>
                    <a:pt x="10528" y="41433"/>
                    <a:pt x="10593" y="41431"/>
                    <a:pt x="10658" y="41426"/>
                  </a:cubicBezTo>
                  <a:lnTo>
                    <a:pt x="10658" y="41426"/>
                  </a:lnTo>
                  <a:cubicBezTo>
                    <a:pt x="10569" y="41553"/>
                    <a:pt x="10471" y="41645"/>
                    <a:pt x="10362" y="41677"/>
                  </a:cubicBezTo>
                  <a:cubicBezTo>
                    <a:pt x="10234" y="41715"/>
                    <a:pt x="10121" y="41733"/>
                    <a:pt x="10020" y="41733"/>
                  </a:cubicBezTo>
                  <a:cubicBezTo>
                    <a:pt x="9703" y="41733"/>
                    <a:pt x="9511" y="41557"/>
                    <a:pt x="9402" y="41289"/>
                  </a:cubicBezTo>
                  <a:close/>
                  <a:moveTo>
                    <a:pt x="15893" y="1"/>
                  </a:moveTo>
                  <a:cubicBezTo>
                    <a:pt x="15395" y="1"/>
                    <a:pt x="14894" y="37"/>
                    <a:pt x="14392" y="112"/>
                  </a:cubicBezTo>
                  <a:cubicBezTo>
                    <a:pt x="8294" y="1027"/>
                    <a:pt x="1" y="10835"/>
                    <a:pt x="5909" y="16358"/>
                  </a:cubicBezTo>
                  <a:cubicBezTo>
                    <a:pt x="5961" y="16407"/>
                    <a:pt x="6017" y="16426"/>
                    <a:pt x="6069" y="16426"/>
                  </a:cubicBezTo>
                  <a:cubicBezTo>
                    <a:pt x="6083" y="16426"/>
                    <a:pt x="6096" y="16425"/>
                    <a:pt x="6110" y="16423"/>
                  </a:cubicBezTo>
                  <a:cubicBezTo>
                    <a:pt x="7517" y="19288"/>
                    <a:pt x="10185" y="21363"/>
                    <a:pt x="13288" y="22188"/>
                  </a:cubicBezTo>
                  <a:cubicBezTo>
                    <a:pt x="12902" y="23062"/>
                    <a:pt x="12749" y="24055"/>
                    <a:pt x="12540" y="24979"/>
                  </a:cubicBezTo>
                  <a:cubicBezTo>
                    <a:pt x="12385" y="25662"/>
                    <a:pt x="12080" y="26433"/>
                    <a:pt x="12061" y="27162"/>
                  </a:cubicBezTo>
                  <a:cubicBezTo>
                    <a:pt x="11762" y="27201"/>
                    <a:pt x="11473" y="27285"/>
                    <a:pt x="11204" y="27442"/>
                  </a:cubicBezTo>
                  <a:cubicBezTo>
                    <a:pt x="11018" y="27550"/>
                    <a:pt x="11015" y="27777"/>
                    <a:pt x="11142" y="27928"/>
                  </a:cubicBezTo>
                  <a:cubicBezTo>
                    <a:pt x="11145" y="27935"/>
                    <a:pt x="11150" y="27938"/>
                    <a:pt x="11155" y="27944"/>
                  </a:cubicBezTo>
                  <a:cubicBezTo>
                    <a:pt x="11028" y="27948"/>
                    <a:pt x="10910" y="28008"/>
                    <a:pt x="10832" y="28108"/>
                  </a:cubicBezTo>
                  <a:cubicBezTo>
                    <a:pt x="9928" y="29229"/>
                    <a:pt x="9683" y="30715"/>
                    <a:pt x="9312" y="32089"/>
                  </a:cubicBezTo>
                  <a:cubicBezTo>
                    <a:pt x="8852" y="33796"/>
                    <a:pt x="8465" y="35519"/>
                    <a:pt x="8149" y="37259"/>
                  </a:cubicBezTo>
                  <a:cubicBezTo>
                    <a:pt x="7935" y="38433"/>
                    <a:pt x="7369" y="40158"/>
                    <a:pt x="7613" y="41356"/>
                  </a:cubicBezTo>
                  <a:cubicBezTo>
                    <a:pt x="7832" y="42434"/>
                    <a:pt x="8920" y="43013"/>
                    <a:pt x="9873" y="43417"/>
                  </a:cubicBezTo>
                  <a:cubicBezTo>
                    <a:pt x="10183" y="43548"/>
                    <a:pt x="10458" y="43608"/>
                    <a:pt x="10702" y="43608"/>
                  </a:cubicBezTo>
                  <a:cubicBezTo>
                    <a:pt x="12509" y="43608"/>
                    <a:pt x="12630" y="40342"/>
                    <a:pt x="13029" y="38845"/>
                  </a:cubicBezTo>
                  <a:cubicBezTo>
                    <a:pt x="13941" y="35420"/>
                    <a:pt x="14878" y="31999"/>
                    <a:pt x="15749" y="28562"/>
                  </a:cubicBezTo>
                  <a:cubicBezTo>
                    <a:pt x="15842" y="28197"/>
                    <a:pt x="15632" y="27698"/>
                    <a:pt x="15220" y="27630"/>
                  </a:cubicBezTo>
                  <a:cubicBezTo>
                    <a:pt x="14854" y="27569"/>
                    <a:pt x="14466" y="27473"/>
                    <a:pt x="14071" y="27380"/>
                  </a:cubicBezTo>
                  <a:cubicBezTo>
                    <a:pt x="14478" y="25797"/>
                    <a:pt x="14896" y="24136"/>
                    <a:pt x="15010" y="22508"/>
                  </a:cubicBezTo>
                  <a:cubicBezTo>
                    <a:pt x="15443" y="22557"/>
                    <a:pt x="15877" y="22582"/>
                    <a:pt x="16312" y="22582"/>
                  </a:cubicBezTo>
                  <a:cubicBezTo>
                    <a:pt x="16645" y="22582"/>
                    <a:pt x="16978" y="22568"/>
                    <a:pt x="17310" y="22539"/>
                  </a:cubicBezTo>
                  <a:cubicBezTo>
                    <a:pt x="23190" y="22007"/>
                    <a:pt x="27413" y="16567"/>
                    <a:pt x="27170" y="10774"/>
                  </a:cubicBezTo>
                  <a:cubicBezTo>
                    <a:pt x="26925" y="4930"/>
                    <a:pt x="21682" y="1"/>
                    <a:pt x="15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6"/>
            <p:cNvSpPr/>
            <p:nvPr/>
          </p:nvSpPr>
          <p:spPr>
            <a:xfrm>
              <a:off x="1477975" y="4161250"/>
              <a:ext cx="487250" cy="450450"/>
            </a:xfrm>
            <a:custGeom>
              <a:avLst/>
              <a:gdLst/>
              <a:ahLst/>
              <a:cxnLst/>
              <a:rect l="l" t="t" r="r" b="b"/>
              <a:pathLst>
                <a:path w="19490" h="18018" extrusionOk="0">
                  <a:moveTo>
                    <a:pt x="1614" y="7205"/>
                  </a:moveTo>
                  <a:cubicBezTo>
                    <a:pt x="1122" y="9193"/>
                    <a:pt x="1161" y="11265"/>
                    <a:pt x="1871" y="12865"/>
                  </a:cubicBezTo>
                  <a:cubicBezTo>
                    <a:pt x="1911" y="12957"/>
                    <a:pt x="1956" y="13046"/>
                    <a:pt x="2001" y="13135"/>
                  </a:cubicBezTo>
                  <a:cubicBezTo>
                    <a:pt x="1442" y="12197"/>
                    <a:pt x="1127" y="11132"/>
                    <a:pt x="1088" y="10040"/>
                  </a:cubicBezTo>
                  <a:cubicBezTo>
                    <a:pt x="1052" y="9061"/>
                    <a:pt x="1251" y="8105"/>
                    <a:pt x="1614" y="7205"/>
                  </a:cubicBezTo>
                  <a:close/>
                  <a:moveTo>
                    <a:pt x="8769" y="1099"/>
                  </a:moveTo>
                  <a:cubicBezTo>
                    <a:pt x="10213" y="1099"/>
                    <a:pt x="11739" y="1834"/>
                    <a:pt x="12928" y="2514"/>
                  </a:cubicBezTo>
                  <a:cubicBezTo>
                    <a:pt x="15190" y="3806"/>
                    <a:pt x="17154" y="5801"/>
                    <a:pt x="17151" y="8562"/>
                  </a:cubicBezTo>
                  <a:cubicBezTo>
                    <a:pt x="17150" y="11027"/>
                    <a:pt x="16062" y="14041"/>
                    <a:pt x="14176" y="15676"/>
                  </a:cubicBezTo>
                  <a:cubicBezTo>
                    <a:pt x="13112" y="16598"/>
                    <a:pt x="11835" y="16976"/>
                    <a:pt x="10526" y="16976"/>
                  </a:cubicBezTo>
                  <a:cubicBezTo>
                    <a:pt x="8796" y="16976"/>
                    <a:pt x="7009" y="16315"/>
                    <a:pt x="5579" y="15381"/>
                  </a:cubicBezTo>
                  <a:cubicBezTo>
                    <a:pt x="2756" y="13536"/>
                    <a:pt x="1781" y="10776"/>
                    <a:pt x="2574" y="7531"/>
                  </a:cubicBezTo>
                  <a:cubicBezTo>
                    <a:pt x="2925" y="6098"/>
                    <a:pt x="3537" y="4567"/>
                    <a:pt x="4464" y="3322"/>
                  </a:cubicBezTo>
                  <a:cubicBezTo>
                    <a:pt x="4471" y="3316"/>
                    <a:pt x="4477" y="3308"/>
                    <a:pt x="4485" y="3302"/>
                  </a:cubicBezTo>
                  <a:cubicBezTo>
                    <a:pt x="5475" y="2436"/>
                    <a:pt x="6694" y="1440"/>
                    <a:pt x="8014" y="1172"/>
                  </a:cubicBezTo>
                  <a:cubicBezTo>
                    <a:pt x="8262" y="1122"/>
                    <a:pt x="8514" y="1099"/>
                    <a:pt x="8769" y="1099"/>
                  </a:cubicBezTo>
                  <a:close/>
                  <a:moveTo>
                    <a:pt x="8887" y="1"/>
                  </a:moveTo>
                  <a:cubicBezTo>
                    <a:pt x="8837" y="1"/>
                    <a:pt x="8788" y="1"/>
                    <a:pt x="8738" y="3"/>
                  </a:cubicBezTo>
                  <a:cubicBezTo>
                    <a:pt x="6181" y="71"/>
                    <a:pt x="3888" y="2245"/>
                    <a:pt x="2440" y="4180"/>
                  </a:cubicBezTo>
                  <a:cubicBezTo>
                    <a:pt x="877" y="6267"/>
                    <a:pt x="1" y="8911"/>
                    <a:pt x="661" y="11505"/>
                  </a:cubicBezTo>
                  <a:cubicBezTo>
                    <a:pt x="1175" y="13521"/>
                    <a:pt x="2542" y="15297"/>
                    <a:pt x="4474" y="15997"/>
                  </a:cubicBezTo>
                  <a:cubicBezTo>
                    <a:pt x="6169" y="17258"/>
                    <a:pt x="8337" y="18017"/>
                    <a:pt x="10414" y="18017"/>
                  </a:cubicBezTo>
                  <a:cubicBezTo>
                    <a:pt x="12074" y="18017"/>
                    <a:pt x="13676" y="17532"/>
                    <a:pt x="14932" y="16430"/>
                  </a:cubicBezTo>
                  <a:cubicBezTo>
                    <a:pt x="18721" y="13109"/>
                    <a:pt x="19489" y="6595"/>
                    <a:pt x="15668" y="3108"/>
                  </a:cubicBezTo>
                  <a:cubicBezTo>
                    <a:pt x="13933" y="1526"/>
                    <a:pt x="11308" y="1"/>
                    <a:pt x="88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6"/>
            <p:cNvSpPr/>
            <p:nvPr/>
          </p:nvSpPr>
          <p:spPr>
            <a:xfrm>
              <a:off x="1611400" y="4264325"/>
              <a:ext cx="204725" cy="224825"/>
            </a:xfrm>
            <a:custGeom>
              <a:avLst/>
              <a:gdLst/>
              <a:ahLst/>
              <a:cxnLst/>
              <a:rect l="l" t="t" r="r" b="b"/>
              <a:pathLst>
                <a:path w="8189" h="8993" extrusionOk="0">
                  <a:moveTo>
                    <a:pt x="3561" y="0"/>
                  </a:moveTo>
                  <a:cubicBezTo>
                    <a:pt x="1727" y="0"/>
                    <a:pt x="0" y="1490"/>
                    <a:pt x="935" y="3575"/>
                  </a:cubicBezTo>
                  <a:cubicBezTo>
                    <a:pt x="1077" y="3892"/>
                    <a:pt x="1311" y="4020"/>
                    <a:pt x="1557" y="4020"/>
                  </a:cubicBezTo>
                  <a:cubicBezTo>
                    <a:pt x="2000" y="4020"/>
                    <a:pt x="2483" y="3607"/>
                    <a:pt x="2546" y="3138"/>
                  </a:cubicBezTo>
                  <a:cubicBezTo>
                    <a:pt x="2652" y="2350"/>
                    <a:pt x="3006" y="2037"/>
                    <a:pt x="3405" y="2037"/>
                  </a:cubicBezTo>
                  <a:cubicBezTo>
                    <a:pt x="4054" y="2037"/>
                    <a:pt x="4819" y="2864"/>
                    <a:pt x="4821" y="3825"/>
                  </a:cubicBezTo>
                  <a:cubicBezTo>
                    <a:pt x="4825" y="5165"/>
                    <a:pt x="3942" y="6358"/>
                    <a:pt x="3228" y="7421"/>
                  </a:cubicBezTo>
                  <a:cubicBezTo>
                    <a:pt x="2689" y="8221"/>
                    <a:pt x="3437" y="8993"/>
                    <a:pt x="4195" y="8993"/>
                  </a:cubicBezTo>
                  <a:cubicBezTo>
                    <a:pt x="4522" y="8993"/>
                    <a:pt x="4850" y="8849"/>
                    <a:pt x="5078" y="8503"/>
                  </a:cubicBezTo>
                  <a:cubicBezTo>
                    <a:pt x="6537" y="6287"/>
                    <a:pt x="8188" y="2626"/>
                    <a:pt x="5438" y="602"/>
                  </a:cubicBezTo>
                  <a:cubicBezTo>
                    <a:pt x="4875" y="188"/>
                    <a:pt x="4211" y="0"/>
                    <a:pt x="35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6"/>
            <p:cNvSpPr/>
            <p:nvPr/>
          </p:nvSpPr>
          <p:spPr>
            <a:xfrm>
              <a:off x="1688575" y="4506825"/>
              <a:ext cx="60375" cy="62375"/>
            </a:xfrm>
            <a:custGeom>
              <a:avLst/>
              <a:gdLst/>
              <a:ahLst/>
              <a:cxnLst/>
              <a:rect l="l" t="t" r="r" b="b"/>
              <a:pathLst>
                <a:path w="2415" h="2495" extrusionOk="0">
                  <a:moveTo>
                    <a:pt x="1242" y="0"/>
                  </a:moveTo>
                  <a:cubicBezTo>
                    <a:pt x="1230" y="0"/>
                    <a:pt x="1219" y="1"/>
                    <a:pt x="1207" y="1"/>
                  </a:cubicBezTo>
                  <a:cubicBezTo>
                    <a:pt x="1005" y="10"/>
                    <a:pt x="807" y="63"/>
                    <a:pt x="629" y="158"/>
                  </a:cubicBezTo>
                  <a:cubicBezTo>
                    <a:pt x="403" y="277"/>
                    <a:pt x="150" y="585"/>
                    <a:pt x="103" y="841"/>
                  </a:cubicBezTo>
                  <a:cubicBezTo>
                    <a:pt x="93" y="897"/>
                    <a:pt x="83" y="952"/>
                    <a:pt x="73" y="1007"/>
                  </a:cubicBezTo>
                  <a:cubicBezTo>
                    <a:pt x="0" y="1417"/>
                    <a:pt x="50" y="1851"/>
                    <a:pt x="375" y="2151"/>
                  </a:cubicBezTo>
                  <a:cubicBezTo>
                    <a:pt x="605" y="2361"/>
                    <a:pt x="887" y="2495"/>
                    <a:pt x="1207" y="2495"/>
                  </a:cubicBezTo>
                  <a:cubicBezTo>
                    <a:pt x="1517" y="2490"/>
                    <a:pt x="1814" y="2367"/>
                    <a:pt x="2037" y="2151"/>
                  </a:cubicBezTo>
                  <a:cubicBezTo>
                    <a:pt x="2354" y="1833"/>
                    <a:pt x="2415" y="1430"/>
                    <a:pt x="2339" y="1007"/>
                  </a:cubicBezTo>
                  <a:cubicBezTo>
                    <a:pt x="2329" y="952"/>
                    <a:pt x="2319" y="897"/>
                    <a:pt x="2309" y="841"/>
                  </a:cubicBezTo>
                  <a:cubicBezTo>
                    <a:pt x="2267" y="605"/>
                    <a:pt x="2080" y="387"/>
                    <a:pt x="1900" y="247"/>
                  </a:cubicBezTo>
                  <a:cubicBezTo>
                    <a:pt x="1716" y="105"/>
                    <a:pt x="1480" y="0"/>
                    <a:pt x="1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 name="Google Shape;274;p36"/>
          <p:cNvSpPr txBox="1">
            <a:spLocks noGrp="1"/>
          </p:cNvSpPr>
          <p:nvPr>
            <p:ph type="subTitle" idx="1"/>
          </p:nvPr>
        </p:nvSpPr>
        <p:spPr>
          <a:xfrm>
            <a:off x="572500" y="1781724"/>
            <a:ext cx="3453809" cy="87298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1. Call itself to traverse the node’s left subtree.</a:t>
            </a:r>
          </a:p>
          <a:p>
            <a:pPr marL="0" lvl="0" indent="0" algn="l" rtl="0">
              <a:spcBef>
                <a:spcPts val="0"/>
              </a:spcBef>
              <a:spcAft>
                <a:spcPts val="0"/>
              </a:spcAft>
              <a:buClr>
                <a:schemeClr val="dk1"/>
              </a:buClr>
              <a:buSzPts val="1100"/>
              <a:buFont typeface="Arial"/>
              <a:buNone/>
            </a:pPr>
            <a:r>
              <a:rPr lang="en-US" dirty="0"/>
              <a:t>2. Visit the node.</a:t>
            </a:r>
          </a:p>
          <a:p>
            <a:pPr marL="0" lvl="0" indent="0" algn="l" rtl="0">
              <a:spcBef>
                <a:spcPts val="0"/>
              </a:spcBef>
              <a:spcAft>
                <a:spcPts val="0"/>
              </a:spcAft>
              <a:buClr>
                <a:schemeClr val="dk1"/>
              </a:buClr>
              <a:buSzPts val="1100"/>
              <a:buFont typeface="Arial"/>
              <a:buNone/>
            </a:pPr>
            <a:r>
              <a:rPr lang="en-US" dirty="0"/>
              <a:t>3. Call itself to traverse the node’s right subtree</a:t>
            </a:r>
          </a:p>
        </p:txBody>
      </p:sp>
      <p:pic>
        <p:nvPicPr>
          <p:cNvPr id="40" name="Picture 39">
            <a:extLst>
              <a:ext uri="{FF2B5EF4-FFF2-40B4-BE49-F238E27FC236}">
                <a16:creationId xmlns:a16="http://schemas.microsoft.com/office/drawing/2014/main" id="{5502B1A3-C069-40E4-9631-4779A9244678}"/>
              </a:ext>
            </a:extLst>
          </p:cNvPr>
          <p:cNvPicPr>
            <a:picLocks noChangeAspect="1"/>
          </p:cNvPicPr>
          <p:nvPr/>
        </p:nvPicPr>
        <p:blipFill>
          <a:blip r:embed="rId4"/>
          <a:stretch>
            <a:fillRect/>
          </a:stretch>
        </p:blipFill>
        <p:spPr>
          <a:xfrm>
            <a:off x="5034070" y="1971555"/>
            <a:ext cx="3346166" cy="2163470"/>
          </a:xfrm>
          <a:prstGeom prst="rect">
            <a:avLst/>
          </a:prstGeom>
        </p:spPr>
      </p:pic>
    </p:spTree>
    <p:extLst>
      <p:ext uri="{BB962C8B-B14F-4D97-AF65-F5344CB8AC3E}">
        <p14:creationId xmlns:p14="http://schemas.microsoft.com/office/powerpoint/2010/main" val="530811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49" name="Google Shape;265;p36">
            <a:extLst>
              <a:ext uri="{FF2B5EF4-FFF2-40B4-BE49-F238E27FC236}">
                <a16:creationId xmlns:a16="http://schemas.microsoft.com/office/drawing/2014/main" id="{DE3C2A1C-CC46-4264-9D9E-90758DD17227}"/>
              </a:ext>
            </a:extLst>
          </p:cNvPr>
          <p:cNvPicPr preferRelativeResize="0"/>
          <p:nvPr/>
        </p:nvPicPr>
        <p:blipFill>
          <a:blip r:embed="rId3">
            <a:alphaModFix/>
          </a:blip>
          <a:stretch>
            <a:fillRect/>
          </a:stretch>
        </p:blipFill>
        <p:spPr>
          <a:xfrm>
            <a:off x="7223528" y="139209"/>
            <a:ext cx="1323877" cy="1547814"/>
          </a:xfrm>
          <a:prstGeom prst="rect">
            <a:avLst/>
          </a:prstGeom>
          <a:noFill/>
          <a:ln>
            <a:noFill/>
          </a:ln>
          <a:effectLst>
            <a:outerShdw blurRad="57150" dist="19050" dir="5400000" algn="bl" rotWithShape="0">
              <a:srgbClr val="000000">
                <a:alpha val="50000"/>
              </a:srgbClr>
            </a:outerShdw>
          </a:effectLst>
        </p:spPr>
      </p:pic>
      <p:pic>
        <p:nvPicPr>
          <p:cNvPr id="390" name="Google Shape;390;p41"/>
          <p:cNvPicPr preferRelativeResize="0"/>
          <p:nvPr/>
        </p:nvPicPr>
        <p:blipFill rotWithShape="1">
          <a:blip r:embed="rId4">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5">
            <a:alphaModFix/>
          </a:blip>
          <a:stretch>
            <a:fillRect/>
          </a:stretch>
        </p:blipFill>
        <p:spPr>
          <a:xfrm>
            <a:off x="3183167" y="4282915"/>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2873398" y="494756"/>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None/>
            </a:pPr>
            <a:r>
              <a:rPr lang="en-US" sz="1400" b="1" dirty="0">
                <a:solidFill>
                  <a:srgbClr val="C00000"/>
                </a:solidFill>
                <a:latin typeface="Concert One" panose="020B0604020202020204" charset="0"/>
              </a:rPr>
              <a:t>Traversing the Tree: </a:t>
            </a:r>
            <a:r>
              <a:rPr lang="en-US" sz="1400" b="1" dirty="0" err="1">
                <a:solidFill>
                  <a:srgbClr val="C00000"/>
                </a:solidFill>
                <a:latin typeface="Concert One" panose="020B0604020202020204" charset="0"/>
              </a:rPr>
              <a:t>Inorder</a:t>
            </a:r>
            <a:r>
              <a:rPr lang="en-US" sz="1400" b="1" dirty="0">
                <a:solidFill>
                  <a:srgbClr val="C00000"/>
                </a:solidFill>
                <a:latin typeface="Concert One" panose="020B0604020202020204" charset="0"/>
              </a:rPr>
              <a:t> Traversal</a:t>
            </a:r>
          </a:p>
        </p:txBody>
      </p:sp>
      <p:sp>
        <p:nvSpPr>
          <p:cNvPr id="2" name="TextBox 1">
            <a:extLst>
              <a:ext uri="{FF2B5EF4-FFF2-40B4-BE49-F238E27FC236}">
                <a16:creationId xmlns:a16="http://schemas.microsoft.com/office/drawing/2014/main" id="{AD5394C2-2775-4E67-85F4-2918A5507EF9}"/>
              </a:ext>
            </a:extLst>
          </p:cNvPr>
          <p:cNvSpPr txBox="1"/>
          <p:nvPr/>
        </p:nvSpPr>
        <p:spPr>
          <a:xfrm>
            <a:off x="3355877" y="791446"/>
            <a:ext cx="3244799" cy="261610"/>
          </a:xfrm>
          <a:prstGeom prst="rect">
            <a:avLst/>
          </a:prstGeom>
          <a:noFill/>
        </p:spPr>
        <p:txBody>
          <a:bodyPr wrap="none" rtlCol="0">
            <a:spAutoFit/>
          </a:bodyPr>
          <a:lstStyle/>
          <a:p>
            <a:r>
              <a:rPr lang="en-US" sz="1100" b="0" i="0" dirty="0">
                <a:solidFill>
                  <a:srgbClr val="444444"/>
                </a:solidFill>
                <a:effectLst/>
                <a:latin typeface="Oxygen" panose="020B0604020202020204" pitchFamily="2" charset="0"/>
              </a:rPr>
              <a:t>Input:   { </a:t>
            </a:r>
            <a:r>
              <a:rPr lang="en-US" sz="1100" b="1" i="0" dirty="0">
                <a:solidFill>
                  <a:srgbClr val="444444"/>
                </a:solidFill>
                <a:effectLst/>
                <a:latin typeface="Oxygen" panose="020B0604020202020204" pitchFamily="2" charset="0"/>
              </a:rPr>
              <a:t>40, 4, 34, 45, 14, 55, 48, 13, 15, 49, 47 </a:t>
            </a:r>
            <a:r>
              <a:rPr lang="en-US" sz="1100" b="0" i="0" dirty="0">
                <a:solidFill>
                  <a:srgbClr val="444444"/>
                </a:solidFill>
                <a:effectLst/>
                <a:latin typeface="Oxygen" panose="020B0604020202020204" pitchFamily="2" charset="0"/>
              </a:rPr>
              <a:t>}</a:t>
            </a:r>
            <a:endParaRPr lang="en-US" sz="1100" dirty="0"/>
          </a:p>
        </p:txBody>
      </p:sp>
      <p:sp>
        <p:nvSpPr>
          <p:cNvPr id="3" name="Oval 2">
            <a:extLst>
              <a:ext uri="{FF2B5EF4-FFF2-40B4-BE49-F238E27FC236}">
                <a16:creationId xmlns:a16="http://schemas.microsoft.com/office/drawing/2014/main" id="{8BC2788A-8C79-4CB6-BF7F-E0A0F4D7B13E}"/>
              </a:ext>
            </a:extLst>
          </p:cNvPr>
          <p:cNvSpPr/>
          <p:nvPr/>
        </p:nvSpPr>
        <p:spPr>
          <a:xfrm>
            <a:off x="4442543" y="133057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40</a:t>
            </a:r>
          </a:p>
        </p:txBody>
      </p:sp>
      <p:sp>
        <p:nvSpPr>
          <p:cNvPr id="5" name="Rectangle 4">
            <a:extLst>
              <a:ext uri="{FF2B5EF4-FFF2-40B4-BE49-F238E27FC236}">
                <a16:creationId xmlns:a16="http://schemas.microsoft.com/office/drawing/2014/main" id="{49AF76E1-86A0-46A5-88B9-57649F8F2773}"/>
              </a:ext>
            </a:extLst>
          </p:cNvPr>
          <p:cNvSpPr/>
          <p:nvPr/>
        </p:nvSpPr>
        <p:spPr>
          <a:xfrm>
            <a:off x="2935741" y="1326587"/>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40</a:t>
            </a:r>
          </a:p>
        </p:txBody>
      </p:sp>
      <p:cxnSp>
        <p:nvCxnSpPr>
          <p:cNvPr id="10" name="Straight Arrow Connector 9">
            <a:extLst>
              <a:ext uri="{FF2B5EF4-FFF2-40B4-BE49-F238E27FC236}">
                <a16:creationId xmlns:a16="http://schemas.microsoft.com/office/drawing/2014/main" id="{0E185E4D-61F1-4ED7-8305-35B1C79E91B4}"/>
              </a:ext>
            </a:extLst>
          </p:cNvPr>
          <p:cNvCxnSpPr>
            <a:stCxn id="3" idx="3"/>
          </p:cNvCxnSpPr>
          <p:nvPr/>
        </p:nvCxnSpPr>
        <p:spPr>
          <a:xfrm flipH="1">
            <a:off x="3810503" y="1608769"/>
            <a:ext cx="697279" cy="218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D0405D29-D7ED-4D6D-8BCA-EDE3AC6E2D04}"/>
              </a:ext>
            </a:extLst>
          </p:cNvPr>
          <p:cNvSpPr/>
          <p:nvPr/>
        </p:nvSpPr>
        <p:spPr>
          <a:xfrm>
            <a:off x="3432267" y="1794407"/>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a:t>
            </a:r>
          </a:p>
        </p:txBody>
      </p:sp>
      <p:sp>
        <p:nvSpPr>
          <p:cNvPr id="15" name="Rectangle 14">
            <a:extLst>
              <a:ext uri="{FF2B5EF4-FFF2-40B4-BE49-F238E27FC236}">
                <a16:creationId xmlns:a16="http://schemas.microsoft.com/office/drawing/2014/main" id="{3B9A044A-AE9B-48B4-9A90-09FAB836C26D}"/>
              </a:ext>
            </a:extLst>
          </p:cNvPr>
          <p:cNvSpPr/>
          <p:nvPr/>
        </p:nvSpPr>
        <p:spPr>
          <a:xfrm>
            <a:off x="2935741" y="1321680"/>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a:t>
            </a:r>
          </a:p>
        </p:txBody>
      </p:sp>
      <p:sp>
        <p:nvSpPr>
          <p:cNvPr id="16" name="Rectangle 15">
            <a:extLst>
              <a:ext uri="{FF2B5EF4-FFF2-40B4-BE49-F238E27FC236}">
                <a16:creationId xmlns:a16="http://schemas.microsoft.com/office/drawing/2014/main" id="{CC0D0930-C07B-4980-91BD-BE9C517CF217}"/>
              </a:ext>
            </a:extLst>
          </p:cNvPr>
          <p:cNvSpPr/>
          <p:nvPr/>
        </p:nvSpPr>
        <p:spPr>
          <a:xfrm>
            <a:off x="2935740" y="1321679"/>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34</a:t>
            </a:r>
          </a:p>
        </p:txBody>
      </p:sp>
      <p:sp>
        <p:nvSpPr>
          <p:cNvPr id="17" name="Oval 16">
            <a:extLst>
              <a:ext uri="{FF2B5EF4-FFF2-40B4-BE49-F238E27FC236}">
                <a16:creationId xmlns:a16="http://schemas.microsoft.com/office/drawing/2014/main" id="{F9BBE720-B219-4261-845F-A37E83B91900}"/>
              </a:ext>
            </a:extLst>
          </p:cNvPr>
          <p:cNvSpPr/>
          <p:nvPr/>
        </p:nvSpPr>
        <p:spPr>
          <a:xfrm>
            <a:off x="4285043" y="2190867"/>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34</a:t>
            </a:r>
          </a:p>
        </p:txBody>
      </p:sp>
      <p:cxnSp>
        <p:nvCxnSpPr>
          <p:cNvPr id="12" name="Straight Arrow Connector 11">
            <a:extLst>
              <a:ext uri="{FF2B5EF4-FFF2-40B4-BE49-F238E27FC236}">
                <a16:creationId xmlns:a16="http://schemas.microsoft.com/office/drawing/2014/main" id="{DF3C4393-0E92-4CDC-A001-6F966E164CDC}"/>
              </a:ext>
            </a:extLst>
          </p:cNvPr>
          <p:cNvCxnSpPr>
            <a:stCxn id="14" idx="6"/>
            <a:endCxn id="17" idx="1"/>
          </p:cNvCxnSpPr>
          <p:nvPr/>
        </p:nvCxnSpPr>
        <p:spPr>
          <a:xfrm>
            <a:off x="3877744" y="1957370"/>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C7FDBB1A-4BD6-40FF-A391-A6CA26BAD592}"/>
              </a:ext>
            </a:extLst>
          </p:cNvPr>
          <p:cNvSpPr/>
          <p:nvPr/>
        </p:nvSpPr>
        <p:spPr>
          <a:xfrm>
            <a:off x="2935739" y="1326125"/>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45</a:t>
            </a:r>
          </a:p>
        </p:txBody>
      </p:sp>
      <p:sp>
        <p:nvSpPr>
          <p:cNvPr id="21" name="Oval 20">
            <a:extLst>
              <a:ext uri="{FF2B5EF4-FFF2-40B4-BE49-F238E27FC236}">
                <a16:creationId xmlns:a16="http://schemas.microsoft.com/office/drawing/2014/main" id="{62426349-93C7-4ECC-A5F9-3048B4203387}"/>
              </a:ext>
            </a:extLst>
          </p:cNvPr>
          <p:cNvSpPr/>
          <p:nvPr/>
        </p:nvSpPr>
        <p:spPr>
          <a:xfrm>
            <a:off x="5277993" y="1779906"/>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45</a:t>
            </a:r>
          </a:p>
        </p:txBody>
      </p:sp>
      <p:cxnSp>
        <p:nvCxnSpPr>
          <p:cNvPr id="22" name="Straight Arrow Connector 21">
            <a:extLst>
              <a:ext uri="{FF2B5EF4-FFF2-40B4-BE49-F238E27FC236}">
                <a16:creationId xmlns:a16="http://schemas.microsoft.com/office/drawing/2014/main" id="{73A91691-CE25-48A6-A159-D0617293EC91}"/>
              </a:ext>
            </a:extLst>
          </p:cNvPr>
          <p:cNvCxnSpPr>
            <a:endCxn id="21" idx="1"/>
          </p:cNvCxnSpPr>
          <p:nvPr/>
        </p:nvCxnSpPr>
        <p:spPr>
          <a:xfrm>
            <a:off x="4870694" y="1546409"/>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70467B5-052F-4223-B254-09C492C1E20A}"/>
              </a:ext>
            </a:extLst>
          </p:cNvPr>
          <p:cNvSpPr/>
          <p:nvPr/>
        </p:nvSpPr>
        <p:spPr>
          <a:xfrm>
            <a:off x="2933856" y="1325663"/>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14</a:t>
            </a:r>
          </a:p>
        </p:txBody>
      </p:sp>
      <p:cxnSp>
        <p:nvCxnSpPr>
          <p:cNvPr id="24" name="Straight Arrow Connector 23">
            <a:extLst>
              <a:ext uri="{FF2B5EF4-FFF2-40B4-BE49-F238E27FC236}">
                <a16:creationId xmlns:a16="http://schemas.microsoft.com/office/drawing/2014/main" id="{A1182170-E3CE-4D4D-9A84-9FFA18BB4E6A}"/>
              </a:ext>
            </a:extLst>
          </p:cNvPr>
          <p:cNvCxnSpPr>
            <a:cxnSpLocks/>
            <a:stCxn id="17" idx="2"/>
          </p:cNvCxnSpPr>
          <p:nvPr/>
        </p:nvCxnSpPr>
        <p:spPr>
          <a:xfrm flipH="1">
            <a:off x="3653005" y="2353830"/>
            <a:ext cx="632038" cy="350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BA2F04C-4965-4BD2-B570-6FFBC130A215}"/>
              </a:ext>
            </a:extLst>
          </p:cNvPr>
          <p:cNvSpPr/>
          <p:nvPr/>
        </p:nvSpPr>
        <p:spPr>
          <a:xfrm>
            <a:off x="3274767" y="267091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14</a:t>
            </a:r>
          </a:p>
        </p:txBody>
      </p:sp>
      <p:sp>
        <p:nvSpPr>
          <p:cNvPr id="28" name="Oval 27">
            <a:extLst>
              <a:ext uri="{FF2B5EF4-FFF2-40B4-BE49-F238E27FC236}">
                <a16:creationId xmlns:a16="http://schemas.microsoft.com/office/drawing/2014/main" id="{21FF5419-C941-4FB6-BC7C-65D7F5A78FC4}"/>
              </a:ext>
            </a:extLst>
          </p:cNvPr>
          <p:cNvSpPr/>
          <p:nvPr/>
        </p:nvSpPr>
        <p:spPr>
          <a:xfrm>
            <a:off x="6106076" y="2250338"/>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55</a:t>
            </a:r>
          </a:p>
        </p:txBody>
      </p:sp>
      <p:cxnSp>
        <p:nvCxnSpPr>
          <p:cNvPr id="29" name="Straight Arrow Connector 28">
            <a:extLst>
              <a:ext uri="{FF2B5EF4-FFF2-40B4-BE49-F238E27FC236}">
                <a16:creationId xmlns:a16="http://schemas.microsoft.com/office/drawing/2014/main" id="{BD07AF66-E14A-4013-A828-11DBCA6A0300}"/>
              </a:ext>
            </a:extLst>
          </p:cNvPr>
          <p:cNvCxnSpPr>
            <a:endCxn id="28" idx="1"/>
          </p:cNvCxnSpPr>
          <p:nvPr/>
        </p:nvCxnSpPr>
        <p:spPr>
          <a:xfrm>
            <a:off x="5698777" y="2016841"/>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AC6F557-3D34-4C04-9CCC-5A44A07DF502}"/>
              </a:ext>
            </a:extLst>
          </p:cNvPr>
          <p:cNvSpPr/>
          <p:nvPr/>
        </p:nvSpPr>
        <p:spPr>
          <a:xfrm>
            <a:off x="2961460" y="1319709"/>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55</a:t>
            </a:r>
          </a:p>
        </p:txBody>
      </p:sp>
      <p:cxnSp>
        <p:nvCxnSpPr>
          <p:cNvPr id="31" name="Straight Arrow Connector 30">
            <a:extLst>
              <a:ext uri="{FF2B5EF4-FFF2-40B4-BE49-F238E27FC236}">
                <a16:creationId xmlns:a16="http://schemas.microsoft.com/office/drawing/2014/main" id="{84F76CA1-1857-439F-84CB-01080D576109}"/>
              </a:ext>
            </a:extLst>
          </p:cNvPr>
          <p:cNvCxnSpPr>
            <a:cxnSpLocks/>
          </p:cNvCxnSpPr>
          <p:nvPr/>
        </p:nvCxnSpPr>
        <p:spPr>
          <a:xfrm flipH="1">
            <a:off x="5769413" y="2522393"/>
            <a:ext cx="365311" cy="217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7612F660-91EB-4D4C-B244-3983A3731A4E}"/>
              </a:ext>
            </a:extLst>
          </p:cNvPr>
          <p:cNvSpPr/>
          <p:nvPr/>
        </p:nvSpPr>
        <p:spPr>
          <a:xfrm>
            <a:off x="5471947" y="274007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48</a:t>
            </a:r>
          </a:p>
        </p:txBody>
      </p:sp>
      <p:sp>
        <p:nvSpPr>
          <p:cNvPr id="33" name="Rectangle 32">
            <a:extLst>
              <a:ext uri="{FF2B5EF4-FFF2-40B4-BE49-F238E27FC236}">
                <a16:creationId xmlns:a16="http://schemas.microsoft.com/office/drawing/2014/main" id="{3717BB00-94F2-4361-95D2-DB62D161F75C}"/>
              </a:ext>
            </a:extLst>
          </p:cNvPr>
          <p:cNvSpPr/>
          <p:nvPr/>
        </p:nvSpPr>
        <p:spPr>
          <a:xfrm>
            <a:off x="2918506" y="1319708"/>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48</a:t>
            </a:r>
          </a:p>
        </p:txBody>
      </p:sp>
      <p:cxnSp>
        <p:nvCxnSpPr>
          <p:cNvPr id="34" name="Straight Arrow Connector 33">
            <a:extLst>
              <a:ext uri="{FF2B5EF4-FFF2-40B4-BE49-F238E27FC236}">
                <a16:creationId xmlns:a16="http://schemas.microsoft.com/office/drawing/2014/main" id="{E761BC1E-C9D9-435A-AEE0-F63F8A34A8DE}"/>
              </a:ext>
            </a:extLst>
          </p:cNvPr>
          <p:cNvCxnSpPr>
            <a:cxnSpLocks/>
          </p:cNvCxnSpPr>
          <p:nvPr/>
        </p:nvCxnSpPr>
        <p:spPr>
          <a:xfrm flipH="1">
            <a:off x="2988494" y="2969588"/>
            <a:ext cx="393916" cy="344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AF0C108D-80CC-4A23-BE87-DF5D42D4AF2E}"/>
              </a:ext>
            </a:extLst>
          </p:cNvPr>
          <p:cNvSpPr/>
          <p:nvPr/>
        </p:nvSpPr>
        <p:spPr>
          <a:xfrm>
            <a:off x="2650660" y="331392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13</a:t>
            </a:r>
          </a:p>
        </p:txBody>
      </p:sp>
      <p:sp>
        <p:nvSpPr>
          <p:cNvPr id="36" name="Rectangle 35">
            <a:extLst>
              <a:ext uri="{FF2B5EF4-FFF2-40B4-BE49-F238E27FC236}">
                <a16:creationId xmlns:a16="http://schemas.microsoft.com/office/drawing/2014/main" id="{237B590B-034A-4A4E-8B35-411FBE015910}"/>
              </a:ext>
            </a:extLst>
          </p:cNvPr>
          <p:cNvSpPr/>
          <p:nvPr/>
        </p:nvSpPr>
        <p:spPr>
          <a:xfrm>
            <a:off x="2936594" y="131369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13</a:t>
            </a:r>
          </a:p>
        </p:txBody>
      </p:sp>
      <p:sp>
        <p:nvSpPr>
          <p:cNvPr id="39" name="Oval 38">
            <a:extLst>
              <a:ext uri="{FF2B5EF4-FFF2-40B4-BE49-F238E27FC236}">
                <a16:creationId xmlns:a16="http://schemas.microsoft.com/office/drawing/2014/main" id="{CB4DF653-3CCA-4493-A2DE-D85C7DCDB425}"/>
              </a:ext>
            </a:extLst>
          </p:cNvPr>
          <p:cNvSpPr/>
          <p:nvPr/>
        </p:nvSpPr>
        <p:spPr>
          <a:xfrm>
            <a:off x="3839566" y="3298189"/>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15</a:t>
            </a:r>
          </a:p>
        </p:txBody>
      </p:sp>
      <p:cxnSp>
        <p:nvCxnSpPr>
          <p:cNvPr id="40" name="Straight Arrow Connector 39">
            <a:extLst>
              <a:ext uri="{FF2B5EF4-FFF2-40B4-BE49-F238E27FC236}">
                <a16:creationId xmlns:a16="http://schemas.microsoft.com/office/drawing/2014/main" id="{6E47E0B8-65C2-4267-A8DA-C51B52B2E40E}"/>
              </a:ext>
            </a:extLst>
          </p:cNvPr>
          <p:cNvCxnSpPr>
            <a:cxnSpLocks/>
          </p:cNvCxnSpPr>
          <p:nvPr/>
        </p:nvCxnSpPr>
        <p:spPr>
          <a:xfrm>
            <a:off x="3639269" y="2971396"/>
            <a:ext cx="282100" cy="341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C3CD75A6-5355-49EB-BD8F-17BD53F401F8}"/>
              </a:ext>
            </a:extLst>
          </p:cNvPr>
          <p:cNvSpPr/>
          <p:nvPr/>
        </p:nvSpPr>
        <p:spPr>
          <a:xfrm>
            <a:off x="2931276" y="1320167"/>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15</a:t>
            </a:r>
          </a:p>
        </p:txBody>
      </p:sp>
      <p:sp>
        <p:nvSpPr>
          <p:cNvPr id="43" name="Oval 42">
            <a:extLst>
              <a:ext uri="{FF2B5EF4-FFF2-40B4-BE49-F238E27FC236}">
                <a16:creationId xmlns:a16="http://schemas.microsoft.com/office/drawing/2014/main" id="{7CE9492D-142E-4FB2-AE4A-E0B52F0348DB}"/>
              </a:ext>
            </a:extLst>
          </p:cNvPr>
          <p:cNvSpPr/>
          <p:nvPr/>
        </p:nvSpPr>
        <p:spPr>
          <a:xfrm>
            <a:off x="6106075" y="330105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49</a:t>
            </a:r>
          </a:p>
        </p:txBody>
      </p:sp>
      <p:cxnSp>
        <p:nvCxnSpPr>
          <p:cNvPr id="44" name="Straight Arrow Connector 43">
            <a:extLst>
              <a:ext uri="{FF2B5EF4-FFF2-40B4-BE49-F238E27FC236}">
                <a16:creationId xmlns:a16="http://schemas.microsoft.com/office/drawing/2014/main" id="{5C713234-0596-4BAA-B96D-C3F5C3FF6C4A}"/>
              </a:ext>
            </a:extLst>
          </p:cNvPr>
          <p:cNvCxnSpPr>
            <a:cxnSpLocks/>
          </p:cNvCxnSpPr>
          <p:nvPr/>
        </p:nvCxnSpPr>
        <p:spPr>
          <a:xfrm>
            <a:off x="5916433" y="3018269"/>
            <a:ext cx="269842" cy="294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018489B8-14E6-4ED6-81A5-B7C4695A867A}"/>
              </a:ext>
            </a:extLst>
          </p:cNvPr>
          <p:cNvSpPr/>
          <p:nvPr/>
        </p:nvSpPr>
        <p:spPr>
          <a:xfrm>
            <a:off x="2931276" y="132016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49</a:t>
            </a:r>
          </a:p>
        </p:txBody>
      </p:sp>
      <p:cxnSp>
        <p:nvCxnSpPr>
          <p:cNvPr id="46" name="Straight Arrow Connector 45">
            <a:extLst>
              <a:ext uri="{FF2B5EF4-FFF2-40B4-BE49-F238E27FC236}">
                <a16:creationId xmlns:a16="http://schemas.microsoft.com/office/drawing/2014/main" id="{C18128DF-E12F-4503-B29C-F74AD98AD6CE}"/>
              </a:ext>
            </a:extLst>
          </p:cNvPr>
          <p:cNvCxnSpPr>
            <a:cxnSpLocks/>
          </p:cNvCxnSpPr>
          <p:nvPr/>
        </p:nvCxnSpPr>
        <p:spPr>
          <a:xfrm flipH="1">
            <a:off x="5200431" y="3019888"/>
            <a:ext cx="271516" cy="276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6787364-26DE-46E5-AFF5-FADFFCAF13AB}"/>
              </a:ext>
            </a:extLst>
          </p:cNvPr>
          <p:cNvSpPr/>
          <p:nvPr/>
        </p:nvSpPr>
        <p:spPr>
          <a:xfrm>
            <a:off x="4855345" y="3303520"/>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47</a:t>
            </a:r>
          </a:p>
        </p:txBody>
      </p:sp>
      <p:sp>
        <p:nvSpPr>
          <p:cNvPr id="48" name="Rectangle 47">
            <a:extLst>
              <a:ext uri="{FF2B5EF4-FFF2-40B4-BE49-F238E27FC236}">
                <a16:creationId xmlns:a16="http://schemas.microsoft.com/office/drawing/2014/main" id="{7D7FAC09-7FE6-4253-95DF-59F7A6AD9A5B}"/>
              </a:ext>
            </a:extLst>
          </p:cNvPr>
          <p:cNvSpPr/>
          <p:nvPr/>
        </p:nvSpPr>
        <p:spPr>
          <a:xfrm>
            <a:off x="2937626" y="130727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47</a:t>
            </a:r>
          </a:p>
        </p:txBody>
      </p:sp>
      <p:sp>
        <p:nvSpPr>
          <p:cNvPr id="42" name="TextBox 41">
            <a:extLst>
              <a:ext uri="{FF2B5EF4-FFF2-40B4-BE49-F238E27FC236}">
                <a16:creationId xmlns:a16="http://schemas.microsoft.com/office/drawing/2014/main" id="{B6D6DC4D-43BE-4F01-B3D7-5B3FB760AD92}"/>
              </a:ext>
            </a:extLst>
          </p:cNvPr>
          <p:cNvSpPr txBox="1"/>
          <p:nvPr/>
        </p:nvSpPr>
        <p:spPr>
          <a:xfrm>
            <a:off x="7287840" y="618819"/>
            <a:ext cx="1193131" cy="954107"/>
          </a:xfrm>
          <a:prstGeom prst="rect">
            <a:avLst/>
          </a:prstGeom>
          <a:noFill/>
        </p:spPr>
        <p:txBody>
          <a:bodyPr wrap="square">
            <a:spAutoFit/>
          </a:bodyPr>
          <a:lstStyle/>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1. Call itself to traverse the node’s left subtree.</a:t>
            </a:r>
          </a:p>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2. Visit the node.</a:t>
            </a:r>
          </a:p>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3. Call itself to traverse the node’s right subtree</a:t>
            </a:r>
          </a:p>
        </p:txBody>
      </p:sp>
      <p:cxnSp>
        <p:nvCxnSpPr>
          <p:cNvPr id="9" name="Straight Arrow Connector 8">
            <a:extLst>
              <a:ext uri="{FF2B5EF4-FFF2-40B4-BE49-F238E27FC236}">
                <a16:creationId xmlns:a16="http://schemas.microsoft.com/office/drawing/2014/main" id="{35BA4140-26A1-435C-A8F1-C1C297467EEB}"/>
              </a:ext>
            </a:extLst>
          </p:cNvPr>
          <p:cNvCxnSpPr/>
          <p:nvPr/>
        </p:nvCxnSpPr>
        <p:spPr>
          <a:xfrm flipH="1">
            <a:off x="3921369" y="1572926"/>
            <a:ext cx="428913" cy="1452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94F2E05D-A3C0-422E-BC04-D8CC69E860A6}"/>
              </a:ext>
            </a:extLst>
          </p:cNvPr>
          <p:cNvSpPr txBox="1"/>
          <p:nvPr/>
        </p:nvSpPr>
        <p:spPr>
          <a:xfrm>
            <a:off x="3904134" y="1511330"/>
            <a:ext cx="224044" cy="206873"/>
          </a:xfrm>
          <a:prstGeom prst="rect">
            <a:avLst/>
          </a:prstGeom>
          <a:noFill/>
        </p:spPr>
        <p:txBody>
          <a:bodyPr wrap="square" rtlCol="0">
            <a:spAutoFit/>
          </a:bodyPr>
          <a:lstStyle/>
          <a:p>
            <a:r>
              <a:rPr lang="en-US" sz="700" dirty="0"/>
              <a:t>1</a:t>
            </a:r>
          </a:p>
        </p:txBody>
      </p:sp>
      <p:cxnSp>
        <p:nvCxnSpPr>
          <p:cNvPr id="51" name="Straight Arrow Connector 50">
            <a:extLst>
              <a:ext uri="{FF2B5EF4-FFF2-40B4-BE49-F238E27FC236}">
                <a16:creationId xmlns:a16="http://schemas.microsoft.com/office/drawing/2014/main" id="{3602E1E5-4657-45DD-9491-9FE3531D3622}"/>
              </a:ext>
            </a:extLst>
          </p:cNvPr>
          <p:cNvCxnSpPr/>
          <p:nvPr/>
        </p:nvCxnSpPr>
        <p:spPr>
          <a:xfrm flipH="1">
            <a:off x="2976358" y="2031559"/>
            <a:ext cx="428913" cy="1452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2" name="TextBox 51">
            <a:extLst>
              <a:ext uri="{FF2B5EF4-FFF2-40B4-BE49-F238E27FC236}">
                <a16:creationId xmlns:a16="http://schemas.microsoft.com/office/drawing/2014/main" id="{1298F68F-4892-44CD-A323-F52FFBF617D4}"/>
              </a:ext>
            </a:extLst>
          </p:cNvPr>
          <p:cNvSpPr txBox="1"/>
          <p:nvPr/>
        </p:nvSpPr>
        <p:spPr>
          <a:xfrm>
            <a:off x="2959123" y="1969963"/>
            <a:ext cx="224044" cy="206873"/>
          </a:xfrm>
          <a:prstGeom prst="rect">
            <a:avLst/>
          </a:prstGeom>
          <a:noFill/>
        </p:spPr>
        <p:txBody>
          <a:bodyPr wrap="square" rtlCol="0">
            <a:spAutoFit/>
          </a:bodyPr>
          <a:lstStyle/>
          <a:p>
            <a:r>
              <a:rPr lang="en-US" sz="700" dirty="0"/>
              <a:t>2</a:t>
            </a:r>
          </a:p>
        </p:txBody>
      </p:sp>
      <p:sp>
        <p:nvSpPr>
          <p:cNvPr id="53" name="TextBox 52">
            <a:extLst>
              <a:ext uri="{FF2B5EF4-FFF2-40B4-BE49-F238E27FC236}">
                <a16:creationId xmlns:a16="http://schemas.microsoft.com/office/drawing/2014/main" id="{C4784FD4-0291-48D0-BDBC-E7F923B6FD24}"/>
              </a:ext>
            </a:extLst>
          </p:cNvPr>
          <p:cNvSpPr txBox="1"/>
          <p:nvPr/>
        </p:nvSpPr>
        <p:spPr>
          <a:xfrm>
            <a:off x="3318374" y="2092796"/>
            <a:ext cx="630411" cy="200055"/>
          </a:xfrm>
          <a:prstGeom prst="rect">
            <a:avLst/>
          </a:prstGeom>
          <a:noFill/>
        </p:spPr>
        <p:txBody>
          <a:bodyPr wrap="square" rtlCol="0">
            <a:spAutoFit/>
          </a:bodyPr>
          <a:lstStyle/>
          <a:p>
            <a:r>
              <a:rPr lang="en-US" sz="700" b="1" dirty="0"/>
              <a:t>3. Visit 4</a:t>
            </a:r>
          </a:p>
        </p:txBody>
      </p:sp>
      <p:sp>
        <p:nvSpPr>
          <p:cNvPr id="54" name="TextBox 53">
            <a:extLst>
              <a:ext uri="{FF2B5EF4-FFF2-40B4-BE49-F238E27FC236}">
                <a16:creationId xmlns:a16="http://schemas.microsoft.com/office/drawing/2014/main" id="{E28DC53E-FF81-47F1-8E3A-D67643D01DE7}"/>
              </a:ext>
            </a:extLst>
          </p:cNvPr>
          <p:cNvSpPr txBox="1"/>
          <p:nvPr/>
        </p:nvSpPr>
        <p:spPr>
          <a:xfrm>
            <a:off x="2822585" y="4538408"/>
            <a:ext cx="3228769" cy="523220"/>
          </a:xfrm>
          <a:prstGeom prst="rect">
            <a:avLst/>
          </a:prstGeom>
          <a:noFill/>
        </p:spPr>
        <p:txBody>
          <a:bodyPr wrap="none" rtlCol="0">
            <a:spAutoFit/>
          </a:bodyPr>
          <a:lstStyle/>
          <a:p>
            <a:r>
              <a:rPr lang="en-US" b="0" i="0" dirty="0">
                <a:solidFill>
                  <a:srgbClr val="F8F8F8"/>
                </a:solidFill>
                <a:effectLst/>
                <a:latin typeface="Oxygen" panose="02000503000000000000" pitchFamily="2" charset="0"/>
              </a:rPr>
              <a:t>Output:</a:t>
            </a:r>
          </a:p>
          <a:p>
            <a:r>
              <a:rPr lang="en-US" b="1" i="0" dirty="0">
                <a:solidFill>
                  <a:srgbClr val="F8F8F8"/>
                </a:solidFill>
                <a:effectLst/>
                <a:latin typeface="Oxygen" panose="02000503000000000000" pitchFamily="2" charset="0"/>
              </a:rPr>
              <a:t>4, 13, 14, 15, 34, 40, 45, 47, 48, 49, 55 </a:t>
            </a:r>
            <a:endParaRPr lang="en-US" b="1" dirty="0">
              <a:solidFill>
                <a:srgbClr val="F8F8F8"/>
              </a:solidFill>
            </a:endParaRPr>
          </a:p>
        </p:txBody>
      </p:sp>
      <p:cxnSp>
        <p:nvCxnSpPr>
          <p:cNvPr id="18" name="Straight Arrow Connector 17">
            <a:extLst>
              <a:ext uri="{FF2B5EF4-FFF2-40B4-BE49-F238E27FC236}">
                <a16:creationId xmlns:a16="http://schemas.microsoft.com/office/drawing/2014/main" id="{0AFDB025-F749-433A-B723-ACFC55B248F2}"/>
              </a:ext>
            </a:extLst>
          </p:cNvPr>
          <p:cNvCxnSpPr/>
          <p:nvPr/>
        </p:nvCxnSpPr>
        <p:spPr>
          <a:xfrm>
            <a:off x="3904134" y="2073399"/>
            <a:ext cx="298589" cy="16519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6" name="TextBox 55">
            <a:extLst>
              <a:ext uri="{FF2B5EF4-FFF2-40B4-BE49-F238E27FC236}">
                <a16:creationId xmlns:a16="http://schemas.microsoft.com/office/drawing/2014/main" id="{15F2BD2D-29F7-4B24-A454-71EF3540BB0E}"/>
              </a:ext>
            </a:extLst>
          </p:cNvPr>
          <p:cNvSpPr txBox="1"/>
          <p:nvPr/>
        </p:nvSpPr>
        <p:spPr>
          <a:xfrm>
            <a:off x="3961010" y="2122424"/>
            <a:ext cx="224044" cy="206873"/>
          </a:xfrm>
          <a:prstGeom prst="rect">
            <a:avLst/>
          </a:prstGeom>
          <a:noFill/>
        </p:spPr>
        <p:txBody>
          <a:bodyPr wrap="square" rtlCol="0">
            <a:spAutoFit/>
          </a:bodyPr>
          <a:lstStyle/>
          <a:p>
            <a:r>
              <a:rPr lang="en-US" sz="700" dirty="0"/>
              <a:t>4</a:t>
            </a:r>
          </a:p>
        </p:txBody>
      </p:sp>
      <p:cxnSp>
        <p:nvCxnSpPr>
          <p:cNvPr id="57" name="Straight Arrow Connector 56">
            <a:extLst>
              <a:ext uri="{FF2B5EF4-FFF2-40B4-BE49-F238E27FC236}">
                <a16:creationId xmlns:a16="http://schemas.microsoft.com/office/drawing/2014/main" id="{69788271-5B64-4191-B9BB-F9926BB20175}"/>
              </a:ext>
            </a:extLst>
          </p:cNvPr>
          <p:cNvCxnSpPr>
            <a:cxnSpLocks/>
          </p:cNvCxnSpPr>
          <p:nvPr/>
        </p:nvCxnSpPr>
        <p:spPr>
          <a:xfrm flipH="1">
            <a:off x="3720244" y="2329297"/>
            <a:ext cx="471968" cy="26725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8" name="TextBox 57">
            <a:extLst>
              <a:ext uri="{FF2B5EF4-FFF2-40B4-BE49-F238E27FC236}">
                <a16:creationId xmlns:a16="http://schemas.microsoft.com/office/drawing/2014/main" id="{165926BA-98D0-46D1-8D8D-90AC42523979}"/>
              </a:ext>
            </a:extLst>
          </p:cNvPr>
          <p:cNvSpPr txBox="1"/>
          <p:nvPr/>
        </p:nvSpPr>
        <p:spPr>
          <a:xfrm>
            <a:off x="3687257" y="2387389"/>
            <a:ext cx="224044" cy="206873"/>
          </a:xfrm>
          <a:prstGeom prst="rect">
            <a:avLst/>
          </a:prstGeom>
          <a:noFill/>
        </p:spPr>
        <p:txBody>
          <a:bodyPr wrap="square" rtlCol="0">
            <a:spAutoFit/>
          </a:bodyPr>
          <a:lstStyle/>
          <a:p>
            <a:r>
              <a:rPr lang="en-US" sz="700" dirty="0"/>
              <a:t>5</a:t>
            </a:r>
          </a:p>
        </p:txBody>
      </p:sp>
      <p:cxnSp>
        <p:nvCxnSpPr>
          <p:cNvPr id="59" name="Straight Arrow Connector 58">
            <a:extLst>
              <a:ext uri="{FF2B5EF4-FFF2-40B4-BE49-F238E27FC236}">
                <a16:creationId xmlns:a16="http://schemas.microsoft.com/office/drawing/2014/main" id="{25C0171D-2403-4C0E-8772-75DCA9DD81C0}"/>
              </a:ext>
            </a:extLst>
          </p:cNvPr>
          <p:cNvCxnSpPr>
            <a:cxnSpLocks/>
          </p:cNvCxnSpPr>
          <p:nvPr/>
        </p:nvCxnSpPr>
        <p:spPr>
          <a:xfrm flipH="1">
            <a:off x="3014995" y="2969588"/>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0" name="TextBox 59">
            <a:extLst>
              <a:ext uri="{FF2B5EF4-FFF2-40B4-BE49-F238E27FC236}">
                <a16:creationId xmlns:a16="http://schemas.microsoft.com/office/drawing/2014/main" id="{9C4D98AC-744C-453F-BFD3-3F6ED7EA9CD4}"/>
              </a:ext>
            </a:extLst>
          </p:cNvPr>
          <p:cNvSpPr txBox="1"/>
          <p:nvPr/>
        </p:nvSpPr>
        <p:spPr>
          <a:xfrm>
            <a:off x="2957531" y="2951213"/>
            <a:ext cx="224044" cy="206873"/>
          </a:xfrm>
          <a:prstGeom prst="rect">
            <a:avLst/>
          </a:prstGeom>
          <a:noFill/>
        </p:spPr>
        <p:txBody>
          <a:bodyPr wrap="square" rtlCol="0">
            <a:spAutoFit/>
          </a:bodyPr>
          <a:lstStyle/>
          <a:p>
            <a:r>
              <a:rPr lang="en-US" sz="700" dirty="0"/>
              <a:t>6</a:t>
            </a:r>
          </a:p>
        </p:txBody>
      </p:sp>
      <p:cxnSp>
        <p:nvCxnSpPr>
          <p:cNvPr id="62" name="Straight Arrow Connector 61">
            <a:extLst>
              <a:ext uri="{FF2B5EF4-FFF2-40B4-BE49-F238E27FC236}">
                <a16:creationId xmlns:a16="http://schemas.microsoft.com/office/drawing/2014/main" id="{326D7679-5A49-4E86-B8F0-3749CD550C59}"/>
              </a:ext>
            </a:extLst>
          </p:cNvPr>
          <p:cNvCxnSpPr>
            <a:cxnSpLocks/>
          </p:cNvCxnSpPr>
          <p:nvPr/>
        </p:nvCxnSpPr>
        <p:spPr>
          <a:xfrm flipH="1">
            <a:off x="2424367" y="3624114"/>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3" name="TextBox 62">
            <a:extLst>
              <a:ext uri="{FF2B5EF4-FFF2-40B4-BE49-F238E27FC236}">
                <a16:creationId xmlns:a16="http://schemas.microsoft.com/office/drawing/2014/main" id="{F6E1BA79-2C83-4EB1-AF36-2A758868A2BA}"/>
              </a:ext>
            </a:extLst>
          </p:cNvPr>
          <p:cNvSpPr txBox="1"/>
          <p:nvPr/>
        </p:nvSpPr>
        <p:spPr>
          <a:xfrm>
            <a:off x="2366903" y="3605739"/>
            <a:ext cx="224044" cy="206873"/>
          </a:xfrm>
          <a:prstGeom prst="rect">
            <a:avLst/>
          </a:prstGeom>
          <a:noFill/>
        </p:spPr>
        <p:txBody>
          <a:bodyPr wrap="square" rtlCol="0">
            <a:spAutoFit/>
          </a:bodyPr>
          <a:lstStyle/>
          <a:p>
            <a:r>
              <a:rPr lang="en-US" sz="700" dirty="0"/>
              <a:t>7</a:t>
            </a:r>
          </a:p>
        </p:txBody>
      </p:sp>
      <p:sp>
        <p:nvSpPr>
          <p:cNvPr id="66" name="TextBox 65">
            <a:extLst>
              <a:ext uri="{FF2B5EF4-FFF2-40B4-BE49-F238E27FC236}">
                <a16:creationId xmlns:a16="http://schemas.microsoft.com/office/drawing/2014/main" id="{CB3BB76B-1CAE-46C4-9707-33CB82E3D63B}"/>
              </a:ext>
            </a:extLst>
          </p:cNvPr>
          <p:cNvSpPr txBox="1"/>
          <p:nvPr/>
        </p:nvSpPr>
        <p:spPr>
          <a:xfrm>
            <a:off x="2590947" y="3637976"/>
            <a:ext cx="626431" cy="200055"/>
          </a:xfrm>
          <a:prstGeom prst="rect">
            <a:avLst/>
          </a:prstGeom>
          <a:noFill/>
        </p:spPr>
        <p:txBody>
          <a:bodyPr wrap="square" rtlCol="0">
            <a:spAutoFit/>
          </a:bodyPr>
          <a:lstStyle/>
          <a:p>
            <a:r>
              <a:rPr lang="en-US" sz="700" b="1" dirty="0"/>
              <a:t>8. Visit 13</a:t>
            </a:r>
          </a:p>
        </p:txBody>
      </p:sp>
      <p:cxnSp>
        <p:nvCxnSpPr>
          <p:cNvPr id="67" name="Straight Arrow Connector 66">
            <a:extLst>
              <a:ext uri="{FF2B5EF4-FFF2-40B4-BE49-F238E27FC236}">
                <a16:creationId xmlns:a16="http://schemas.microsoft.com/office/drawing/2014/main" id="{7D8D4E41-98C8-44A6-838E-840C359A8F92}"/>
              </a:ext>
            </a:extLst>
          </p:cNvPr>
          <p:cNvCxnSpPr>
            <a:cxnSpLocks/>
          </p:cNvCxnSpPr>
          <p:nvPr/>
        </p:nvCxnSpPr>
        <p:spPr>
          <a:xfrm>
            <a:off x="3063095" y="3593112"/>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8" name="TextBox 67">
            <a:extLst>
              <a:ext uri="{FF2B5EF4-FFF2-40B4-BE49-F238E27FC236}">
                <a16:creationId xmlns:a16="http://schemas.microsoft.com/office/drawing/2014/main" id="{D2FDEF50-4B4B-464A-B1F9-BE3E8442AE1A}"/>
              </a:ext>
            </a:extLst>
          </p:cNvPr>
          <p:cNvSpPr txBox="1"/>
          <p:nvPr/>
        </p:nvSpPr>
        <p:spPr>
          <a:xfrm>
            <a:off x="3101811" y="3725590"/>
            <a:ext cx="224044" cy="206873"/>
          </a:xfrm>
          <a:prstGeom prst="rect">
            <a:avLst/>
          </a:prstGeom>
          <a:noFill/>
        </p:spPr>
        <p:txBody>
          <a:bodyPr wrap="square" rtlCol="0">
            <a:spAutoFit/>
          </a:bodyPr>
          <a:lstStyle/>
          <a:p>
            <a:r>
              <a:rPr lang="en-US" sz="700" dirty="0"/>
              <a:t>9</a:t>
            </a:r>
          </a:p>
        </p:txBody>
      </p:sp>
      <p:cxnSp>
        <p:nvCxnSpPr>
          <p:cNvPr id="69" name="Straight Arrow Connector 68">
            <a:extLst>
              <a:ext uri="{FF2B5EF4-FFF2-40B4-BE49-F238E27FC236}">
                <a16:creationId xmlns:a16="http://schemas.microsoft.com/office/drawing/2014/main" id="{A107F228-7E11-4D37-ACE9-22755440D910}"/>
              </a:ext>
            </a:extLst>
          </p:cNvPr>
          <p:cNvCxnSpPr/>
          <p:nvPr/>
        </p:nvCxnSpPr>
        <p:spPr>
          <a:xfrm flipV="1">
            <a:off x="3114526" y="3053108"/>
            <a:ext cx="309134" cy="2903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2" name="TextBox 71">
            <a:extLst>
              <a:ext uri="{FF2B5EF4-FFF2-40B4-BE49-F238E27FC236}">
                <a16:creationId xmlns:a16="http://schemas.microsoft.com/office/drawing/2014/main" id="{1F37A8A3-1525-44B0-BFB5-8AB9F42FDC51}"/>
              </a:ext>
            </a:extLst>
          </p:cNvPr>
          <p:cNvSpPr txBox="1"/>
          <p:nvPr/>
        </p:nvSpPr>
        <p:spPr>
          <a:xfrm>
            <a:off x="3257896" y="3105620"/>
            <a:ext cx="301843" cy="200055"/>
          </a:xfrm>
          <a:prstGeom prst="rect">
            <a:avLst/>
          </a:prstGeom>
          <a:noFill/>
        </p:spPr>
        <p:txBody>
          <a:bodyPr wrap="square" rtlCol="0">
            <a:spAutoFit/>
          </a:bodyPr>
          <a:lstStyle/>
          <a:p>
            <a:r>
              <a:rPr lang="en-US" sz="700" dirty="0"/>
              <a:t>10</a:t>
            </a:r>
          </a:p>
        </p:txBody>
      </p:sp>
      <p:sp>
        <p:nvSpPr>
          <p:cNvPr id="73" name="TextBox 72">
            <a:extLst>
              <a:ext uri="{FF2B5EF4-FFF2-40B4-BE49-F238E27FC236}">
                <a16:creationId xmlns:a16="http://schemas.microsoft.com/office/drawing/2014/main" id="{3D29304F-F965-4325-9D58-6B2D2933AB9B}"/>
              </a:ext>
            </a:extLst>
          </p:cNvPr>
          <p:cNvSpPr txBox="1"/>
          <p:nvPr/>
        </p:nvSpPr>
        <p:spPr>
          <a:xfrm>
            <a:off x="3679074" y="2774235"/>
            <a:ext cx="686781" cy="200055"/>
          </a:xfrm>
          <a:prstGeom prst="rect">
            <a:avLst/>
          </a:prstGeom>
          <a:noFill/>
        </p:spPr>
        <p:txBody>
          <a:bodyPr wrap="square" rtlCol="0">
            <a:spAutoFit/>
          </a:bodyPr>
          <a:lstStyle/>
          <a:p>
            <a:r>
              <a:rPr lang="en-US" sz="700" b="1" dirty="0"/>
              <a:t>11. Visit 14</a:t>
            </a:r>
          </a:p>
        </p:txBody>
      </p:sp>
      <p:cxnSp>
        <p:nvCxnSpPr>
          <p:cNvPr id="74" name="Straight Arrow Connector 73">
            <a:extLst>
              <a:ext uri="{FF2B5EF4-FFF2-40B4-BE49-F238E27FC236}">
                <a16:creationId xmlns:a16="http://schemas.microsoft.com/office/drawing/2014/main" id="{1786F0BE-3563-4C36-9D79-D515B8151F04}"/>
              </a:ext>
            </a:extLst>
          </p:cNvPr>
          <p:cNvCxnSpPr>
            <a:cxnSpLocks/>
          </p:cNvCxnSpPr>
          <p:nvPr/>
        </p:nvCxnSpPr>
        <p:spPr>
          <a:xfrm>
            <a:off x="3613099" y="3029424"/>
            <a:ext cx="184087" cy="2291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5" name="TextBox 74">
            <a:extLst>
              <a:ext uri="{FF2B5EF4-FFF2-40B4-BE49-F238E27FC236}">
                <a16:creationId xmlns:a16="http://schemas.microsoft.com/office/drawing/2014/main" id="{C86E252B-3ABD-4C27-957F-B617FA39A1C3}"/>
              </a:ext>
            </a:extLst>
          </p:cNvPr>
          <p:cNvSpPr txBox="1"/>
          <p:nvPr/>
        </p:nvSpPr>
        <p:spPr>
          <a:xfrm>
            <a:off x="3499636" y="3084377"/>
            <a:ext cx="299235" cy="200055"/>
          </a:xfrm>
          <a:prstGeom prst="rect">
            <a:avLst/>
          </a:prstGeom>
          <a:noFill/>
        </p:spPr>
        <p:txBody>
          <a:bodyPr wrap="square" rtlCol="0">
            <a:spAutoFit/>
          </a:bodyPr>
          <a:lstStyle/>
          <a:p>
            <a:r>
              <a:rPr lang="en-US" sz="700" dirty="0"/>
              <a:t>12</a:t>
            </a:r>
          </a:p>
        </p:txBody>
      </p:sp>
      <p:cxnSp>
        <p:nvCxnSpPr>
          <p:cNvPr id="78" name="Straight Arrow Connector 77">
            <a:extLst>
              <a:ext uri="{FF2B5EF4-FFF2-40B4-BE49-F238E27FC236}">
                <a16:creationId xmlns:a16="http://schemas.microsoft.com/office/drawing/2014/main" id="{4952369D-3D6E-40C2-9801-44F200378EC0}"/>
              </a:ext>
            </a:extLst>
          </p:cNvPr>
          <p:cNvCxnSpPr>
            <a:cxnSpLocks/>
          </p:cNvCxnSpPr>
          <p:nvPr/>
        </p:nvCxnSpPr>
        <p:spPr>
          <a:xfrm flipH="1">
            <a:off x="3601327" y="3615025"/>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9" name="TextBox 78">
            <a:extLst>
              <a:ext uri="{FF2B5EF4-FFF2-40B4-BE49-F238E27FC236}">
                <a16:creationId xmlns:a16="http://schemas.microsoft.com/office/drawing/2014/main" id="{35C289CE-14F6-4DF6-ACE7-41D9FA379F0C}"/>
              </a:ext>
            </a:extLst>
          </p:cNvPr>
          <p:cNvSpPr txBox="1"/>
          <p:nvPr/>
        </p:nvSpPr>
        <p:spPr>
          <a:xfrm>
            <a:off x="3524018" y="3596651"/>
            <a:ext cx="295704" cy="200055"/>
          </a:xfrm>
          <a:prstGeom prst="rect">
            <a:avLst/>
          </a:prstGeom>
          <a:noFill/>
        </p:spPr>
        <p:txBody>
          <a:bodyPr wrap="square" rtlCol="0">
            <a:spAutoFit/>
          </a:bodyPr>
          <a:lstStyle/>
          <a:p>
            <a:r>
              <a:rPr lang="en-US" sz="700" dirty="0"/>
              <a:t>13</a:t>
            </a:r>
          </a:p>
        </p:txBody>
      </p:sp>
      <p:sp>
        <p:nvSpPr>
          <p:cNvPr id="80" name="TextBox 79">
            <a:extLst>
              <a:ext uri="{FF2B5EF4-FFF2-40B4-BE49-F238E27FC236}">
                <a16:creationId xmlns:a16="http://schemas.microsoft.com/office/drawing/2014/main" id="{37348E12-97D1-4965-937A-7050758B7C34}"/>
              </a:ext>
            </a:extLst>
          </p:cNvPr>
          <p:cNvSpPr txBox="1"/>
          <p:nvPr/>
        </p:nvSpPr>
        <p:spPr>
          <a:xfrm>
            <a:off x="3785520" y="3590850"/>
            <a:ext cx="702722" cy="200055"/>
          </a:xfrm>
          <a:prstGeom prst="rect">
            <a:avLst/>
          </a:prstGeom>
          <a:noFill/>
        </p:spPr>
        <p:txBody>
          <a:bodyPr wrap="square" rtlCol="0">
            <a:spAutoFit/>
          </a:bodyPr>
          <a:lstStyle/>
          <a:p>
            <a:r>
              <a:rPr lang="en-US" sz="700" b="1" dirty="0"/>
              <a:t>14. Visit 15</a:t>
            </a:r>
          </a:p>
        </p:txBody>
      </p:sp>
      <p:cxnSp>
        <p:nvCxnSpPr>
          <p:cNvPr id="81" name="Straight Arrow Connector 80">
            <a:extLst>
              <a:ext uri="{FF2B5EF4-FFF2-40B4-BE49-F238E27FC236}">
                <a16:creationId xmlns:a16="http://schemas.microsoft.com/office/drawing/2014/main" id="{9E3932D5-CFDA-461D-8B02-0E492E761FCA}"/>
              </a:ext>
            </a:extLst>
          </p:cNvPr>
          <p:cNvCxnSpPr>
            <a:cxnSpLocks/>
          </p:cNvCxnSpPr>
          <p:nvPr/>
        </p:nvCxnSpPr>
        <p:spPr>
          <a:xfrm>
            <a:off x="4239286" y="358442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2" name="TextBox 81">
            <a:extLst>
              <a:ext uri="{FF2B5EF4-FFF2-40B4-BE49-F238E27FC236}">
                <a16:creationId xmlns:a16="http://schemas.microsoft.com/office/drawing/2014/main" id="{8B5E2CEC-5270-4BA1-B747-9D3EF0DC95E0}"/>
              </a:ext>
            </a:extLst>
          </p:cNvPr>
          <p:cNvSpPr txBox="1"/>
          <p:nvPr/>
        </p:nvSpPr>
        <p:spPr>
          <a:xfrm>
            <a:off x="4234455" y="3716907"/>
            <a:ext cx="300594" cy="200055"/>
          </a:xfrm>
          <a:prstGeom prst="rect">
            <a:avLst/>
          </a:prstGeom>
          <a:noFill/>
        </p:spPr>
        <p:txBody>
          <a:bodyPr wrap="square" rtlCol="0">
            <a:spAutoFit/>
          </a:bodyPr>
          <a:lstStyle/>
          <a:p>
            <a:r>
              <a:rPr lang="en-US" sz="700" dirty="0"/>
              <a:t>15</a:t>
            </a:r>
          </a:p>
        </p:txBody>
      </p:sp>
      <p:cxnSp>
        <p:nvCxnSpPr>
          <p:cNvPr id="77" name="Straight Arrow Connector 76">
            <a:extLst>
              <a:ext uri="{FF2B5EF4-FFF2-40B4-BE49-F238E27FC236}">
                <a16:creationId xmlns:a16="http://schemas.microsoft.com/office/drawing/2014/main" id="{93DCD7DE-F1D1-439D-9C60-8979CA1E086F}"/>
              </a:ext>
            </a:extLst>
          </p:cNvPr>
          <p:cNvCxnSpPr>
            <a:endCxn id="17" idx="3"/>
          </p:cNvCxnSpPr>
          <p:nvPr/>
        </p:nvCxnSpPr>
        <p:spPr>
          <a:xfrm flipV="1">
            <a:off x="4202723" y="2469061"/>
            <a:ext cx="147559" cy="81537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8AC7E98C-8151-46FF-B3CA-41267FB5871C}"/>
              </a:ext>
            </a:extLst>
          </p:cNvPr>
          <p:cNvSpPr txBox="1"/>
          <p:nvPr/>
        </p:nvSpPr>
        <p:spPr>
          <a:xfrm>
            <a:off x="4253250" y="2501318"/>
            <a:ext cx="300594" cy="200055"/>
          </a:xfrm>
          <a:prstGeom prst="rect">
            <a:avLst/>
          </a:prstGeom>
          <a:noFill/>
        </p:spPr>
        <p:txBody>
          <a:bodyPr wrap="square" rtlCol="0">
            <a:spAutoFit/>
          </a:bodyPr>
          <a:lstStyle/>
          <a:p>
            <a:r>
              <a:rPr lang="en-US" sz="700" dirty="0"/>
              <a:t>16</a:t>
            </a:r>
          </a:p>
        </p:txBody>
      </p:sp>
      <p:sp>
        <p:nvSpPr>
          <p:cNvPr id="86" name="TextBox 85">
            <a:extLst>
              <a:ext uri="{FF2B5EF4-FFF2-40B4-BE49-F238E27FC236}">
                <a16:creationId xmlns:a16="http://schemas.microsoft.com/office/drawing/2014/main" id="{5FD0323A-BC74-4FE4-B969-CB646C4EC47E}"/>
              </a:ext>
            </a:extLst>
          </p:cNvPr>
          <p:cNvSpPr txBox="1"/>
          <p:nvPr/>
        </p:nvSpPr>
        <p:spPr>
          <a:xfrm>
            <a:off x="4536659" y="2432199"/>
            <a:ext cx="702722" cy="200055"/>
          </a:xfrm>
          <a:prstGeom prst="rect">
            <a:avLst/>
          </a:prstGeom>
          <a:noFill/>
        </p:spPr>
        <p:txBody>
          <a:bodyPr wrap="square" rtlCol="0">
            <a:spAutoFit/>
          </a:bodyPr>
          <a:lstStyle/>
          <a:p>
            <a:r>
              <a:rPr lang="en-US" sz="700" b="1" dirty="0"/>
              <a:t>17. Visit 34</a:t>
            </a:r>
          </a:p>
        </p:txBody>
      </p:sp>
      <p:cxnSp>
        <p:nvCxnSpPr>
          <p:cNvPr id="87" name="Straight Arrow Connector 86">
            <a:extLst>
              <a:ext uri="{FF2B5EF4-FFF2-40B4-BE49-F238E27FC236}">
                <a16:creationId xmlns:a16="http://schemas.microsoft.com/office/drawing/2014/main" id="{7C1286DB-6F68-4B7F-920F-03C8C5D9D106}"/>
              </a:ext>
            </a:extLst>
          </p:cNvPr>
          <p:cNvCxnSpPr>
            <a:cxnSpLocks/>
          </p:cNvCxnSpPr>
          <p:nvPr/>
        </p:nvCxnSpPr>
        <p:spPr>
          <a:xfrm flipV="1">
            <a:off x="4562929" y="1664425"/>
            <a:ext cx="65681" cy="44188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DDF690B-25A9-4CB8-848A-62FEB09F5164}"/>
              </a:ext>
            </a:extLst>
          </p:cNvPr>
          <p:cNvSpPr txBox="1"/>
          <p:nvPr/>
        </p:nvSpPr>
        <p:spPr>
          <a:xfrm>
            <a:off x="4603401" y="1614129"/>
            <a:ext cx="300594" cy="200055"/>
          </a:xfrm>
          <a:prstGeom prst="rect">
            <a:avLst/>
          </a:prstGeom>
          <a:noFill/>
        </p:spPr>
        <p:txBody>
          <a:bodyPr wrap="square" rtlCol="0">
            <a:spAutoFit/>
          </a:bodyPr>
          <a:lstStyle/>
          <a:p>
            <a:r>
              <a:rPr lang="en-US" sz="700" dirty="0"/>
              <a:t>19</a:t>
            </a:r>
          </a:p>
        </p:txBody>
      </p:sp>
      <p:cxnSp>
        <p:nvCxnSpPr>
          <p:cNvPr id="90" name="Straight Arrow Connector 89">
            <a:extLst>
              <a:ext uri="{FF2B5EF4-FFF2-40B4-BE49-F238E27FC236}">
                <a16:creationId xmlns:a16="http://schemas.microsoft.com/office/drawing/2014/main" id="{FF7A2CE4-E898-46BB-8A6D-264A7F349633}"/>
              </a:ext>
            </a:extLst>
          </p:cNvPr>
          <p:cNvCxnSpPr>
            <a:cxnSpLocks/>
          </p:cNvCxnSpPr>
          <p:nvPr/>
        </p:nvCxnSpPr>
        <p:spPr>
          <a:xfrm>
            <a:off x="4571228" y="254172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1" name="TextBox 90">
            <a:extLst>
              <a:ext uri="{FF2B5EF4-FFF2-40B4-BE49-F238E27FC236}">
                <a16:creationId xmlns:a16="http://schemas.microsoft.com/office/drawing/2014/main" id="{FC1B3018-D7D7-498F-A9D6-7A102D6155EA}"/>
              </a:ext>
            </a:extLst>
          </p:cNvPr>
          <p:cNvSpPr txBox="1"/>
          <p:nvPr/>
        </p:nvSpPr>
        <p:spPr>
          <a:xfrm>
            <a:off x="4566397" y="2674207"/>
            <a:ext cx="300594" cy="200055"/>
          </a:xfrm>
          <a:prstGeom prst="rect">
            <a:avLst/>
          </a:prstGeom>
          <a:noFill/>
        </p:spPr>
        <p:txBody>
          <a:bodyPr wrap="square" rtlCol="0">
            <a:spAutoFit/>
          </a:bodyPr>
          <a:lstStyle/>
          <a:p>
            <a:r>
              <a:rPr lang="en-US" sz="700" dirty="0"/>
              <a:t>18</a:t>
            </a:r>
          </a:p>
        </p:txBody>
      </p:sp>
      <p:sp>
        <p:nvSpPr>
          <p:cNvPr id="92" name="TextBox 91">
            <a:extLst>
              <a:ext uri="{FF2B5EF4-FFF2-40B4-BE49-F238E27FC236}">
                <a16:creationId xmlns:a16="http://schemas.microsoft.com/office/drawing/2014/main" id="{16038482-1BB7-4424-9379-995C44D999EB}"/>
              </a:ext>
            </a:extLst>
          </p:cNvPr>
          <p:cNvSpPr txBox="1"/>
          <p:nvPr/>
        </p:nvSpPr>
        <p:spPr>
          <a:xfrm>
            <a:off x="4909819" y="1351614"/>
            <a:ext cx="702722" cy="200055"/>
          </a:xfrm>
          <a:prstGeom prst="rect">
            <a:avLst/>
          </a:prstGeom>
          <a:noFill/>
        </p:spPr>
        <p:txBody>
          <a:bodyPr wrap="square" rtlCol="0">
            <a:spAutoFit/>
          </a:bodyPr>
          <a:lstStyle/>
          <a:p>
            <a:r>
              <a:rPr lang="en-US" sz="700" b="1" dirty="0"/>
              <a:t>20. Visit 40</a:t>
            </a:r>
          </a:p>
        </p:txBody>
      </p:sp>
      <p:cxnSp>
        <p:nvCxnSpPr>
          <p:cNvPr id="93" name="Straight Arrow Connector 92">
            <a:extLst>
              <a:ext uri="{FF2B5EF4-FFF2-40B4-BE49-F238E27FC236}">
                <a16:creationId xmlns:a16="http://schemas.microsoft.com/office/drawing/2014/main" id="{4F2907C3-7530-453B-8661-872425F72400}"/>
              </a:ext>
            </a:extLst>
          </p:cNvPr>
          <p:cNvCxnSpPr>
            <a:cxnSpLocks/>
            <a:endCxn id="94" idx="3"/>
          </p:cNvCxnSpPr>
          <p:nvPr/>
        </p:nvCxnSpPr>
        <p:spPr>
          <a:xfrm>
            <a:off x="5652527" y="2068676"/>
            <a:ext cx="369703" cy="232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4" name="TextBox 93">
            <a:extLst>
              <a:ext uri="{FF2B5EF4-FFF2-40B4-BE49-F238E27FC236}">
                <a16:creationId xmlns:a16="http://schemas.microsoft.com/office/drawing/2014/main" id="{D49AB083-2658-4FF0-B234-5E7EAFFE89D1}"/>
              </a:ext>
            </a:extLst>
          </p:cNvPr>
          <p:cNvSpPr txBox="1"/>
          <p:nvPr/>
        </p:nvSpPr>
        <p:spPr>
          <a:xfrm>
            <a:off x="5647696" y="2201154"/>
            <a:ext cx="374534" cy="200055"/>
          </a:xfrm>
          <a:prstGeom prst="rect">
            <a:avLst/>
          </a:prstGeom>
          <a:noFill/>
        </p:spPr>
        <p:txBody>
          <a:bodyPr wrap="square" rtlCol="0">
            <a:spAutoFit/>
          </a:bodyPr>
          <a:lstStyle/>
          <a:p>
            <a:r>
              <a:rPr lang="en-US" sz="700" dirty="0"/>
              <a:t>24</a:t>
            </a:r>
          </a:p>
        </p:txBody>
      </p:sp>
      <p:cxnSp>
        <p:nvCxnSpPr>
          <p:cNvPr id="96" name="Straight Arrow Connector 95">
            <a:extLst>
              <a:ext uri="{FF2B5EF4-FFF2-40B4-BE49-F238E27FC236}">
                <a16:creationId xmlns:a16="http://schemas.microsoft.com/office/drawing/2014/main" id="{DC5F76BB-7470-41BF-AEA4-C9FE899252F9}"/>
              </a:ext>
            </a:extLst>
          </p:cNvPr>
          <p:cNvCxnSpPr>
            <a:cxnSpLocks/>
          </p:cNvCxnSpPr>
          <p:nvPr/>
        </p:nvCxnSpPr>
        <p:spPr>
          <a:xfrm flipH="1">
            <a:off x="5090566" y="2100391"/>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7" name="TextBox 96">
            <a:extLst>
              <a:ext uri="{FF2B5EF4-FFF2-40B4-BE49-F238E27FC236}">
                <a16:creationId xmlns:a16="http://schemas.microsoft.com/office/drawing/2014/main" id="{F19AAAAA-6C6F-444F-89C3-80C1EDECE105}"/>
              </a:ext>
            </a:extLst>
          </p:cNvPr>
          <p:cNvSpPr txBox="1"/>
          <p:nvPr/>
        </p:nvSpPr>
        <p:spPr>
          <a:xfrm>
            <a:off x="4952412" y="2109674"/>
            <a:ext cx="325581" cy="200055"/>
          </a:xfrm>
          <a:prstGeom prst="rect">
            <a:avLst/>
          </a:prstGeom>
          <a:noFill/>
        </p:spPr>
        <p:txBody>
          <a:bodyPr wrap="square" rtlCol="0">
            <a:spAutoFit/>
          </a:bodyPr>
          <a:lstStyle/>
          <a:p>
            <a:r>
              <a:rPr lang="en-US" sz="700" dirty="0"/>
              <a:t>22</a:t>
            </a:r>
          </a:p>
        </p:txBody>
      </p:sp>
      <p:sp>
        <p:nvSpPr>
          <p:cNvPr id="99" name="TextBox 98">
            <a:extLst>
              <a:ext uri="{FF2B5EF4-FFF2-40B4-BE49-F238E27FC236}">
                <a16:creationId xmlns:a16="http://schemas.microsoft.com/office/drawing/2014/main" id="{A5486F52-8A70-4894-8095-15327D82E5FC}"/>
              </a:ext>
            </a:extLst>
          </p:cNvPr>
          <p:cNvSpPr txBox="1"/>
          <p:nvPr/>
        </p:nvSpPr>
        <p:spPr>
          <a:xfrm>
            <a:off x="5212232" y="2071717"/>
            <a:ext cx="702722" cy="200055"/>
          </a:xfrm>
          <a:prstGeom prst="rect">
            <a:avLst/>
          </a:prstGeom>
          <a:noFill/>
        </p:spPr>
        <p:txBody>
          <a:bodyPr wrap="square" rtlCol="0">
            <a:spAutoFit/>
          </a:bodyPr>
          <a:lstStyle/>
          <a:p>
            <a:r>
              <a:rPr lang="en-US" sz="700" b="1" dirty="0"/>
              <a:t>23. Visit 45</a:t>
            </a:r>
          </a:p>
        </p:txBody>
      </p:sp>
      <p:cxnSp>
        <p:nvCxnSpPr>
          <p:cNvPr id="100" name="Straight Arrow Connector 99">
            <a:extLst>
              <a:ext uri="{FF2B5EF4-FFF2-40B4-BE49-F238E27FC236}">
                <a16:creationId xmlns:a16="http://schemas.microsoft.com/office/drawing/2014/main" id="{33C504B3-9480-42F2-84FA-C935118213C8}"/>
              </a:ext>
            </a:extLst>
          </p:cNvPr>
          <p:cNvCxnSpPr>
            <a:cxnSpLocks/>
          </p:cNvCxnSpPr>
          <p:nvPr/>
        </p:nvCxnSpPr>
        <p:spPr>
          <a:xfrm>
            <a:off x="4835293" y="1628383"/>
            <a:ext cx="369703" cy="232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1" name="TextBox 100">
            <a:extLst>
              <a:ext uri="{FF2B5EF4-FFF2-40B4-BE49-F238E27FC236}">
                <a16:creationId xmlns:a16="http://schemas.microsoft.com/office/drawing/2014/main" id="{EA93ECFD-7B89-45B7-811D-27DA6B956537}"/>
              </a:ext>
            </a:extLst>
          </p:cNvPr>
          <p:cNvSpPr txBox="1"/>
          <p:nvPr/>
        </p:nvSpPr>
        <p:spPr>
          <a:xfrm>
            <a:off x="4899580" y="1760667"/>
            <a:ext cx="374534" cy="200055"/>
          </a:xfrm>
          <a:prstGeom prst="rect">
            <a:avLst/>
          </a:prstGeom>
          <a:noFill/>
        </p:spPr>
        <p:txBody>
          <a:bodyPr wrap="square" rtlCol="0">
            <a:spAutoFit/>
          </a:bodyPr>
          <a:lstStyle/>
          <a:p>
            <a:r>
              <a:rPr lang="en-US" sz="700" dirty="0"/>
              <a:t>21</a:t>
            </a:r>
          </a:p>
        </p:txBody>
      </p:sp>
      <p:cxnSp>
        <p:nvCxnSpPr>
          <p:cNvPr id="102" name="Straight Arrow Connector 101">
            <a:extLst>
              <a:ext uri="{FF2B5EF4-FFF2-40B4-BE49-F238E27FC236}">
                <a16:creationId xmlns:a16="http://schemas.microsoft.com/office/drawing/2014/main" id="{6146F459-2DEF-4F74-B6A2-D66B84C5D623}"/>
              </a:ext>
            </a:extLst>
          </p:cNvPr>
          <p:cNvCxnSpPr>
            <a:cxnSpLocks/>
          </p:cNvCxnSpPr>
          <p:nvPr/>
        </p:nvCxnSpPr>
        <p:spPr>
          <a:xfrm flipH="1">
            <a:off x="5822068" y="2483318"/>
            <a:ext cx="270550" cy="1341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3" name="TextBox 102">
            <a:extLst>
              <a:ext uri="{FF2B5EF4-FFF2-40B4-BE49-F238E27FC236}">
                <a16:creationId xmlns:a16="http://schemas.microsoft.com/office/drawing/2014/main" id="{CCB6023D-82AD-4B25-BA63-204AC7D52C9A}"/>
              </a:ext>
            </a:extLst>
          </p:cNvPr>
          <p:cNvSpPr txBox="1"/>
          <p:nvPr/>
        </p:nvSpPr>
        <p:spPr>
          <a:xfrm>
            <a:off x="5682921" y="2401290"/>
            <a:ext cx="374534" cy="200055"/>
          </a:xfrm>
          <a:prstGeom prst="rect">
            <a:avLst/>
          </a:prstGeom>
          <a:noFill/>
        </p:spPr>
        <p:txBody>
          <a:bodyPr wrap="square" rtlCol="0">
            <a:spAutoFit/>
          </a:bodyPr>
          <a:lstStyle/>
          <a:p>
            <a:r>
              <a:rPr lang="en-US" sz="700" dirty="0"/>
              <a:t>25</a:t>
            </a:r>
          </a:p>
        </p:txBody>
      </p:sp>
      <p:cxnSp>
        <p:nvCxnSpPr>
          <p:cNvPr id="111" name="Straight Arrow Connector 110">
            <a:extLst>
              <a:ext uri="{FF2B5EF4-FFF2-40B4-BE49-F238E27FC236}">
                <a16:creationId xmlns:a16="http://schemas.microsoft.com/office/drawing/2014/main" id="{FAFC4275-7A58-44FB-8440-AA088C0A31C4}"/>
              </a:ext>
            </a:extLst>
          </p:cNvPr>
          <p:cNvCxnSpPr>
            <a:cxnSpLocks/>
          </p:cNvCxnSpPr>
          <p:nvPr/>
        </p:nvCxnSpPr>
        <p:spPr>
          <a:xfrm flipH="1">
            <a:off x="5152002" y="2952201"/>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2" name="TextBox 111">
            <a:extLst>
              <a:ext uri="{FF2B5EF4-FFF2-40B4-BE49-F238E27FC236}">
                <a16:creationId xmlns:a16="http://schemas.microsoft.com/office/drawing/2014/main" id="{21F48DDE-3DEB-4FF2-AD04-F41E13CC3074}"/>
              </a:ext>
            </a:extLst>
          </p:cNvPr>
          <p:cNvSpPr txBox="1"/>
          <p:nvPr/>
        </p:nvSpPr>
        <p:spPr>
          <a:xfrm>
            <a:off x="5013848" y="2980733"/>
            <a:ext cx="414728" cy="200055"/>
          </a:xfrm>
          <a:prstGeom prst="rect">
            <a:avLst/>
          </a:prstGeom>
          <a:noFill/>
        </p:spPr>
        <p:txBody>
          <a:bodyPr wrap="square" rtlCol="0">
            <a:spAutoFit/>
          </a:bodyPr>
          <a:lstStyle/>
          <a:p>
            <a:r>
              <a:rPr lang="en-US" sz="700" dirty="0"/>
              <a:t>26</a:t>
            </a:r>
          </a:p>
        </p:txBody>
      </p:sp>
      <p:cxnSp>
        <p:nvCxnSpPr>
          <p:cNvPr id="113" name="Straight Arrow Connector 112">
            <a:extLst>
              <a:ext uri="{FF2B5EF4-FFF2-40B4-BE49-F238E27FC236}">
                <a16:creationId xmlns:a16="http://schemas.microsoft.com/office/drawing/2014/main" id="{3576561F-8267-4C2B-8FBC-DD5EA6B7403A}"/>
              </a:ext>
            </a:extLst>
          </p:cNvPr>
          <p:cNvCxnSpPr>
            <a:cxnSpLocks/>
          </p:cNvCxnSpPr>
          <p:nvPr/>
        </p:nvCxnSpPr>
        <p:spPr>
          <a:xfrm flipH="1">
            <a:off x="4667918" y="3617433"/>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4" name="TextBox 113">
            <a:extLst>
              <a:ext uri="{FF2B5EF4-FFF2-40B4-BE49-F238E27FC236}">
                <a16:creationId xmlns:a16="http://schemas.microsoft.com/office/drawing/2014/main" id="{4F7460E5-FE1C-4FD2-82FD-C142CE270430}"/>
              </a:ext>
            </a:extLst>
          </p:cNvPr>
          <p:cNvSpPr txBox="1"/>
          <p:nvPr/>
        </p:nvSpPr>
        <p:spPr>
          <a:xfrm>
            <a:off x="4529764" y="3626716"/>
            <a:ext cx="325581" cy="200055"/>
          </a:xfrm>
          <a:prstGeom prst="rect">
            <a:avLst/>
          </a:prstGeom>
          <a:noFill/>
        </p:spPr>
        <p:txBody>
          <a:bodyPr wrap="square" rtlCol="0">
            <a:spAutoFit/>
          </a:bodyPr>
          <a:lstStyle/>
          <a:p>
            <a:r>
              <a:rPr lang="en-US" sz="700" dirty="0"/>
              <a:t>27</a:t>
            </a:r>
          </a:p>
        </p:txBody>
      </p:sp>
      <p:sp>
        <p:nvSpPr>
          <p:cNvPr id="115" name="TextBox 114">
            <a:extLst>
              <a:ext uri="{FF2B5EF4-FFF2-40B4-BE49-F238E27FC236}">
                <a16:creationId xmlns:a16="http://schemas.microsoft.com/office/drawing/2014/main" id="{7135F98E-7C35-456B-AF8D-3E720642ACCF}"/>
              </a:ext>
            </a:extLst>
          </p:cNvPr>
          <p:cNvSpPr txBox="1"/>
          <p:nvPr/>
        </p:nvSpPr>
        <p:spPr>
          <a:xfrm>
            <a:off x="4769225" y="3657688"/>
            <a:ext cx="702722" cy="200055"/>
          </a:xfrm>
          <a:prstGeom prst="rect">
            <a:avLst/>
          </a:prstGeom>
          <a:noFill/>
        </p:spPr>
        <p:txBody>
          <a:bodyPr wrap="square" rtlCol="0">
            <a:spAutoFit/>
          </a:bodyPr>
          <a:lstStyle/>
          <a:p>
            <a:r>
              <a:rPr lang="en-US" sz="700" b="1" dirty="0"/>
              <a:t>28. Visit 47</a:t>
            </a:r>
          </a:p>
        </p:txBody>
      </p:sp>
      <p:cxnSp>
        <p:nvCxnSpPr>
          <p:cNvPr id="116" name="Straight Arrow Connector 115">
            <a:extLst>
              <a:ext uri="{FF2B5EF4-FFF2-40B4-BE49-F238E27FC236}">
                <a16:creationId xmlns:a16="http://schemas.microsoft.com/office/drawing/2014/main" id="{F1B68377-1B43-4FFE-9D05-CA6A7BFF076A}"/>
              </a:ext>
            </a:extLst>
          </p:cNvPr>
          <p:cNvCxnSpPr>
            <a:cxnSpLocks/>
          </p:cNvCxnSpPr>
          <p:nvPr/>
        </p:nvCxnSpPr>
        <p:spPr>
          <a:xfrm>
            <a:off x="5278726" y="3611874"/>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7" name="TextBox 116">
            <a:extLst>
              <a:ext uri="{FF2B5EF4-FFF2-40B4-BE49-F238E27FC236}">
                <a16:creationId xmlns:a16="http://schemas.microsoft.com/office/drawing/2014/main" id="{8C109A4E-FC52-4B04-BBBA-6137A2E6D170}"/>
              </a:ext>
            </a:extLst>
          </p:cNvPr>
          <p:cNvSpPr txBox="1"/>
          <p:nvPr/>
        </p:nvSpPr>
        <p:spPr>
          <a:xfrm>
            <a:off x="5273895" y="3744352"/>
            <a:ext cx="300594" cy="200055"/>
          </a:xfrm>
          <a:prstGeom prst="rect">
            <a:avLst/>
          </a:prstGeom>
          <a:noFill/>
        </p:spPr>
        <p:txBody>
          <a:bodyPr wrap="square" rtlCol="0">
            <a:spAutoFit/>
          </a:bodyPr>
          <a:lstStyle/>
          <a:p>
            <a:r>
              <a:rPr lang="en-US" sz="700" dirty="0"/>
              <a:t>29</a:t>
            </a:r>
          </a:p>
        </p:txBody>
      </p:sp>
      <p:cxnSp>
        <p:nvCxnSpPr>
          <p:cNvPr id="118" name="Straight Arrow Connector 117">
            <a:extLst>
              <a:ext uri="{FF2B5EF4-FFF2-40B4-BE49-F238E27FC236}">
                <a16:creationId xmlns:a16="http://schemas.microsoft.com/office/drawing/2014/main" id="{AC90AB83-4C5D-4AC4-924E-C21A04DBC461}"/>
              </a:ext>
            </a:extLst>
          </p:cNvPr>
          <p:cNvCxnSpPr/>
          <p:nvPr/>
        </p:nvCxnSpPr>
        <p:spPr>
          <a:xfrm flipV="1">
            <a:off x="5291529" y="3058721"/>
            <a:ext cx="309134" cy="2903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9" name="TextBox 118">
            <a:extLst>
              <a:ext uri="{FF2B5EF4-FFF2-40B4-BE49-F238E27FC236}">
                <a16:creationId xmlns:a16="http://schemas.microsoft.com/office/drawing/2014/main" id="{3B2F06EF-EBE9-4D66-8F5C-A3BFB599FEBF}"/>
              </a:ext>
            </a:extLst>
          </p:cNvPr>
          <p:cNvSpPr txBox="1"/>
          <p:nvPr/>
        </p:nvSpPr>
        <p:spPr>
          <a:xfrm>
            <a:off x="5434899" y="3111233"/>
            <a:ext cx="301843" cy="200055"/>
          </a:xfrm>
          <a:prstGeom prst="rect">
            <a:avLst/>
          </a:prstGeom>
          <a:noFill/>
        </p:spPr>
        <p:txBody>
          <a:bodyPr wrap="square" rtlCol="0">
            <a:spAutoFit/>
          </a:bodyPr>
          <a:lstStyle/>
          <a:p>
            <a:r>
              <a:rPr lang="en-US" sz="700" dirty="0"/>
              <a:t>30</a:t>
            </a:r>
          </a:p>
        </p:txBody>
      </p:sp>
      <p:sp>
        <p:nvSpPr>
          <p:cNvPr id="120" name="TextBox 119">
            <a:extLst>
              <a:ext uri="{FF2B5EF4-FFF2-40B4-BE49-F238E27FC236}">
                <a16:creationId xmlns:a16="http://schemas.microsoft.com/office/drawing/2014/main" id="{DFE71FB6-D06A-441F-A31A-3ABC6B9BD329}"/>
              </a:ext>
            </a:extLst>
          </p:cNvPr>
          <p:cNvSpPr txBox="1"/>
          <p:nvPr/>
        </p:nvSpPr>
        <p:spPr>
          <a:xfrm>
            <a:off x="5528751" y="3018484"/>
            <a:ext cx="702722" cy="200055"/>
          </a:xfrm>
          <a:prstGeom prst="rect">
            <a:avLst/>
          </a:prstGeom>
          <a:noFill/>
        </p:spPr>
        <p:txBody>
          <a:bodyPr wrap="square" rtlCol="0">
            <a:spAutoFit/>
          </a:bodyPr>
          <a:lstStyle/>
          <a:p>
            <a:r>
              <a:rPr lang="en-US" sz="700" b="1" dirty="0"/>
              <a:t>31. Visit 48</a:t>
            </a:r>
          </a:p>
        </p:txBody>
      </p:sp>
      <p:cxnSp>
        <p:nvCxnSpPr>
          <p:cNvPr id="121" name="Straight Arrow Connector 120">
            <a:extLst>
              <a:ext uri="{FF2B5EF4-FFF2-40B4-BE49-F238E27FC236}">
                <a16:creationId xmlns:a16="http://schemas.microsoft.com/office/drawing/2014/main" id="{FF574594-9D09-45D5-944A-FBF1F141159F}"/>
              </a:ext>
            </a:extLst>
          </p:cNvPr>
          <p:cNvCxnSpPr>
            <a:cxnSpLocks/>
          </p:cNvCxnSpPr>
          <p:nvPr/>
        </p:nvCxnSpPr>
        <p:spPr>
          <a:xfrm>
            <a:off x="5851975" y="306377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2" name="TextBox 121">
            <a:extLst>
              <a:ext uri="{FF2B5EF4-FFF2-40B4-BE49-F238E27FC236}">
                <a16:creationId xmlns:a16="http://schemas.microsoft.com/office/drawing/2014/main" id="{CCEA71D6-4758-44CC-AD19-62F82684E5EC}"/>
              </a:ext>
            </a:extLst>
          </p:cNvPr>
          <p:cNvSpPr txBox="1"/>
          <p:nvPr/>
        </p:nvSpPr>
        <p:spPr>
          <a:xfrm>
            <a:off x="5847144" y="3196257"/>
            <a:ext cx="300594" cy="200055"/>
          </a:xfrm>
          <a:prstGeom prst="rect">
            <a:avLst/>
          </a:prstGeom>
          <a:noFill/>
        </p:spPr>
        <p:txBody>
          <a:bodyPr wrap="square" rtlCol="0">
            <a:spAutoFit/>
          </a:bodyPr>
          <a:lstStyle/>
          <a:p>
            <a:r>
              <a:rPr lang="en-US" sz="700" dirty="0"/>
              <a:t>32</a:t>
            </a:r>
          </a:p>
        </p:txBody>
      </p:sp>
      <p:cxnSp>
        <p:nvCxnSpPr>
          <p:cNvPr id="123" name="Straight Arrow Connector 122">
            <a:extLst>
              <a:ext uri="{FF2B5EF4-FFF2-40B4-BE49-F238E27FC236}">
                <a16:creationId xmlns:a16="http://schemas.microsoft.com/office/drawing/2014/main" id="{1405BE57-9B29-4A91-8710-FCA4065164CE}"/>
              </a:ext>
            </a:extLst>
          </p:cNvPr>
          <p:cNvCxnSpPr>
            <a:cxnSpLocks/>
          </p:cNvCxnSpPr>
          <p:nvPr/>
        </p:nvCxnSpPr>
        <p:spPr>
          <a:xfrm flipH="1">
            <a:off x="5902285" y="3575146"/>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4" name="TextBox 123">
            <a:extLst>
              <a:ext uri="{FF2B5EF4-FFF2-40B4-BE49-F238E27FC236}">
                <a16:creationId xmlns:a16="http://schemas.microsoft.com/office/drawing/2014/main" id="{B23D2418-21A3-4A6A-BC5C-02F465F6D377}"/>
              </a:ext>
            </a:extLst>
          </p:cNvPr>
          <p:cNvSpPr txBox="1"/>
          <p:nvPr/>
        </p:nvSpPr>
        <p:spPr>
          <a:xfrm>
            <a:off x="5764131" y="3584429"/>
            <a:ext cx="325581" cy="200055"/>
          </a:xfrm>
          <a:prstGeom prst="rect">
            <a:avLst/>
          </a:prstGeom>
          <a:noFill/>
        </p:spPr>
        <p:txBody>
          <a:bodyPr wrap="square" rtlCol="0">
            <a:spAutoFit/>
          </a:bodyPr>
          <a:lstStyle/>
          <a:p>
            <a:r>
              <a:rPr lang="en-US" sz="700" dirty="0"/>
              <a:t>33</a:t>
            </a:r>
          </a:p>
        </p:txBody>
      </p:sp>
      <p:sp>
        <p:nvSpPr>
          <p:cNvPr id="125" name="TextBox 124">
            <a:extLst>
              <a:ext uri="{FF2B5EF4-FFF2-40B4-BE49-F238E27FC236}">
                <a16:creationId xmlns:a16="http://schemas.microsoft.com/office/drawing/2014/main" id="{ED80B52E-A441-44C1-BA0A-03D799224EF3}"/>
              </a:ext>
            </a:extLst>
          </p:cNvPr>
          <p:cNvSpPr txBox="1"/>
          <p:nvPr/>
        </p:nvSpPr>
        <p:spPr>
          <a:xfrm>
            <a:off x="6010667" y="3630022"/>
            <a:ext cx="702722" cy="200055"/>
          </a:xfrm>
          <a:prstGeom prst="rect">
            <a:avLst/>
          </a:prstGeom>
          <a:noFill/>
        </p:spPr>
        <p:txBody>
          <a:bodyPr wrap="square" rtlCol="0">
            <a:spAutoFit/>
          </a:bodyPr>
          <a:lstStyle/>
          <a:p>
            <a:r>
              <a:rPr lang="en-US" sz="700" b="1" dirty="0"/>
              <a:t>34. Visit 49</a:t>
            </a:r>
          </a:p>
        </p:txBody>
      </p:sp>
      <p:cxnSp>
        <p:nvCxnSpPr>
          <p:cNvPr id="126" name="Straight Arrow Connector 125">
            <a:extLst>
              <a:ext uri="{FF2B5EF4-FFF2-40B4-BE49-F238E27FC236}">
                <a16:creationId xmlns:a16="http://schemas.microsoft.com/office/drawing/2014/main" id="{A460EC01-6E07-4195-A9E6-8C15F7E3870F}"/>
              </a:ext>
            </a:extLst>
          </p:cNvPr>
          <p:cNvCxnSpPr>
            <a:cxnSpLocks/>
          </p:cNvCxnSpPr>
          <p:nvPr/>
        </p:nvCxnSpPr>
        <p:spPr>
          <a:xfrm>
            <a:off x="6556383" y="3605525"/>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7" name="TextBox 126">
            <a:extLst>
              <a:ext uri="{FF2B5EF4-FFF2-40B4-BE49-F238E27FC236}">
                <a16:creationId xmlns:a16="http://schemas.microsoft.com/office/drawing/2014/main" id="{1E13C19E-1D0C-4E26-B792-2064A915FA59}"/>
              </a:ext>
            </a:extLst>
          </p:cNvPr>
          <p:cNvSpPr txBox="1"/>
          <p:nvPr/>
        </p:nvSpPr>
        <p:spPr>
          <a:xfrm>
            <a:off x="6551552" y="3738003"/>
            <a:ext cx="300594" cy="200055"/>
          </a:xfrm>
          <a:prstGeom prst="rect">
            <a:avLst/>
          </a:prstGeom>
          <a:noFill/>
        </p:spPr>
        <p:txBody>
          <a:bodyPr wrap="square" rtlCol="0">
            <a:spAutoFit/>
          </a:bodyPr>
          <a:lstStyle/>
          <a:p>
            <a:r>
              <a:rPr lang="en-US" sz="700" dirty="0"/>
              <a:t>35</a:t>
            </a:r>
          </a:p>
        </p:txBody>
      </p:sp>
      <p:cxnSp>
        <p:nvCxnSpPr>
          <p:cNvPr id="128" name="Straight Arrow Connector 127">
            <a:extLst>
              <a:ext uri="{FF2B5EF4-FFF2-40B4-BE49-F238E27FC236}">
                <a16:creationId xmlns:a16="http://schemas.microsoft.com/office/drawing/2014/main" id="{C5E1781E-7D8B-414B-A28C-87A348D513DB}"/>
              </a:ext>
            </a:extLst>
          </p:cNvPr>
          <p:cNvCxnSpPr>
            <a:cxnSpLocks/>
          </p:cNvCxnSpPr>
          <p:nvPr/>
        </p:nvCxnSpPr>
        <p:spPr>
          <a:xfrm flipV="1">
            <a:off x="6301226" y="2617516"/>
            <a:ext cx="20870" cy="57604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323B883E-61E7-4D87-BE3F-3157883244F7}"/>
              </a:ext>
            </a:extLst>
          </p:cNvPr>
          <p:cNvSpPr txBox="1"/>
          <p:nvPr/>
        </p:nvSpPr>
        <p:spPr>
          <a:xfrm>
            <a:off x="6265356" y="2695791"/>
            <a:ext cx="364200" cy="200055"/>
          </a:xfrm>
          <a:prstGeom prst="rect">
            <a:avLst/>
          </a:prstGeom>
          <a:noFill/>
        </p:spPr>
        <p:txBody>
          <a:bodyPr wrap="square" rtlCol="0">
            <a:spAutoFit/>
          </a:bodyPr>
          <a:lstStyle/>
          <a:p>
            <a:r>
              <a:rPr lang="en-US" sz="700" dirty="0"/>
              <a:t>36</a:t>
            </a:r>
          </a:p>
        </p:txBody>
      </p:sp>
      <p:sp>
        <p:nvSpPr>
          <p:cNvPr id="131" name="TextBox 130">
            <a:extLst>
              <a:ext uri="{FF2B5EF4-FFF2-40B4-BE49-F238E27FC236}">
                <a16:creationId xmlns:a16="http://schemas.microsoft.com/office/drawing/2014/main" id="{69D4A4B7-6D14-4310-A5D3-2CC1A95181DA}"/>
              </a:ext>
            </a:extLst>
          </p:cNvPr>
          <p:cNvSpPr txBox="1"/>
          <p:nvPr/>
        </p:nvSpPr>
        <p:spPr>
          <a:xfrm>
            <a:off x="6278195" y="2062621"/>
            <a:ext cx="702722" cy="200055"/>
          </a:xfrm>
          <a:prstGeom prst="rect">
            <a:avLst/>
          </a:prstGeom>
          <a:noFill/>
        </p:spPr>
        <p:txBody>
          <a:bodyPr wrap="square" rtlCol="0">
            <a:spAutoFit/>
          </a:bodyPr>
          <a:lstStyle/>
          <a:p>
            <a:r>
              <a:rPr lang="en-US" sz="700" b="1" dirty="0"/>
              <a:t>37. Visit 55</a:t>
            </a:r>
          </a:p>
        </p:txBody>
      </p:sp>
      <p:cxnSp>
        <p:nvCxnSpPr>
          <p:cNvPr id="135" name="Straight Arrow Connector 134">
            <a:extLst>
              <a:ext uri="{FF2B5EF4-FFF2-40B4-BE49-F238E27FC236}">
                <a16:creationId xmlns:a16="http://schemas.microsoft.com/office/drawing/2014/main" id="{C707F8AF-1904-4E85-80F4-68DB4273183F}"/>
              </a:ext>
            </a:extLst>
          </p:cNvPr>
          <p:cNvCxnSpPr>
            <a:cxnSpLocks/>
          </p:cNvCxnSpPr>
          <p:nvPr/>
        </p:nvCxnSpPr>
        <p:spPr>
          <a:xfrm>
            <a:off x="6567923" y="2461784"/>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6" name="TextBox 135">
            <a:extLst>
              <a:ext uri="{FF2B5EF4-FFF2-40B4-BE49-F238E27FC236}">
                <a16:creationId xmlns:a16="http://schemas.microsoft.com/office/drawing/2014/main" id="{E64B3789-6895-4A8D-85EE-60F5E4BDE66C}"/>
              </a:ext>
            </a:extLst>
          </p:cNvPr>
          <p:cNvSpPr txBox="1"/>
          <p:nvPr/>
        </p:nvSpPr>
        <p:spPr>
          <a:xfrm>
            <a:off x="6563092" y="2594262"/>
            <a:ext cx="300594" cy="200055"/>
          </a:xfrm>
          <a:prstGeom prst="rect">
            <a:avLst/>
          </a:prstGeom>
          <a:noFill/>
        </p:spPr>
        <p:txBody>
          <a:bodyPr wrap="square" rtlCol="0">
            <a:spAutoFit/>
          </a:bodyPr>
          <a:lstStyle/>
          <a:p>
            <a:r>
              <a:rPr lang="en-US" sz="700" dirty="0"/>
              <a:t>38</a:t>
            </a:r>
          </a:p>
        </p:txBody>
      </p:sp>
      <p:cxnSp>
        <p:nvCxnSpPr>
          <p:cNvPr id="133" name="Straight Arrow Connector 132">
            <a:extLst>
              <a:ext uri="{FF2B5EF4-FFF2-40B4-BE49-F238E27FC236}">
                <a16:creationId xmlns:a16="http://schemas.microsoft.com/office/drawing/2014/main" id="{AAC22DCA-510D-4C5B-AC57-92F80F16FFA1}"/>
              </a:ext>
            </a:extLst>
          </p:cNvPr>
          <p:cNvCxnSpPr/>
          <p:nvPr/>
        </p:nvCxnSpPr>
        <p:spPr>
          <a:xfrm flipH="1" flipV="1">
            <a:off x="5822068" y="1957370"/>
            <a:ext cx="349247" cy="21946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9" name="TextBox 138">
            <a:extLst>
              <a:ext uri="{FF2B5EF4-FFF2-40B4-BE49-F238E27FC236}">
                <a16:creationId xmlns:a16="http://schemas.microsoft.com/office/drawing/2014/main" id="{EFA40037-8713-4ACD-B6A6-43EF3B13FF6F}"/>
              </a:ext>
            </a:extLst>
          </p:cNvPr>
          <p:cNvSpPr txBox="1"/>
          <p:nvPr/>
        </p:nvSpPr>
        <p:spPr>
          <a:xfrm>
            <a:off x="5901057" y="1887108"/>
            <a:ext cx="300594" cy="200055"/>
          </a:xfrm>
          <a:prstGeom prst="rect">
            <a:avLst/>
          </a:prstGeom>
          <a:noFill/>
        </p:spPr>
        <p:txBody>
          <a:bodyPr wrap="square" rtlCol="0">
            <a:spAutoFit/>
          </a:bodyPr>
          <a:lstStyle/>
          <a:p>
            <a:r>
              <a:rPr lang="en-US" sz="700" dirty="0"/>
              <a:t>39</a:t>
            </a:r>
          </a:p>
        </p:txBody>
      </p:sp>
      <p:cxnSp>
        <p:nvCxnSpPr>
          <p:cNvPr id="140" name="Straight Arrow Connector 139">
            <a:extLst>
              <a:ext uri="{FF2B5EF4-FFF2-40B4-BE49-F238E27FC236}">
                <a16:creationId xmlns:a16="http://schemas.microsoft.com/office/drawing/2014/main" id="{BEE54448-C6DD-4CA6-A83D-AA12B099A1AD}"/>
              </a:ext>
            </a:extLst>
          </p:cNvPr>
          <p:cNvCxnSpPr/>
          <p:nvPr/>
        </p:nvCxnSpPr>
        <p:spPr>
          <a:xfrm flipH="1" flipV="1">
            <a:off x="5075434" y="1513390"/>
            <a:ext cx="349247" cy="21946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1" name="TextBox 140">
            <a:extLst>
              <a:ext uri="{FF2B5EF4-FFF2-40B4-BE49-F238E27FC236}">
                <a16:creationId xmlns:a16="http://schemas.microsoft.com/office/drawing/2014/main" id="{B3745190-C4AB-4C8A-A690-ACE8B15919CC}"/>
              </a:ext>
            </a:extLst>
          </p:cNvPr>
          <p:cNvSpPr txBox="1"/>
          <p:nvPr/>
        </p:nvSpPr>
        <p:spPr>
          <a:xfrm>
            <a:off x="5154423" y="1443128"/>
            <a:ext cx="300594" cy="200055"/>
          </a:xfrm>
          <a:prstGeom prst="rect">
            <a:avLst/>
          </a:prstGeom>
          <a:noFill/>
        </p:spPr>
        <p:txBody>
          <a:bodyPr wrap="square" rtlCol="0">
            <a:spAutoFit/>
          </a:bodyPr>
          <a:lstStyle/>
          <a:p>
            <a:r>
              <a:rPr lang="en-US" sz="700" dirty="0"/>
              <a:t>40</a:t>
            </a:r>
          </a:p>
        </p:txBody>
      </p:sp>
    </p:spTree>
    <p:extLst>
      <p:ext uri="{BB962C8B-B14F-4D97-AF65-F5344CB8AC3E}">
        <p14:creationId xmlns:p14="http://schemas.microsoft.com/office/powerpoint/2010/main" val="4120216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58"/>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60"/>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63"/>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6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6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68"/>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67"/>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72"/>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6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73"/>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75"/>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74"/>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7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7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8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82"/>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81"/>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85"/>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77"/>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86"/>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91"/>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90"/>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88"/>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8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9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101"/>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100"/>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97"/>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96"/>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grpId="0" nodeType="clickEffect">
                                  <p:stCondLst>
                                    <p:cond delay="0"/>
                                  </p:stCondLst>
                                  <p:childTnLst>
                                    <p:set>
                                      <p:cBhvr>
                                        <p:cTn id="210" dur="1" fill="hold">
                                          <p:stCondLst>
                                            <p:cond delay="0"/>
                                          </p:stCondLst>
                                        </p:cTn>
                                        <p:tgtEl>
                                          <p:spTgt spid="99"/>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grpId="0" nodeType="clickEffect">
                                  <p:stCondLst>
                                    <p:cond delay="0"/>
                                  </p:stCondLst>
                                  <p:childTnLst>
                                    <p:set>
                                      <p:cBhvr>
                                        <p:cTn id="214" dur="1" fill="hold">
                                          <p:stCondLst>
                                            <p:cond delay="0"/>
                                          </p:stCondLst>
                                        </p:cTn>
                                        <p:tgtEl>
                                          <p:spTgt spid="94"/>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93"/>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grpId="0" nodeType="clickEffect">
                                  <p:stCondLst>
                                    <p:cond delay="0"/>
                                  </p:stCondLst>
                                  <p:childTnLst>
                                    <p:set>
                                      <p:cBhvr>
                                        <p:cTn id="220" dur="1" fill="hold">
                                          <p:stCondLst>
                                            <p:cond delay="0"/>
                                          </p:stCondLst>
                                        </p:cTn>
                                        <p:tgtEl>
                                          <p:spTgt spid="103"/>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102"/>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0"/>
                                          </p:stCondLst>
                                        </p:cTn>
                                        <p:tgtEl>
                                          <p:spTgt spid="112"/>
                                        </p:tgtEl>
                                        <p:attrNameLst>
                                          <p:attrName>style.visibility</p:attrName>
                                        </p:attrNameLst>
                                      </p:cBhvr>
                                      <p:to>
                                        <p:strVal val="visible"/>
                                      </p:to>
                                    </p:set>
                                  </p:childTnLst>
                                </p:cTn>
                              </p:par>
                              <p:par>
                                <p:cTn id="227" presetID="1" presetClass="entr" presetSubtype="0" fill="hold" nodeType="withEffect">
                                  <p:stCondLst>
                                    <p:cond delay="0"/>
                                  </p:stCondLst>
                                  <p:childTnLst>
                                    <p:set>
                                      <p:cBhvr>
                                        <p:cTn id="228" dur="1" fill="hold">
                                          <p:stCondLst>
                                            <p:cond delay="0"/>
                                          </p:stCondLst>
                                        </p:cTn>
                                        <p:tgtEl>
                                          <p:spTgt spid="111"/>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1" presetClass="entr" presetSubtype="0" fill="hold" grpId="0" nodeType="clickEffect">
                                  <p:stCondLst>
                                    <p:cond delay="0"/>
                                  </p:stCondLst>
                                  <p:childTnLst>
                                    <p:set>
                                      <p:cBhvr>
                                        <p:cTn id="232" dur="1" fill="hold">
                                          <p:stCondLst>
                                            <p:cond delay="0"/>
                                          </p:stCondLst>
                                        </p:cTn>
                                        <p:tgtEl>
                                          <p:spTgt spid="114"/>
                                        </p:tgtEl>
                                        <p:attrNameLst>
                                          <p:attrName>style.visibility</p:attrName>
                                        </p:attrNameLst>
                                      </p:cBhvr>
                                      <p:to>
                                        <p:strVal val="visible"/>
                                      </p:to>
                                    </p:set>
                                  </p:childTnLst>
                                </p:cTn>
                              </p:par>
                              <p:par>
                                <p:cTn id="233" presetID="1" presetClass="entr" presetSubtype="0" fill="hold" nodeType="withEffect">
                                  <p:stCondLst>
                                    <p:cond delay="0"/>
                                  </p:stCondLst>
                                  <p:childTnLst>
                                    <p:set>
                                      <p:cBhvr>
                                        <p:cTn id="234" dur="1" fill="hold">
                                          <p:stCondLst>
                                            <p:cond delay="0"/>
                                          </p:stCondLst>
                                        </p:cTn>
                                        <p:tgtEl>
                                          <p:spTgt spid="113"/>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115"/>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grpId="0" nodeType="clickEffect">
                                  <p:stCondLst>
                                    <p:cond delay="0"/>
                                  </p:stCondLst>
                                  <p:childTnLst>
                                    <p:set>
                                      <p:cBhvr>
                                        <p:cTn id="242" dur="1" fill="hold">
                                          <p:stCondLst>
                                            <p:cond delay="0"/>
                                          </p:stCondLst>
                                        </p:cTn>
                                        <p:tgtEl>
                                          <p:spTgt spid="117"/>
                                        </p:tgtEl>
                                        <p:attrNameLst>
                                          <p:attrName>style.visibility</p:attrName>
                                        </p:attrNameLst>
                                      </p:cBhvr>
                                      <p:to>
                                        <p:strVal val="visible"/>
                                      </p:to>
                                    </p:set>
                                  </p:childTnLst>
                                </p:cTn>
                              </p:par>
                              <p:par>
                                <p:cTn id="243" presetID="1" presetClass="entr" presetSubtype="0" fill="hold" nodeType="withEffect">
                                  <p:stCondLst>
                                    <p:cond delay="0"/>
                                  </p:stCondLst>
                                  <p:childTnLst>
                                    <p:set>
                                      <p:cBhvr>
                                        <p:cTn id="244" dur="1" fill="hold">
                                          <p:stCondLst>
                                            <p:cond delay="0"/>
                                          </p:stCondLst>
                                        </p:cTn>
                                        <p:tgtEl>
                                          <p:spTgt spid="116"/>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grpId="0" nodeType="clickEffect">
                                  <p:stCondLst>
                                    <p:cond delay="0"/>
                                  </p:stCondLst>
                                  <p:childTnLst>
                                    <p:set>
                                      <p:cBhvr>
                                        <p:cTn id="248" dur="1" fill="hold">
                                          <p:stCondLst>
                                            <p:cond delay="0"/>
                                          </p:stCondLst>
                                        </p:cTn>
                                        <p:tgtEl>
                                          <p:spTgt spid="119"/>
                                        </p:tgtEl>
                                        <p:attrNameLst>
                                          <p:attrName>style.visibility</p:attrName>
                                        </p:attrNameLst>
                                      </p:cBhvr>
                                      <p:to>
                                        <p:strVal val="visible"/>
                                      </p:to>
                                    </p:set>
                                  </p:childTnLst>
                                </p:cTn>
                              </p:par>
                              <p:par>
                                <p:cTn id="249" presetID="1" presetClass="entr" presetSubtype="0" fill="hold" nodeType="withEffect">
                                  <p:stCondLst>
                                    <p:cond delay="0"/>
                                  </p:stCondLst>
                                  <p:childTnLst>
                                    <p:set>
                                      <p:cBhvr>
                                        <p:cTn id="250" dur="1" fill="hold">
                                          <p:stCondLst>
                                            <p:cond delay="0"/>
                                          </p:stCondLst>
                                        </p:cTn>
                                        <p:tgtEl>
                                          <p:spTgt spid="118"/>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grpId="0" nodeType="clickEffect">
                                  <p:stCondLst>
                                    <p:cond delay="0"/>
                                  </p:stCondLst>
                                  <p:childTnLst>
                                    <p:set>
                                      <p:cBhvr>
                                        <p:cTn id="254" dur="1" fill="hold">
                                          <p:stCondLst>
                                            <p:cond delay="0"/>
                                          </p:stCondLst>
                                        </p:cTn>
                                        <p:tgtEl>
                                          <p:spTgt spid="120"/>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22"/>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0"/>
                                          </p:stCondLst>
                                        </p:cTn>
                                        <p:tgtEl>
                                          <p:spTgt spid="121"/>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grpId="0" nodeType="clickEffect">
                                  <p:stCondLst>
                                    <p:cond delay="0"/>
                                  </p:stCondLst>
                                  <p:childTnLst>
                                    <p:set>
                                      <p:cBhvr>
                                        <p:cTn id="264" dur="1" fill="hold">
                                          <p:stCondLst>
                                            <p:cond delay="0"/>
                                          </p:stCondLst>
                                        </p:cTn>
                                        <p:tgtEl>
                                          <p:spTgt spid="124"/>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0"/>
                                          </p:stCondLst>
                                        </p:cTn>
                                        <p:tgtEl>
                                          <p:spTgt spid="123"/>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125"/>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0" nodeType="clickEffect">
                                  <p:stCondLst>
                                    <p:cond delay="0"/>
                                  </p:stCondLst>
                                  <p:childTnLst>
                                    <p:set>
                                      <p:cBhvr>
                                        <p:cTn id="274" dur="1" fill="hold">
                                          <p:stCondLst>
                                            <p:cond delay="0"/>
                                          </p:stCondLst>
                                        </p:cTn>
                                        <p:tgtEl>
                                          <p:spTgt spid="127"/>
                                        </p:tgtEl>
                                        <p:attrNameLst>
                                          <p:attrName>style.visibility</p:attrName>
                                        </p:attrNameLst>
                                      </p:cBhvr>
                                      <p:to>
                                        <p:strVal val="visible"/>
                                      </p:to>
                                    </p:set>
                                  </p:childTnLst>
                                </p:cTn>
                              </p:par>
                              <p:par>
                                <p:cTn id="275" presetID="1" presetClass="entr" presetSubtype="0" fill="hold" nodeType="withEffect">
                                  <p:stCondLst>
                                    <p:cond delay="0"/>
                                  </p:stCondLst>
                                  <p:childTnLst>
                                    <p:set>
                                      <p:cBhvr>
                                        <p:cTn id="276" dur="1" fill="hold">
                                          <p:stCondLst>
                                            <p:cond delay="0"/>
                                          </p:stCondLst>
                                        </p:cTn>
                                        <p:tgtEl>
                                          <p:spTgt spid="126"/>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presetID="1" presetClass="entr" presetSubtype="0" fill="hold" grpId="0" nodeType="clickEffect">
                                  <p:stCondLst>
                                    <p:cond delay="0"/>
                                  </p:stCondLst>
                                  <p:childTnLst>
                                    <p:set>
                                      <p:cBhvr>
                                        <p:cTn id="280" dur="1" fill="hold">
                                          <p:stCondLst>
                                            <p:cond delay="0"/>
                                          </p:stCondLst>
                                        </p:cTn>
                                        <p:tgtEl>
                                          <p:spTgt spid="129"/>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0"/>
                                          </p:stCondLst>
                                        </p:cTn>
                                        <p:tgtEl>
                                          <p:spTgt spid="128"/>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grpId="0" nodeType="clickEffect">
                                  <p:stCondLst>
                                    <p:cond delay="0"/>
                                  </p:stCondLst>
                                  <p:childTnLst>
                                    <p:set>
                                      <p:cBhvr>
                                        <p:cTn id="286" dur="1" fill="hold">
                                          <p:stCondLst>
                                            <p:cond delay="0"/>
                                          </p:stCondLst>
                                        </p:cTn>
                                        <p:tgtEl>
                                          <p:spTgt spid="131"/>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grpId="0" nodeType="clickEffect">
                                  <p:stCondLst>
                                    <p:cond delay="0"/>
                                  </p:stCondLst>
                                  <p:childTnLst>
                                    <p:set>
                                      <p:cBhvr>
                                        <p:cTn id="290" dur="1" fill="hold">
                                          <p:stCondLst>
                                            <p:cond delay="0"/>
                                          </p:stCondLst>
                                        </p:cTn>
                                        <p:tgtEl>
                                          <p:spTgt spid="136"/>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0"/>
                                          </p:stCondLst>
                                        </p:cTn>
                                        <p:tgtEl>
                                          <p:spTgt spid="135"/>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grpId="0" nodeType="clickEffect">
                                  <p:stCondLst>
                                    <p:cond delay="0"/>
                                  </p:stCondLst>
                                  <p:childTnLst>
                                    <p:set>
                                      <p:cBhvr>
                                        <p:cTn id="296" dur="1" fill="hold">
                                          <p:stCondLst>
                                            <p:cond delay="0"/>
                                          </p:stCondLst>
                                        </p:cTn>
                                        <p:tgtEl>
                                          <p:spTgt spid="139"/>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0"/>
                                          </p:stCondLst>
                                        </p:cTn>
                                        <p:tgtEl>
                                          <p:spTgt spid="133"/>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141"/>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5" grpId="0" animBg="1"/>
      <p:bldP spid="16" grpId="0" animBg="1"/>
      <p:bldP spid="17" grpId="0" animBg="1"/>
      <p:bldP spid="20" grpId="0" animBg="1"/>
      <p:bldP spid="21" grpId="0" animBg="1"/>
      <p:bldP spid="23" grpId="0" animBg="1"/>
      <p:bldP spid="25" grpId="0" animBg="1"/>
      <p:bldP spid="28" grpId="0" animBg="1"/>
      <p:bldP spid="30" grpId="0" animBg="1"/>
      <p:bldP spid="32" grpId="0" animBg="1"/>
      <p:bldP spid="33" grpId="0" animBg="1"/>
      <p:bldP spid="35" grpId="0" animBg="1"/>
      <p:bldP spid="36" grpId="0" animBg="1"/>
      <p:bldP spid="39" grpId="0" animBg="1"/>
      <p:bldP spid="41" grpId="0" animBg="1"/>
      <p:bldP spid="43" grpId="0" animBg="1"/>
      <p:bldP spid="45" grpId="0" animBg="1"/>
      <p:bldP spid="47" grpId="0" animBg="1"/>
      <p:bldP spid="48" grpId="0" animBg="1"/>
      <p:bldP spid="11" grpId="0"/>
      <p:bldP spid="52" grpId="0"/>
      <p:bldP spid="53" grpId="0"/>
      <p:bldP spid="56" grpId="0"/>
      <p:bldP spid="58" grpId="0"/>
      <p:bldP spid="60" grpId="0"/>
      <p:bldP spid="63" grpId="0"/>
      <p:bldP spid="66" grpId="0"/>
      <p:bldP spid="68" grpId="0"/>
      <p:bldP spid="72" grpId="0"/>
      <p:bldP spid="73" grpId="0"/>
      <p:bldP spid="75" grpId="0"/>
      <p:bldP spid="79" grpId="0"/>
      <p:bldP spid="80" grpId="0"/>
      <p:bldP spid="82" grpId="0"/>
      <p:bldP spid="85" grpId="0"/>
      <p:bldP spid="86" grpId="0"/>
      <p:bldP spid="88" grpId="0"/>
      <p:bldP spid="91" grpId="0"/>
      <p:bldP spid="92" grpId="0"/>
      <p:bldP spid="94" grpId="0"/>
      <p:bldP spid="97" grpId="0"/>
      <p:bldP spid="99" grpId="0"/>
      <p:bldP spid="101" grpId="0"/>
      <p:bldP spid="103" grpId="0"/>
      <p:bldP spid="112" grpId="0"/>
      <p:bldP spid="114" grpId="0"/>
      <p:bldP spid="115" grpId="0"/>
      <p:bldP spid="117" grpId="0"/>
      <p:bldP spid="119" grpId="0"/>
      <p:bldP spid="120" grpId="0"/>
      <p:bldP spid="122" grpId="0"/>
      <p:bldP spid="124" grpId="0"/>
      <p:bldP spid="125" grpId="0"/>
      <p:bldP spid="127" grpId="0"/>
      <p:bldP spid="129" grpId="0"/>
      <p:bldP spid="131" grpId="0"/>
      <p:bldP spid="136" grpId="0"/>
      <p:bldP spid="139" grpId="0"/>
      <p:bldP spid="14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idx="8"/>
          </p:nvPr>
        </p:nvSpPr>
        <p:spPr>
          <a:xfrm>
            <a:off x="640989" y="486050"/>
            <a:ext cx="3178336" cy="5272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Traversing the Tree</a:t>
            </a:r>
            <a:br>
              <a:rPr lang="en-US" dirty="0"/>
            </a:br>
            <a:r>
              <a:rPr lang="en-US" u="sng" dirty="0" err="1"/>
              <a:t>Inorder</a:t>
            </a:r>
            <a:r>
              <a:rPr lang="en-US" u="sng" dirty="0"/>
              <a:t> Traversal</a:t>
            </a:r>
          </a:p>
        </p:txBody>
      </p:sp>
      <p:pic>
        <p:nvPicPr>
          <p:cNvPr id="265" name="Google Shape;265;p36"/>
          <p:cNvPicPr preferRelativeResize="0"/>
          <p:nvPr/>
        </p:nvPicPr>
        <p:blipFill>
          <a:blip r:embed="rId3">
            <a:alphaModFix/>
          </a:blip>
          <a:stretch>
            <a:fillRect/>
          </a:stretch>
        </p:blipFill>
        <p:spPr>
          <a:xfrm rot="-695467">
            <a:off x="7479021" y="230732"/>
            <a:ext cx="1323877" cy="1547814"/>
          </a:xfrm>
          <a:prstGeom prst="rect">
            <a:avLst/>
          </a:prstGeom>
          <a:noFill/>
          <a:ln>
            <a:noFill/>
          </a:ln>
          <a:effectLst>
            <a:outerShdw blurRad="57150" dist="19050" dir="5400000" algn="bl" rotWithShape="0">
              <a:srgbClr val="000000">
                <a:alpha val="50000"/>
              </a:srgbClr>
            </a:outerShdw>
          </a:effectLst>
        </p:spPr>
      </p:pic>
      <p:grpSp>
        <p:nvGrpSpPr>
          <p:cNvPr id="267" name="Google Shape;267;p36"/>
          <p:cNvGrpSpPr/>
          <p:nvPr/>
        </p:nvGrpSpPr>
        <p:grpSpPr>
          <a:xfrm>
            <a:off x="7533813" y="582039"/>
            <a:ext cx="272906" cy="434118"/>
            <a:chOff x="1312450" y="4093350"/>
            <a:chExt cx="685350" cy="1090200"/>
          </a:xfrm>
        </p:grpSpPr>
        <p:sp>
          <p:nvSpPr>
            <p:cNvPr id="268" name="Google Shape;268;p36"/>
            <p:cNvSpPr/>
            <p:nvPr/>
          </p:nvSpPr>
          <p:spPr>
            <a:xfrm>
              <a:off x="1312450" y="4093350"/>
              <a:ext cx="685350" cy="1090200"/>
            </a:xfrm>
            <a:custGeom>
              <a:avLst/>
              <a:gdLst/>
              <a:ahLst/>
              <a:cxnLst/>
              <a:rect l="l" t="t" r="r" b="b"/>
              <a:pathLst>
                <a:path w="27414" h="43608" extrusionOk="0">
                  <a:moveTo>
                    <a:pt x="5201" y="10009"/>
                  </a:moveTo>
                  <a:lnTo>
                    <a:pt x="5201" y="10009"/>
                  </a:lnTo>
                  <a:cubicBezTo>
                    <a:pt x="5040" y="10996"/>
                    <a:pt x="5002" y="11987"/>
                    <a:pt x="5102" y="12937"/>
                  </a:cubicBezTo>
                  <a:cubicBezTo>
                    <a:pt x="5170" y="13571"/>
                    <a:pt x="5297" y="14196"/>
                    <a:pt x="5478" y="14807"/>
                  </a:cubicBezTo>
                  <a:cubicBezTo>
                    <a:pt x="4743" y="13294"/>
                    <a:pt x="4728" y="11634"/>
                    <a:pt x="5201" y="10009"/>
                  </a:cubicBezTo>
                  <a:close/>
                  <a:moveTo>
                    <a:pt x="15811" y="1265"/>
                  </a:moveTo>
                  <a:cubicBezTo>
                    <a:pt x="20541" y="1265"/>
                    <a:pt x="25145" y="5101"/>
                    <a:pt x="25884" y="9796"/>
                  </a:cubicBezTo>
                  <a:cubicBezTo>
                    <a:pt x="26649" y="14663"/>
                    <a:pt x="23581" y="19908"/>
                    <a:pt x="18734" y="21156"/>
                  </a:cubicBezTo>
                  <a:lnTo>
                    <a:pt x="18733" y="21156"/>
                  </a:lnTo>
                  <a:cubicBezTo>
                    <a:pt x="17919" y="21366"/>
                    <a:pt x="17082" y="21467"/>
                    <a:pt x="16245" y="21467"/>
                  </a:cubicBezTo>
                  <a:cubicBezTo>
                    <a:pt x="12150" y="21467"/>
                    <a:pt x="8059" y="19044"/>
                    <a:pt x="6641" y="15088"/>
                  </a:cubicBezTo>
                  <a:cubicBezTo>
                    <a:pt x="5469" y="11816"/>
                    <a:pt x="6172" y="7764"/>
                    <a:pt x="8270" y="4955"/>
                  </a:cubicBezTo>
                  <a:cubicBezTo>
                    <a:pt x="9623" y="3549"/>
                    <a:pt x="11222" y="2430"/>
                    <a:pt x="12774" y="1829"/>
                  </a:cubicBezTo>
                  <a:cubicBezTo>
                    <a:pt x="13408" y="1665"/>
                    <a:pt x="14061" y="1582"/>
                    <a:pt x="14715" y="1582"/>
                  </a:cubicBezTo>
                  <a:cubicBezTo>
                    <a:pt x="14773" y="1582"/>
                    <a:pt x="14831" y="1582"/>
                    <a:pt x="14889" y="1584"/>
                  </a:cubicBezTo>
                  <a:cubicBezTo>
                    <a:pt x="14890" y="1584"/>
                    <a:pt x="14891" y="1584"/>
                    <a:pt x="14891" y="1584"/>
                  </a:cubicBezTo>
                  <a:cubicBezTo>
                    <a:pt x="15042" y="1584"/>
                    <a:pt x="15084" y="1340"/>
                    <a:pt x="14936" y="1309"/>
                  </a:cubicBezTo>
                  <a:cubicBezTo>
                    <a:pt x="15228" y="1279"/>
                    <a:pt x="15519" y="1265"/>
                    <a:pt x="15811" y="1265"/>
                  </a:cubicBezTo>
                  <a:close/>
                  <a:moveTo>
                    <a:pt x="11744" y="28418"/>
                  </a:moveTo>
                  <a:lnTo>
                    <a:pt x="11744" y="28418"/>
                  </a:lnTo>
                  <a:cubicBezTo>
                    <a:pt x="12408" y="28787"/>
                    <a:pt x="13268" y="28878"/>
                    <a:pt x="14064" y="28978"/>
                  </a:cubicBezTo>
                  <a:cubicBezTo>
                    <a:pt x="13489" y="31053"/>
                    <a:pt x="12936" y="33136"/>
                    <a:pt x="12378" y="35217"/>
                  </a:cubicBezTo>
                  <a:lnTo>
                    <a:pt x="12377" y="35217"/>
                  </a:lnTo>
                  <a:lnTo>
                    <a:pt x="11752" y="37548"/>
                  </a:lnTo>
                  <a:cubicBezTo>
                    <a:pt x="11436" y="37515"/>
                    <a:pt x="11118" y="37500"/>
                    <a:pt x="10804" y="37432"/>
                  </a:cubicBezTo>
                  <a:cubicBezTo>
                    <a:pt x="10450" y="37354"/>
                    <a:pt x="10108" y="37230"/>
                    <a:pt x="9772" y="37098"/>
                  </a:cubicBezTo>
                  <a:cubicBezTo>
                    <a:pt x="9899" y="36422"/>
                    <a:pt x="10035" y="35749"/>
                    <a:pt x="10185" y="35077"/>
                  </a:cubicBezTo>
                  <a:cubicBezTo>
                    <a:pt x="10425" y="33999"/>
                    <a:pt x="10695" y="32928"/>
                    <a:pt x="10992" y="31864"/>
                  </a:cubicBezTo>
                  <a:cubicBezTo>
                    <a:pt x="11305" y="30745"/>
                    <a:pt x="11807" y="29661"/>
                    <a:pt x="11760" y="28491"/>
                  </a:cubicBezTo>
                  <a:cubicBezTo>
                    <a:pt x="11757" y="28467"/>
                    <a:pt x="11752" y="28442"/>
                    <a:pt x="11744" y="28418"/>
                  </a:cubicBezTo>
                  <a:close/>
                  <a:moveTo>
                    <a:pt x="9701" y="37483"/>
                  </a:moveTo>
                  <a:cubicBezTo>
                    <a:pt x="10246" y="37833"/>
                    <a:pt x="10942" y="38077"/>
                    <a:pt x="11595" y="38077"/>
                  </a:cubicBezTo>
                  <a:cubicBezTo>
                    <a:pt x="11600" y="38077"/>
                    <a:pt x="11605" y="38077"/>
                    <a:pt x="11609" y="38077"/>
                  </a:cubicBezTo>
                  <a:lnTo>
                    <a:pt x="11609" y="38077"/>
                  </a:lnTo>
                  <a:cubicBezTo>
                    <a:pt x="11580" y="38193"/>
                    <a:pt x="11549" y="38311"/>
                    <a:pt x="11517" y="38428"/>
                  </a:cubicBezTo>
                  <a:lnTo>
                    <a:pt x="11517" y="38427"/>
                  </a:lnTo>
                  <a:cubicBezTo>
                    <a:pt x="11470" y="38603"/>
                    <a:pt x="11418" y="38860"/>
                    <a:pt x="11359" y="39156"/>
                  </a:cubicBezTo>
                  <a:cubicBezTo>
                    <a:pt x="11204" y="39085"/>
                    <a:pt x="11033" y="39072"/>
                    <a:pt x="10858" y="39072"/>
                  </a:cubicBezTo>
                  <a:cubicBezTo>
                    <a:pt x="10752" y="39072"/>
                    <a:pt x="10645" y="39077"/>
                    <a:pt x="10540" y="39077"/>
                  </a:cubicBezTo>
                  <a:cubicBezTo>
                    <a:pt x="10481" y="39077"/>
                    <a:pt x="10423" y="39075"/>
                    <a:pt x="10366" y="39070"/>
                  </a:cubicBezTo>
                  <a:cubicBezTo>
                    <a:pt x="10056" y="39046"/>
                    <a:pt x="9752" y="38970"/>
                    <a:pt x="9446" y="38922"/>
                  </a:cubicBezTo>
                  <a:cubicBezTo>
                    <a:pt x="9465" y="38818"/>
                    <a:pt x="9482" y="38724"/>
                    <a:pt x="9492" y="38655"/>
                  </a:cubicBezTo>
                  <a:cubicBezTo>
                    <a:pt x="9556" y="38264"/>
                    <a:pt x="9631" y="37874"/>
                    <a:pt x="9701" y="37483"/>
                  </a:cubicBezTo>
                  <a:close/>
                  <a:moveTo>
                    <a:pt x="9371" y="39374"/>
                  </a:moveTo>
                  <a:cubicBezTo>
                    <a:pt x="9633" y="39480"/>
                    <a:pt x="9916" y="39543"/>
                    <a:pt x="10196" y="39580"/>
                  </a:cubicBezTo>
                  <a:cubicBezTo>
                    <a:pt x="10388" y="39606"/>
                    <a:pt x="10607" y="39642"/>
                    <a:pt x="10819" y="39642"/>
                  </a:cubicBezTo>
                  <a:cubicBezTo>
                    <a:pt x="10980" y="39642"/>
                    <a:pt x="11137" y="39622"/>
                    <a:pt x="11275" y="39560"/>
                  </a:cubicBezTo>
                  <a:lnTo>
                    <a:pt x="11275" y="39560"/>
                  </a:lnTo>
                  <a:cubicBezTo>
                    <a:pt x="11189" y="39985"/>
                    <a:pt x="11082" y="40437"/>
                    <a:pt x="10950" y="40815"/>
                  </a:cubicBezTo>
                  <a:cubicBezTo>
                    <a:pt x="10924" y="40814"/>
                    <a:pt x="10899" y="40814"/>
                    <a:pt x="10873" y="40814"/>
                  </a:cubicBezTo>
                  <a:cubicBezTo>
                    <a:pt x="10639" y="40814"/>
                    <a:pt x="10398" y="40862"/>
                    <a:pt x="10159" y="40862"/>
                  </a:cubicBezTo>
                  <a:cubicBezTo>
                    <a:pt x="10125" y="40862"/>
                    <a:pt x="10090" y="40861"/>
                    <a:pt x="10056" y="40859"/>
                  </a:cubicBezTo>
                  <a:cubicBezTo>
                    <a:pt x="9795" y="40841"/>
                    <a:pt x="9538" y="40801"/>
                    <a:pt x="9284" y="40736"/>
                  </a:cubicBezTo>
                  <a:cubicBezTo>
                    <a:pt x="9251" y="40301"/>
                    <a:pt x="9306" y="39796"/>
                    <a:pt x="9371" y="39374"/>
                  </a:cubicBezTo>
                  <a:close/>
                  <a:moveTo>
                    <a:pt x="9402" y="41289"/>
                  </a:moveTo>
                  <a:lnTo>
                    <a:pt x="9402" y="41289"/>
                  </a:lnTo>
                  <a:cubicBezTo>
                    <a:pt x="9559" y="41334"/>
                    <a:pt x="9718" y="41367"/>
                    <a:pt x="9881" y="41388"/>
                  </a:cubicBezTo>
                  <a:cubicBezTo>
                    <a:pt x="10049" y="41410"/>
                    <a:pt x="10255" y="41433"/>
                    <a:pt x="10462" y="41433"/>
                  </a:cubicBezTo>
                  <a:cubicBezTo>
                    <a:pt x="10528" y="41433"/>
                    <a:pt x="10593" y="41431"/>
                    <a:pt x="10658" y="41426"/>
                  </a:cubicBezTo>
                  <a:lnTo>
                    <a:pt x="10658" y="41426"/>
                  </a:lnTo>
                  <a:cubicBezTo>
                    <a:pt x="10569" y="41553"/>
                    <a:pt x="10471" y="41645"/>
                    <a:pt x="10362" y="41677"/>
                  </a:cubicBezTo>
                  <a:cubicBezTo>
                    <a:pt x="10234" y="41715"/>
                    <a:pt x="10121" y="41733"/>
                    <a:pt x="10020" y="41733"/>
                  </a:cubicBezTo>
                  <a:cubicBezTo>
                    <a:pt x="9703" y="41733"/>
                    <a:pt x="9511" y="41557"/>
                    <a:pt x="9402" y="41289"/>
                  </a:cubicBezTo>
                  <a:close/>
                  <a:moveTo>
                    <a:pt x="15893" y="1"/>
                  </a:moveTo>
                  <a:cubicBezTo>
                    <a:pt x="15395" y="1"/>
                    <a:pt x="14894" y="37"/>
                    <a:pt x="14392" y="112"/>
                  </a:cubicBezTo>
                  <a:cubicBezTo>
                    <a:pt x="8294" y="1027"/>
                    <a:pt x="1" y="10835"/>
                    <a:pt x="5909" y="16358"/>
                  </a:cubicBezTo>
                  <a:cubicBezTo>
                    <a:pt x="5961" y="16407"/>
                    <a:pt x="6017" y="16426"/>
                    <a:pt x="6069" y="16426"/>
                  </a:cubicBezTo>
                  <a:cubicBezTo>
                    <a:pt x="6083" y="16426"/>
                    <a:pt x="6096" y="16425"/>
                    <a:pt x="6110" y="16423"/>
                  </a:cubicBezTo>
                  <a:cubicBezTo>
                    <a:pt x="7517" y="19288"/>
                    <a:pt x="10185" y="21363"/>
                    <a:pt x="13288" y="22188"/>
                  </a:cubicBezTo>
                  <a:cubicBezTo>
                    <a:pt x="12902" y="23062"/>
                    <a:pt x="12749" y="24055"/>
                    <a:pt x="12540" y="24979"/>
                  </a:cubicBezTo>
                  <a:cubicBezTo>
                    <a:pt x="12385" y="25662"/>
                    <a:pt x="12080" y="26433"/>
                    <a:pt x="12061" y="27162"/>
                  </a:cubicBezTo>
                  <a:cubicBezTo>
                    <a:pt x="11762" y="27201"/>
                    <a:pt x="11473" y="27285"/>
                    <a:pt x="11204" y="27442"/>
                  </a:cubicBezTo>
                  <a:cubicBezTo>
                    <a:pt x="11018" y="27550"/>
                    <a:pt x="11015" y="27777"/>
                    <a:pt x="11142" y="27928"/>
                  </a:cubicBezTo>
                  <a:cubicBezTo>
                    <a:pt x="11145" y="27935"/>
                    <a:pt x="11150" y="27938"/>
                    <a:pt x="11155" y="27944"/>
                  </a:cubicBezTo>
                  <a:cubicBezTo>
                    <a:pt x="11028" y="27948"/>
                    <a:pt x="10910" y="28008"/>
                    <a:pt x="10832" y="28108"/>
                  </a:cubicBezTo>
                  <a:cubicBezTo>
                    <a:pt x="9928" y="29229"/>
                    <a:pt x="9683" y="30715"/>
                    <a:pt x="9312" y="32089"/>
                  </a:cubicBezTo>
                  <a:cubicBezTo>
                    <a:pt x="8852" y="33796"/>
                    <a:pt x="8465" y="35519"/>
                    <a:pt x="8149" y="37259"/>
                  </a:cubicBezTo>
                  <a:cubicBezTo>
                    <a:pt x="7935" y="38433"/>
                    <a:pt x="7369" y="40158"/>
                    <a:pt x="7613" y="41356"/>
                  </a:cubicBezTo>
                  <a:cubicBezTo>
                    <a:pt x="7832" y="42434"/>
                    <a:pt x="8920" y="43013"/>
                    <a:pt x="9873" y="43417"/>
                  </a:cubicBezTo>
                  <a:cubicBezTo>
                    <a:pt x="10183" y="43548"/>
                    <a:pt x="10458" y="43608"/>
                    <a:pt x="10702" y="43608"/>
                  </a:cubicBezTo>
                  <a:cubicBezTo>
                    <a:pt x="12509" y="43608"/>
                    <a:pt x="12630" y="40342"/>
                    <a:pt x="13029" y="38845"/>
                  </a:cubicBezTo>
                  <a:cubicBezTo>
                    <a:pt x="13941" y="35420"/>
                    <a:pt x="14878" y="31999"/>
                    <a:pt x="15749" y="28562"/>
                  </a:cubicBezTo>
                  <a:cubicBezTo>
                    <a:pt x="15842" y="28197"/>
                    <a:pt x="15632" y="27698"/>
                    <a:pt x="15220" y="27630"/>
                  </a:cubicBezTo>
                  <a:cubicBezTo>
                    <a:pt x="14854" y="27569"/>
                    <a:pt x="14466" y="27473"/>
                    <a:pt x="14071" y="27380"/>
                  </a:cubicBezTo>
                  <a:cubicBezTo>
                    <a:pt x="14478" y="25797"/>
                    <a:pt x="14896" y="24136"/>
                    <a:pt x="15010" y="22508"/>
                  </a:cubicBezTo>
                  <a:cubicBezTo>
                    <a:pt x="15443" y="22557"/>
                    <a:pt x="15877" y="22582"/>
                    <a:pt x="16312" y="22582"/>
                  </a:cubicBezTo>
                  <a:cubicBezTo>
                    <a:pt x="16645" y="22582"/>
                    <a:pt x="16978" y="22568"/>
                    <a:pt x="17310" y="22539"/>
                  </a:cubicBezTo>
                  <a:cubicBezTo>
                    <a:pt x="23190" y="22007"/>
                    <a:pt x="27413" y="16567"/>
                    <a:pt x="27170" y="10774"/>
                  </a:cubicBezTo>
                  <a:cubicBezTo>
                    <a:pt x="26925" y="4930"/>
                    <a:pt x="21682" y="1"/>
                    <a:pt x="158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6"/>
            <p:cNvSpPr/>
            <p:nvPr/>
          </p:nvSpPr>
          <p:spPr>
            <a:xfrm>
              <a:off x="1477975" y="4161250"/>
              <a:ext cx="487250" cy="450450"/>
            </a:xfrm>
            <a:custGeom>
              <a:avLst/>
              <a:gdLst/>
              <a:ahLst/>
              <a:cxnLst/>
              <a:rect l="l" t="t" r="r" b="b"/>
              <a:pathLst>
                <a:path w="19490" h="18018" extrusionOk="0">
                  <a:moveTo>
                    <a:pt x="1614" y="7205"/>
                  </a:moveTo>
                  <a:cubicBezTo>
                    <a:pt x="1122" y="9193"/>
                    <a:pt x="1161" y="11265"/>
                    <a:pt x="1871" y="12865"/>
                  </a:cubicBezTo>
                  <a:cubicBezTo>
                    <a:pt x="1911" y="12957"/>
                    <a:pt x="1956" y="13046"/>
                    <a:pt x="2001" y="13135"/>
                  </a:cubicBezTo>
                  <a:cubicBezTo>
                    <a:pt x="1442" y="12197"/>
                    <a:pt x="1127" y="11132"/>
                    <a:pt x="1088" y="10040"/>
                  </a:cubicBezTo>
                  <a:cubicBezTo>
                    <a:pt x="1052" y="9061"/>
                    <a:pt x="1251" y="8105"/>
                    <a:pt x="1614" y="7205"/>
                  </a:cubicBezTo>
                  <a:close/>
                  <a:moveTo>
                    <a:pt x="8769" y="1099"/>
                  </a:moveTo>
                  <a:cubicBezTo>
                    <a:pt x="10213" y="1099"/>
                    <a:pt x="11739" y="1834"/>
                    <a:pt x="12928" y="2514"/>
                  </a:cubicBezTo>
                  <a:cubicBezTo>
                    <a:pt x="15190" y="3806"/>
                    <a:pt x="17154" y="5801"/>
                    <a:pt x="17151" y="8562"/>
                  </a:cubicBezTo>
                  <a:cubicBezTo>
                    <a:pt x="17150" y="11027"/>
                    <a:pt x="16062" y="14041"/>
                    <a:pt x="14176" y="15676"/>
                  </a:cubicBezTo>
                  <a:cubicBezTo>
                    <a:pt x="13112" y="16598"/>
                    <a:pt x="11835" y="16976"/>
                    <a:pt x="10526" y="16976"/>
                  </a:cubicBezTo>
                  <a:cubicBezTo>
                    <a:pt x="8796" y="16976"/>
                    <a:pt x="7009" y="16315"/>
                    <a:pt x="5579" y="15381"/>
                  </a:cubicBezTo>
                  <a:cubicBezTo>
                    <a:pt x="2756" y="13536"/>
                    <a:pt x="1781" y="10776"/>
                    <a:pt x="2574" y="7531"/>
                  </a:cubicBezTo>
                  <a:cubicBezTo>
                    <a:pt x="2925" y="6098"/>
                    <a:pt x="3537" y="4567"/>
                    <a:pt x="4464" y="3322"/>
                  </a:cubicBezTo>
                  <a:cubicBezTo>
                    <a:pt x="4471" y="3316"/>
                    <a:pt x="4477" y="3308"/>
                    <a:pt x="4485" y="3302"/>
                  </a:cubicBezTo>
                  <a:cubicBezTo>
                    <a:pt x="5475" y="2436"/>
                    <a:pt x="6694" y="1440"/>
                    <a:pt x="8014" y="1172"/>
                  </a:cubicBezTo>
                  <a:cubicBezTo>
                    <a:pt x="8262" y="1122"/>
                    <a:pt x="8514" y="1099"/>
                    <a:pt x="8769" y="1099"/>
                  </a:cubicBezTo>
                  <a:close/>
                  <a:moveTo>
                    <a:pt x="8887" y="1"/>
                  </a:moveTo>
                  <a:cubicBezTo>
                    <a:pt x="8837" y="1"/>
                    <a:pt x="8788" y="1"/>
                    <a:pt x="8738" y="3"/>
                  </a:cubicBezTo>
                  <a:cubicBezTo>
                    <a:pt x="6181" y="71"/>
                    <a:pt x="3888" y="2245"/>
                    <a:pt x="2440" y="4180"/>
                  </a:cubicBezTo>
                  <a:cubicBezTo>
                    <a:pt x="877" y="6267"/>
                    <a:pt x="1" y="8911"/>
                    <a:pt x="661" y="11505"/>
                  </a:cubicBezTo>
                  <a:cubicBezTo>
                    <a:pt x="1175" y="13521"/>
                    <a:pt x="2542" y="15297"/>
                    <a:pt x="4474" y="15997"/>
                  </a:cubicBezTo>
                  <a:cubicBezTo>
                    <a:pt x="6169" y="17258"/>
                    <a:pt x="8337" y="18017"/>
                    <a:pt x="10414" y="18017"/>
                  </a:cubicBezTo>
                  <a:cubicBezTo>
                    <a:pt x="12074" y="18017"/>
                    <a:pt x="13676" y="17532"/>
                    <a:pt x="14932" y="16430"/>
                  </a:cubicBezTo>
                  <a:cubicBezTo>
                    <a:pt x="18721" y="13109"/>
                    <a:pt x="19489" y="6595"/>
                    <a:pt x="15668" y="3108"/>
                  </a:cubicBezTo>
                  <a:cubicBezTo>
                    <a:pt x="13933" y="1526"/>
                    <a:pt x="11308" y="1"/>
                    <a:pt x="88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6"/>
            <p:cNvSpPr/>
            <p:nvPr/>
          </p:nvSpPr>
          <p:spPr>
            <a:xfrm>
              <a:off x="1611400" y="4264325"/>
              <a:ext cx="204725" cy="224825"/>
            </a:xfrm>
            <a:custGeom>
              <a:avLst/>
              <a:gdLst/>
              <a:ahLst/>
              <a:cxnLst/>
              <a:rect l="l" t="t" r="r" b="b"/>
              <a:pathLst>
                <a:path w="8189" h="8993" extrusionOk="0">
                  <a:moveTo>
                    <a:pt x="3561" y="0"/>
                  </a:moveTo>
                  <a:cubicBezTo>
                    <a:pt x="1727" y="0"/>
                    <a:pt x="0" y="1490"/>
                    <a:pt x="935" y="3575"/>
                  </a:cubicBezTo>
                  <a:cubicBezTo>
                    <a:pt x="1077" y="3892"/>
                    <a:pt x="1311" y="4020"/>
                    <a:pt x="1557" y="4020"/>
                  </a:cubicBezTo>
                  <a:cubicBezTo>
                    <a:pt x="2000" y="4020"/>
                    <a:pt x="2483" y="3607"/>
                    <a:pt x="2546" y="3138"/>
                  </a:cubicBezTo>
                  <a:cubicBezTo>
                    <a:pt x="2652" y="2350"/>
                    <a:pt x="3006" y="2037"/>
                    <a:pt x="3405" y="2037"/>
                  </a:cubicBezTo>
                  <a:cubicBezTo>
                    <a:pt x="4054" y="2037"/>
                    <a:pt x="4819" y="2864"/>
                    <a:pt x="4821" y="3825"/>
                  </a:cubicBezTo>
                  <a:cubicBezTo>
                    <a:pt x="4825" y="5165"/>
                    <a:pt x="3942" y="6358"/>
                    <a:pt x="3228" y="7421"/>
                  </a:cubicBezTo>
                  <a:cubicBezTo>
                    <a:pt x="2689" y="8221"/>
                    <a:pt x="3437" y="8993"/>
                    <a:pt x="4195" y="8993"/>
                  </a:cubicBezTo>
                  <a:cubicBezTo>
                    <a:pt x="4522" y="8993"/>
                    <a:pt x="4850" y="8849"/>
                    <a:pt x="5078" y="8503"/>
                  </a:cubicBezTo>
                  <a:cubicBezTo>
                    <a:pt x="6537" y="6287"/>
                    <a:pt x="8188" y="2626"/>
                    <a:pt x="5438" y="602"/>
                  </a:cubicBezTo>
                  <a:cubicBezTo>
                    <a:pt x="4875" y="188"/>
                    <a:pt x="4211" y="0"/>
                    <a:pt x="35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6"/>
            <p:cNvSpPr/>
            <p:nvPr/>
          </p:nvSpPr>
          <p:spPr>
            <a:xfrm>
              <a:off x="1688575" y="4506825"/>
              <a:ext cx="60375" cy="62375"/>
            </a:xfrm>
            <a:custGeom>
              <a:avLst/>
              <a:gdLst/>
              <a:ahLst/>
              <a:cxnLst/>
              <a:rect l="l" t="t" r="r" b="b"/>
              <a:pathLst>
                <a:path w="2415" h="2495" extrusionOk="0">
                  <a:moveTo>
                    <a:pt x="1242" y="0"/>
                  </a:moveTo>
                  <a:cubicBezTo>
                    <a:pt x="1230" y="0"/>
                    <a:pt x="1219" y="1"/>
                    <a:pt x="1207" y="1"/>
                  </a:cubicBezTo>
                  <a:cubicBezTo>
                    <a:pt x="1005" y="10"/>
                    <a:pt x="807" y="63"/>
                    <a:pt x="629" y="158"/>
                  </a:cubicBezTo>
                  <a:cubicBezTo>
                    <a:pt x="403" y="277"/>
                    <a:pt x="150" y="585"/>
                    <a:pt x="103" y="841"/>
                  </a:cubicBezTo>
                  <a:cubicBezTo>
                    <a:pt x="93" y="897"/>
                    <a:pt x="83" y="952"/>
                    <a:pt x="73" y="1007"/>
                  </a:cubicBezTo>
                  <a:cubicBezTo>
                    <a:pt x="0" y="1417"/>
                    <a:pt x="50" y="1851"/>
                    <a:pt x="375" y="2151"/>
                  </a:cubicBezTo>
                  <a:cubicBezTo>
                    <a:pt x="605" y="2361"/>
                    <a:pt x="887" y="2495"/>
                    <a:pt x="1207" y="2495"/>
                  </a:cubicBezTo>
                  <a:cubicBezTo>
                    <a:pt x="1517" y="2490"/>
                    <a:pt x="1814" y="2367"/>
                    <a:pt x="2037" y="2151"/>
                  </a:cubicBezTo>
                  <a:cubicBezTo>
                    <a:pt x="2354" y="1833"/>
                    <a:pt x="2415" y="1430"/>
                    <a:pt x="2339" y="1007"/>
                  </a:cubicBezTo>
                  <a:cubicBezTo>
                    <a:pt x="2329" y="952"/>
                    <a:pt x="2319" y="897"/>
                    <a:pt x="2309" y="841"/>
                  </a:cubicBezTo>
                  <a:cubicBezTo>
                    <a:pt x="2267" y="605"/>
                    <a:pt x="2080" y="387"/>
                    <a:pt x="1900" y="247"/>
                  </a:cubicBezTo>
                  <a:cubicBezTo>
                    <a:pt x="1716" y="105"/>
                    <a:pt x="1480" y="0"/>
                    <a:pt x="1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 name="Google Shape;274;p36"/>
          <p:cNvSpPr txBox="1">
            <a:spLocks noGrp="1"/>
          </p:cNvSpPr>
          <p:nvPr>
            <p:ph type="subTitle" idx="1"/>
          </p:nvPr>
        </p:nvSpPr>
        <p:spPr>
          <a:xfrm>
            <a:off x="572500" y="1781724"/>
            <a:ext cx="3453809" cy="87298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1. Call itself to traverse the node’s left subtree.</a:t>
            </a:r>
          </a:p>
          <a:p>
            <a:pPr marL="0" lvl="0" indent="0" algn="l" rtl="0">
              <a:spcBef>
                <a:spcPts val="0"/>
              </a:spcBef>
              <a:spcAft>
                <a:spcPts val="0"/>
              </a:spcAft>
              <a:buClr>
                <a:schemeClr val="dk1"/>
              </a:buClr>
              <a:buSzPts val="1100"/>
              <a:buFont typeface="Arial"/>
              <a:buNone/>
            </a:pPr>
            <a:r>
              <a:rPr lang="en-US" dirty="0"/>
              <a:t>2. Visit the node.</a:t>
            </a:r>
          </a:p>
          <a:p>
            <a:pPr marL="0" lvl="0" indent="0" algn="l" rtl="0">
              <a:spcBef>
                <a:spcPts val="0"/>
              </a:spcBef>
              <a:spcAft>
                <a:spcPts val="0"/>
              </a:spcAft>
              <a:buClr>
                <a:schemeClr val="dk1"/>
              </a:buClr>
              <a:buSzPts val="1100"/>
              <a:buFont typeface="Arial"/>
              <a:buNone/>
            </a:pPr>
            <a:r>
              <a:rPr lang="en-US" dirty="0"/>
              <a:t>3. Call itself to traverse the node’s right subtree</a:t>
            </a:r>
          </a:p>
        </p:txBody>
      </p:sp>
      <p:pic>
        <p:nvPicPr>
          <p:cNvPr id="30" name="Picture 29" descr="A picture containing watch, clock&#10;&#10;Description automatically generated">
            <a:extLst>
              <a:ext uri="{FF2B5EF4-FFF2-40B4-BE49-F238E27FC236}">
                <a16:creationId xmlns:a16="http://schemas.microsoft.com/office/drawing/2014/main" id="{36F269F7-5316-4350-9E42-A0A23DEBDA5B}"/>
              </a:ext>
            </a:extLst>
          </p:cNvPr>
          <p:cNvPicPr>
            <a:picLocks noChangeAspect="1"/>
          </p:cNvPicPr>
          <p:nvPr/>
        </p:nvPicPr>
        <p:blipFill>
          <a:blip r:embed="rId4"/>
          <a:stretch>
            <a:fillRect/>
          </a:stretch>
        </p:blipFill>
        <p:spPr>
          <a:xfrm>
            <a:off x="5202493" y="1028562"/>
            <a:ext cx="3049229" cy="2271676"/>
          </a:xfrm>
          <a:prstGeom prst="rect">
            <a:avLst/>
          </a:prstGeom>
        </p:spPr>
      </p:pic>
      <p:sp>
        <p:nvSpPr>
          <p:cNvPr id="31" name="TextBox 30">
            <a:extLst>
              <a:ext uri="{FF2B5EF4-FFF2-40B4-BE49-F238E27FC236}">
                <a16:creationId xmlns:a16="http://schemas.microsoft.com/office/drawing/2014/main" id="{BD5E87B8-D570-408E-9228-9B095BE6ECA0}"/>
              </a:ext>
            </a:extLst>
          </p:cNvPr>
          <p:cNvSpPr txBox="1"/>
          <p:nvPr/>
        </p:nvSpPr>
        <p:spPr>
          <a:xfrm>
            <a:off x="5112722" y="3591718"/>
            <a:ext cx="3228769" cy="523220"/>
          </a:xfrm>
          <a:prstGeom prst="rect">
            <a:avLst/>
          </a:prstGeom>
          <a:noFill/>
        </p:spPr>
        <p:txBody>
          <a:bodyPr wrap="none" rtlCol="0">
            <a:spAutoFit/>
          </a:bodyPr>
          <a:lstStyle/>
          <a:p>
            <a:r>
              <a:rPr lang="en-US" b="0" i="0" dirty="0">
                <a:solidFill>
                  <a:srgbClr val="444444"/>
                </a:solidFill>
                <a:effectLst/>
                <a:latin typeface="Oxygen" panose="02000503000000000000" pitchFamily="2" charset="0"/>
              </a:rPr>
              <a:t>Output:</a:t>
            </a:r>
          </a:p>
          <a:p>
            <a:r>
              <a:rPr lang="en-US" b="1" i="0" dirty="0">
                <a:solidFill>
                  <a:srgbClr val="C00000"/>
                </a:solidFill>
                <a:effectLst/>
                <a:latin typeface="Oxygen" panose="02000503000000000000" pitchFamily="2" charset="0"/>
              </a:rPr>
              <a:t>4, 13, 14, 15, 34, 40, 45, 47, 48, 49, 55 </a:t>
            </a:r>
            <a:endParaRPr lang="en-US" b="1" dirty="0">
              <a:solidFill>
                <a:srgbClr val="C00000"/>
              </a:solidFill>
            </a:endParaRPr>
          </a:p>
        </p:txBody>
      </p:sp>
      <p:cxnSp>
        <p:nvCxnSpPr>
          <p:cNvPr id="33" name="Straight Arrow Connector 32">
            <a:extLst>
              <a:ext uri="{FF2B5EF4-FFF2-40B4-BE49-F238E27FC236}">
                <a16:creationId xmlns:a16="http://schemas.microsoft.com/office/drawing/2014/main" id="{F330B74D-57EC-422A-8D0A-671DECD3D680}"/>
              </a:ext>
            </a:extLst>
          </p:cNvPr>
          <p:cNvCxnSpPr/>
          <p:nvPr/>
        </p:nvCxnSpPr>
        <p:spPr>
          <a:xfrm flipH="1">
            <a:off x="5818415" y="1246414"/>
            <a:ext cx="571500" cy="1850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CC53002-5B3A-4D94-862E-FE2628C3541E}"/>
              </a:ext>
            </a:extLst>
          </p:cNvPr>
          <p:cNvSpPr txBox="1"/>
          <p:nvPr/>
        </p:nvSpPr>
        <p:spPr>
          <a:xfrm>
            <a:off x="5990191" y="1154277"/>
            <a:ext cx="227948" cy="184666"/>
          </a:xfrm>
          <a:prstGeom prst="rect">
            <a:avLst/>
          </a:prstGeom>
          <a:noFill/>
        </p:spPr>
        <p:txBody>
          <a:bodyPr wrap="none" rtlCol="0">
            <a:spAutoFit/>
          </a:bodyPr>
          <a:lstStyle/>
          <a:p>
            <a:r>
              <a:rPr lang="en-US" sz="600" dirty="0">
                <a:solidFill>
                  <a:srgbClr val="C00000"/>
                </a:solidFill>
              </a:rPr>
              <a:t>1</a:t>
            </a:r>
          </a:p>
        </p:txBody>
      </p:sp>
      <p:cxnSp>
        <p:nvCxnSpPr>
          <p:cNvPr id="43" name="Straight Arrow Connector 42">
            <a:extLst>
              <a:ext uri="{FF2B5EF4-FFF2-40B4-BE49-F238E27FC236}">
                <a16:creationId xmlns:a16="http://schemas.microsoft.com/office/drawing/2014/main" id="{126BAEC9-AF6B-41A2-AC0A-302CBB21BE60}"/>
              </a:ext>
            </a:extLst>
          </p:cNvPr>
          <p:cNvCxnSpPr/>
          <p:nvPr/>
        </p:nvCxnSpPr>
        <p:spPr>
          <a:xfrm flipH="1">
            <a:off x="5230888" y="1781724"/>
            <a:ext cx="233312" cy="275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D4D4063-CD3F-4C99-820C-5E77E703E599}"/>
              </a:ext>
            </a:extLst>
          </p:cNvPr>
          <p:cNvSpPr txBox="1"/>
          <p:nvPr/>
        </p:nvSpPr>
        <p:spPr>
          <a:xfrm>
            <a:off x="5230888" y="1718004"/>
            <a:ext cx="227948" cy="184666"/>
          </a:xfrm>
          <a:prstGeom prst="rect">
            <a:avLst/>
          </a:prstGeom>
          <a:noFill/>
        </p:spPr>
        <p:txBody>
          <a:bodyPr wrap="none" rtlCol="0">
            <a:spAutoFit/>
          </a:bodyPr>
          <a:lstStyle/>
          <a:p>
            <a:r>
              <a:rPr lang="en-US" sz="600" dirty="0">
                <a:solidFill>
                  <a:srgbClr val="C00000"/>
                </a:solidFill>
              </a:rPr>
              <a:t>2</a:t>
            </a:r>
          </a:p>
        </p:txBody>
      </p:sp>
      <p:sp>
        <p:nvSpPr>
          <p:cNvPr id="56" name="TextBox 55">
            <a:extLst>
              <a:ext uri="{FF2B5EF4-FFF2-40B4-BE49-F238E27FC236}">
                <a16:creationId xmlns:a16="http://schemas.microsoft.com/office/drawing/2014/main" id="{19FF4EBE-91C5-4E0D-B000-963D32F0B5B3}"/>
              </a:ext>
            </a:extLst>
          </p:cNvPr>
          <p:cNvSpPr txBox="1"/>
          <p:nvPr/>
        </p:nvSpPr>
        <p:spPr>
          <a:xfrm>
            <a:off x="5344862" y="1795369"/>
            <a:ext cx="495649" cy="184666"/>
          </a:xfrm>
          <a:prstGeom prst="rect">
            <a:avLst/>
          </a:prstGeom>
          <a:noFill/>
        </p:spPr>
        <p:txBody>
          <a:bodyPr wrap="none" rtlCol="0">
            <a:spAutoFit/>
          </a:bodyPr>
          <a:lstStyle/>
          <a:p>
            <a:r>
              <a:rPr lang="en-US" sz="600" b="1" dirty="0">
                <a:solidFill>
                  <a:srgbClr val="C00000"/>
                </a:solidFill>
              </a:rPr>
              <a:t>3. Visit 4</a:t>
            </a:r>
          </a:p>
        </p:txBody>
      </p:sp>
      <p:cxnSp>
        <p:nvCxnSpPr>
          <p:cNvPr id="46" name="Straight Arrow Connector 45">
            <a:extLst>
              <a:ext uri="{FF2B5EF4-FFF2-40B4-BE49-F238E27FC236}">
                <a16:creationId xmlns:a16="http://schemas.microsoft.com/office/drawing/2014/main" id="{3114FE5A-0365-4950-8B84-8C6C313F314A}"/>
              </a:ext>
            </a:extLst>
          </p:cNvPr>
          <p:cNvCxnSpPr/>
          <p:nvPr/>
        </p:nvCxnSpPr>
        <p:spPr>
          <a:xfrm>
            <a:off x="5742214" y="1806255"/>
            <a:ext cx="293914"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5CE50B7-9960-4EF8-9111-95CBF2FD731D}"/>
              </a:ext>
            </a:extLst>
          </p:cNvPr>
          <p:cNvSpPr txBox="1"/>
          <p:nvPr/>
        </p:nvSpPr>
        <p:spPr>
          <a:xfrm>
            <a:off x="5753425" y="1848776"/>
            <a:ext cx="227948" cy="184666"/>
          </a:xfrm>
          <a:prstGeom prst="rect">
            <a:avLst/>
          </a:prstGeom>
          <a:noFill/>
        </p:spPr>
        <p:txBody>
          <a:bodyPr wrap="none" rtlCol="0">
            <a:spAutoFit/>
          </a:bodyPr>
          <a:lstStyle/>
          <a:p>
            <a:r>
              <a:rPr lang="en-US" sz="600" dirty="0">
                <a:solidFill>
                  <a:srgbClr val="C00000"/>
                </a:solidFill>
              </a:rPr>
              <a:t>4</a:t>
            </a:r>
          </a:p>
        </p:txBody>
      </p:sp>
      <p:cxnSp>
        <p:nvCxnSpPr>
          <p:cNvPr id="48" name="Straight Arrow Connector 47">
            <a:extLst>
              <a:ext uri="{FF2B5EF4-FFF2-40B4-BE49-F238E27FC236}">
                <a16:creationId xmlns:a16="http://schemas.microsoft.com/office/drawing/2014/main" id="{73338B44-C7C2-44A1-925C-687B79EEE72C}"/>
              </a:ext>
            </a:extLst>
          </p:cNvPr>
          <p:cNvCxnSpPr/>
          <p:nvPr/>
        </p:nvCxnSpPr>
        <p:spPr>
          <a:xfrm flipH="1">
            <a:off x="5889171" y="2100943"/>
            <a:ext cx="146957" cy="209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48997C9-24C4-4B98-8BE8-71FC52580FB6}"/>
              </a:ext>
            </a:extLst>
          </p:cNvPr>
          <p:cNvSpPr txBox="1"/>
          <p:nvPr/>
        </p:nvSpPr>
        <p:spPr>
          <a:xfrm>
            <a:off x="5808180" y="2033550"/>
            <a:ext cx="227948" cy="184666"/>
          </a:xfrm>
          <a:prstGeom prst="rect">
            <a:avLst/>
          </a:prstGeom>
          <a:noFill/>
        </p:spPr>
        <p:txBody>
          <a:bodyPr wrap="none" rtlCol="0">
            <a:spAutoFit/>
          </a:bodyPr>
          <a:lstStyle/>
          <a:p>
            <a:r>
              <a:rPr lang="en-US" sz="600" dirty="0">
                <a:solidFill>
                  <a:srgbClr val="C00000"/>
                </a:solidFill>
              </a:rPr>
              <a:t>5</a:t>
            </a:r>
          </a:p>
        </p:txBody>
      </p:sp>
      <p:cxnSp>
        <p:nvCxnSpPr>
          <p:cNvPr id="50" name="Straight Arrow Connector 49">
            <a:extLst>
              <a:ext uri="{FF2B5EF4-FFF2-40B4-BE49-F238E27FC236}">
                <a16:creationId xmlns:a16="http://schemas.microsoft.com/office/drawing/2014/main" id="{8BB55AAE-6B5C-44F4-BFE4-BCE9306EDADD}"/>
              </a:ext>
            </a:extLst>
          </p:cNvPr>
          <p:cNvCxnSpPr/>
          <p:nvPr/>
        </p:nvCxnSpPr>
        <p:spPr>
          <a:xfrm flipH="1">
            <a:off x="5519057" y="2604408"/>
            <a:ext cx="146957" cy="187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B0FD07A4-33FB-4BE2-86BF-AF50BAA4AC86}"/>
              </a:ext>
            </a:extLst>
          </p:cNvPr>
          <p:cNvSpPr txBox="1"/>
          <p:nvPr/>
        </p:nvSpPr>
        <p:spPr>
          <a:xfrm>
            <a:off x="5448951" y="2547803"/>
            <a:ext cx="227948" cy="184666"/>
          </a:xfrm>
          <a:prstGeom prst="rect">
            <a:avLst/>
          </a:prstGeom>
          <a:noFill/>
        </p:spPr>
        <p:txBody>
          <a:bodyPr wrap="none" rtlCol="0">
            <a:spAutoFit/>
          </a:bodyPr>
          <a:lstStyle/>
          <a:p>
            <a:r>
              <a:rPr lang="en-US" sz="600" dirty="0">
                <a:solidFill>
                  <a:srgbClr val="C00000"/>
                </a:solidFill>
              </a:rPr>
              <a:t>6</a:t>
            </a:r>
          </a:p>
        </p:txBody>
      </p:sp>
      <p:cxnSp>
        <p:nvCxnSpPr>
          <p:cNvPr id="52" name="Straight Arrow Connector 51">
            <a:extLst>
              <a:ext uri="{FF2B5EF4-FFF2-40B4-BE49-F238E27FC236}">
                <a16:creationId xmlns:a16="http://schemas.microsoft.com/office/drawing/2014/main" id="{F5D301E1-DE8C-4398-9E4B-A779A11971FF}"/>
              </a:ext>
            </a:extLst>
          </p:cNvPr>
          <p:cNvCxnSpPr/>
          <p:nvPr/>
        </p:nvCxnSpPr>
        <p:spPr>
          <a:xfrm flipH="1">
            <a:off x="5230888" y="3145971"/>
            <a:ext cx="113974" cy="154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5E4BEB66-CE1C-44C7-939A-F8D88B51872E}"/>
              </a:ext>
            </a:extLst>
          </p:cNvPr>
          <p:cNvSpPr txBox="1"/>
          <p:nvPr/>
        </p:nvSpPr>
        <p:spPr>
          <a:xfrm>
            <a:off x="5173901" y="3056711"/>
            <a:ext cx="227948" cy="184666"/>
          </a:xfrm>
          <a:prstGeom prst="rect">
            <a:avLst/>
          </a:prstGeom>
          <a:noFill/>
        </p:spPr>
        <p:txBody>
          <a:bodyPr wrap="none" rtlCol="0">
            <a:spAutoFit/>
          </a:bodyPr>
          <a:lstStyle/>
          <a:p>
            <a:r>
              <a:rPr lang="en-US" sz="600" dirty="0">
                <a:solidFill>
                  <a:srgbClr val="C00000"/>
                </a:solidFill>
              </a:rPr>
              <a:t>7</a:t>
            </a:r>
          </a:p>
        </p:txBody>
      </p:sp>
      <p:sp>
        <p:nvSpPr>
          <p:cNvPr id="71" name="TextBox 70">
            <a:extLst>
              <a:ext uri="{FF2B5EF4-FFF2-40B4-BE49-F238E27FC236}">
                <a16:creationId xmlns:a16="http://schemas.microsoft.com/office/drawing/2014/main" id="{11DECC21-4B6C-4D80-B381-57765B6EA67D}"/>
              </a:ext>
            </a:extLst>
          </p:cNvPr>
          <p:cNvSpPr txBox="1"/>
          <p:nvPr/>
        </p:nvSpPr>
        <p:spPr>
          <a:xfrm>
            <a:off x="5287875" y="3125194"/>
            <a:ext cx="538930" cy="184666"/>
          </a:xfrm>
          <a:prstGeom prst="rect">
            <a:avLst/>
          </a:prstGeom>
          <a:noFill/>
        </p:spPr>
        <p:txBody>
          <a:bodyPr wrap="none" rtlCol="0">
            <a:spAutoFit/>
          </a:bodyPr>
          <a:lstStyle/>
          <a:p>
            <a:r>
              <a:rPr lang="en-US" sz="600" b="1" dirty="0">
                <a:solidFill>
                  <a:srgbClr val="C00000"/>
                </a:solidFill>
              </a:rPr>
              <a:t>8. Visit 13</a:t>
            </a:r>
          </a:p>
        </p:txBody>
      </p:sp>
      <p:cxnSp>
        <p:nvCxnSpPr>
          <p:cNvPr id="58" name="Straight Arrow Connector 57">
            <a:extLst>
              <a:ext uri="{FF2B5EF4-FFF2-40B4-BE49-F238E27FC236}">
                <a16:creationId xmlns:a16="http://schemas.microsoft.com/office/drawing/2014/main" id="{178107E1-B7A5-4831-B331-C927C78B3A5C}"/>
              </a:ext>
            </a:extLst>
          </p:cNvPr>
          <p:cNvCxnSpPr/>
          <p:nvPr/>
        </p:nvCxnSpPr>
        <p:spPr>
          <a:xfrm>
            <a:off x="5676899" y="3125194"/>
            <a:ext cx="141516" cy="175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E83D1EA4-2F0B-4C51-B66D-4F4601EAB0AF}"/>
              </a:ext>
            </a:extLst>
          </p:cNvPr>
          <p:cNvSpPr txBox="1"/>
          <p:nvPr/>
        </p:nvSpPr>
        <p:spPr>
          <a:xfrm>
            <a:off x="5689065" y="3056711"/>
            <a:ext cx="227948" cy="184666"/>
          </a:xfrm>
          <a:prstGeom prst="rect">
            <a:avLst/>
          </a:prstGeom>
          <a:noFill/>
        </p:spPr>
        <p:txBody>
          <a:bodyPr wrap="none" rtlCol="0">
            <a:spAutoFit/>
          </a:bodyPr>
          <a:lstStyle/>
          <a:p>
            <a:r>
              <a:rPr lang="en-US" sz="600" dirty="0">
                <a:solidFill>
                  <a:srgbClr val="C00000"/>
                </a:solidFill>
              </a:rPr>
              <a:t>9</a:t>
            </a:r>
          </a:p>
        </p:txBody>
      </p:sp>
      <p:cxnSp>
        <p:nvCxnSpPr>
          <p:cNvPr id="61" name="Straight Arrow Connector 60">
            <a:extLst>
              <a:ext uri="{FF2B5EF4-FFF2-40B4-BE49-F238E27FC236}">
                <a16:creationId xmlns:a16="http://schemas.microsoft.com/office/drawing/2014/main" id="{28002E2D-4938-4000-AE9E-C985CDEABAC2}"/>
              </a:ext>
            </a:extLst>
          </p:cNvPr>
          <p:cNvCxnSpPr/>
          <p:nvPr/>
        </p:nvCxnSpPr>
        <p:spPr>
          <a:xfrm flipV="1">
            <a:off x="5666014" y="2697081"/>
            <a:ext cx="144761" cy="1979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C8F80F6C-2D05-47A8-8F17-A35274F510F9}"/>
              </a:ext>
            </a:extLst>
          </p:cNvPr>
          <p:cNvSpPr txBox="1"/>
          <p:nvPr/>
        </p:nvSpPr>
        <p:spPr>
          <a:xfrm>
            <a:off x="5639451" y="2790022"/>
            <a:ext cx="271228" cy="184666"/>
          </a:xfrm>
          <a:prstGeom prst="rect">
            <a:avLst/>
          </a:prstGeom>
          <a:noFill/>
        </p:spPr>
        <p:txBody>
          <a:bodyPr wrap="none" rtlCol="0">
            <a:spAutoFit/>
          </a:bodyPr>
          <a:lstStyle/>
          <a:p>
            <a:r>
              <a:rPr lang="en-US" sz="600" dirty="0">
                <a:solidFill>
                  <a:srgbClr val="C00000"/>
                </a:solidFill>
              </a:rPr>
              <a:t>10</a:t>
            </a:r>
          </a:p>
        </p:txBody>
      </p:sp>
      <p:sp>
        <p:nvSpPr>
          <p:cNvPr id="78" name="TextBox 77">
            <a:extLst>
              <a:ext uri="{FF2B5EF4-FFF2-40B4-BE49-F238E27FC236}">
                <a16:creationId xmlns:a16="http://schemas.microsoft.com/office/drawing/2014/main" id="{2D80E77E-FEC4-4C48-B3AD-4F64D4C1AA36}"/>
              </a:ext>
            </a:extLst>
          </p:cNvPr>
          <p:cNvSpPr txBox="1"/>
          <p:nvPr/>
        </p:nvSpPr>
        <p:spPr>
          <a:xfrm>
            <a:off x="5996285" y="2429153"/>
            <a:ext cx="582211" cy="184666"/>
          </a:xfrm>
          <a:prstGeom prst="rect">
            <a:avLst/>
          </a:prstGeom>
          <a:noFill/>
        </p:spPr>
        <p:txBody>
          <a:bodyPr wrap="none" rtlCol="0">
            <a:spAutoFit/>
          </a:bodyPr>
          <a:lstStyle/>
          <a:p>
            <a:r>
              <a:rPr lang="en-US" sz="600" b="1" dirty="0">
                <a:solidFill>
                  <a:srgbClr val="C00000"/>
                </a:solidFill>
              </a:rPr>
              <a:t>11. Visit 14</a:t>
            </a:r>
          </a:p>
        </p:txBody>
      </p:sp>
      <p:cxnSp>
        <p:nvCxnSpPr>
          <p:cNvPr id="64" name="Straight Arrow Connector 63">
            <a:extLst>
              <a:ext uri="{FF2B5EF4-FFF2-40B4-BE49-F238E27FC236}">
                <a16:creationId xmlns:a16="http://schemas.microsoft.com/office/drawing/2014/main" id="{A64138B7-3931-46DA-9623-B409CE96CE17}"/>
              </a:ext>
            </a:extLst>
          </p:cNvPr>
          <p:cNvCxnSpPr/>
          <p:nvPr/>
        </p:nvCxnSpPr>
        <p:spPr>
          <a:xfrm>
            <a:off x="5962649" y="2712111"/>
            <a:ext cx="73479" cy="170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E09483CB-B216-475E-9D52-DF68C92B69EC}"/>
              </a:ext>
            </a:extLst>
          </p:cNvPr>
          <p:cNvSpPr txBox="1"/>
          <p:nvPr/>
        </p:nvSpPr>
        <p:spPr>
          <a:xfrm>
            <a:off x="5786408" y="2692462"/>
            <a:ext cx="271228" cy="184666"/>
          </a:xfrm>
          <a:prstGeom prst="rect">
            <a:avLst/>
          </a:prstGeom>
          <a:noFill/>
        </p:spPr>
        <p:txBody>
          <a:bodyPr wrap="none" rtlCol="0">
            <a:spAutoFit/>
          </a:bodyPr>
          <a:lstStyle/>
          <a:p>
            <a:r>
              <a:rPr lang="en-US" sz="600" dirty="0">
                <a:solidFill>
                  <a:srgbClr val="C00000"/>
                </a:solidFill>
              </a:rPr>
              <a:t>12</a:t>
            </a:r>
          </a:p>
        </p:txBody>
      </p:sp>
      <p:cxnSp>
        <p:nvCxnSpPr>
          <p:cNvPr id="67" name="Straight Arrow Connector 66">
            <a:extLst>
              <a:ext uri="{FF2B5EF4-FFF2-40B4-BE49-F238E27FC236}">
                <a16:creationId xmlns:a16="http://schemas.microsoft.com/office/drawing/2014/main" id="{5B111F6D-6641-488E-BDB8-268922F252D4}"/>
              </a:ext>
            </a:extLst>
          </p:cNvPr>
          <p:cNvCxnSpPr/>
          <p:nvPr/>
        </p:nvCxnSpPr>
        <p:spPr>
          <a:xfrm flipH="1">
            <a:off x="5962649" y="3145971"/>
            <a:ext cx="141516" cy="154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E6BDB5D4-3D79-4279-B444-72CAA5F7CA12}"/>
              </a:ext>
            </a:extLst>
          </p:cNvPr>
          <p:cNvSpPr txBox="1"/>
          <p:nvPr/>
        </p:nvSpPr>
        <p:spPr>
          <a:xfrm>
            <a:off x="5867399" y="3061242"/>
            <a:ext cx="271228" cy="184666"/>
          </a:xfrm>
          <a:prstGeom prst="rect">
            <a:avLst/>
          </a:prstGeom>
          <a:noFill/>
        </p:spPr>
        <p:txBody>
          <a:bodyPr wrap="none" rtlCol="0">
            <a:spAutoFit/>
          </a:bodyPr>
          <a:lstStyle/>
          <a:p>
            <a:r>
              <a:rPr lang="en-US" sz="600" dirty="0">
                <a:solidFill>
                  <a:srgbClr val="C00000"/>
                </a:solidFill>
              </a:rPr>
              <a:t>13</a:t>
            </a:r>
          </a:p>
        </p:txBody>
      </p:sp>
      <p:sp>
        <p:nvSpPr>
          <p:cNvPr id="85" name="TextBox 84">
            <a:extLst>
              <a:ext uri="{FF2B5EF4-FFF2-40B4-BE49-F238E27FC236}">
                <a16:creationId xmlns:a16="http://schemas.microsoft.com/office/drawing/2014/main" id="{04802B92-F13F-4418-B0AF-BB11EB2875DF}"/>
              </a:ext>
            </a:extLst>
          </p:cNvPr>
          <p:cNvSpPr txBox="1"/>
          <p:nvPr/>
        </p:nvSpPr>
        <p:spPr>
          <a:xfrm>
            <a:off x="6008457" y="3136860"/>
            <a:ext cx="582211" cy="184666"/>
          </a:xfrm>
          <a:prstGeom prst="rect">
            <a:avLst/>
          </a:prstGeom>
          <a:noFill/>
        </p:spPr>
        <p:txBody>
          <a:bodyPr wrap="none" rtlCol="0">
            <a:spAutoFit/>
          </a:bodyPr>
          <a:lstStyle/>
          <a:p>
            <a:r>
              <a:rPr lang="en-US" sz="600" b="1" dirty="0">
                <a:solidFill>
                  <a:srgbClr val="C00000"/>
                </a:solidFill>
              </a:rPr>
              <a:t>14. Visit 15</a:t>
            </a:r>
          </a:p>
        </p:txBody>
      </p:sp>
      <p:cxnSp>
        <p:nvCxnSpPr>
          <p:cNvPr id="73" name="Straight Arrow Connector 72">
            <a:extLst>
              <a:ext uri="{FF2B5EF4-FFF2-40B4-BE49-F238E27FC236}">
                <a16:creationId xmlns:a16="http://schemas.microsoft.com/office/drawing/2014/main" id="{058B80DB-D58B-4CB7-A13B-438EFBAEDFBE}"/>
              </a:ext>
            </a:extLst>
          </p:cNvPr>
          <p:cNvCxnSpPr/>
          <p:nvPr/>
        </p:nvCxnSpPr>
        <p:spPr>
          <a:xfrm>
            <a:off x="6389915" y="3056711"/>
            <a:ext cx="239485" cy="264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F18DBE53-5AEC-44D9-8B21-B52AA651C1AD}"/>
              </a:ext>
            </a:extLst>
          </p:cNvPr>
          <p:cNvSpPr txBox="1"/>
          <p:nvPr/>
        </p:nvSpPr>
        <p:spPr>
          <a:xfrm>
            <a:off x="6439024" y="3061242"/>
            <a:ext cx="271228" cy="184666"/>
          </a:xfrm>
          <a:prstGeom prst="rect">
            <a:avLst/>
          </a:prstGeom>
          <a:noFill/>
        </p:spPr>
        <p:txBody>
          <a:bodyPr wrap="none" rtlCol="0">
            <a:spAutoFit/>
          </a:bodyPr>
          <a:lstStyle/>
          <a:p>
            <a:r>
              <a:rPr lang="en-US" sz="600" dirty="0">
                <a:solidFill>
                  <a:srgbClr val="C00000"/>
                </a:solidFill>
              </a:rPr>
              <a:t>15</a:t>
            </a:r>
          </a:p>
        </p:txBody>
      </p:sp>
      <p:cxnSp>
        <p:nvCxnSpPr>
          <p:cNvPr id="76" name="Straight Arrow Connector 75">
            <a:extLst>
              <a:ext uri="{FF2B5EF4-FFF2-40B4-BE49-F238E27FC236}">
                <a16:creationId xmlns:a16="http://schemas.microsoft.com/office/drawing/2014/main" id="{E136759C-53F3-43FF-B671-D20EA8FF4E54}"/>
              </a:ext>
            </a:extLst>
          </p:cNvPr>
          <p:cNvCxnSpPr/>
          <p:nvPr/>
        </p:nvCxnSpPr>
        <p:spPr>
          <a:xfrm flipV="1">
            <a:off x="6218139" y="2218216"/>
            <a:ext cx="0" cy="571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A875E6A4-29AF-4EB0-AA3A-65EC757223C3}"/>
              </a:ext>
            </a:extLst>
          </p:cNvPr>
          <p:cNvSpPr txBox="1"/>
          <p:nvPr/>
        </p:nvSpPr>
        <p:spPr>
          <a:xfrm>
            <a:off x="6134873" y="2244389"/>
            <a:ext cx="271228" cy="184666"/>
          </a:xfrm>
          <a:prstGeom prst="rect">
            <a:avLst/>
          </a:prstGeom>
          <a:noFill/>
        </p:spPr>
        <p:txBody>
          <a:bodyPr wrap="none" rtlCol="0">
            <a:spAutoFit/>
          </a:bodyPr>
          <a:lstStyle/>
          <a:p>
            <a:r>
              <a:rPr lang="en-US" sz="600" dirty="0">
                <a:solidFill>
                  <a:srgbClr val="C00000"/>
                </a:solidFill>
              </a:rPr>
              <a:t>16</a:t>
            </a:r>
          </a:p>
        </p:txBody>
      </p:sp>
      <p:sp>
        <p:nvSpPr>
          <p:cNvPr id="92" name="TextBox 91">
            <a:extLst>
              <a:ext uri="{FF2B5EF4-FFF2-40B4-BE49-F238E27FC236}">
                <a16:creationId xmlns:a16="http://schemas.microsoft.com/office/drawing/2014/main" id="{BEE1EC04-A5DA-4853-8C58-2CBEBCED413D}"/>
              </a:ext>
            </a:extLst>
          </p:cNvPr>
          <p:cNvSpPr txBox="1"/>
          <p:nvPr/>
        </p:nvSpPr>
        <p:spPr>
          <a:xfrm>
            <a:off x="6389915" y="1913983"/>
            <a:ext cx="582211" cy="184666"/>
          </a:xfrm>
          <a:prstGeom prst="rect">
            <a:avLst/>
          </a:prstGeom>
          <a:noFill/>
        </p:spPr>
        <p:txBody>
          <a:bodyPr wrap="none" rtlCol="0">
            <a:spAutoFit/>
          </a:bodyPr>
          <a:lstStyle/>
          <a:p>
            <a:r>
              <a:rPr lang="en-US" sz="600" b="1" dirty="0">
                <a:solidFill>
                  <a:srgbClr val="C00000"/>
                </a:solidFill>
              </a:rPr>
              <a:t>17. Visit 34</a:t>
            </a:r>
          </a:p>
        </p:txBody>
      </p:sp>
      <p:sp>
        <p:nvSpPr>
          <p:cNvPr id="95" name="TextBox 94">
            <a:extLst>
              <a:ext uri="{FF2B5EF4-FFF2-40B4-BE49-F238E27FC236}">
                <a16:creationId xmlns:a16="http://schemas.microsoft.com/office/drawing/2014/main" id="{DDECB411-40D2-4407-B1B8-8A7854DAD619}"/>
              </a:ext>
            </a:extLst>
          </p:cNvPr>
          <p:cNvSpPr txBox="1"/>
          <p:nvPr/>
        </p:nvSpPr>
        <p:spPr>
          <a:xfrm>
            <a:off x="6352803" y="1537986"/>
            <a:ext cx="271228" cy="184666"/>
          </a:xfrm>
          <a:prstGeom prst="rect">
            <a:avLst/>
          </a:prstGeom>
          <a:noFill/>
        </p:spPr>
        <p:txBody>
          <a:bodyPr wrap="none" rtlCol="0">
            <a:spAutoFit/>
          </a:bodyPr>
          <a:lstStyle/>
          <a:p>
            <a:r>
              <a:rPr lang="en-US" sz="600" dirty="0">
                <a:solidFill>
                  <a:srgbClr val="C00000"/>
                </a:solidFill>
              </a:rPr>
              <a:t>19</a:t>
            </a:r>
          </a:p>
        </p:txBody>
      </p:sp>
      <p:sp>
        <p:nvSpPr>
          <p:cNvPr id="98" name="TextBox 97">
            <a:extLst>
              <a:ext uri="{FF2B5EF4-FFF2-40B4-BE49-F238E27FC236}">
                <a16:creationId xmlns:a16="http://schemas.microsoft.com/office/drawing/2014/main" id="{3990948D-6A28-4705-A2DA-0AD931BD278B}"/>
              </a:ext>
            </a:extLst>
          </p:cNvPr>
          <p:cNvSpPr txBox="1"/>
          <p:nvPr/>
        </p:nvSpPr>
        <p:spPr>
          <a:xfrm>
            <a:off x="6787243" y="1010970"/>
            <a:ext cx="582211" cy="184666"/>
          </a:xfrm>
          <a:prstGeom prst="rect">
            <a:avLst/>
          </a:prstGeom>
          <a:noFill/>
        </p:spPr>
        <p:txBody>
          <a:bodyPr wrap="none" rtlCol="0">
            <a:spAutoFit/>
          </a:bodyPr>
          <a:lstStyle/>
          <a:p>
            <a:r>
              <a:rPr lang="en-US" sz="600" b="1" dirty="0">
                <a:solidFill>
                  <a:srgbClr val="C00000"/>
                </a:solidFill>
              </a:rPr>
              <a:t>20. Visit 40</a:t>
            </a:r>
          </a:p>
        </p:txBody>
      </p:sp>
      <p:cxnSp>
        <p:nvCxnSpPr>
          <p:cNvPr id="83" name="Straight Arrow Connector 82">
            <a:extLst>
              <a:ext uri="{FF2B5EF4-FFF2-40B4-BE49-F238E27FC236}">
                <a16:creationId xmlns:a16="http://schemas.microsoft.com/office/drawing/2014/main" id="{BBF0264C-E8C9-418D-BD0B-0BD95842E3B1}"/>
              </a:ext>
            </a:extLst>
          </p:cNvPr>
          <p:cNvCxnSpPr/>
          <p:nvPr/>
        </p:nvCxnSpPr>
        <p:spPr>
          <a:xfrm>
            <a:off x="6787243" y="1431472"/>
            <a:ext cx="478971" cy="198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AA68D5FA-31D5-48C2-B4DC-A793F7FF5E5D}"/>
              </a:ext>
            </a:extLst>
          </p:cNvPr>
          <p:cNvSpPr txBox="1"/>
          <p:nvPr/>
        </p:nvSpPr>
        <p:spPr>
          <a:xfrm>
            <a:off x="6847755" y="1499060"/>
            <a:ext cx="271228" cy="184666"/>
          </a:xfrm>
          <a:prstGeom prst="rect">
            <a:avLst/>
          </a:prstGeom>
          <a:noFill/>
        </p:spPr>
        <p:txBody>
          <a:bodyPr wrap="none" rtlCol="0">
            <a:spAutoFit/>
          </a:bodyPr>
          <a:lstStyle/>
          <a:p>
            <a:r>
              <a:rPr lang="en-US" sz="600" dirty="0">
                <a:solidFill>
                  <a:srgbClr val="C00000"/>
                </a:solidFill>
              </a:rPr>
              <a:t>21</a:t>
            </a:r>
          </a:p>
        </p:txBody>
      </p:sp>
      <p:cxnSp>
        <p:nvCxnSpPr>
          <p:cNvPr id="87" name="Straight Arrow Connector 86">
            <a:extLst>
              <a:ext uri="{FF2B5EF4-FFF2-40B4-BE49-F238E27FC236}">
                <a16:creationId xmlns:a16="http://schemas.microsoft.com/office/drawing/2014/main" id="{D19101E9-6CDC-4D75-A6E7-1487464027A9}"/>
              </a:ext>
            </a:extLst>
          </p:cNvPr>
          <p:cNvCxnSpPr/>
          <p:nvPr/>
        </p:nvCxnSpPr>
        <p:spPr>
          <a:xfrm flipH="1">
            <a:off x="7118983" y="1781724"/>
            <a:ext cx="218039" cy="2517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7A843D9A-A36F-4288-9325-817ECEA572A3}"/>
              </a:ext>
            </a:extLst>
          </p:cNvPr>
          <p:cNvSpPr txBox="1"/>
          <p:nvPr/>
        </p:nvSpPr>
        <p:spPr>
          <a:xfrm>
            <a:off x="7043372" y="1781724"/>
            <a:ext cx="271228" cy="184666"/>
          </a:xfrm>
          <a:prstGeom prst="rect">
            <a:avLst/>
          </a:prstGeom>
          <a:noFill/>
        </p:spPr>
        <p:txBody>
          <a:bodyPr wrap="none" rtlCol="0">
            <a:spAutoFit/>
          </a:bodyPr>
          <a:lstStyle/>
          <a:p>
            <a:r>
              <a:rPr lang="en-US" sz="600" dirty="0">
                <a:solidFill>
                  <a:srgbClr val="C00000"/>
                </a:solidFill>
              </a:rPr>
              <a:t>22</a:t>
            </a:r>
          </a:p>
        </p:txBody>
      </p:sp>
      <p:sp>
        <p:nvSpPr>
          <p:cNvPr id="109" name="TextBox 108">
            <a:extLst>
              <a:ext uri="{FF2B5EF4-FFF2-40B4-BE49-F238E27FC236}">
                <a16:creationId xmlns:a16="http://schemas.microsoft.com/office/drawing/2014/main" id="{DDF0727E-4377-4437-839D-12D075EB4171}"/>
              </a:ext>
            </a:extLst>
          </p:cNvPr>
          <p:cNvSpPr txBox="1"/>
          <p:nvPr/>
        </p:nvSpPr>
        <p:spPr>
          <a:xfrm>
            <a:off x="7628540" y="1527167"/>
            <a:ext cx="582211" cy="184666"/>
          </a:xfrm>
          <a:prstGeom prst="rect">
            <a:avLst/>
          </a:prstGeom>
          <a:noFill/>
        </p:spPr>
        <p:txBody>
          <a:bodyPr wrap="none" rtlCol="0">
            <a:spAutoFit/>
          </a:bodyPr>
          <a:lstStyle/>
          <a:p>
            <a:r>
              <a:rPr lang="en-US" sz="600" b="1" dirty="0">
                <a:solidFill>
                  <a:srgbClr val="C00000"/>
                </a:solidFill>
              </a:rPr>
              <a:t>23. Visit 45</a:t>
            </a:r>
          </a:p>
        </p:txBody>
      </p:sp>
      <p:cxnSp>
        <p:nvCxnSpPr>
          <p:cNvPr id="90" name="Straight Arrow Connector 89">
            <a:extLst>
              <a:ext uri="{FF2B5EF4-FFF2-40B4-BE49-F238E27FC236}">
                <a16:creationId xmlns:a16="http://schemas.microsoft.com/office/drawing/2014/main" id="{723BF376-0D37-4B85-9DF0-3BC305BA55E7}"/>
              </a:ext>
            </a:extLst>
          </p:cNvPr>
          <p:cNvCxnSpPr/>
          <p:nvPr/>
        </p:nvCxnSpPr>
        <p:spPr>
          <a:xfrm>
            <a:off x="7533813" y="1806255"/>
            <a:ext cx="200563" cy="200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CEC315AC-CE23-462D-A44E-09FFB68FDCEF}"/>
              </a:ext>
            </a:extLst>
          </p:cNvPr>
          <p:cNvSpPr txBox="1"/>
          <p:nvPr/>
        </p:nvSpPr>
        <p:spPr>
          <a:xfrm>
            <a:off x="7419447" y="1838872"/>
            <a:ext cx="271228" cy="184666"/>
          </a:xfrm>
          <a:prstGeom prst="rect">
            <a:avLst/>
          </a:prstGeom>
          <a:noFill/>
        </p:spPr>
        <p:txBody>
          <a:bodyPr wrap="none" rtlCol="0">
            <a:spAutoFit/>
          </a:bodyPr>
          <a:lstStyle/>
          <a:p>
            <a:r>
              <a:rPr lang="en-US" sz="600" dirty="0">
                <a:solidFill>
                  <a:srgbClr val="C00000"/>
                </a:solidFill>
              </a:rPr>
              <a:t>24</a:t>
            </a:r>
          </a:p>
        </p:txBody>
      </p:sp>
      <p:cxnSp>
        <p:nvCxnSpPr>
          <p:cNvPr id="94" name="Straight Arrow Connector 93">
            <a:extLst>
              <a:ext uri="{FF2B5EF4-FFF2-40B4-BE49-F238E27FC236}">
                <a16:creationId xmlns:a16="http://schemas.microsoft.com/office/drawing/2014/main" id="{B4B234DD-C8DE-4285-967B-1C9A04CD11D2}"/>
              </a:ext>
            </a:extLst>
          </p:cNvPr>
          <p:cNvCxnSpPr/>
          <p:nvPr/>
        </p:nvCxnSpPr>
        <p:spPr>
          <a:xfrm flipH="1">
            <a:off x="7599725" y="2153698"/>
            <a:ext cx="194023" cy="183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7D9AB953-6A75-4EDF-9D7E-881F408F57C3}"/>
              </a:ext>
            </a:extLst>
          </p:cNvPr>
          <p:cNvSpPr txBox="1"/>
          <p:nvPr/>
        </p:nvSpPr>
        <p:spPr>
          <a:xfrm>
            <a:off x="7492926" y="2121911"/>
            <a:ext cx="271228" cy="184666"/>
          </a:xfrm>
          <a:prstGeom prst="rect">
            <a:avLst/>
          </a:prstGeom>
          <a:noFill/>
        </p:spPr>
        <p:txBody>
          <a:bodyPr wrap="none" rtlCol="0">
            <a:spAutoFit/>
          </a:bodyPr>
          <a:lstStyle/>
          <a:p>
            <a:r>
              <a:rPr lang="en-US" sz="600" dirty="0">
                <a:solidFill>
                  <a:srgbClr val="C00000"/>
                </a:solidFill>
              </a:rPr>
              <a:t>25</a:t>
            </a:r>
          </a:p>
        </p:txBody>
      </p:sp>
      <p:cxnSp>
        <p:nvCxnSpPr>
          <p:cNvPr id="102" name="Straight Arrow Connector 101">
            <a:extLst>
              <a:ext uri="{FF2B5EF4-FFF2-40B4-BE49-F238E27FC236}">
                <a16:creationId xmlns:a16="http://schemas.microsoft.com/office/drawing/2014/main" id="{2889BE13-5BDB-45FC-92FC-57ECB04AED08}"/>
              </a:ext>
            </a:extLst>
          </p:cNvPr>
          <p:cNvCxnSpPr/>
          <p:nvPr/>
        </p:nvCxnSpPr>
        <p:spPr>
          <a:xfrm flipH="1">
            <a:off x="7178986" y="2613819"/>
            <a:ext cx="158036" cy="178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8D528289-136F-4D1C-B4E7-88F81D9C5E6C}"/>
              </a:ext>
            </a:extLst>
          </p:cNvPr>
          <p:cNvSpPr txBox="1"/>
          <p:nvPr/>
        </p:nvSpPr>
        <p:spPr>
          <a:xfrm>
            <a:off x="7051774" y="2559075"/>
            <a:ext cx="271228" cy="184666"/>
          </a:xfrm>
          <a:prstGeom prst="rect">
            <a:avLst/>
          </a:prstGeom>
          <a:noFill/>
        </p:spPr>
        <p:txBody>
          <a:bodyPr wrap="none" rtlCol="0">
            <a:spAutoFit/>
          </a:bodyPr>
          <a:lstStyle/>
          <a:p>
            <a:r>
              <a:rPr lang="en-US" sz="600" dirty="0">
                <a:solidFill>
                  <a:srgbClr val="C00000"/>
                </a:solidFill>
              </a:rPr>
              <a:t>26</a:t>
            </a:r>
          </a:p>
        </p:txBody>
      </p:sp>
      <p:cxnSp>
        <p:nvCxnSpPr>
          <p:cNvPr id="105" name="Straight Arrow Connector 104">
            <a:extLst>
              <a:ext uri="{FF2B5EF4-FFF2-40B4-BE49-F238E27FC236}">
                <a16:creationId xmlns:a16="http://schemas.microsoft.com/office/drawing/2014/main" id="{44F90083-C75F-446B-B60C-99A74254EF26}"/>
              </a:ext>
            </a:extLst>
          </p:cNvPr>
          <p:cNvCxnSpPr/>
          <p:nvPr/>
        </p:nvCxnSpPr>
        <p:spPr>
          <a:xfrm flipH="1">
            <a:off x="6859699" y="3153575"/>
            <a:ext cx="178055" cy="164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1E73F643-7EE4-41E2-8EA1-075B50058AE8}"/>
              </a:ext>
            </a:extLst>
          </p:cNvPr>
          <p:cNvSpPr txBox="1"/>
          <p:nvPr/>
        </p:nvSpPr>
        <p:spPr>
          <a:xfrm>
            <a:off x="6779536" y="3094219"/>
            <a:ext cx="271228" cy="184666"/>
          </a:xfrm>
          <a:prstGeom prst="rect">
            <a:avLst/>
          </a:prstGeom>
          <a:noFill/>
        </p:spPr>
        <p:txBody>
          <a:bodyPr wrap="none" rtlCol="0">
            <a:spAutoFit/>
          </a:bodyPr>
          <a:lstStyle/>
          <a:p>
            <a:r>
              <a:rPr lang="en-US" sz="600" dirty="0">
                <a:solidFill>
                  <a:srgbClr val="C00000"/>
                </a:solidFill>
              </a:rPr>
              <a:t>27</a:t>
            </a:r>
          </a:p>
        </p:txBody>
      </p:sp>
      <p:sp>
        <p:nvSpPr>
          <p:cNvPr id="122" name="TextBox 121">
            <a:extLst>
              <a:ext uri="{FF2B5EF4-FFF2-40B4-BE49-F238E27FC236}">
                <a16:creationId xmlns:a16="http://schemas.microsoft.com/office/drawing/2014/main" id="{AADE41DD-642C-46A4-A137-91FAFBA84D85}"/>
              </a:ext>
            </a:extLst>
          </p:cNvPr>
          <p:cNvSpPr txBox="1"/>
          <p:nvPr/>
        </p:nvSpPr>
        <p:spPr>
          <a:xfrm>
            <a:off x="6888646" y="3165071"/>
            <a:ext cx="582211" cy="184666"/>
          </a:xfrm>
          <a:prstGeom prst="rect">
            <a:avLst/>
          </a:prstGeom>
          <a:noFill/>
        </p:spPr>
        <p:txBody>
          <a:bodyPr wrap="none" rtlCol="0">
            <a:spAutoFit/>
          </a:bodyPr>
          <a:lstStyle/>
          <a:p>
            <a:r>
              <a:rPr lang="en-US" sz="600" b="1" dirty="0">
                <a:solidFill>
                  <a:srgbClr val="C00000"/>
                </a:solidFill>
              </a:rPr>
              <a:t>28. Visit 47</a:t>
            </a:r>
          </a:p>
        </p:txBody>
      </p:sp>
      <p:cxnSp>
        <p:nvCxnSpPr>
          <p:cNvPr id="111" name="Straight Arrow Connector 110">
            <a:extLst>
              <a:ext uri="{FF2B5EF4-FFF2-40B4-BE49-F238E27FC236}">
                <a16:creationId xmlns:a16="http://schemas.microsoft.com/office/drawing/2014/main" id="{D8AA3153-0D99-45D9-9C3F-A875574A154D}"/>
              </a:ext>
            </a:extLst>
          </p:cNvPr>
          <p:cNvCxnSpPr>
            <a:endCxn id="122" idx="3"/>
          </p:cNvCxnSpPr>
          <p:nvPr/>
        </p:nvCxnSpPr>
        <p:spPr>
          <a:xfrm>
            <a:off x="7314600" y="3111498"/>
            <a:ext cx="156257" cy="145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9752053F-6B1C-4015-90D6-19ECAD314677}"/>
              </a:ext>
            </a:extLst>
          </p:cNvPr>
          <p:cNvSpPr txBox="1"/>
          <p:nvPr/>
        </p:nvSpPr>
        <p:spPr>
          <a:xfrm>
            <a:off x="7292572" y="3040054"/>
            <a:ext cx="271228" cy="184666"/>
          </a:xfrm>
          <a:prstGeom prst="rect">
            <a:avLst/>
          </a:prstGeom>
          <a:noFill/>
        </p:spPr>
        <p:txBody>
          <a:bodyPr wrap="none" rtlCol="0">
            <a:spAutoFit/>
          </a:bodyPr>
          <a:lstStyle/>
          <a:p>
            <a:r>
              <a:rPr lang="en-US" sz="600" dirty="0">
                <a:solidFill>
                  <a:srgbClr val="C00000"/>
                </a:solidFill>
              </a:rPr>
              <a:t>29</a:t>
            </a:r>
          </a:p>
        </p:txBody>
      </p:sp>
      <p:cxnSp>
        <p:nvCxnSpPr>
          <p:cNvPr id="116" name="Straight Arrow Connector 115">
            <a:extLst>
              <a:ext uri="{FF2B5EF4-FFF2-40B4-BE49-F238E27FC236}">
                <a16:creationId xmlns:a16="http://schemas.microsoft.com/office/drawing/2014/main" id="{9FA26C66-90BB-46ED-B058-2D645BAC4BA1}"/>
              </a:ext>
            </a:extLst>
          </p:cNvPr>
          <p:cNvCxnSpPr/>
          <p:nvPr/>
        </p:nvCxnSpPr>
        <p:spPr>
          <a:xfrm flipV="1">
            <a:off x="7337022" y="2732469"/>
            <a:ext cx="155904" cy="242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4C7C3E3F-C3F8-404B-BEEF-1AB320597745}"/>
              </a:ext>
            </a:extLst>
          </p:cNvPr>
          <p:cNvSpPr txBox="1"/>
          <p:nvPr/>
        </p:nvSpPr>
        <p:spPr>
          <a:xfrm>
            <a:off x="7335243" y="2761364"/>
            <a:ext cx="271228" cy="184666"/>
          </a:xfrm>
          <a:prstGeom prst="rect">
            <a:avLst/>
          </a:prstGeom>
          <a:noFill/>
        </p:spPr>
        <p:txBody>
          <a:bodyPr wrap="none" rtlCol="0">
            <a:spAutoFit/>
          </a:bodyPr>
          <a:lstStyle/>
          <a:p>
            <a:r>
              <a:rPr lang="en-US" sz="600" dirty="0">
                <a:solidFill>
                  <a:srgbClr val="C00000"/>
                </a:solidFill>
              </a:rPr>
              <a:t>30</a:t>
            </a:r>
          </a:p>
        </p:txBody>
      </p:sp>
      <p:sp>
        <p:nvSpPr>
          <p:cNvPr id="130" name="TextBox 129">
            <a:extLst>
              <a:ext uri="{FF2B5EF4-FFF2-40B4-BE49-F238E27FC236}">
                <a16:creationId xmlns:a16="http://schemas.microsoft.com/office/drawing/2014/main" id="{2F6B5537-6B71-42E6-B84E-4D93E7A5D0DA}"/>
              </a:ext>
            </a:extLst>
          </p:cNvPr>
          <p:cNvSpPr txBox="1"/>
          <p:nvPr/>
        </p:nvSpPr>
        <p:spPr>
          <a:xfrm>
            <a:off x="7613154" y="2502397"/>
            <a:ext cx="582211" cy="184666"/>
          </a:xfrm>
          <a:prstGeom prst="rect">
            <a:avLst/>
          </a:prstGeom>
          <a:noFill/>
        </p:spPr>
        <p:txBody>
          <a:bodyPr wrap="none" rtlCol="0">
            <a:spAutoFit/>
          </a:bodyPr>
          <a:lstStyle/>
          <a:p>
            <a:r>
              <a:rPr lang="en-US" sz="600" b="1" dirty="0">
                <a:solidFill>
                  <a:srgbClr val="C00000"/>
                </a:solidFill>
              </a:rPr>
              <a:t>31. Visit 48</a:t>
            </a:r>
          </a:p>
        </p:txBody>
      </p:sp>
      <p:cxnSp>
        <p:nvCxnSpPr>
          <p:cNvPr id="123" name="Straight Arrow Connector 122">
            <a:extLst>
              <a:ext uri="{FF2B5EF4-FFF2-40B4-BE49-F238E27FC236}">
                <a16:creationId xmlns:a16="http://schemas.microsoft.com/office/drawing/2014/main" id="{00630700-1058-46F5-8F01-595BAC620F0B}"/>
              </a:ext>
            </a:extLst>
          </p:cNvPr>
          <p:cNvCxnSpPr/>
          <p:nvPr/>
        </p:nvCxnSpPr>
        <p:spPr>
          <a:xfrm>
            <a:off x="7606471" y="2732469"/>
            <a:ext cx="127905" cy="159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FABBF57D-EE57-42AE-8561-EB8704BE1C8D}"/>
              </a:ext>
            </a:extLst>
          </p:cNvPr>
          <p:cNvSpPr txBox="1"/>
          <p:nvPr/>
        </p:nvSpPr>
        <p:spPr>
          <a:xfrm>
            <a:off x="7545405" y="2826178"/>
            <a:ext cx="271228" cy="184666"/>
          </a:xfrm>
          <a:prstGeom prst="rect">
            <a:avLst/>
          </a:prstGeom>
          <a:noFill/>
        </p:spPr>
        <p:txBody>
          <a:bodyPr wrap="none" rtlCol="0">
            <a:spAutoFit/>
          </a:bodyPr>
          <a:lstStyle/>
          <a:p>
            <a:r>
              <a:rPr lang="en-US" sz="600" dirty="0">
                <a:solidFill>
                  <a:srgbClr val="C00000"/>
                </a:solidFill>
              </a:rPr>
              <a:t>32</a:t>
            </a:r>
          </a:p>
        </p:txBody>
      </p:sp>
      <p:cxnSp>
        <p:nvCxnSpPr>
          <p:cNvPr id="126" name="Straight Arrow Connector 125">
            <a:extLst>
              <a:ext uri="{FF2B5EF4-FFF2-40B4-BE49-F238E27FC236}">
                <a16:creationId xmlns:a16="http://schemas.microsoft.com/office/drawing/2014/main" id="{5AB8E067-E892-48E9-8A3A-5DFC2A4F520E}"/>
              </a:ext>
            </a:extLst>
          </p:cNvPr>
          <p:cNvCxnSpPr/>
          <p:nvPr/>
        </p:nvCxnSpPr>
        <p:spPr>
          <a:xfrm flipH="1">
            <a:off x="7628540" y="3153575"/>
            <a:ext cx="165208" cy="146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198A5A55-87D1-40EA-971C-F4FB0789FCE8}"/>
              </a:ext>
            </a:extLst>
          </p:cNvPr>
          <p:cNvSpPr txBox="1"/>
          <p:nvPr/>
        </p:nvSpPr>
        <p:spPr>
          <a:xfrm>
            <a:off x="7556408" y="3090267"/>
            <a:ext cx="271228" cy="184666"/>
          </a:xfrm>
          <a:prstGeom prst="rect">
            <a:avLst/>
          </a:prstGeom>
          <a:noFill/>
        </p:spPr>
        <p:txBody>
          <a:bodyPr wrap="none" rtlCol="0">
            <a:spAutoFit/>
          </a:bodyPr>
          <a:lstStyle/>
          <a:p>
            <a:r>
              <a:rPr lang="en-US" sz="600" dirty="0">
                <a:solidFill>
                  <a:srgbClr val="C00000"/>
                </a:solidFill>
              </a:rPr>
              <a:t>33</a:t>
            </a:r>
          </a:p>
        </p:txBody>
      </p:sp>
      <p:sp>
        <p:nvSpPr>
          <p:cNvPr id="139" name="TextBox 138">
            <a:extLst>
              <a:ext uri="{FF2B5EF4-FFF2-40B4-BE49-F238E27FC236}">
                <a16:creationId xmlns:a16="http://schemas.microsoft.com/office/drawing/2014/main" id="{760001F4-0DAF-42F9-8697-BCAD594686D8}"/>
              </a:ext>
            </a:extLst>
          </p:cNvPr>
          <p:cNvSpPr txBox="1"/>
          <p:nvPr/>
        </p:nvSpPr>
        <p:spPr>
          <a:xfrm>
            <a:off x="7658917" y="3160978"/>
            <a:ext cx="582211" cy="184666"/>
          </a:xfrm>
          <a:prstGeom prst="rect">
            <a:avLst/>
          </a:prstGeom>
          <a:noFill/>
        </p:spPr>
        <p:txBody>
          <a:bodyPr wrap="none" rtlCol="0">
            <a:spAutoFit/>
          </a:bodyPr>
          <a:lstStyle/>
          <a:p>
            <a:r>
              <a:rPr lang="en-US" sz="600" b="1" dirty="0">
                <a:solidFill>
                  <a:srgbClr val="C00000"/>
                </a:solidFill>
              </a:rPr>
              <a:t>34. Visit 49</a:t>
            </a:r>
          </a:p>
        </p:txBody>
      </p:sp>
      <p:cxnSp>
        <p:nvCxnSpPr>
          <p:cNvPr id="128" name="Straight Arrow Connector 127">
            <a:extLst>
              <a:ext uri="{FF2B5EF4-FFF2-40B4-BE49-F238E27FC236}">
                <a16:creationId xmlns:a16="http://schemas.microsoft.com/office/drawing/2014/main" id="{DD2B848C-95B0-42FD-871B-74F1EF327B78}"/>
              </a:ext>
            </a:extLst>
          </p:cNvPr>
          <p:cNvCxnSpPr/>
          <p:nvPr/>
        </p:nvCxnSpPr>
        <p:spPr>
          <a:xfrm>
            <a:off x="8066314" y="3113803"/>
            <a:ext cx="174814" cy="1347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0C95C81A-6ABD-4AFF-AA52-9C84B48FBE13}"/>
              </a:ext>
            </a:extLst>
          </p:cNvPr>
          <p:cNvSpPr txBox="1"/>
          <p:nvPr/>
        </p:nvSpPr>
        <p:spPr>
          <a:xfrm>
            <a:off x="8055562" y="3045942"/>
            <a:ext cx="271228" cy="184666"/>
          </a:xfrm>
          <a:prstGeom prst="rect">
            <a:avLst/>
          </a:prstGeom>
          <a:noFill/>
        </p:spPr>
        <p:txBody>
          <a:bodyPr wrap="none" rtlCol="0">
            <a:spAutoFit/>
          </a:bodyPr>
          <a:lstStyle/>
          <a:p>
            <a:r>
              <a:rPr lang="en-US" sz="600" dirty="0">
                <a:solidFill>
                  <a:srgbClr val="C00000"/>
                </a:solidFill>
              </a:rPr>
              <a:t>35</a:t>
            </a:r>
          </a:p>
        </p:txBody>
      </p:sp>
      <p:cxnSp>
        <p:nvCxnSpPr>
          <p:cNvPr id="132" name="Straight Arrow Connector 131">
            <a:extLst>
              <a:ext uri="{FF2B5EF4-FFF2-40B4-BE49-F238E27FC236}">
                <a16:creationId xmlns:a16="http://schemas.microsoft.com/office/drawing/2014/main" id="{BD064A4C-B500-41AE-AD04-A84873031A10}"/>
              </a:ext>
            </a:extLst>
          </p:cNvPr>
          <p:cNvCxnSpPr/>
          <p:nvPr/>
        </p:nvCxnSpPr>
        <p:spPr>
          <a:xfrm flipV="1">
            <a:off x="8011886" y="2269612"/>
            <a:ext cx="0" cy="541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38B21277-0AD0-4AD3-B452-0D7AFC3BCE97}"/>
              </a:ext>
            </a:extLst>
          </p:cNvPr>
          <p:cNvSpPr txBox="1"/>
          <p:nvPr/>
        </p:nvSpPr>
        <p:spPr>
          <a:xfrm>
            <a:off x="7794169" y="2229509"/>
            <a:ext cx="271228" cy="184666"/>
          </a:xfrm>
          <a:prstGeom prst="rect">
            <a:avLst/>
          </a:prstGeom>
          <a:noFill/>
        </p:spPr>
        <p:txBody>
          <a:bodyPr wrap="none" rtlCol="0">
            <a:spAutoFit/>
          </a:bodyPr>
          <a:lstStyle/>
          <a:p>
            <a:r>
              <a:rPr lang="en-US" sz="600" dirty="0">
                <a:solidFill>
                  <a:srgbClr val="C00000"/>
                </a:solidFill>
              </a:rPr>
              <a:t>36</a:t>
            </a:r>
          </a:p>
        </p:txBody>
      </p:sp>
      <p:sp>
        <p:nvSpPr>
          <p:cNvPr id="148" name="TextBox 147">
            <a:extLst>
              <a:ext uri="{FF2B5EF4-FFF2-40B4-BE49-F238E27FC236}">
                <a16:creationId xmlns:a16="http://schemas.microsoft.com/office/drawing/2014/main" id="{A1A9B731-F8E9-45C0-B022-928D834287C6}"/>
              </a:ext>
            </a:extLst>
          </p:cNvPr>
          <p:cNvSpPr txBox="1"/>
          <p:nvPr/>
        </p:nvSpPr>
        <p:spPr>
          <a:xfrm>
            <a:off x="8108989" y="1990921"/>
            <a:ext cx="582211" cy="184666"/>
          </a:xfrm>
          <a:prstGeom prst="rect">
            <a:avLst/>
          </a:prstGeom>
          <a:noFill/>
        </p:spPr>
        <p:txBody>
          <a:bodyPr wrap="none" rtlCol="0">
            <a:spAutoFit/>
          </a:bodyPr>
          <a:lstStyle/>
          <a:p>
            <a:r>
              <a:rPr lang="en-US" sz="600" b="1" dirty="0">
                <a:solidFill>
                  <a:srgbClr val="C00000"/>
                </a:solidFill>
              </a:rPr>
              <a:t>37. Visit 55</a:t>
            </a:r>
          </a:p>
        </p:txBody>
      </p:sp>
      <p:sp>
        <p:nvSpPr>
          <p:cNvPr id="149" name="TextBox 148">
            <a:extLst>
              <a:ext uri="{FF2B5EF4-FFF2-40B4-BE49-F238E27FC236}">
                <a16:creationId xmlns:a16="http://schemas.microsoft.com/office/drawing/2014/main" id="{63E6A75E-584A-484C-82A1-A2A9CC707BFF}"/>
              </a:ext>
            </a:extLst>
          </p:cNvPr>
          <p:cNvSpPr txBox="1"/>
          <p:nvPr/>
        </p:nvSpPr>
        <p:spPr>
          <a:xfrm>
            <a:off x="4895850" y="493817"/>
            <a:ext cx="3170781" cy="430887"/>
          </a:xfrm>
          <a:prstGeom prst="rect">
            <a:avLst/>
          </a:prstGeom>
          <a:noFill/>
        </p:spPr>
        <p:txBody>
          <a:bodyPr wrap="square" rtlCol="0">
            <a:spAutoFit/>
          </a:bodyPr>
          <a:lstStyle/>
          <a:p>
            <a:r>
              <a:rPr lang="en-US" sz="1100" b="0" i="0" dirty="0">
                <a:solidFill>
                  <a:srgbClr val="444444"/>
                </a:solidFill>
                <a:effectLst/>
                <a:latin typeface="Oxygen" panose="020B0604020202020204" pitchFamily="2" charset="0"/>
              </a:rPr>
              <a:t>Input:  </a:t>
            </a:r>
          </a:p>
          <a:p>
            <a:r>
              <a:rPr lang="en-US" sz="1100" b="1" i="0" dirty="0">
                <a:solidFill>
                  <a:srgbClr val="444444"/>
                </a:solidFill>
                <a:effectLst/>
                <a:latin typeface="Oxygen" panose="020B0604020202020204" pitchFamily="2" charset="0"/>
              </a:rPr>
              <a:t>40, 4, 34, 45, 14, 55, 48, 13, 15, 49, 47 </a:t>
            </a:r>
            <a:endParaRPr lang="en-US" sz="1100" dirty="0"/>
          </a:p>
        </p:txBody>
      </p:sp>
      <p:cxnSp>
        <p:nvCxnSpPr>
          <p:cNvPr id="134" name="Straight Arrow Connector 133">
            <a:extLst>
              <a:ext uri="{FF2B5EF4-FFF2-40B4-BE49-F238E27FC236}">
                <a16:creationId xmlns:a16="http://schemas.microsoft.com/office/drawing/2014/main" id="{42479526-7EDC-4ED6-8ACE-2B47837C7F0B}"/>
              </a:ext>
            </a:extLst>
          </p:cNvPr>
          <p:cNvCxnSpPr/>
          <p:nvPr/>
        </p:nvCxnSpPr>
        <p:spPr>
          <a:xfrm flipH="1" flipV="1">
            <a:off x="7707627" y="1722652"/>
            <a:ext cx="164419" cy="116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2619976A-E55E-4CBB-BB3A-66FD85744B44}"/>
              </a:ext>
            </a:extLst>
          </p:cNvPr>
          <p:cNvSpPr txBox="1"/>
          <p:nvPr/>
        </p:nvSpPr>
        <p:spPr>
          <a:xfrm>
            <a:off x="7707977" y="1651729"/>
            <a:ext cx="271228" cy="184666"/>
          </a:xfrm>
          <a:prstGeom prst="rect">
            <a:avLst/>
          </a:prstGeom>
          <a:noFill/>
        </p:spPr>
        <p:txBody>
          <a:bodyPr wrap="none" rtlCol="0">
            <a:spAutoFit/>
          </a:bodyPr>
          <a:lstStyle/>
          <a:p>
            <a:r>
              <a:rPr lang="en-US" sz="600" dirty="0">
                <a:solidFill>
                  <a:srgbClr val="C00000"/>
                </a:solidFill>
              </a:rPr>
              <a:t>39</a:t>
            </a:r>
          </a:p>
        </p:txBody>
      </p:sp>
      <p:cxnSp>
        <p:nvCxnSpPr>
          <p:cNvPr id="137" name="Straight Arrow Connector 136">
            <a:extLst>
              <a:ext uri="{FF2B5EF4-FFF2-40B4-BE49-F238E27FC236}">
                <a16:creationId xmlns:a16="http://schemas.microsoft.com/office/drawing/2014/main" id="{9CEFD802-5031-4B2D-B1EB-E888304FC257}"/>
              </a:ext>
            </a:extLst>
          </p:cNvPr>
          <p:cNvCxnSpPr/>
          <p:nvPr/>
        </p:nvCxnSpPr>
        <p:spPr>
          <a:xfrm flipH="1" flipV="1">
            <a:off x="6859699" y="1248525"/>
            <a:ext cx="429285" cy="168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99E16AB8-7EA4-4F54-B03D-C7615FA6F666}"/>
              </a:ext>
            </a:extLst>
          </p:cNvPr>
          <p:cNvSpPr txBox="1"/>
          <p:nvPr/>
        </p:nvSpPr>
        <p:spPr>
          <a:xfrm>
            <a:off x="6888646" y="1170891"/>
            <a:ext cx="271228" cy="184666"/>
          </a:xfrm>
          <a:prstGeom prst="rect">
            <a:avLst/>
          </a:prstGeom>
          <a:noFill/>
        </p:spPr>
        <p:txBody>
          <a:bodyPr wrap="none" rtlCol="0">
            <a:spAutoFit/>
          </a:bodyPr>
          <a:lstStyle/>
          <a:p>
            <a:r>
              <a:rPr lang="en-US" sz="600" dirty="0">
                <a:solidFill>
                  <a:srgbClr val="C00000"/>
                </a:solidFill>
              </a:rPr>
              <a:t>40</a:t>
            </a:r>
          </a:p>
        </p:txBody>
      </p:sp>
      <p:cxnSp>
        <p:nvCxnSpPr>
          <p:cNvPr id="141" name="Straight Arrow Connector 140">
            <a:extLst>
              <a:ext uri="{FF2B5EF4-FFF2-40B4-BE49-F238E27FC236}">
                <a16:creationId xmlns:a16="http://schemas.microsoft.com/office/drawing/2014/main" id="{BA8C0D2D-56FB-4298-83DA-DDF0D45BA476}"/>
              </a:ext>
            </a:extLst>
          </p:cNvPr>
          <p:cNvCxnSpPr/>
          <p:nvPr/>
        </p:nvCxnSpPr>
        <p:spPr>
          <a:xfrm>
            <a:off x="6406101" y="2218216"/>
            <a:ext cx="217930" cy="1959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C6C911C3-7AB5-4521-98A2-8A87E4282C71}"/>
              </a:ext>
            </a:extLst>
          </p:cNvPr>
          <p:cNvSpPr txBox="1"/>
          <p:nvPr/>
        </p:nvSpPr>
        <p:spPr>
          <a:xfrm>
            <a:off x="6454259" y="2180424"/>
            <a:ext cx="271228" cy="184666"/>
          </a:xfrm>
          <a:prstGeom prst="rect">
            <a:avLst/>
          </a:prstGeom>
          <a:noFill/>
        </p:spPr>
        <p:txBody>
          <a:bodyPr wrap="none" rtlCol="0">
            <a:spAutoFit/>
          </a:bodyPr>
          <a:lstStyle/>
          <a:p>
            <a:r>
              <a:rPr lang="en-US" sz="600" dirty="0">
                <a:solidFill>
                  <a:srgbClr val="C00000"/>
                </a:solidFill>
              </a:rPr>
              <a:t>18</a:t>
            </a:r>
          </a:p>
        </p:txBody>
      </p:sp>
      <p:cxnSp>
        <p:nvCxnSpPr>
          <p:cNvPr id="151" name="Straight Arrow Connector 150">
            <a:extLst>
              <a:ext uri="{FF2B5EF4-FFF2-40B4-BE49-F238E27FC236}">
                <a16:creationId xmlns:a16="http://schemas.microsoft.com/office/drawing/2014/main" id="{AEF8B1AC-FFC3-405E-BE9C-6856D8DFA7B3}"/>
              </a:ext>
            </a:extLst>
          </p:cNvPr>
          <p:cNvCxnSpPr>
            <a:cxnSpLocks/>
          </p:cNvCxnSpPr>
          <p:nvPr/>
        </p:nvCxnSpPr>
        <p:spPr>
          <a:xfrm flipV="1">
            <a:off x="6609584" y="1527167"/>
            <a:ext cx="0" cy="654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114692F4-6CE3-44EA-81FC-367871DF2A51}"/>
              </a:ext>
            </a:extLst>
          </p:cNvPr>
          <p:cNvCxnSpPr/>
          <p:nvPr/>
        </p:nvCxnSpPr>
        <p:spPr>
          <a:xfrm>
            <a:off x="8108989" y="2245365"/>
            <a:ext cx="288609" cy="257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8" name="TextBox 167">
            <a:extLst>
              <a:ext uri="{FF2B5EF4-FFF2-40B4-BE49-F238E27FC236}">
                <a16:creationId xmlns:a16="http://schemas.microsoft.com/office/drawing/2014/main" id="{A498B15E-57FE-480B-9FD8-24F9D447415B}"/>
              </a:ext>
            </a:extLst>
          </p:cNvPr>
          <p:cNvSpPr txBox="1"/>
          <p:nvPr/>
        </p:nvSpPr>
        <p:spPr>
          <a:xfrm>
            <a:off x="8251070" y="2274938"/>
            <a:ext cx="271228" cy="184666"/>
          </a:xfrm>
          <a:prstGeom prst="rect">
            <a:avLst/>
          </a:prstGeom>
          <a:noFill/>
        </p:spPr>
        <p:txBody>
          <a:bodyPr wrap="none" rtlCol="0">
            <a:spAutoFit/>
          </a:bodyPr>
          <a:lstStyle/>
          <a:p>
            <a:r>
              <a:rPr lang="en-US" sz="600" dirty="0">
                <a:solidFill>
                  <a:srgbClr val="C00000"/>
                </a:solidFill>
              </a:rPr>
              <a:t>38</a:t>
            </a:r>
          </a:p>
        </p:txBody>
      </p:sp>
    </p:spTree>
    <p:extLst>
      <p:ext uri="{BB962C8B-B14F-4D97-AF65-F5344CB8AC3E}">
        <p14:creationId xmlns:p14="http://schemas.microsoft.com/office/powerpoint/2010/main" val="158665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3" name="Google Shape;253;p35"/>
          <p:cNvSpPr txBox="1">
            <a:spLocks noGrp="1"/>
          </p:cNvSpPr>
          <p:nvPr>
            <p:ph type="title"/>
          </p:nvPr>
        </p:nvSpPr>
        <p:spPr>
          <a:xfrm>
            <a:off x="606627" y="490097"/>
            <a:ext cx="3355823" cy="5055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Binary Search Tree Sample Program</a:t>
            </a:r>
          </a:p>
        </p:txBody>
      </p:sp>
      <p:pic>
        <p:nvPicPr>
          <p:cNvPr id="257" name="Google Shape;257;p35"/>
          <p:cNvPicPr preferRelativeResize="0"/>
          <p:nvPr/>
        </p:nvPicPr>
        <p:blipFill>
          <a:blip r:embed="rId3">
            <a:alphaModFix amt="80000"/>
          </a:blip>
          <a:stretch>
            <a:fillRect/>
          </a:stretch>
        </p:blipFill>
        <p:spPr>
          <a:xfrm rot="-6023610">
            <a:off x="7075601" y="2625067"/>
            <a:ext cx="1579416" cy="716443"/>
          </a:xfrm>
          <a:prstGeom prst="rect">
            <a:avLst/>
          </a:prstGeom>
          <a:noFill/>
          <a:ln>
            <a:noFill/>
          </a:ln>
        </p:spPr>
      </p:pic>
      <p:sp>
        <p:nvSpPr>
          <p:cNvPr id="8" name="Google Shape;234;p34">
            <a:extLst>
              <a:ext uri="{FF2B5EF4-FFF2-40B4-BE49-F238E27FC236}">
                <a16:creationId xmlns:a16="http://schemas.microsoft.com/office/drawing/2014/main" id="{201D6E1F-06F4-457F-AA95-D138DE4A469B}"/>
              </a:ext>
            </a:extLst>
          </p:cNvPr>
          <p:cNvSpPr txBox="1">
            <a:spLocks/>
          </p:cNvSpPr>
          <p:nvPr/>
        </p:nvSpPr>
        <p:spPr>
          <a:xfrm>
            <a:off x="4977123" y="1175102"/>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sz="1400" u="sng" dirty="0">
                <a:solidFill>
                  <a:srgbClr val="C00000"/>
                </a:solidFill>
                <a:latin typeface="Concert One" panose="020B0604020202020204" charset="0"/>
              </a:rPr>
              <a:t>Traversing the Tree: </a:t>
            </a:r>
            <a:r>
              <a:rPr lang="en-US" sz="1400" u="sng" dirty="0" err="1">
                <a:solidFill>
                  <a:srgbClr val="C00000"/>
                </a:solidFill>
                <a:latin typeface="Concert One" panose="020B0604020202020204" charset="0"/>
              </a:rPr>
              <a:t>Inorder</a:t>
            </a:r>
            <a:r>
              <a:rPr lang="en-US" sz="1400" u="sng" dirty="0">
                <a:solidFill>
                  <a:srgbClr val="C00000"/>
                </a:solidFill>
                <a:latin typeface="Concert One" panose="020B0604020202020204" charset="0"/>
              </a:rPr>
              <a:t> traversal</a:t>
            </a:r>
          </a:p>
        </p:txBody>
      </p:sp>
      <p:pic>
        <p:nvPicPr>
          <p:cNvPr id="10" name="Picture 9">
            <a:extLst>
              <a:ext uri="{FF2B5EF4-FFF2-40B4-BE49-F238E27FC236}">
                <a16:creationId xmlns:a16="http://schemas.microsoft.com/office/drawing/2014/main" id="{56B5C420-FE07-4F88-8428-BC6DF1E0BA41}"/>
              </a:ext>
            </a:extLst>
          </p:cNvPr>
          <p:cNvPicPr>
            <a:picLocks noChangeAspect="1"/>
          </p:cNvPicPr>
          <p:nvPr/>
        </p:nvPicPr>
        <p:blipFill>
          <a:blip r:embed="rId4"/>
          <a:stretch>
            <a:fillRect/>
          </a:stretch>
        </p:blipFill>
        <p:spPr>
          <a:xfrm>
            <a:off x="2155493" y="1710243"/>
            <a:ext cx="5215002" cy="2595594"/>
          </a:xfrm>
          <a:prstGeom prst="rect">
            <a:avLst/>
          </a:prstGeom>
        </p:spPr>
      </p:pic>
      <p:sp>
        <p:nvSpPr>
          <p:cNvPr id="256" name="Google Shape;256;p35"/>
          <p:cNvSpPr/>
          <p:nvPr/>
        </p:nvSpPr>
        <p:spPr>
          <a:xfrm rot="-2700000">
            <a:off x="6984012" y="4123169"/>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5" name="Google Shape;255;p35"/>
          <p:cNvSpPr/>
          <p:nvPr/>
        </p:nvSpPr>
        <p:spPr>
          <a:xfrm rot="-2700000">
            <a:off x="1810267" y="1577077"/>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Tree>
    <p:extLst>
      <p:ext uri="{BB962C8B-B14F-4D97-AF65-F5344CB8AC3E}">
        <p14:creationId xmlns:p14="http://schemas.microsoft.com/office/powerpoint/2010/main" val="2203256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3" name="Google Shape;253;p35"/>
          <p:cNvSpPr txBox="1">
            <a:spLocks noGrp="1"/>
          </p:cNvSpPr>
          <p:nvPr>
            <p:ph type="title"/>
          </p:nvPr>
        </p:nvSpPr>
        <p:spPr>
          <a:xfrm>
            <a:off x="606627" y="490097"/>
            <a:ext cx="3355823" cy="5055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Binary Search Tree Sample Program</a:t>
            </a:r>
          </a:p>
        </p:txBody>
      </p:sp>
      <p:pic>
        <p:nvPicPr>
          <p:cNvPr id="257" name="Google Shape;257;p35"/>
          <p:cNvPicPr preferRelativeResize="0"/>
          <p:nvPr/>
        </p:nvPicPr>
        <p:blipFill>
          <a:blip r:embed="rId3">
            <a:alphaModFix amt="80000"/>
          </a:blip>
          <a:stretch>
            <a:fillRect/>
          </a:stretch>
        </p:blipFill>
        <p:spPr>
          <a:xfrm rot="-6023610">
            <a:off x="6960657" y="2301999"/>
            <a:ext cx="1579416" cy="716443"/>
          </a:xfrm>
          <a:prstGeom prst="rect">
            <a:avLst/>
          </a:prstGeom>
          <a:noFill/>
          <a:ln>
            <a:noFill/>
          </a:ln>
        </p:spPr>
      </p:pic>
      <p:sp>
        <p:nvSpPr>
          <p:cNvPr id="8" name="Google Shape;234;p34">
            <a:extLst>
              <a:ext uri="{FF2B5EF4-FFF2-40B4-BE49-F238E27FC236}">
                <a16:creationId xmlns:a16="http://schemas.microsoft.com/office/drawing/2014/main" id="{201D6E1F-06F4-457F-AA95-D138DE4A469B}"/>
              </a:ext>
            </a:extLst>
          </p:cNvPr>
          <p:cNvSpPr txBox="1">
            <a:spLocks/>
          </p:cNvSpPr>
          <p:nvPr/>
        </p:nvSpPr>
        <p:spPr>
          <a:xfrm>
            <a:off x="4977123" y="1175102"/>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sz="1400" u="sng" dirty="0">
                <a:solidFill>
                  <a:srgbClr val="C00000"/>
                </a:solidFill>
                <a:latin typeface="Concert One" panose="020B0604020202020204" charset="0"/>
              </a:rPr>
              <a:t>Traversing the Tree: </a:t>
            </a:r>
            <a:r>
              <a:rPr lang="en-US" sz="1400" u="sng" dirty="0" err="1">
                <a:solidFill>
                  <a:srgbClr val="C00000"/>
                </a:solidFill>
                <a:latin typeface="Concert One" panose="020B0604020202020204" charset="0"/>
              </a:rPr>
              <a:t>Inorder</a:t>
            </a:r>
            <a:r>
              <a:rPr lang="en-US" sz="1400" u="sng" dirty="0">
                <a:solidFill>
                  <a:srgbClr val="C00000"/>
                </a:solidFill>
                <a:latin typeface="Concert One" panose="020B0604020202020204" charset="0"/>
              </a:rPr>
              <a:t> traversal</a:t>
            </a:r>
          </a:p>
        </p:txBody>
      </p:sp>
      <p:pic>
        <p:nvPicPr>
          <p:cNvPr id="9" name="Picture 8">
            <a:extLst>
              <a:ext uri="{FF2B5EF4-FFF2-40B4-BE49-F238E27FC236}">
                <a16:creationId xmlns:a16="http://schemas.microsoft.com/office/drawing/2014/main" id="{CF180406-FB8C-4D9F-8266-CFF108876BE7}"/>
              </a:ext>
            </a:extLst>
          </p:cNvPr>
          <p:cNvPicPr>
            <a:picLocks noChangeAspect="1"/>
          </p:cNvPicPr>
          <p:nvPr/>
        </p:nvPicPr>
        <p:blipFill>
          <a:blip r:embed="rId4"/>
          <a:stretch>
            <a:fillRect/>
          </a:stretch>
        </p:blipFill>
        <p:spPr>
          <a:xfrm>
            <a:off x="2107896" y="1710242"/>
            <a:ext cx="4850679" cy="1336411"/>
          </a:xfrm>
          <a:prstGeom prst="rect">
            <a:avLst/>
          </a:prstGeom>
        </p:spPr>
      </p:pic>
      <p:sp>
        <p:nvSpPr>
          <p:cNvPr id="256" name="Google Shape;256;p35"/>
          <p:cNvSpPr/>
          <p:nvPr/>
        </p:nvSpPr>
        <p:spPr>
          <a:xfrm rot="-2700000">
            <a:off x="6608769" y="2850122"/>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55" name="Google Shape;255;p35"/>
          <p:cNvSpPr/>
          <p:nvPr/>
        </p:nvSpPr>
        <p:spPr>
          <a:xfrm rot="-2700000">
            <a:off x="1810267" y="1577077"/>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Tree>
    <p:extLst>
      <p:ext uri="{BB962C8B-B14F-4D97-AF65-F5344CB8AC3E}">
        <p14:creationId xmlns:p14="http://schemas.microsoft.com/office/powerpoint/2010/main" val="19183587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idx="8"/>
          </p:nvPr>
        </p:nvSpPr>
        <p:spPr>
          <a:xfrm>
            <a:off x="640989" y="486050"/>
            <a:ext cx="3178336" cy="5272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Traversing the Tree</a:t>
            </a:r>
            <a:br>
              <a:rPr lang="en-US" dirty="0"/>
            </a:br>
            <a:r>
              <a:rPr lang="en-US" u="sng" dirty="0"/>
              <a:t>Preorder Traversal</a:t>
            </a:r>
          </a:p>
        </p:txBody>
      </p:sp>
      <p:sp>
        <p:nvSpPr>
          <p:cNvPr id="274" name="Google Shape;274;p36"/>
          <p:cNvSpPr txBox="1">
            <a:spLocks noGrp="1"/>
          </p:cNvSpPr>
          <p:nvPr>
            <p:ph type="subTitle" idx="1"/>
          </p:nvPr>
        </p:nvSpPr>
        <p:spPr>
          <a:xfrm>
            <a:off x="540923" y="1928698"/>
            <a:ext cx="3453809" cy="87298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1. Visit the node.</a:t>
            </a:r>
          </a:p>
          <a:p>
            <a:pPr marL="0" lvl="0" indent="0" algn="l" rtl="0">
              <a:spcBef>
                <a:spcPts val="0"/>
              </a:spcBef>
              <a:spcAft>
                <a:spcPts val="0"/>
              </a:spcAft>
              <a:buClr>
                <a:schemeClr val="dk1"/>
              </a:buClr>
              <a:buSzPts val="1100"/>
              <a:buFont typeface="Arial"/>
              <a:buNone/>
            </a:pPr>
            <a:r>
              <a:rPr lang="en-US" dirty="0"/>
              <a:t>2. Call itself to traverse the node’s left subtree.</a:t>
            </a:r>
          </a:p>
          <a:p>
            <a:pPr marL="0" lvl="0" indent="0" algn="l" rtl="0">
              <a:spcBef>
                <a:spcPts val="0"/>
              </a:spcBef>
              <a:spcAft>
                <a:spcPts val="0"/>
              </a:spcAft>
              <a:buClr>
                <a:schemeClr val="dk1"/>
              </a:buClr>
              <a:buSzPts val="1100"/>
              <a:buFont typeface="Arial"/>
              <a:buNone/>
            </a:pPr>
            <a:r>
              <a:rPr lang="en-US" dirty="0"/>
              <a:t>3. Call itself to traverse the node’s right subtree.</a:t>
            </a:r>
          </a:p>
        </p:txBody>
      </p:sp>
      <p:sp>
        <p:nvSpPr>
          <p:cNvPr id="12" name="Google Shape;256;p35">
            <a:extLst>
              <a:ext uri="{FF2B5EF4-FFF2-40B4-BE49-F238E27FC236}">
                <a16:creationId xmlns:a16="http://schemas.microsoft.com/office/drawing/2014/main" id="{8A1CA1C9-D8E3-4E89-8454-63DDD7556486}"/>
              </a:ext>
            </a:extLst>
          </p:cNvPr>
          <p:cNvSpPr/>
          <p:nvPr/>
        </p:nvSpPr>
        <p:spPr>
          <a:xfrm rot="-2700000">
            <a:off x="8235701" y="4330490"/>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pic>
        <p:nvPicPr>
          <p:cNvPr id="3" name="Picture 2" descr="A picture containing watch, clock&#10;&#10;Description automatically generated">
            <a:extLst>
              <a:ext uri="{FF2B5EF4-FFF2-40B4-BE49-F238E27FC236}">
                <a16:creationId xmlns:a16="http://schemas.microsoft.com/office/drawing/2014/main" id="{FCB4E546-567F-4605-BA73-BCFC7DE5EB6C}"/>
              </a:ext>
            </a:extLst>
          </p:cNvPr>
          <p:cNvPicPr>
            <a:picLocks noChangeAspect="1"/>
          </p:cNvPicPr>
          <p:nvPr/>
        </p:nvPicPr>
        <p:blipFill>
          <a:blip r:embed="rId3"/>
          <a:stretch>
            <a:fillRect/>
          </a:stretch>
        </p:blipFill>
        <p:spPr>
          <a:xfrm>
            <a:off x="5193797" y="1340985"/>
            <a:ext cx="3042556" cy="2266704"/>
          </a:xfrm>
          <a:prstGeom prst="rect">
            <a:avLst/>
          </a:prstGeom>
        </p:spPr>
      </p:pic>
      <p:sp>
        <p:nvSpPr>
          <p:cNvPr id="10" name="TextBox 9">
            <a:extLst>
              <a:ext uri="{FF2B5EF4-FFF2-40B4-BE49-F238E27FC236}">
                <a16:creationId xmlns:a16="http://schemas.microsoft.com/office/drawing/2014/main" id="{9BB923AB-B0C2-4826-B1A2-25DF2D979363}"/>
              </a:ext>
            </a:extLst>
          </p:cNvPr>
          <p:cNvSpPr txBox="1"/>
          <p:nvPr/>
        </p:nvSpPr>
        <p:spPr>
          <a:xfrm>
            <a:off x="4852307" y="377198"/>
            <a:ext cx="3170781" cy="430887"/>
          </a:xfrm>
          <a:prstGeom prst="rect">
            <a:avLst/>
          </a:prstGeom>
          <a:noFill/>
        </p:spPr>
        <p:txBody>
          <a:bodyPr wrap="square" rtlCol="0">
            <a:spAutoFit/>
          </a:bodyPr>
          <a:lstStyle/>
          <a:p>
            <a:r>
              <a:rPr lang="en-US" sz="1100" b="0" i="0" dirty="0">
                <a:solidFill>
                  <a:srgbClr val="444444"/>
                </a:solidFill>
                <a:effectLst/>
                <a:latin typeface="Oxygen" panose="020B0604020202020204" pitchFamily="2" charset="0"/>
              </a:rPr>
              <a:t>Input:  </a:t>
            </a:r>
          </a:p>
          <a:p>
            <a:r>
              <a:rPr lang="en-US" sz="1100" b="1" i="0" dirty="0">
                <a:solidFill>
                  <a:srgbClr val="444444"/>
                </a:solidFill>
                <a:effectLst/>
                <a:latin typeface="Oxygen" panose="020B0604020202020204" pitchFamily="2" charset="0"/>
              </a:rPr>
              <a:t>40, 4, 34, 45, 14, 55, 48, 13, 15, 49, 47 </a:t>
            </a:r>
            <a:endParaRPr lang="en-US" sz="1100" dirty="0"/>
          </a:p>
        </p:txBody>
      </p:sp>
      <p:sp>
        <p:nvSpPr>
          <p:cNvPr id="15" name="TextBox 14">
            <a:extLst>
              <a:ext uri="{FF2B5EF4-FFF2-40B4-BE49-F238E27FC236}">
                <a16:creationId xmlns:a16="http://schemas.microsoft.com/office/drawing/2014/main" id="{840FB82B-3702-4CBE-BF4B-F4A64C66BC8F}"/>
              </a:ext>
            </a:extLst>
          </p:cNvPr>
          <p:cNvSpPr txBox="1"/>
          <p:nvPr/>
        </p:nvSpPr>
        <p:spPr>
          <a:xfrm>
            <a:off x="5112722" y="3591718"/>
            <a:ext cx="3180679" cy="523220"/>
          </a:xfrm>
          <a:prstGeom prst="rect">
            <a:avLst/>
          </a:prstGeom>
          <a:noFill/>
        </p:spPr>
        <p:txBody>
          <a:bodyPr wrap="none" rtlCol="0">
            <a:spAutoFit/>
          </a:bodyPr>
          <a:lstStyle/>
          <a:p>
            <a:r>
              <a:rPr lang="en-US" b="0" i="0" dirty="0">
                <a:solidFill>
                  <a:srgbClr val="444444"/>
                </a:solidFill>
                <a:effectLst/>
                <a:latin typeface="Oxygen" panose="02000503000000000000" pitchFamily="2" charset="0"/>
              </a:rPr>
              <a:t>Output:</a:t>
            </a:r>
          </a:p>
          <a:p>
            <a:r>
              <a:rPr lang="en-US" b="1" i="0" dirty="0">
                <a:solidFill>
                  <a:srgbClr val="C00000"/>
                </a:solidFill>
                <a:effectLst/>
                <a:latin typeface="Oxygen" panose="02000503000000000000" pitchFamily="2" charset="0"/>
              </a:rPr>
              <a:t>40, 4, 34, 14, 13, 15, 45, 55, 48, 47, 49</a:t>
            </a:r>
            <a:endParaRPr lang="en-US" b="1" dirty="0">
              <a:solidFill>
                <a:srgbClr val="C00000"/>
              </a:solidFill>
            </a:endParaRPr>
          </a:p>
        </p:txBody>
      </p:sp>
      <p:sp>
        <p:nvSpPr>
          <p:cNvPr id="16" name="TextBox 15">
            <a:extLst>
              <a:ext uri="{FF2B5EF4-FFF2-40B4-BE49-F238E27FC236}">
                <a16:creationId xmlns:a16="http://schemas.microsoft.com/office/drawing/2014/main" id="{4C287353-2A95-4276-9E13-42236F2D329A}"/>
              </a:ext>
            </a:extLst>
          </p:cNvPr>
          <p:cNvSpPr txBox="1"/>
          <p:nvPr/>
        </p:nvSpPr>
        <p:spPr>
          <a:xfrm>
            <a:off x="5797062" y="1581044"/>
            <a:ext cx="227948" cy="184666"/>
          </a:xfrm>
          <a:prstGeom prst="rect">
            <a:avLst/>
          </a:prstGeom>
          <a:noFill/>
        </p:spPr>
        <p:txBody>
          <a:bodyPr wrap="none" rtlCol="0">
            <a:spAutoFit/>
          </a:bodyPr>
          <a:lstStyle/>
          <a:p>
            <a:r>
              <a:rPr lang="en-US" sz="600" dirty="0">
                <a:solidFill>
                  <a:srgbClr val="C00000"/>
                </a:solidFill>
              </a:rPr>
              <a:t>2</a:t>
            </a:r>
          </a:p>
        </p:txBody>
      </p:sp>
      <p:sp>
        <p:nvSpPr>
          <p:cNvPr id="17" name="TextBox 16">
            <a:extLst>
              <a:ext uri="{FF2B5EF4-FFF2-40B4-BE49-F238E27FC236}">
                <a16:creationId xmlns:a16="http://schemas.microsoft.com/office/drawing/2014/main" id="{35ACA129-E4FF-4703-9255-F7D5155FC15B}"/>
              </a:ext>
            </a:extLst>
          </p:cNvPr>
          <p:cNvSpPr txBox="1"/>
          <p:nvPr/>
        </p:nvSpPr>
        <p:spPr>
          <a:xfrm>
            <a:off x="6693453" y="1332272"/>
            <a:ext cx="538930" cy="184666"/>
          </a:xfrm>
          <a:prstGeom prst="rect">
            <a:avLst/>
          </a:prstGeom>
          <a:noFill/>
        </p:spPr>
        <p:txBody>
          <a:bodyPr wrap="none" rtlCol="0">
            <a:spAutoFit/>
          </a:bodyPr>
          <a:lstStyle/>
          <a:p>
            <a:r>
              <a:rPr lang="en-US" sz="600" b="1" dirty="0">
                <a:solidFill>
                  <a:srgbClr val="C00000"/>
                </a:solidFill>
              </a:rPr>
              <a:t>1. Visit 40</a:t>
            </a:r>
          </a:p>
        </p:txBody>
      </p:sp>
      <p:cxnSp>
        <p:nvCxnSpPr>
          <p:cNvPr id="7" name="Straight Arrow Connector 6">
            <a:extLst>
              <a:ext uri="{FF2B5EF4-FFF2-40B4-BE49-F238E27FC236}">
                <a16:creationId xmlns:a16="http://schemas.microsoft.com/office/drawing/2014/main" id="{704F29F4-5DB0-4B20-9925-44AF864FE1D7}"/>
              </a:ext>
            </a:extLst>
          </p:cNvPr>
          <p:cNvCxnSpPr/>
          <p:nvPr/>
        </p:nvCxnSpPr>
        <p:spPr>
          <a:xfrm flipH="1">
            <a:off x="5797062" y="1565031"/>
            <a:ext cx="640635" cy="2166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8E135392-3779-4F8A-93CB-D58727456400}"/>
              </a:ext>
            </a:extLst>
          </p:cNvPr>
          <p:cNvSpPr txBox="1"/>
          <p:nvPr/>
        </p:nvSpPr>
        <p:spPr>
          <a:xfrm>
            <a:off x="4956500" y="1836365"/>
            <a:ext cx="495649" cy="184666"/>
          </a:xfrm>
          <a:prstGeom prst="rect">
            <a:avLst/>
          </a:prstGeom>
          <a:noFill/>
        </p:spPr>
        <p:txBody>
          <a:bodyPr wrap="none" rtlCol="0">
            <a:spAutoFit/>
          </a:bodyPr>
          <a:lstStyle/>
          <a:p>
            <a:r>
              <a:rPr lang="en-US" sz="600" b="1" dirty="0">
                <a:solidFill>
                  <a:srgbClr val="C00000"/>
                </a:solidFill>
              </a:rPr>
              <a:t>3. Visit 4</a:t>
            </a:r>
          </a:p>
        </p:txBody>
      </p:sp>
      <p:cxnSp>
        <p:nvCxnSpPr>
          <p:cNvPr id="9" name="Straight Arrow Connector 8">
            <a:extLst>
              <a:ext uri="{FF2B5EF4-FFF2-40B4-BE49-F238E27FC236}">
                <a16:creationId xmlns:a16="http://schemas.microsoft.com/office/drawing/2014/main" id="{6921AE1C-F8A8-4017-A211-CA2BFFF28ABA}"/>
              </a:ext>
            </a:extLst>
          </p:cNvPr>
          <p:cNvCxnSpPr/>
          <p:nvPr/>
        </p:nvCxnSpPr>
        <p:spPr>
          <a:xfrm flipH="1">
            <a:off x="5204324" y="2098431"/>
            <a:ext cx="247825" cy="280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D13F067-ABEC-4FAF-9A33-E00EEC37A38F}"/>
              </a:ext>
            </a:extLst>
          </p:cNvPr>
          <p:cNvSpPr txBox="1"/>
          <p:nvPr/>
        </p:nvSpPr>
        <p:spPr>
          <a:xfrm>
            <a:off x="5112722" y="2125883"/>
            <a:ext cx="227948" cy="184666"/>
          </a:xfrm>
          <a:prstGeom prst="rect">
            <a:avLst/>
          </a:prstGeom>
          <a:noFill/>
        </p:spPr>
        <p:txBody>
          <a:bodyPr wrap="none" rtlCol="0">
            <a:spAutoFit/>
          </a:bodyPr>
          <a:lstStyle/>
          <a:p>
            <a:r>
              <a:rPr lang="en-US" sz="600" dirty="0">
                <a:solidFill>
                  <a:srgbClr val="C00000"/>
                </a:solidFill>
              </a:rPr>
              <a:t>4</a:t>
            </a:r>
          </a:p>
        </p:txBody>
      </p:sp>
      <p:cxnSp>
        <p:nvCxnSpPr>
          <p:cNvPr id="22" name="Straight Arrow Connector 21">
            <a:extLst>
              <a:ext uri="{FF2B5EF4-FFF2-40B4-BE49-F238E27FC236}">
                <a16:creationId xmlns:a16="http://schemas.microsoft.com/office/drawing/2014/main" id="{DFD752D3-A5BB-4772-AFC3-768090FFB71D}"/>
              </a:ext>
            </a:extLst>
          </p:cNvPr>
          <p:cNvCxnSpPr/>
          <p:nvPr/>
        </p:nvCxnSpPr>
        <p:spPr>
          <a:xfrm>
            <a:off x="5726723" y="2098431"/>
            <a:ext cx="298287" cy="212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913B1F9-3C41-4D29-97FC-A897B2F829F1}"/>
              </a:ext>
            </a:extLst>
          </p:cNvPr>
          <p:cNvSpPr txBox="1"/>
          <p:nvPr/>
        </p:nvSpPr>
        <p:spPr>
          <a:xfrm>
            <a:off x="6371812" y="2281686"/>
            <a:ext cx="538930" cy="184666"/>
          </a:xfrm>
          <a:prstGeom prst="rect">
            <a:avLst/>
          </a:prstGeom>
          <a:noFill/>
        </p:spPr>
        <p:txBody>
          <a:bodyPr wrap="none" rtlCol="0">
            <a:spAutoFit/>
          </a:bodyPr>
          <a:lstStyle/>
          <a:p>
            <a:r>
              <a:rPr lang="en-US" sz="600" b="1" dirty="0">
                <a:solidFill>
                  <a:srgbClr val="C00000"/>
                </a:solidFill>
              </a:rPr>
              <a:t>6. Visit 34</a:t>
            </a:r>
          </a:p>
        </p:txBody>
      </p:sp>
      <p:sp>
        <p:nvSpPr>
          <p:cNvPr id="27" name="TextBox 26">
            <a:extLst>
              <a:ext uri="{FF2B5EF4-FFF2-40B4-BE49-F238E27FC236}">
                <a16:creationId xmlns:a16="http://schemas.microsoft.com/office/drawing/2014/main" id="{5AE95BD5-7272-4021-873F-38273920701E}"/>
              </a:ext>
            </a:extLst>
          </p:cNvPr>
          <p:cNvSpPr txBox="1"/>
          <p:nvPr/>
        </p:nvSpPr>
        <p:spPr>
          <a:xfrm>
            <a:off x="5792682" y="2207270"/>
            <a:ext cx="238596" cy="184666"/>
          </a:xfrm>
          <a:prstGeom prst="rect">
            <a:avLst/>
          </a:prstGeom>
          <a:noFill/>
        </p:spPr>
        <p:txBody>
          <a:bodyPr wrap="square" rtlCol="0">
            <a:spAutoFit/>
          </a:bodyPr>
          <a:lstStyle/>
          <a:p>
            <a:r>
              <a:rPr lang="en-US" sz="600" dirty="0">
                <a:solidFill>
                  <a:srgbClr val="C00000"/>
                </a:solidFill>
              </a:rPr>
              <a:t>5</a:t>
            </a:r>
          </a:p>
        </p:txBody>
      </p:sp>
      <p:cxnSp>
        <p:nvCxnSpPr>
          <p:cNvPr id="25" name="Straight Arrow Connector 24">
            <a:extLst>
              <a:ext uri="{FF2B5EF4-FFF2-40B4-BE49-F238E27FC236}">
                <a16:creationId xmlns:a16="http://schemas.microsoft.com/office/drawing/2014/main" id="{D6CE65EB-E58A-4EDB-82C2-9A524D63AEAB}"/>
              </a:ext>
            </a:extLst>
          </p:cNvPr>
          <p:cNvCxnSpPr/>
          <p:nvPr/>
        </p:nvCxnSpPr>
        <p:spPr>
          <a:xfrm flipH="1">
            <a:off x="5875866" y="2445541"/>
            <a:ext cx="149144" cy="172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02830AA-BFA4-4924-9FAC-0119C01EC597}"/>
              </a:ext>
            </a:extLst>
          </p:cNvPr>
          <p:cNvSpPr txBox="1"/>
          <p:nvPr/>
        </p:nvSpPr>
        <p:spPr>
          <a:xfrm>
            <a:off x="5802715" y="2400649"/>
            <a:ext cx="238596" cy="184666"/>
          </a:xfrm>
          <a:prstGeom prst="rect">
            <a:avLst/>
          </a:prstGeom>
          <a:noFill/>
        </p:spPr>
        <p:txBody>
          <a:bodyPr wrap="square" rtlCol="0">
            <a:spAutoFit/>
          </a:bodyPr>
          <a:lstStyle/>
          <a:p>
            <a:r>
              <a:rPr lang="en-US" sz="600" dirty="0">
                <a:solidFill>
                  <a:srgbClr val="C00000"/>
                </a:solidFill>
              </a:rPr>
              <a:t>7</a:t>
            </a:r>
          </a:p>
        </p:txBody>
      </p:sp>
      <p:sp>
        <p:nvSpPr>
          <p:cNvPr id="31" name="TextBox 30">
            <a:extLst>
              <a:ext uri="{FF2B5EF4-FFF2-40B4-BE49-F238E27FC236}">
                <a16:creationId xmlns:a16="http://schemas.microsoft.com/office/drawing/2014/main" id="{A45A9A5A-5610-46E8-85CF-638C54E6CF9D}"/>
              </a:ext>
            </a:extLst>
          </p:cNvPr>
          <p:cNvSpPr txBox="1"/>
          <p:nvPr/>
        </p:nvSpPr>
        <p:spPr>
          <a:xfrm>
            <a:off x="6025010" y="2721069"/>
            <a:ext cx="538930" cy="184666"/>
          </a:xfrm>
          <a:prstGeom prst="rect">
            <a:avLst/>
          </a:prstGeom>
          <a:noFill/>
        </p:spPr>
        <p:txBody>
          <a:bodyPr wrap="none" rtlCol="0">
            <a:spAutoFit/>
          </a:bodyPr>
          <a:lstStyle/>
          <a:p>
            <a:r>
              <a:rPr lang="en-US" sz="600" b="1" dirty="0">
                <a:solidFill>
                  <a:srgbClr val="C00000"/>
                </a:solidFill>
              </a:rPr>
              <a:t>8. Visit 14</a:t>
            </a:r>
          </a:p>
        </p:txBody>
      </p:sp>
      <p:cxnSp>
        <p:nvCxnSpPr>
          <p:cNvPr id="29" name="Straight Arrow Connector 28">
            <a:extLst>
              <a:ext uri="{FF2B5EF4-FFF2-40B4-BE49-F238E27FC236}">
                <a16:creationId xmlns:a16="http://schemas.microsoft.com/office/drawing/2014/main" id="{A933A79D-BF7D-4AEE-9023-D735AD049AD5}"/>
              </a:ext>
            </a:extLst>
          </p:cNvPr>
          <p:cNvCxnSpPr/>
          <p:nvPr/>
        </p:nvCxnSpPr>
        <p:spPr>
          <a:xfrm flipH="1">
            <a:off x="5533224" y="2905735"/>
            <a:ext cx="156222" cy="181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E7DB0422-3B74-499B-9767-DFE56AE475CF}"/>
              </a:ext>
            </a:extLst>
          </p:cNvPr>
          <p:cNvSpPr txBox="1"/>
          <p:nvPr/>
        </p:nvSpPr>
        <p:spPr>
          <a:xfrm>
            <a:off x="5461244" y="2842322"/>
            <a:ext cx="238596" cy="184666"/>
          </a:xfrm>
          <a:prstGeom prst="rect">
            <a:avLst/>
          </a:prstGeom>
          <a:noFill/>
        </p:spPr>
        <p:txBody>
          <a:bodyPr wrap="square" rtlCol="0">
            <a:spAutoFit/>
          </a:bodyPr>
          <a:lstStyle/>
          <a:p>
            <a:r>
              <a:rPr lang="en-US" sz="600" dirty="0">
                <a:solidFill>
                  <a:srgbClr val="C00000"/>
                </a:solidFill>
              </a:rPr>
              <a:t>9</a:t>
            </a:r>
          </a:p>
        </p:txBody>
      </p:sp>
      <p:sp>
        <p:nvSpPr>
          <p:cNvPr id="35" name="TextBox 34">
            <a:extLst>
              <a:ext uri="{FF2B5EF4-FFF2-40B4-BE49-F238E27FC236}">
                <a16:creationId xmlns:a16="http://schemas.microsoft.com/office/drawing/2014/main" id="{72DDA5BC-1BBF-4FBD-9C98-B708E5304954}"/>
              </a:ext>
            </a:extLst>
          </p:cNvPr>
          <p:cNvSpPr txBox="1"/>
          <p:nvPr/>
        </p:nvSpPr>
        <p:spPr>
          <a:xfrm>
            <a:off x="5578449" y="3093693"/>
            <a:ext cx="582211" cy="184666"/>
          </a:xfrm>
          <a:prstGeom prst="rect">
            <a:avLst/>
          </a:prstGeom>
          <a:noFill/>
        </p:spPr>
        <p:txBody>
          <a:bodyPr wrap="none" rtlCol="0">
            <a:spAutoFit/>
          </a:bodyPr>
          <a:lstStyle/>
          <a:p>
            <a:r>
              <a:rPr lang="en-US" sz="600" b="1" dirty="0">
                <a:solidFill>
                  <a:srgbClr val="C00000"/>
                </a:solidFill>
              </a:rPr>
              <a:t>10. Visit 13</a:t>
            </a:r>
          </a:p>
        </p:txBody>
      </p:sp>
      <p:cxnSp>
        <p:nvCxnSpPr>
          <p:cNvPr id="37" name="Straight Arrow Connector 36">
            <a:extLst>
              <a:ext uri="{FF2B5EF4-FFF2-40B4-BE49-F238E27FC236}">
                <a16:creationId xmlns:a16="http://schemas.microsoft.com/office/drawing/2014/main" id="{C9A44F90-96EC-4274-8406-4830A2EE2F93}"/>
              </a:ext>
            </a:extLst>
          </p:cNvPr>
          <p:cNvCxnSpPr/>
          <p:nvPr/>
        </p:nvCxnSpPr>
        <p:spPr>
          <a:xfrm flipH="1">
            <a:off x="5204324" y="3458308"/>
            <a:ext cx="136346" cy="149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34C846C-DAA7-4351-998A-E91BCB982132}"/>
              </a:ext>
            </a:extLst>
          </p:cNvPr>
          <p:cNvSpPr txBox="1"/>
          <p:nvPr/>
        </p:nvSpPr>
        <p:spPr>
          <a:xfrm>
            <a:off x="5112721" y="3390156"/>
            <a:ext cx="339427" cy="184666"/>
          </a:xfrm>
          <a:prstGeom prst="rect">
            <a:avLst/>
          </a:prstGeom>
          <a:noFill/>
        </p:spPr>
        <p:txBody>
          <a:bodyPr wrap="square" rtlCol="0">
            <a:spAutoFit/>
          </a:bodyPr>
          <a:lstStyle/>
          <a:p>
            <a:r>
              <a:rPr lang="en-US" sz="600" dirty="0">
                <a:solidFill>
                  <a:srgbClr val="C00000"/>
                </a:solidFill>
              </a:rPr>
              <a:t>11</a:t>
            </a:r>
          </a:p>
        </p:txBody>
      </p:sp>
      <p:cxnSp>
        <p:nvCxnSpPr>
          <p:cNvPr id="39" name="Straight Arrow Connector 38">
            <a:extLst>
              <a:ext uri="{FF2B5EF4-FFF2-40B4-BE49-F238E27FC236}">
                <a16:creationId xmlns:a16="http://schemas.microsoft.com/office/drawing/2014/main" id="{62C53BAD-BB3F-4E6C-9973-C6FB9926B426}"/>
              </a:ext>
            </a:extLst>
          </p:cNvPr>
          <p:cNvCxnSpPr/>
          <p:nvPr/>
        </p:nvCxnSpPr>
        <p:spPr>
          <a:xfrm>
            <a:off x="5531148" y="3458308"/>
            <a:ext cx="158298" cy="149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02D38CF8-0C01-44BA-8B09-AE2799955D96}"/>
              </a:ext>
            </a:extLst>
          </p:cNvPr>
          <p:cNvSpPr txBox="1"/>
          <p:nvPr/>
        </p:nvSpPr>
        <p:spPr>
          <a:xfrm>
            <a:off x="5530127" y="3407052"/>
            <a:ext cx="339427" cy="184666"/>
          </a:xfrm>
          <a:prstGeom prst="rect">
            <a:avLst/>
          </a:prstGeom>
          <a:noFill/>
        </p:spPr>
        <p:txBody>
          <a:bodyPr wrap="square" rtlCol="0">
            <a:spAutoFit/>
          </a:bodyPr>
          <a:lstStyle/>
          <a:p>
            <a:r>
              <a:rPr lang="en-US" sz="600" dirty="0">
                <a:solidFill>
                  <a:srgbClr val="C00000"/>
                </a:solidFill>
              </a:rPr>
              <a:t>12</a:t>
            </a:r>
          </a:p>
        </p:txBody>
      </p:sp>
      <p:cxnSp>
        <p:nvCxnSpPr>
          <p:cNvPr id="42" name="Straight Arrow Connector 41">
            <a:extLst>
              <a:ext uri="{FF2B5EF4-FFF2-40B4-BE49-F238E27FC236}">
                <a16:creationId xmlns:a16="http://schemas.microsoft.com/office/drawing/2014/main" id="{922EA897-9181-4272-83D4-1B4495BB35A1}"/>
              </a:ext>
            </a:extLst>
          </p:cNvPr>
          <p:cNvCxnSpPr>
            <a:stCxn id="43" idx="0"/>
          </p:cNvCxnSpPr>
          <p:nvPr/>
        </p:nvCxnSpPr>
        <p:spPr>
          <a:xfrm flipV="1">
            <a:off x="5699841" y="2996680"/>
            <a:ext cx="142046" cy="410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6F799214-6E39-421D-B2CE-827D7A9BDCBF}"/>
              </a:ext>
            </a:extLst>
          </p:cNvPr>
          <p:cNvSpPr txBox="1"/>
          <p:nvPr/>
        </p:nvSpPr>
        <p:spPr>
          <a:xfrm>
            <a:off x="5595305" y="2975662"/>
            <a:ext cx="339427" cy="184666"/>
          </a:xfrm>
          <a:prstGeom prst="rect">
            <a:avLst/>
          </a:prstGeom>
          <a:noFill/>
        </p:spPr>
        <p:txBody>
          <a:bodyPr wrap="square" rtlCol="0">
            <a:spAutoFit/>
          </a:bodyPr>
          <a:lstStyle/>
          <a:p>
            <a:r>
              <a:rPr lang="en-US" sz="600" dirty="0">
                <a:solidFill>
                  <a:srgbClr val="C00000"/>
                </a:solidFill>
              </a:rPr>
              <a:t>13</a:t>
            </a:r>
          </a:p>
        </p:txBody>
      </p:sp>
      <p:cxnSp>
        <p:nvCxnSpPr>
          <p:cNvPr id="45" name="Straight Arrow Connector 44">
            <a:extLst>
              <a:ext uri="{FF2B5EF4-FFF2-40B4-BE49-F238E27FC236}">
                <a16:creationId xmlns:a16="http://schemas.microsoft.com/office/drawing/2014/main" id="{480FD65D-4FA6-4CEB-A641-C88F71C3F11B}"/>
              </a:ext>
            </a:extLst>
          </p:cNvPr>
          <p:cNvCxnSpPr>
            <a:cxnSpLocks/>
          </p:cNvCxnSpPr>
          <p:nvPr/>
        </p:nvCxnSpPr>
        <p:spPr>
          <a:xfrm>
            <a:off x="6051145" y="2945926"/>
            <a:ext cx="120107" cy="162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695B80DB-2DAE-4454-956A-DF0CDCCFDBC5}"/>
              </a:ext>
            </a:extLst>
          </p:cNvPr>
          <p:cNvSpPr txBox="1"/>
          <p:nvPr/>
        </p:nvSpPr>
        <p:spPr>
          <a:xfrm>
            <a:off x="6069885" y="2910415"/>
            <a:ext cx="278045" cy="184666"/>
          </a:xfrm>
          <a:prstGeom prst="rect">
            <a:avLst/>
          </a:prstGeom>
          <a:noFill/>
        </p:spPr>
        <p:txBody>
          <a:bodyPr wrap="square" rtlCol="0">
            <a:spAutoFit/>
          </a:bodyPr>
          <a:lstStyle/>
          <a:p>
            <a:r>
              <a:rPr lang="en-US" sz="600" dirty="0">
                <a:solidFill>
                  <a:srgbClr val="C00000"/>
                </a:solidFill>
              </a:rPr>
              <a:t>14</a:t>
            </a:r>
          </a:p>
        </p:txBody>
      </p:sp>
      <p:sp>
        <p:nvSpPr>
          <p:cNvPr id="54" name="TextBox 53">
            <a:extLst>
              <a:ext uri="{FF2B5EF4-FFF2-40B4-BE49-F238E27FC236}">
                <a16:creationId xmlns:a16="http://schemas.microsoft.com/office/drawing/2014/main" id="{90ABBAC4-1F36-4A0A-9D45-DCE602608D43}"/>
              </a:ext>
            </a:extLst>
          </p:cNvPr>
          <p:cNvSpPr txBox="1"/>
          <p:nvPr/>
        </p:nvSpPr>
        <p:spPr>
          <a:xfrm>
            <a:off x="6330374" y="3217706"/>
            <a:ext cx="582211" cy="184666"/>
          </a:xfrm>
          <a:prstGeom prst="rect">
            <a:avLst/>
          </a:prstGeom>
          <a:noFill/>
        </p:spPr>
        <p:txBody>
          <a:bodyPr wrap="none" rtlCol="0">
            <a:spAutoFit/>
          </a:bodyPr>
          <a:lstStyle/>
          <a:p>
            <a:r>
              <a:rPr lang="en-US" sz="600" b="1" dirty="0">
                <a:solidFill>
                  <a:srgbClr val="C00000"/>
                </a:solidFill>
              </a:rPr>
              <a:t>15. Visit 15</a:t>
            </a:r>
          </a:p>
        </p:txBody>
      </p:sp>
      <p:cxnSp>
        <p:nvCxnSpPr>
          <p:cNvPr id="52" name="Straight Arrow Connector 51">
            <a:extLst>
              <a:ext uri="{FF2B5EF4-FFF2-40B4-BE49-F238E27FC236}">
                <a16:creationId xmlns:a16="http://schemas.microsoft.com/office/drawing/2014/main" id="{31916E92-35E9-4265-8F5E-3A985856688F}"/>
              </a:ext>
            </a:extLst>
          </p:cNvPr>
          <p:cNvCxnSpPr/>
          <p:nvPr/>
        </p:nvCxnSpPr>
        <p:spPr>
          <a:xfrm flipH="1">
            <a:off x="5950438" y="3458308"/>
            <a:ext cx="119447" cy="149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4D52146C-3086-43F8-B2A9-0D9B8CBFA89F}"/>
              </a:ext>
            </a:extLst>
          </p:cNvPr>
          <p:cNvSpPr txBox="1"/>
          <p:nvPr/>
        </p:nvSpPr>
        <p:spPr>
          <a:xfrm>
            <a:off x="5835067" y="3373000"/>
            <a:ext cx="278045" cy="184666"/>
          </a:xfrm>
          <a:prstGeom prst="rect">
            <a:avLst/>
          </a:prstGeom>
          <a:noFill/>
        </p:spPr>
        <p:txBody>
          <a:bodyPr wrap="square" rtlCol="0">
            <a:spAutoFit/>
          </a:bodyPr>
          <a:lstStyle/>
          <a:p>
            <a:r>
              <a:rPr lang="en-US" sz="600" dirty="0">
                <a:solidFill>
                  <a:srgbClr val="C00000"/>
                </a:solidFill>
              </a:rPr>
              <a:t>16</a:t>
            </a:r>
          </a:p>
        </p:txBody>
      </p:sp>
      <p:cxnSp>
        <p:nvCxnSpPr>
          <p:cNvPr id="59" name="Straight Arrow Connector 58">
            <a:extLst>
              <a:ext uri="{FF2B5EF4-FFF2-40B4-BE49-F238E27FC236}">
                <a16:creationId xmlns:a16="http://schemas.microsoft.com/office/drawing/2014/main" id="{8FBCEA88-4695-4F3B-B1C6-701578CF577F}"/>
              </a:ext>
            </a:extLst>
          </p:cNvPr>
          <p:cNvCxnSpPr/>
          <p:nvPr/>
        </p:nvCxnSpPr>
        <p:spPr>
          <a:xfrm>
            <a:off x="6294475" y="3465333"/>
            <a:ext cx="143222" cy="1922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3098445A-E43A-4B92-A27A-C13488E84CDC}"/>
              </a:ext>
            </a:extLst>
          </p:cNvPr>
          <p:cNvSpPr txBox="1"/>
          <p:nvPr/>
        </p:nvSpPr>
        <p:spPr>
          <a:xfrm>
            <a:off x="6307182" y="3425363"/>
            <a:ext cx="278045" cy="184666"/>
          </a:xfrm>
          <a:prstGeom prst="rect">
            <a:avLst/>
          </a:prstGeom>
          <a:noFill/>
        </p:spPr>
        <p:txBody>
          <a:bodyPr wrap="square" rtlCol="0">
            <a:spAutoFit/>
          </a:bodyPr>
          <a:lstStyle/>
          <a:p>
            <a:r>
              <a:rPr lang="en-US" sz="600" dirty="0">
                <a:solidFill>
                  <a:srgbClr val="C00000"/>
                </a:solidFill>
              </a:rPr>
              <a:t>17</a:t>
            </a:r>
          </a:p>
        </p:txBody>
      </p:sp>
      <p:cxnSp>
        <p:nvCxnSpPr>
          <p:cNvPr id="61" name="Straight Arrow Connector 60">
            <a:extLst>
              <a:ext uri="{FF2B5EF4-FFF2-40B4-BE49-F238E27FC236}">
                <a16:creationId xmlns:a16="http://schemas.microsoft.com/office/drawing/2014/main" id="{1BAD1E9C-C404-448D-9831-ECAA0A396685}"/>
              </a:ext>
            </a:extLst>
          </p:cNvPr>
          <p:cNvCxnSpPr>
            <a:cxnSpLocks/>
          </p:cNvCxnSpPr>
          <p:nvPr/>
        </p:nvCxnSpPr>
        <p:spPr>
          <a:xfrm flipH="1" flipV="1">
            <a:off x="6340547" y="2538960"/>
            <a:ext cx="97532" cy="876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4A118C9-14B7-4F2A-8E03-08AC1B6165A4}"/>
              </a:ext>
            </a:extLst>
          </p:cNvPr>
          <p:cNvSpPr txBox="1"/>
          <p:nvPr/>
        </p:nvSpPr>
        <p:spPr>
          <a:xfrm>
            <a:off x="6285895" y="2516418"/>
            <a:ext cx="278045" cy="184666"/>
          </a:xfrm>
          <a:prstGeom prst="rect">
            <a:avLst/>
          </a:prstGeom>
          <a:noFill/>
        </p:spPr>
        <p:txBody>
          <a:bodyPr wrap="square" rtlCol="0">
            <a:spAutoFit/>
          </a:bodyPr>
          <a:lstStyle/>
          <a:p>
            <a:r>
              <a:rPr lang="en-US" sz="600" dirty="0">
                <a:solidFill>
                  <a:srgbClr val="C00000"/>
                </a:solidFill>
              </a:rPr>
              <a:t>18</a:t>
            </a:r>
          </a:p>
        </p:txBody>
      </p:sp>
      <p:cxnSp>
        <p:nvCxnSpPr>
          <p:cNvPr id="64" name="Straight Arrow Connector 63">
            <a:extLst>
              <a:ext uri="{FF2B5EF4-FFF2-40B4-BE49-F238E27FC236}">
                <a16:creationId xmlns:a16="http://schemas.microsoft.com/office/drawing/2014/main" id="{54ED74CA-7B45-46B4-88BC-FBC21CC01E55}"/>
              </a:ext>
            </a:extLst>
          </p:cNvPr>
          <p:cNvCxnSpPr/>
          <p:nvPr/>
        </p:nvCxnSpPr>
        <p:spPr>
          <a:xfrm>
            <a:off x="6366086" y="2492982"/>
            <a:ext cx="450883" cy="320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03E06E6D-9B2B-486B-9480-2C9F0F33138D}"/>
              </a:ext>
            </a:extLst>
          </p:cNvPr>
          <p:cNvSpPr txBox="1"/>
          <p:nvPr/>
        </p:nvSpPr>
        <p:spPr>
          <a:xfrm>
            <a:off x="6613435" y="2598872"/>
            <a:ext cx="278045" cy="184666"/>
          </a:xfrm>
          <a:prstGeom prst="rect">
            <a:avLst/>
          </a:prstGeom>
          <a:noFill/>
        </p:spPr>
        <p:txBody>
          <a:bodyPr wrap="square" rtlCol="0">
            <a:spAutoFit/>
          </a:bodyPr>
          <a:lstStyle/>
          <a:p>
            <a:r>
              <a:rPr lang="en-US" sz="600" dirty="0">
                <a:solidFill>
                  <a:srgbClr val="C00000"/>
                </a:solidFill>
              </a:rPr>
              <a:t>19</a:t>
            </a:r>
          </a:p>
        </p:txBody>
      </p:sp>
      <p:cxnSp>
        <p:nvCxnSpPr>
          <p:cNvPr id="69" name="Straight Arrow Connector 68">
            <a:extLst>
              <a:ext uri="{FF2B5EF4-FFF2-40B4-BE49-F238E27FC236}">
                <a16:creationId xmlns:a16="http://schemas.microsoft.com/office/drawing/2014/main" id="{628925DD-E899-44EC-BD60-B4F10A6FA4AC}"/>
              </a:ext>
            </a:extLst>
          </p:cNvPr>
          <p:cNvCxnSpPr>
            <a:stCxn id="70" idx="0"/>
          </p:cNvCxnSpPr>
          <p:nvPr/>
        </p:nvCxnSpPr>
        <p:spPr>
          <a:xfrm flipH="1" flipV="1">
            <a:off x="6752457" y="1765710"/>
            <a:ext cx="1" cy="833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AC3CE0F9-16B2-4072-9F0F-943518F18B71}"/>
              </a:ext>
            </a:extLst>
          </p:cNvPr>
          <p:cNvSpPr txBox="1"/>
          <p:nvPr/>
        </p:nvSpPr>
        <p:spPr>
          <a:xfrm>
            <a:off x="6517216" y="1807692"/>
            <a:ext cx="278045" cy="184666"/>
          </a:xfrm>
          <a:prstGeom prst="rect">
            <a:avLst/>
          </a:prstGeom>
          <a:noFill/>
        </p:spPr>
        <p:txBody>
          <a:bodyPr wrap="square" rtlCol="0">
            <a:spAutoFit/>
          </a:bodyPr>
          <a:lstStyle/>
          <a:p>
            <a:r>
              <a:rPr lang="en-US" sz="600" dirty="0">
                <a:solidFill>
                  <a:srgbClr val="C00000"/>
                </a:solidFill>
              </a:rPr>
              <a:t>20</a:t>
            </a:r>
          </a:p>
        </p:txBody>
      </p:sp>
      <p:cxnSp>
        <p:nvCxnSpPr>
          <p:cNvPr id="72" name="Straight Arrow Connector 71">
            <a:extLst>
              <a:ext uri="{FF2B5EF4-FFF2-40B4-BE49-F238E27FC236}">
                <a16:creationId xmlns:a16="http://schemas.microsoft.com/office/drawing/2014/main" id="{2F3DB574-5107-48BE-B506-880442E763BE}"/>
              </a:ext>
            </a:extLst>
          </p:cNvPr>
          <p:cNvCxnSpPr/>
          <p:nvPr/>
        </p:nvCxnSpPr>
        <p:spPr>
          <a:xfrm>
            <a:off x="6816969" y="1781724"/>
            <a:ext cx="415414" cy="151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1B00C532-88A3-4037-AC77-4A6C33104691}"/>
              </a:ext>
            </a:extLst>
          </p:cNvPr>
          <p:cNvSpPr txBox="1"/>
          <p:nvPr/>
        </p:nvSpPr>
        <p:spPr>
          <a:xfrm>
            <a:off x="6987699" y="2161405"/>
            <a:ext cx="278045" cy="184666"/>
          </a:xfrm>
          <a:prstGeom prst="rect">
            <a:avLst/>
          </a:prstGeom>
          <a:noFill/>
        </p:spPr>
        <p:txBody>
          <a:bodyPr wrap="square" rtlCol="0">
            <a:spAutoFit/>
          </a:bodyPr>
          <a:lstStyle/>
          <a:p>
            <a:r>
              <a:rPr lang="en-US" sz="600" dirty="0">
                <a:solidFill>
                  <a:srgbClr val="C00000"/>
                </a:solidFill>
              </a:rPr>
              <a:t>23</a:t>
            </a:r>
          </a:p>
        </p:txBody>
      </p:sp>
      <p:sp>
        <p:nvSpPr>
          <p:cNvPr id="77" name="TextBox 76">
            <a:extLst>
              <a:ext uri="{FF2B5EF4-FFF2-40B4-BE49-F238E27FC236}">
                <a16:creationId xmlns:a16="http://schemas.microsoft.com/office/drawing/2014/main" id="{4AF96D61-15F7-4732-8C69-006B94D00871}"/>
              </a:ext>
            </a:extLst>
          </p:cNvPr>
          <p:cNvSpPr txBox="1"/>
          <p:nvPr/>
        </p:nvSpPr>
        <p:spPr>
          <a:xfrm>
            <a:off x="7570915" y="1836365"/>
            <a:ext cx="582211" cy="184666"/>
          </a:xfrm>
          <a:prstGeom prst="rect">
            <a:avLst/>
          </a:prstGeom>
          <a:noFill/>
        </p:spPr>
        <p:txBody>
          <a:bodyPr wrap="none" rtlCol="0">
            <a:spAutoFit/>
          </a:bodyPr>
          <a:lstStyle/>
          <a:p>
            <a:r>
              <a:rPr lang="en-US" sz="600" b="1" dirty="0">
                <a:solidFill>
                  <a:srgbClr val="C00000"/>
                </a:solidFill>
              </a:rPr>
              <a:t>22. Visit 45</a:t>
            </a:r>
          </a:p>
        </p:txBody>
      </p:sp>
      <p:cxnSp>
        <p:nvCxnSpPr>
          <p:cNvPr id="75" name="Straight Arrow Connector 74">
            <a:extLst>
              <a:ext uri="{FF2B5EF4-FFF2-40B4-BE49-F238E27FC236}">
                <a16:creationId xmlns:a16="http://schemas.microsoft.com/office/drawing/2014/main" id="{3BDC27F6-4464-43B7-BC7E-789C707261E1}"/>
              </a:ext>
            </a:extLst>
          </p:cNvPr>
          <p:cNvCxnSpPr/>
          <p:nvPr/>
        </p:nvCxnSpPr>
        <p:spPr>
          <a:xfrm flipH="1">
            <a:off x="7079997" y="2125883"/>
            <a:ext cx="287957" cy="2657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030B3F8-E854-40E5-A778-0D0E68EF707F}"/>
              </a:ext>
            </a:extLst>
          </p:cNvPr>
          <p:cNvCxnSpPr/>
          <p:nvPr/>
        </p:nvCxnSpPr>
        <p:spPr>
          <a:xfrm>
            <a:off x="7547667" y="2126379"/>
            <a:ext cx="242516" cy="247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463816A6-761E-45DB-83F9-4D3FBA9BA4AA}"/>
              </a:ext>
            </a:extLst>
          </p:cNvPr>
          <p:cNvSpPr txBox="1"/>
          <p:nvPr/>
        </p:nvSpPr>
        <p:spPr>
          <a:xfrm>
            <a:off x="7515733" y="2242788"/>
            <a:ext cx="278045" cy="184666"/>
          </a:xfrm>
          <a:prstGeom prst="rect">
            <a:avLst/>
          </a:prstGeom>
          <a:noFill/>
        </p:spPr>
        <p:txBody>
          <a:bodyPr wrap="square" rtlCol="0">
            <a:spAutoFit/>
          </a:bodyPr>
          <a:lstStyle/>
          <a:p>
            <a:r>
              <a:rPr lang="en-US" sz="600" dirty="0">
                <a:solidFill>
                  <a:srgbClr val="C00000"/>
                </a:solidFill>
              </a:rPr>
              <a:t>24</a:t>
            </a:r>
          </a:p>
        </p:txBody>
      </p:sp>
      <p:sp>
        <p:nvSpPr>
          <p:cNvPr id="83" name="TextBox 82">
            <a:extLst>
              <a:ext uri="{FF2B5EF4-FFF2-40B4-BE49-F238E27FC236}">
                <a16:creationId xmlns:a16="http://schemas.microsoft.com/office/drawing/2014/main" id="{2324F787-2194-4E7D-ABE3-53CD5A3A0AB5}"/>
              </a:ext>
            </a:extLst>
          </p:cNvPr>
          <p:cNvSpPr txBox="1"/>
          <p:nvPr/>
        </p:nvSpPr>
        <p:spPr>
          <a:xfrm>
            <a:off x="8153126" y="2310549"/>
            <a:ext cx="582211" cy="184666"/>
          </a:xfrm>
          <a:prstGeom prst="rect">
            <a:avLst/>
          </a:prstGeom>
          <a:noFill/>
        </p:spPr>
        <p:txBody>
          <a:bodyPr wrap="none" rtlCol="0">
            <a:spAutoFit/>
          </a:bodyPr>
          <a:lstStyle/>
          <a:p>
            <a:r>
              <a:rPr lang="en-US" sz="600" b="1" dirty="0">
                <a:solidFill>
                  <a:srgbClr val="C00000"/>
                </a:solidFill>
              </a:rPr>
              <a:t>25. Visit 55</a:t>
            </a:r>
          </a:p>
        </p:txBody>
      </p:sp>
      <p:cxnSp>
        <p:nvCxnSpPr>
          <p:cNvPr id="81" name="Straight Arrow Connector 80">
            <a:extLst>
              <a:ext uri="{FF2B5EF4-FFF2-40B4-BE49-F238E27FC236}">
                <a16:creationId xmlns:a16="http://schemas.microsoft.com/office/drawing/2014/main" id="{8F2E6009-D2E5-42D8-B83F-419C65E1F880}"/>
              </a:ext>
            </a:extLst>
          </p:cNvPr>
          <p:cNvCxnSpPr/>
          <p:nvPr/>
        </p:nvCxnSpPr>
        <p:spPr>
          <a:xfrm flipH="1">
            <a:off x="7570915" y="2495215"/>
            <a:ext cx="178039" cy="157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7E277DF8-BB87-4E1A-AE17-186773FD60E8}"/>
              </a:ext>
            </a:extLst>
          </p:cNvPr>
          <p:cNvSpPr txBox="1"/>
          <p:nvPr/>
        </p:nvSpPr>
        <p:spPr>
          <a:xfrm>
            <a:off x="7386643" y="2479417"/>
            <a:ext cx="278045" cy="184666"/>
          </a:xfrm>
          <a:prstGeom prst="rect">
            <a:avLst/>
          </a:prstGeom>
          <a:noFill/>
        </p:spPr>
        <p:txBody>
          <a:bodyPr wrap="square" rtlCol="0">
            <a:spAutoFit/>
          </a:bodyPr>
          <a:lstStyle/>
          <a:p>
            <a:r>
              <a:rPr lang="en-US" sz="600" dirty="0">
                <a:solidFill>
                  <a:srgbClr val="C00000"/>
                </a:solidFill>
              </a:rPr>
              <a:t>26</a:t>
            </a:r>
          </a:p>
        </p:txBody>
      </p:sp>
      <p:sp>
        <p:nvSpPr>
          <p:cNvPr id="87" name="TextBox 86">
            <a:extLst>
              <a:ext uri="{FF2B5EF4-FFF2-40B4-BE49-F238E27FC236}">
                <a16:creationId xmlns:a16="http://schemas.microsoft.com/office/drawing/2014/main" id="{12ED5589-3EEE-4B08-BB1B-207371A3921C}"/>
              </a:ext>
            </a:extLst>
          </p:cNvPr>
          <p:cNvSpPr txBox="1"/>
          <p:nvPr/>
        </p:nvSpPr>
        <p:spPr>
          <a:xfrm>
            <a:off x="7660709" y="2769482"/>
            <a:ext cx="582211" cy="184666"/>
          </a:xfrm>
          <a:prstGeom prst="rect">
            <a:avLst/>
          </a:prstGeom>
          <a:noFill/>
        </p:spPr>
        <p:txBody>
          <a:bodyPr wrap="none" rtlCol="0">
            <a:spAutoFit/>
          </a:bodyPr>
          <a:lstStyle/>
          <a:p>
            <a:r>
              <a:rPr lang="en-US" sz="600" b="1" dirty="0">
                <a:solidFill>
                  <a:srgbClr val="C00000"/>
                </a:solidFill>
              </a:rPr>
              <a:t>27. Visit 48</a:t>
            </a:r>
          </a:p>
        </p:txBody>
      </p:sp>
      <p:cxnSp>
        <p:nvCxnSpPr>
          <p:cNvPr id="85" name="Straight Arrow Connector 84">
            <a:extLst>
              <a:ext uri="{FF2B5EF4-FFF2-40B4-BE49-F238E27FC236}">
                <a16:creationId xmlns:a16="http://schemas.microsoft.com/office/drawing/2014/main" id="{DB8BF070-5903-4CE5-983D-09C7543C6E31}"/>
              </a:ext>
            </a:extLst>
          </p:cNvPr>
          <p:cNvCxnSpPr/>
          <p:nvPr/>
        </p:nvCxnSpPr>
        <p:spPr>
          <a:xfrm flipH="1">
            <a:off x="7138829" y="2931547"/>
            <a:ext cx="166556" cy="2012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9BE696BD-8A09-49CD-9DC8-523C2EFEB98C}"/>
              </a:ext>
            </a:extLst>
          </p:cNvPr>
          <p:cNvSpPr txBox="1"/>
          <p:nvPr/>
        </p:nvSpPr>
        <p:spPr>
          <a:xfrm>
            <a:off x="6959269" y="2923323"/>
            <a:ext cx="278045" cy="184666"/>
          </a:xfrm>
          <a:prstGeom prst="rect">
            <a:avLst/>
          </a:prstGeom>
          <a:noFill/>
        </p:spPr>
        <p:txBody>
          <a:bodyPr wrap="square" rtlCol="0">
            <a:spAutoFit/>
          </a:bodyPr>
          <a:lstStyle/>
          <a:p>
            <a:r>
              <a:rPr lang="en-US" sz="600" dirty="0">
                <a:solidFill>
                  <a:srgbClr val="C00000"/>
                </a:solidFill>
              </a:rPr>
              <a:t>28</a:t>
            </a:r>
          </a:p>
        </p:txBody>
      </p:sp>
      <p:sp>
        <p:nvSpPr>
          <p:cNvPr id="93" name="TextBox 92">
            <a:extLst>
              <a:ext uri="{FF2B5EF4-FFF2-40B4-BE49-F238E27FC236}">
                <a16:creationId xmlns:a16="http://schemas.microsoft.com/office/drawing/2014/main" id="{05861287-09F2-4E76-A6D0-3BDF030761B3}"/>
              </a:ext>
            </a:extLst>
          </p:cNvPr>
          <p:cNvSpPr txBox="1"/>
          <p:nvPr/>
        </p:nvSpPr>
        <p:spPr>
          <a:xfrm>
            <a:off x="7232383" y="3327718"/>
            <a:ext cx="582211" cy="184666"/>
          </a:xfrm>
          <a:prstGeom prst="rect">
            <a:avLst/>
          </a:prstGeom>
          <a:noFill/>
        </p:spPr>
        <p:txBody>
          <a:bodyPr wrap="none" rtlCol="0">
            <a:spAutoFit/>
          </a:bodyPr>
          <a:lstStyle/>
          <a:p>
            <a:r>
              <a:rPr lang="en-US" sz="600" b="1" dirty="0">
                <a:solidFill>
                  <a:srgbClr val="C00000"/>
                </a:solidFill>
              </a:rPr>
              <a:t>29. Visit 47</a:t>
            </a:r>
          </a:p>
        </p:txBody>
      </p:sp>
      <p:cxnSp>
        <p:nvCxnSpPr>
          <p:cNvPr id="89" name="Straight Arrow Connector 88">
            <a:extLst>
              <a:ext uri="{FF2B5EF4-FFF2-40B4-BE49-F238E27FC236}">
                <a16:creationId xmlns:a16="http://schemas.microsoft.com/office/drawing/2014/main" id="{9DBF0E6D-09FB-4794-9DD3-60766E99C858}"/>
              </a:ext>
            </a:extLst>
          </p:cNvPr>
          <p:cNvCxnSpPr/>
          <p:nvPr/>
        </p:nvCxnSpPr>
        <p:spPr>
          <a:xfrm flipH="1">
            <a:off x="6856934" y="3442574"/>
            <a:ext cx="143744" cy="180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C9B65443-9A64-4700-8D63-86DB7CDED5C7}"/>
              </a:ext>
            </a:extLst>
          </p:cNvPr>
          <p:cNvSpPr txBox="1"/>
          <p:nvPr/>
        </p:nvSpPr>
        <p:spPr>
          <a:xfrm>
            <a:off x="6743300" y="3398604"/>
            <a:ext cx="278045" cy="184666"/>
          </a:xfrm>
          <a:prstGeom prst="rect">
            <a:avLst/>
          </a:prstGeom>
          <a:noFill/>
        </p:spPr>
        <p:txBody>
          <a:bodyPr wrap="square" rtlCol="0">
            <a:spAutoFit/>
          </a:bodyPr>
          <a:lstStyle/>
          <a:p>
            <a:r>
              <a:rPr lang="en-US" sz="600" dirty="0">
                <a:solidFill>
                  <a:srgbClr val="C00000"/>
                </a:solidFill>
              </a:rPr>
              <a:t>30</a:t>
            </a:r>
          </a:p>
        </p:txBody>
      </p:sp>
      <p:cxnSp>
        <p:nvCxnSpPr>
          <p:cNvPr id="95" name="Straight Arrow Connector 94">
            <a:extLst>
              <a:ext uri="{FF2B5EF4-FFF2-40B4-BE49-F238E27FC236}">
                <a16:creationId xmlns:a16="http://schemas.microsoft.com/office/drawing/2014/main" id="{ACBBD4EC-4EFD-4AD7-A921-4A3B9104FF44}"/>
              </a:ext>
            </a:extLst>
          </p:cNvPr>
          <p:cNvCxnSpPr/>
          <p:nvPr/>
        </p:nvCxnSpPr>
        <p:spPr>
          <a:xfrm>
            <a:off x="7213790" y="3477400"/>
            <a:ext cx="127353" cy="170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746E2123-4642-4C39-A53D-A2ADA26FCFAF}"/>
              </a:ext>
            </a:extLst>
          </p:cNvPr>
          <p:cNvSpPr txBox="1"/>
          <p:nvPr/>
        </p:nvSpPr>
        <p:spPr>
          <a:xfrm>
            <a:off x="7083084" y="3497277"/>
            <a:ext cx="278045" cy="184666"/>
          </a:xfrm>
          <a:prstGeom prst="rect">
            <a:avLst/>
          </a:prstGeom>
          <a:noFill/>
        </p:spPr>
        <p:txBody>
          <a:bodyPr wrap="square" rtlCol="0">
            <a:spAutoFit/>
          </a:bodyPr>
          <a:lstStyle/>
          <a:p>
            <a:r>
              <a:rPr lang="en-US" sz="600" dirty="0">
                <a:solidFill>
                  <a:srgbClr val="C00000"/>
                </a:solidFill>
              </a:rPr>
              <a:t>31</a:t>
            </a:r>
          </a:p>
        </p:txBody>
      </p:sp>
      <p:cxnSp>
        <p:nvCxnSpPr>
          <p:cNvPr id="98" name="Straight Arrow Connector 97">
            <a:extLst>
              <a:ext uri="{FF2B5EF4-FFF2-40B4-BE49-F238E27FC236}">
                <a16:creationId xmlns:a16="http://schemas.microsoft.com/office/drawing/2014/main" id="{CB406D3A-D6E4-4ECD-9EBE-F8C8954FF39A}"/>
              </a:ext>
            </a:extLst>
          </p:cNvPr>
          <p:cNvCxnSpPr/>
          <p:nvPr/>
        </p:nvCxnSpPr>
        <p:spPr>
          <a:xfrm flipV="1">
            <a:off x="7305385" y="3020511"/>
            <a:ext cx="210348" cy="294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B486096E-5B9F-4C73-9EC2-87956BFDB5E0}"/>
              </a:ext>
            </a:extLst>
          </p:cNvPr>
          <p:cNvSpPr txBox="1"/>
          <p:nvPr/>
        </p:nvSpPr>
        <p:spPr>
          <a:xfrm>
            <a:off x="7275616" y="2989063"/>
            <a:ext cx="278045" cy="184666"/>
          </a:xfrm>
          <a:prstGeom prst="rect">
            <a:avLst/>
          </a:prstGeom>
          <a:noFill/>
        </p:spPr>
        <p:txBody>
          <a:bodyPr wrap="square" rtlCol="0">
            <a:spAutoFit/>
          </a:bodyPr>
          <a:lstStyle/>
          <a:p>
            <a:r>
              <a:rPr lang="en-US" sz="600" dirty="0">
                <a:solidFill>
                  <a:srgbClr val="C00000"/>
                </a:solidFill>
              </a:rPr>
              <a:t>32</a:t>
            </a:r>
          </a:p>
        </p:txBody>
      </p:sp>
      <p:cxnSp>
        <p:nvCxnSpPr>
          <p:cNvPr id="101" name="Straight Arrow Connector 100">
            <a:extLst>
              <a:ext uri="{FF2B5EF4-FFF2-40B4-BE49-F238E27FC236}">
                <a16:creationId xmlns:a16="http://schemas.microsoft.com/office/drawing/2014/main" id="{015EEBF7-A5CB-41A6-BECA-985F2D40522F}"/>
              </a:ext>
            </a:extLst>
          </p:cNvPr>
          <p:cNvCxnSpPr/>
          <p:nvPr/>
        </p:nvCxnSpPr>
        <p:spPr>
          <a:xfrm>
            <a:off x="7570915" y="3011589"/>
            <a:ext cx="178039" cy="205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0F7BEE6F-CCDF-49D0-AF96-A298B7020206}"/>
              </a:ext>
            </a:extLst>
          </p:cNvPr>
          <p:cNvSpPr txBox="1"/>
          <p:nvPr/>
        </p:nvSpPr>
        <p:spPr>
          <a:xfrm>
            <a:off x="7492619" y="3124687"/>
            <a:ext cx="278045" cy="184666"/>
          </a:xfrm>
          <a:prstGeom prst="rect">
            <a:avLst/>
          </a:prstGeom>
          <a:noFill/>
        </p:spPr>
        <p:txBody>
          <a:bodyPr wrap="square" rtlCol="0">
            <a:spAutoFit/>
          </a:bodyPr>
          <a:lstStyle/>
          <a:p>
            <a:r>
              <a:rPr lang="en-US" sz="600" dirty="0">
                <a:solidFill>
                  <a:srgbClr val="C00000"/>
                </a:solidFill>
              </a:rPr>
              <a:t>33</a:t>
            </a:r>
          </a:p>
        </p:txBody>
      </p:sp>
      <p:sp>
        <p:nvSpPr>
          <p:cNvPr id="110" name="TextBox 109">
            <a:extLst>
              <a:ext uri="{FF2B5EF4-FFF2-40B4-BE49-F238E27FC236}">
                <a16:creationId xmlns:a16="http://schemas.microsoft.com/office/drawing/2014/main" id="{6E17F70A-37EC-427A-8379-CF0AAF83020B}"/>
              </a:ext>
            </a:extLst>
          </p:cNvPr>
          <p:cNvSpPr txBox="1"/>
          <p:nvPr/>
        </p:nvSpPr>
        <p:spPr>
          <a:xfrm>
            <a:off x="8014451" y="3225569"/>
            <a:ext cx="582211" cy="184666"/>
          </a:xfrm>
          <a:prstGeom prst="rect">
            <a:avLst/>
          </a:prstGeom>
          <a:noFill/>
        </p:spPr>
        <p:txBody>
          <a:bodyPr wrap="none" rtlCol="0">
            <a:spAutoFit/>
          </a:bodyPr>
          <a:lstStyle/>
          <a:p>
            <a:r>
              <a:rPr lang="en-US" sz="600" b="1" dirty="0">
                <a:solidFill>
                  <a:srgbClr val="C00000"/>
                </a:solidFill>
              </a:rPr>
              <a:t>34. Visit 49</a:t>
            </a:r>
          </a:p>
        </p:txBody>
      </p:sp>
      <p:cxnSp>
        <p:nvCxnSpPr>
          <p:cNvPr id="106" name="Straight Arrow Connector 105">
            <a:extLst>
              <a:ext uri="{FF2B5EF4-FFF2-40B4-BE49-F238E27FC236}">
                <a16:creationId xmlns:a16="http://schemas.microsoft.com/office/drawing/2014/main" id="{BA3CF0F7-E811-4392-9855-98ECA9271A87}"/>
              </a:ext>
            </a:extLst>
          </p:cNvPr>
          <p:cNvCxnSpPr/>
          <p:nvPr/>
        </p:nvCxnSpPr>
        <p:spPr>
          <a:xfrm flipH="1">
            <a:off x="7654755" y="3490743"/>
            <a:ext cx="159839" cy="164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FEC93738-4686-488D-BFF8-3856D1936D66}"/>
              </a:ext>
            </a:extLst>
          </p:cNvPr>
          <p:cNvSpPr txBox="1"/>
          <p:nvPr/>
        </p:nvSpPr>
        <p:spPr>
          <a:xfrm>
            <a:off x="7555252" y="3440665"/>
            <a:ext cx="278045" cy="184666"/>
          </a:xfrm>
          <a:prstGeom prst="rect">
            <a:avLst/>
          </a:prstGeom>
          <a:noFill/>
        </p:spPr>
        <p:txBody>
          <a:bodyPr wrap="square" rtlCol="0">
            <a:spAutoFit/>
          </a:bodyPr>
          <a:lstStyle/>
          <a:p>
            <a:r>
              <a:rPr lang="en-US" sz="600" dirty="0">
                <a:solidFill>
                  <a:srgbClr val="C00000"/>
                </a:solidFill>
              </a:rPr>
              <a:t>35</a:t>
            </a:r>
          </a:p>
        </p:txBody>
      </p:sp>
      <p:cxnSp>
        <p:nvCxnSpPr>
          <p:cNvPr id="112" name="Straight Arrow Connector 111">
            <a:extLst>
              <a:ext uri="{FF2B5EF4-FFF2-40B4-BE49-F238E27FC236}">
                <a16:creationId xmlns:a16="http://schemas.microsoft.com/office/drawing/2014/main" id="{0CC4572B-3DCA-43C0-8188-EBB1CF15C478}"/>
              </a:ext>
            </a:extLst>
          </p:cNvPr>
          <p:cNvCxnSpPr/>
          <p:nvPr/>
        </p:nvCxnSpPr>
        <p:spPr>
          <a:xfrm>
            <a:off x="7951814" y="3490743"/>
            <a:ext cx="201312" cy="157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6AB77C56-62B5-42C3-B08E-9B3C0C3C59A0}"/>
              </a:ext>
            </a:extLst>
          </p:cNvPr>
          <p:cNvSpPr txBox="1"/>
          <p:nvPr/>
        </p:nvSpPr>
        <p:spPr>
          <a:xfrm>
            <a:off x="7988629" y="3436639"/>
            <a:ext cx="278045" cy="184666"/>
          </a:xfrm>
          <a:prstGeom prst="rect">
            <a:avLst/>
          </a:prstGeom>
          <a:noFill/>
        </p:spPr>
        <p:txBody>
          <a:bodyPr wrap="square" rtlCol="0">
            <a:spAutoFit/>
          </a:bodyPr>
          <a:lstStyle/>
          <a:p>
            <a:r>
              <a:rPr lang="en-US" sz="600" dirty="0">
                <a:solidFill>
                  <a:srgbClr val="C00000"/>
                </a:solidFill>
              </a:rPr>
              <a:t>36</a:t>
            </a:r>
          </a:p>
        </p:txBody>
      </p:sp>
      <p:cxnSp>
        <p:nvCxnSpPr>
          <p:cNvPr id="115" name="Straight Arrow Connector 114">
            <a:extLst>
              <a:ext uri="{FF2B5EF4-FFF2-40B4-BE49-F238E27FC236}">
                <a16:creationId xmlns:a16="http://schemas.microsoft.com/office/drawing/2014/main" id="{645783C2-A8DF-4EFD-B78B-2B22D7B38342}"/>
              </a:ext>
            </a:extLst>
          </p:cNvPr>
          <p:cNvCxnSpPr/>
          <p:nvPr/>
        </p:nvCxnSpPr>
        <p:spPr>
          <a:xfrm flipV="1">
            <a:off x="7951814" y="2516418"/>
            <a:ext cx="0" cy="591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2B0C57B2-4FAB-464F-AEEB-5217F419704E}"/>
              </a:ext>
            </a:extLst>
          </p:cNvPr>
          <p:cNvSpPr txBox="1"/>
          <p:nvPr/>
        </p:nvSpPr>
        <p:spPr>
          <a:xfrm>
            <a:off x="7884065" y="2567790"/>
            <a:ext cx="278045" cy="184666"/>
          </a:xfrm>
          <a:prstGeom prst="rect">
            <a:avLst/>
          </a:prstGeom>
          <a:noFill/>
        </p:spPr>
        <p:txBody>
          <a:bodyPr wrap="square" rtlCol="0">
            <a:spAutoFit/>
          </a:bodyPr>
          <a:lstStyle/>
          <a:p>
            <a:r>
              <a:rPr lang="en-US" sz="600" dirty="0">
                <a:solidFill>
                  <a:srgbClr val="C00000"/>
                </a:solidFill>
              </a:rPr>
              <a:t>37</a:t>
            </a:r>
          </a:p>
        </p:txBody>
      </p:sp>
      <p:cxnSp>
        <p:nvCxnSpPr>
          <p:cNvPr id="118" name="Straight Arrow Connector 117">
            <a:extLst>
              <a:ext uri="{FF2B5EF4-FFF2-40B4-BE49-F238E27FC236}">
                <a16:creationId xmlns:a16="http://schemas.microsoft.com/office/drawing/2014/main" id="{DF4CAEE7-96DF-42E0-A134-CE84232C965B}"/>
              </a:ext>
            </a:extLst>
          </p:cNvPr>
          <p:cNvCxnSpPr/>
          <p:nvPr/>
        </p:nvCxnSpPr>
        <p:spPr>
          <a:xfrm>
            <a:off x="8127651" y="2531810"/>
            <a:ext cx="266072" cy="280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830B0A9A-600E-4F42-8471-88F3433F6887}"/>
              </a:ext>
            </a:extLst>
          </p:cNvPr>
          <p:cNvSpPr txBox="1"/>
          <p:nvPr/>
        </p:nvSpPr>
        <p:spPr>
          <a:xfrm>
            <a:off x="8106409" y="2684900"/>
            <a:ext cx="278045" cy="184666"/>
          </a:xfrm>
          <a:prstGeom prst="rect">
            <a:avLst/>
          </a:prstGeom>
          <a:noFill/>
        </p:spPr>
        <p:txBody>
          <a:bodyPr wrap="square" rtlCol="0">
            <a:spAutoFit/>
          </a:bodyPr>
          <a:lstStyle/>
          <a:p>
            <a:r>
              <a:rPr lang="en-US" sz="600" dirty="0">
                <a:solidFill>
                  <a:srgbClr val="C00000"/>
                </a:solidFill>
              </a:rPr>
              <a:t>38</a:t>
            </a:r>
          </a:p>
        </p:txBody>
      </p:sp>
      <p:cxnSp>
        <p:nvCxnSpPr>
          <p:cNvPr id="121" name="Straight Arrow Connector 120">
            <a:extLst>
              <a:ext uri="{FF2B5EF4-FFF2-40B4-BE49-F238E27FC236}">
                <a16:creationId xmlns:a16="http://schemas.microsoft.com/office/drawing/2014/main" id="{F7D32AFE-57D8-4EC7-918A-3D66E0330E9D}"/>
              </a:ext>
            </a:extLst>
          </p:cNvPr>
          <p:cNvCxnSpPr/>
          <p:nvPr/>
        </p:nvCxnSpPr>
        <p:spPr>
          <a:xfrm flipH="1" flipV="1">
            <a:off x="7694274" y="2021031"/>
            <a:ext cx="189791" cy="183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FA6ABB0D-3F6E-4E5A-A440-8D0C6A620916}"/>
              </a:ext>
            </a:extLst>
          </p:cNvPr>
          <p:cNvSpPr txBox="1"/>
          <p:nvPr/>
        </p:nvSpPr>
        <p:spPr>
          <a:xfrm>
            <a:off x="7675571" y="1982279"/>
            <a:ext cx="278045" cy="184666"/>
          </a:xfrm>
          <a:prstGeom prst="rect">
            <a:avLst/>
          </a:prstGeom>
          <a:noFill/>
        </p:spPr>
        <p:txBody>
          <a:bodyPr wrap="square" rtlCol="0">
            <a:spAutoFit/>
          </a:bodyPr>
          <a:lstStyle/>
          <a:p>
            <a:r>
              <a:rPr lang="en-US" sz="600" dirty="0">
                <a:solidFill>
                  <a:srgbClr val="C00000"/>
                </a:solidFill>
              </a:rPr>
              <a:t>39</a:t>
            </a:r>
          </a:p>
        </p:txBody>
      </p:sp>
      <p:cxnSp>
        <p:nvCxnSpPr>
          <p:cNvPr id="124" name="Straight Arrow Connector 123">
            <a:extLst>
              <a:ext uri="{FF2B5EF4-FFF2-40B4-BE49-F238E27FC236}">
                <a16:creationId xmlns:a16="http://schemas.microsoft.com/office/drawing/2014/main" id="{1B3EBF86-0A78-452B-A2F4-BB14AA553E77}"/>
              </a:ext>
            </a:extLst>
          </p:cNvPr>
          <p:cNvCxnSpPr/>
          <p:nvPr/>
        </p:nvCxnSpPr>
        <p:spPr>
          <a:xfrm flipH="1" flipV="1">
            <a:off x="6848149" y="1546301"/>
            <a:ext cx="519134" cy="197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0CAC09F2-3BFF-49FE-9148-6BFD84A02EA8}"/>
              </a:ext>
            </a:extLst>
          </p:cNvPr>
          <p:cNvSpPr txBox="1"/>
          <p:nvPr/>
        </p:nvSpPr>
        <p:spPr>
          <a:xfrm>
            <a:off x="6810533" y="1556871"/>
            <a:ext cx="278045" cy="184666"/>
          </a:xfrm>
          <a:prstGeom prst="rect">
            <a:avLst/>
          </a:prstGeom>
          <a:noFill/>
        </p:spPr>
        <p:txBody>
          <a:bodyPr wrap="square" rtlCol="0">
            <a:spAutoFit/>
          </a:bodyPr>
          <a:lstStyle/>
          <a:p>
            <a:r>
              <a:rPr lang="en-US" sz="600" dirty="0">
                <a:solidFill>
                  <a:srgbClr val="C00000"/>
                </a:solidFill>
              </a:rPr>
              <a:t>40</a:t>
            </a:r>
          </a:p>
        </p:txBody>
      </p:sp>
    </p:spTree>
    <p:extLst>
      <p:ext uri="{BB962C8B-B14F-4D97-AF65-F5344CB8AC3E}">
        <p14:creationId xmlns:p14="http://schemas.microsoft.com/office/powerpoint/2010/main" val="34899081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49" name="Google Shape;265;p36">
            <a:extLst>
              <a:ext uri="{FF2B5EF4-FFF2-40B4-BE49-F238E27FC236}">
                <a16:creationId xmlns:a16="http://schemas.microsoft.com/office/drawing/2014/main" id="{DE3C2A1C-CC46-4264-9D9E-90758DD17227}"/>
              </a:ext>
            </a:extLst>
          </p:cNvPr>
          <p:cNvPicPr preferRelativeResize="0"/>
          <p:nvPr/>
        </p:nvPicPr>
        <p:blipFill>
          <a:blip r:embed="rId3">
            <a:alphaModFix/>
          </a:blip>
          <a:stretch>
            <a:fillRect/>
          </a:stretch>
        </p:blipFill>
        <p:spPr>
          <a:xfrm>
            <a:off x="7223528" y="139209"/>
            <a:ext cx="1323877" cy="1547814"/>
          </a:xfrm>
          <a:prstGeom prst="rect">
            <a:avLst/>
          </a:prstGeom>
          <a:noFill/>
          <a:ln>
            <a:noFill/>
          </a:ln>
          <a:effectLst>
            <a:outerShdw blurRad="57150" dist="19050" dir="5400000" algn="bl" rotWithShape="0">
              <a:srgbClr val="000000">
                <a:alpha val="50000"/>
              </a:srgbClr>
            </a:outerShdw>
          </a:effectLst>
        </p:spPr>
      </p:pic>
      <p:pic>
        <p:nvPicPr>
          <p:cNvPr id="390" name="Google Shape;390;p41"/>
          <p:cNvPicPr preferRelativeResize="0"/>
          <p:nvPr/>
        </p:nvPicPr>
        <p:blipFill rotWithShape="1">
          <a:blip r:embed="rId4">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5">
            <a:alphaModFix/>
          </a:blip>
          <a:stretch>
            <a:fillRect/>
          </a:stretch>
        </p:blipFill>
        <p:spPr>
          <a:xfrm>
            <a:off x="3183167" y="4282915"/>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2873398" y="494756"/>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None/>
            </a:pPr>
            <a:r>
              <a:rPr lang="en-US" sz="1400" b="1" dirty="0">
                <a:solidFill>
                  <a:srgbClr val="C00000"/>
                </a:solidFill>
                <a:latin typeface="Concert One" panose="020B0604020202020204" charset="0"/>
              </a:rPr>
              <a:t>Traversing the Tree: Preorder Traversal</a:t>
            </a:r>
          </a:p>
        </p:txBody>
      </p:sp>
      <p:sp>
        <p:nvSpPr>
          <p:cNvPr id="2" name="TextBox 1">
            <a:extLst>
              <a:ext uri="{FF2B5EF4-FFF2-40B4-BE49-F238E27FC236}">
                <a16:creationId xmlns:a16="http://schemas.microsoft.com/office/drawing/2014/main" id="{AD5394C2-2775-4E67-85F4-2918A5507EF9}"/>
              </a:ext>
            </a:extLst>
          </p:cNvPr>
          <p:cNvSpPr txBox="1"/>
          <p:nvPr/>
        </p:nvSpPr>
        <p:spPr>
          <a:xfrm>
            <a:off x="3355877" y="791446"/>
            <a:ext cx="3244799" cy="261610"/>
          </a:xfrm>
          <a:prstGeom prst="rect">
            <a:avLst/>
          </a:prstGeom>
          <a:noFill/>
        </p:spPr>
        <p:txBody>
          <a:bodyPr wrap="none" rtlCol="0">
            <a:spAutoFit/>
          </a:bodyPr>
          <a:lstStyle/>
          <a:p>
            <a:r>
              <a:rPr lang="en-US" sz="1100" b="0" i="0" dirty="0">
                <a:solidFill>
                  <a:srgbClr val="444444"/>
                </a:solidFill>
                <a:effectLst/>
                <a:latin typeface="Oxygen" panose="020B0604020202020204" pitchFamily="2" charset="0"/>
              </a:rPr>
              <a:t>Input:   { </a:t>
            </a:r>
            <a:r>
              <a:rPr lang="en-US" sz="1100" b="1" i="0" dirty="0">
                <a:solidFill>
                  <a:srgbClr val="444444"/>
                </a:solidFill>
                <a:effectLst/>
                <a:latin typeface="Oxygen" panose="020B0604020202020204" pitchFamily="2" charset="0"/>
              </a:rPr>
              <a:t>40, 4, 34, 45, 14, 55, 48, 13, 15, 49, 47 </a:t>
            </a:r>
            <a:r>
              <a:rPr lang="en-US" sz="1100" b="0" i="0" dirty="0">
                <a:solidFill>
                  <a:srgbClr val="444444"/>
                </a:solidFill>
                <a:effectLst/>
                <a:latin typeface="Oxygen" panose="020B0604020202020204" pitchFamily="2" charset="0"/>
              </a:rPr>
              <a:t>}</a:t>
            </a:r>
            <a:endParaRPr lang="en-US" sz="1100" dirty="0"/>
          </a:p>
        </p:txBody>
      </p:sp>
      <p:sp>
        <p:nvSpPr>
          <p:cNvPr id="3" name="Oval 2">
            <a:extLst>
              <a:ext uri="{FF2B5EF4-FFF2-40B4-BE49-F238E27FC236}">
                <a16:creationId xmlns:a16="http://schemas.microsoft.com/office/drawing/2014/main" id="{8BC2788A-8C79-4CB6-BF7F-E0A0F4D7B13E}"/>
              </a:ext>
            </a:extLst>
          </p:cNvPr>
          <p:cNvSpPr/>
          <p:nvPr/>
        </p:nvSpPr>
        <p:spPr>
          <a:xfrm>
            <a:off x="4442543" y="133057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40</a:t>
            </a:r>
          </a:p>
        </p:txBody>
      </p:sp>
      <p:sp>
        <p:nvSpPr>
          <p:cNvPr id="5" name="Rectangle 4">
            <a:extLst>
              <a:ext uri="{FF2B5EF4-FFF2-40B4-BE49-F238E27FC236}">
                <a16:creationId xmlns:a16="http://schemas.microsoft.com/office/drawing/2014/main" id="{49AF76E1-86A0-46A5-88B9-57649F8F2773}"/>
              </a:ext>
            </a:extLst>
          </p:cNvPr>
          <p:cNvSpPr/>
          <p:nvPr/>
        </p:nvSpPr>
        <p:spPr>
          <a:xfrm>
            <a:off x="2935741" y="1326587"/>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40</a:t>
            </a:r>
          </a:p>
        </p:txBody>
      </p:sp>
      <p:cxnSp>
        <p:nvCxnSpPr>
          <p:cNvPr id="10" name="Straight Arrow Connector 9">
            <a:extLst>
              <a:ext uri="{FF2B5EF4-FFF2-40B4-BE49-F238E27FC236}">
                <a16:creationId xmlns:a16="http://schemas.microsoft.com/office/drawing/2014/main" id="{0E185E4D-61F1-4ED7-8305-35B1C79E91B4}"/>
              </a:ext>
            </a:extLst>
          </p:cNvPr>
          <p:cNvCxnSpPr>
            <a:stCxn id="3" idx="3"/>
          </p:cNvCxnSpPr>
          <p:nvPr/>
        </p:nvCxnSpPr>
        <p:spPr>
          <a:xfrm flipH="1">
            <a:off x="3810503" y="1608769"/>
            <a:ext cx="697279" cy="218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D0405D29-D7ED-4D6D-8BCA-EDE3AC6E2D04}"/>
              </a:ext>
            </a:extLst>
          </p:cNvPr>
          <p:cNvSpPr/>
          <p:nvPr/>
        </p:nvSpPr>
        <p:spPr>
          <a:xfrm>
            <a:off x="3432267" y="1794407"/>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a:t>
            </a:r>
          </a:p>
        </p:txBody>
      </p:sp>
      <p:sp>
        <p:nvSpPr>
          <p:cNvPr id="15" name="Rectangle 14">
            <a:extLst>
              <a:ext uri="{FF2B5EF4-FFF2-40B4-BE49-F238E27FC236}">
                <a16:creationId xmlns:a16="http://schemas.microsoft.com/office/drawing/2014/main" id="{3B9A044A-AE9B-48B4-9A90-09FAB836C26D}"/>
              </a:ext>
            </a:extLst>
          </p:cNvPr>
          <p:cNvSpPr/>
          <p:nvPr/>
        </p:nvSpPr>
        <p:spPr>
          <a:xfrm>
            <a:off x="2935741" y="1321680"/>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a:t>
            </a:r>
          </a:p>
        </p:txBody>
      </p:sp>
      <p:sp>
        <p:nvSpPr>
          <p:cNvPr id="16" name="Rectangle 15">
            <a:extLst>
              <a:ext uri="{FF2B5EF4-FFF2-40B4-BE49-F238E27FC236}">
                <a16:creationId xmlns:a16="http://schemas.microsoft.com/office/drawing/2014/main" id="{CC0D0930-C07B-4980-91BD-BE9C517CF217}"/>
              </a:ext>
            </a:extLst>
          </p:cNvPr>
          <p:cNvSpPr/>
          <p:nvPr/>
        </p:nvSpPr>
        <p:spPr>
          <a:xfrm>
            <a:off x="2935740" y="1321679"/>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34</a:t>
            </a:r>
          </a:p>
        </p:txBody>
      </p:sp>
      <p:sp>
        <p:nvSpPr>
          <p:cNvPr id="17" name="Oval 16">
            <a:extLst>
              <a:ext uri="{FF2B5EF4-FFF2-40B4-BE49-F238E27FC236}">
                <a16:creationId xmlns:a16="http://schemas.microsoft.com/office/drawing/2014/main" id="{F9BBE720-B219-4261-845F-A37E83B91900}"/>
              </a:ext>
            </a:extLst>
          </p:cNvPr>
          <p:cNvSpPr/>
          <p:nvPr/>
        </p:nvSpPr>
        <p:spPr>
          <a:xfrm>
            <a:off x="4285043" y="2190867"/>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34</a:t>
            </a:r>
          </a:p>
        </p:txBody>
      </p:sp>
      <p:cxnSp>
        <p:nvCxnSpPr>
          <p:cNvPr id="12" name="Straight Arrow Connector 11">
            <a:extLst>
              <a:ext uri="{FF2B5EF4-FFF2-40B4-BE49-F238E27FC236}">
                <a16:creationId xmlns:a16="http://schemas.microsoft.com/office/drawing/2014/main" id="{DF3C4393-0E92-4CDC-A001-6F966E164CDC}"/>
              </a:ext>
            </a:extLst>
          </p:cNvPr>
          <p:cNvCxnSpPr>
            <a:stCxn id="14" idx="6"/>
            <a:endCxn id="17" idx="1"/>
          </p:cNvCxnSpPr>
          <p:nvPr/>
        </p:nvCxnSpPr>
        <p:spPr>
          <a:xfrm>
            <a:off x="3877744" y="1957370"/>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C7FDBB1A-4BD6-40FF-A391-A6CA26BAD592}"/>
              </a:ext>
            </a:extLst>
          </p:cNvPr>
          <p:cNvSpPr/>
          <p:nvPr/>
        </p:nvSpPr>
        <p:spPr>
          <a:xfrm>
            <a:off x="2935739" y="1326125"/>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45</a:t>
            </a:r>
          </a:p>
        </p:txBody>
      </p:sp>
      <p:sp>
        <p:nvSpPr>
          <p:cNvPr id="21" name="Oval 20">
            <a:extLst>
              <a:ext uri="{FF2B5EF4-FFF2-40B4-BE49-F238E27FC236}">
                <a16:creationId xmlns:a16="http://schemas.microsoft.com/office/drawing/2014/main" id="{62426349-93C7-4ECC-A5F9-3048B4203387}"/>
              </a:ext>
            </a:extLst>
          </p:cNvPr>
          <p:cNvSpPr/>
          <p:nvPr/>
        </p:nvSpPr>
        <p:spPr>
          <a:xfrm>
            <a:off x="5277993" y="1779906"/>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45</a:t>
            </a:r>
          </a:p>
        </p:txBody>
      </p:sp>
      <p:cxnSp>
        <p:nvCxnSpPr>
          <p:cNvPr id="22" name="Straight Arrow Connector 21">
            <a:extLst>
              <a:ext uri="{FF2B5EF4-FFF2-40B4-BE49-F238E27FC236}">
                <a16:creationId xmlns:a16="http://schemas.microsoft.com/office/drawing/2014/main" id="{73A91691-CE25-48A6-A159-D0617293EC91}"/>
              </a:ext>
            </a:extLst>
          </p:cNvPr>
          <p:cNvCxnSpPr>
            <a:endCxn id="21" idx="1"/>
          </p:cNvCxnSpPr>
          <p:nvPr/>
        </p:nvCxnSpPr>
        <p:spPr>
          <a:xfrm>
            <a:off x="4870694" y="1546409"/>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70467B5-052F-4223-B254-09C492C1E20A}"/>
              </a:ext>
            </a:extLst>
          </p:cNvPr>
          <p:cNvSpPr/>
          <p:nvPr/>
        </p:nvSpPr>
        <p:spPr>
          <a:xfrm>
            <a:off x="2933856" y="1325663"/>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14</a:t>
            </a:r>
          </a:p>
        </p:txBody>
      </p:sp>
      <p:cxnSp>
        <p:nvCxnSpPr>
          <p:cNvPr id="24" name="Straight Arrow Connector 23">
            <a:extLst>
              <a:ext uri="{FF2B5EF4-FFF2-40B4-BE49-F238E27FC236}">
                <a16:creationId xmlns:a16="http://schemas.microsoft.com/office/drawing/2014/main" id="{A1182170-E3CE-4D4D-9A84-9FFA18BB4E6A}"/>
              </a:ext>
            </a:extLst>
          </p:cNvPr>
          <p:cNvCxnSpPr>
            <a:cxnSpLocks/>
            <a:stCxn id="17" idx="2"/>
          </p:cNvCxnSpPr>
          <p:nvPr/>
        </p:nvCxnSpPr>
        <p:spPr>
          <a:xfrm flipH="1">
            <a:off x="3653005" y="2353830"/>
            <a:ext cx="632038" cy="350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BA2F04C-4965-4BD2-B570-6FFBC130A215}"/>
              </a:ext>
            </a:extLst>
          </p:cNvPr>
          <p:cNvSpPr/>
          <p:nvPr/>
        </p:nvSpPr>
        <p:spPr>
          <a:xfrm>
            <a:off x="3274767" y="267091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14</a:t>
            </a:r>
          </a:p>
        </p:txBody>
      </p:sp>
      <p:sp>
        <p:nvSpPr>
          <p:cNvPr id="28" name="Oval 27">
            <a:extLst>
              <a:ext uri="{FF2B5EF4-FFF2-40B4-BE49-F238E27FC236}">
                <a16:creationId xmlns:a16="http://schemas.microsoft.com/office/drawing/2014/main" id="{21FF5419-C941-4FB6-BC7C-65D7F5A78FC4}"/>
              </a:ext>
            </a:extLst>
          </p:cNvPr>
          <p:cNvSpPr/>
          <p:nvPr/>
        </p:nvSpPr>
        <p:spPr>
          <a:xfrm>
            <a:off x="6106076" y="2250338"/>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55</a:t>
            </a:r>
          </a:p>
        </p:txBody>
      </p:sp>
      <p:cxnSp>
        <p:nvCxnSpPr>
          <p:cNvPr id="29" name="Straight Arrow Connector 28">
            <a:extLst>
              <a:ext uri="{FF2B5EF4-FFF2-40B4-BE49-F238E27FC236}">
                <a16:creationId xmlns:a16="http://schemas.microsoft.com/office/drawing/2014/main" id="{BD07AF66-E14A-4013-A828-11DBCA6A0300}"/>
              </a:ext>
            </a:extLst>
          </p:cNvPr>
          <p:cNvCxnSpPr>
            <a:endCxn id="28" idx="1"/>
          </p:cNvCxnSpPr>
          <p:nvPr/>
        </p:nvCxnSpPr>
        <p:spPr>
          <a:xfrm>
            <a:off x="5698777" y="2016841"/>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AC6F557-3D34-4C04-9CCC-5A44A07DF502}"/>
              </a:ext>
            </a:extLst>
          </p:cNvPr>
          <p:cNvSpPr/>
          <p:nvPr/>
        </p:nvSpPr>
        <p:spPr>
          <a:xfrm>
            <a:off x="2961460" y="1319709"/>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55</a:t>
            </a:r>
          </a:p>
        </p:txBody>
      </p:sp>
      <p:cxnSp>
        <p:nvCxnSpPr>
          <p:cNvPr id="31" name="Straight Arrow Connector 30">
            <a:extLst>
              <a:ext uri="{FF2B5EF4-FFF2-40B4-BE49-F238E27FC236}">
                <a16:creationId xmlns:a16="http://schemas.microsoft.com/office/drawing/2014/main" id="{84F76CA1-1857-439F-84CB-01080D576109}"/>
              </a:ext>
            </a:extLst>
          </p:cNvPr>
          <p:cNvCxnSpPr>
            <a:cxnSpLocks/>
          </p:cNvCxnSpPr>
          <p:nvPr/>
        </p:nvCxnSpPr>
        <p:spPr>
          <a:xfrm flipH="1">
            <a:off x="5769413" y="2522393"/>
            <a:ext cx="365311" cy="217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7612F660-91EB-4D4C-B244-3983A3731A4E}"/>
              </a:ext>
            </a:extLst>
          </p:cNvPr>
          <p:cNvSpPr/>
          <p:nvPr/>
        </p:nvSpPr>
        <p:spPr>
          <a:xfrm>
            <a:off x="5471947" y="274007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48</a:t>
            </a:r>
          </a:p>
        </p:txBody>
      </p:sp>
      <p:sp>
        <p:nvSpPr>
          <p:cNvPr id="33" name="Rectangle 32">
            <a:extLst>
              <a:ext uri="{FF2B5EF4-FFF2-40B4-BE49-F238E27FC236}">
                <a16:creationId xmlns:a16="http://schemas.microsoft.com/office/drawing/2014/main" id="{3717BB00-94F2-4361-95D2-DB62D161F75C}"/>
              </a:ext>
            </a:extLst>
          </p:cNvPr>
          <p:cNvSpPr/>
          <p:nvPr/>
        </p:nvSpPr>
        <p:spPr>
          <a:xfrm>
            <a:off x="2918506" y="1319708"/>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48</a:t>
            </a:r>
          </a:p>
        </p:txBody>
      </p:sp>
      <p:cxnSp>
        <p:nvCxnSpPr>
          <p:cNvPr id="34" name="Straight Arrow Connector 33">
            <a:extLst>
              <a:ext uri="{FF2B5EF4-FFF2-40B4-BE49-F238E27FC236}">
                <a16:creationId xmlns:a16="http://schemas.microsoft.com/office/drawing/2014/main" id="{E761BC1E-C9D9-435A-AEE0-F63F8A34A8DE}"/>
              </a:ext>
            </a:extLst>
          </p:cNvPr>
          <p:cNvCxnSpPr>
            <a:cxnSpLocks/>
          </p:cNvCxnSpPr>
          <p:nvPr/>
        </p:nvCxnSpPr>
        <p:spPr>
          <a:xfrm flipH="1">
            <a:off x="2988494" y="2969588"/>
            <a:ext cx="393916" cy="344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AF0C108D-80CC-4A23-BE87-DF5D42D4AF2E}"/>
              </a:ext>
            </a:extLst>
          </p:cNvPr>
          <p:cNvSpPr/>
          <p:nvPr/>
        </p:nvSpPr>
        <p:spPr>
          <a:xfrm>
            <a:off x="2650660" y="331392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13</a:t>
            </a:r>
          </a:p>
        </p:txBody>
      </p:sp>
      <p:sp>
        <p:nvSpPr>
          <p:cNvPr id="36" name="Rectangle 35">
            <a:extLst>
              <a:ext uri="{FF2B5EF4-FFF2-40B4-BE49-F238E27FC236}">
                <a16:creationId xmlns:a16="http://schemas.microsoft.com/office/drawing/2014/main" id="{237B590B-034A-4A4E-8B35-411FBE015910}"/>
              </a:ext>
            </a:extLst>
          </p:cNvPr>
          <p:cNvSpPr/>
          <p:nvPr/>
        </p:nvSpPr>
        <p:spPr>
          <a:xfrm>
            <a:off x="2936594" y="131369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13</a:t>
            </a:r>
          </a:p>
        </p:txBody>
      </p:sp>
      <p:sp>
        <p:nvSpPr>
          <p:cNvPr id="39" name="Oval 38">
            <a:extLst>
              <a:ext uri="{FF2B5EF4-FFF2-40B4-BE49-F238E27FC236}">
                <a16:creationId xmlns:a16="http://schemas.microsoft.com/office/drawing/2014/main" id="{CB4DF653-3CCA-4493-A2DE-D85C7DCDB425}"/>
              </a:ext>
            </a:extLst>
          </p:cNvPr>
          <p:cNvSpPr/>
          <p:nvPr/>
        </p:nvSpPr>
        <p:spPr>
          <a:xfrm>
            <a:off x="3839566" y="3298189"/>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15</a:t>
            </a:r>
          </a:p>
        </p:txBody>
      </p:sp>
      <p:cxnSp>
        <p:nvCxnSpPr>
          <p:cNvPr id="40" name="Straight Arrow Connector 39">
            <a:extLst>
              <a:ext uri="{FF2B5EF4-FFF2-40B4-BE49-F238E27FC236}">
                <a16:creationId xmlns:a16="http://schemas.microsoft.com/office/drawing/2014/main" id="{6E47E0B8-65C2-4267-A8DA-C51B52B2E40E}"/>
              </a:ext>
            </a:extLst>
          </p:cNvPr>
          <p:cNvCxnSpPr>
            <a:cxnSpLocks/>
          </p:cNvCxnSpPr>
          <p:nvPr/>
        </p:nvCxnSpPr>
        <p:spPr>
          <a:xfrm>
            <a:off x="3639269" y="2971396"/>
            <a:ext cx="282100" cy="341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C3CD75A6-5355-49EB-BD8F-17BD53F401F8}"/>
              </a:ext>
            </a:extLst>
          </p:cNvPr>
          <p:cNvSpPr/>
          <p:nvPr/>
        </p:nvSpPr>
        <p:spPr>
          <a:xfrm>
            <a:off x="2931276" y="1320167"/>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15</a:t>
            </a:r>
          </a:p>
        </p:txBody>
      </p:sp>
      <p:sp>
        <p:nvSpPr>
          <p:cNvPr id="43" name="Oval 42">
            <a:extLst>
              <a:ext uri="{FF2B5EF4-FFF2-40B4-BE49-F238E27FC236}">
                <a16:creationId xmlns:a16="http://schemas.microsoft.com/office/drawing/2014/main" id="{7CE9492D-142E-4FB2-AE4A-E0B52F0348DB}"/>
              </a:ext>
            </a:extLst>
          </p:cNvPr>
          <p:cNvSpPr/>
          <p:nvPr/>
        </p:nvSpPr>
        <p:spPr>
          <a:xfrm>
            <a:off x="6106075" y="330105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49</a:t>
            </a:r>
          </a:p>
        </p:txBody>
      </p:sp>
      <p:cxnSp>
        <p:nvCxnSpPr>
          <p:cNvPr id="44" name="Straight Arrow Connector 43">
            <a:extLst>
              <a:ext uri="{FF2B5EF4-FFF2-40B4-BE49-F238E27FC236}">
                <a16:creationId xmlns:a16="http://schemas.microsoft.com/office/drawing/2014/main" id="{5C713234-0596-4BAA-B96D-C3F5C3FF6C4A}"/>
              </a:ext>
            </a:extLst>
          </p:cNvPr>
          <p:cNvCxnSpPr>
            <a:cxnSpLocks/>
          </p:cNvCxnSpPr>
          <p:nvPr/>
        </p:nvCxnSpPr>
        <p:spPr>
          <a:xfrm>
            <a:off x="5916433" y="3018269"/>
            <a:ext cx="269842" cy="294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018489B8-14E6-4ED6-81A5-B7C4695A867A}"/>
              </a:ext>
            </a:extLst>
          </p:cNvPr>
          <p:cNvSpPr/>
          <p:nvPr/>
        </p:nvSpPr>
        <p:spPr>
          <a:xfrm>
            <a:off x="2931276" y="132016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49</a:t>
            </a:r>
          </a:p>
        </p:txBody>
      </p:sp>
      <p:cxnSp>
        <p:nvCxnSpPr>
          <p:cNvPr id="46" name="Straight Arrow Connector 45">
            <a:extLst>
              <a:ext uri="{FF2B5EF4-FFF2-40B4-BE49-F238E27FC236}">
                <a16:creationId xmlns:a16="http://schemas.microsoft.com/office/drawing/2014/main" id="{C18128DF-E12F-4503-B29C-F74AD98AD6CE}"/>
              </a:ext>
            </a:extLst>
          </p:cNvPr>
          <p:cNvCxnSpPr>
            <a:cxnSpLocks/>
          </p:cNvCxnSpPr>
          <p:nvPr/>
        </p:nvCxnSpPr>
        <p:spPr>
          <a:xfrm flipH="1">
            <a:off x="5200431" y="3019888"/>
            <a:ext cx="271516" cy="276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6787364-26DE-46E5-AFF5-FADFFCAF13AB}"/>
              </a:ext>
            </a:extLst>
          </p:cNvPr>
          <p:cNvSpPr/>
          <p:nvPr/>
        </p:nvSpPr>
        <p:spPr>
          <a:xfrm>
            <a:off x="4855345" y="3303520"/>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47</a:t>
            </a:r>
          </a:p>
        </p:txBody>
      </p:sp>
      <p:sp>
        <p:nvSpPr>
          <p:cNvPr id="48" name="Rectangle 47">
            <a:extLst>
              <a:ext uri="{FF2B5EF4-FFF2-40B4-BE49-F238E27FC236}">
                <a16:creationId xmlns:a16="http://schemas.microsoft.com/office/drawing/2014/main" id="{7D7FAC09-7FE6-4253-95DF-59F7A6AD9A5B}"/>
              </a:ext>
            </a:extLst>
          </p:cNvPr>
          <p:cNvSpPr/>
          <p:nvPr/>
        </p:nvSpPr>
        <p:spPr>
          <a:xfrm>
            <a:off x="2937626" y="130727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47</a:t>
            </a:r>
          </a:p>
        </p:txBody>
      </p:sp>
      <p:sp>
        <p:nvSpPr>
          <p:cNvPr id="42" name="TextBox 41">
            <a:extLst>
              <a:ext uri="{FF2B5EF4-FFF2-40B4-BE49-F238E27FC236}">
                <a16:creationId xmlns:a16="http://schemas.microsoft.com/office/drawing/2014/main" id="{B6D6DC4D-43BE-4F01-B3D7-5B3FB760AD92}"/>
              </a:ext>
            </a:extLst>
          </p:cNvPr>
          <p:cNvSpPr txBox="1"/>
          <p:nvPr/>
        </p:nvSpPr>
        <p:spPr>
          <a:xfrm>
            <a:off x="7287840" y="618819"/>
            <a:ext cx="1193131" cy="954107"/>
          </a:xfrm>
          <a:prstGeom prst="rect">
            <a:avLst/>
          </a:prstGeom>
          <a:noFill/>
        </p:spPr>
        <p:txBody>
          <a:bodyPr wrap="square">
            <a:spAutoFit/>
          </a:bodyPr>
          <a:lstStyle/>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1. Visit the node.</a:t>
            </a:r>
          </a:p>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2. Call itself to traverse the node’s left subtree.</a:t>
            </a:r>
          </a:p>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3. Call itself to traverse the node’s right subtree.</a:t>
            </a:r>
          </a:p>
        </p:txBody>
      </p:sp>
      <p:cxnSp>
        <p:nvCxnSpPr>
          <p:cNvPr id="9" name="Straight Arrow Connector 8">
            <a:extLst>
              <a:ext uri="{FF2B5EF4-FFF2-40B4-BE49-F238E27FC236}">
                <a16:creationId xmlns:a16="http://schemas.microsoft.com/office/drawing/2014/main" id="{35BA4140-26A1-435C-A8F1-C1C297467EEB}"/>
              </a:ext>
            </a:extLst>
          </p:cNvPr>
          <p:cNvCxnSpPr/>
          <p:nvPr/>
        </p:nvCxnSpPr>
        <p:spPr>
          <a:xfrm flipH="1">
            <a:off x="3921369" y="1572926"/>
            <a:ext cx="428913" cy="1452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94F2E05D-A3C0-422E-BC04-D8CC69E860A6}"/>
              </a:ext>
            </a:extLst>
          </p:cNvPr>
          <p:cNvSpPr txBox="1"/>
          <p:nvPr/>
        </p:nvSpPr>
        <p:spPr>
          <a:xfrm>
            <a:off x="3904134" y="1511330"/>
            <a:ext cx="224044" cy="206873"/>
          </a:xfrm>
          <a:prstGeom prst="rect">
            <a:avLst/>
          </a:prstGeom>
          <a:noFill/>
        </p:spPr>
        <p:txBody>
          <a:bodyPr wrap="square" rtlCol="0">
            <a:spAutoFit/>
          </a:bodyPr>
          <a:lstStyle/>
          <a:p>
            <a:r>
              <a:rPr lang="en-US" sz="700" dirty="0"/>
              <a:t>2</a:t>
            </a:r>
          </a:p>
        </p:txBody>
      </p:sp>
      <p:cxnSp>
        <p:nvCxnSpPr>
          <p:cNvPr id="51" name="Straight Arrow Connector 50">
            <a:extLst>
              <a:ext uri="{FF2B5EF4-FFF2-40B4-BE49-F238E27FC236}">
                <a16:creationId xmlns:a16="http://schemas.microsoft.com/office/drawing/2014/main" id="{3602E1E5-4657-45DD-9491-9FE3531D3622}"/>
              </a:ext>
            </a:extLst>
          </p:cNvPr>
          <p:cNvCxnSpPr/>
          <p:nvPr/>
        </p:nvCxnSpPr>
        <p:spPr>
          <a:xfrm flipH="1">
            <a:off x="2976358" y="2031559"/>
            <a:ext cx="428913" cy="1452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2" name="TextBox 51">
            <a:extLst>
              <a:ext uri="{FF2B5EF4-FFF2-40B4-BE49-F238E27FC236}">
                <a16:creationId xmlns:a16="http://schemas.microsoft.com/office/drawing/2014/main" id="{1298F68F-4892-44CD-A323-F52FFBF617D4}"/>
              </a:ext>
            </a:extLst>
          </p:cNvPr>
          <p:cNvSpPr txBox="1"/>
          <p:nvPr/>
        </p:nvSpPr>
        <p:spPr>
          <a:xfrm>
            <a:off x="2959123" y="1969963"/>
            <a:ext cx="224044" cy="206873"/>
          </a:xfrm>
          <a:prstGeom prst="rect">
            <a:avLst/>
          </a:prstGeom>
          <a:noFill/>
        </p:spPr>
        <p:txBody>
          <a:bodyPr wrap="square" rtlCol="0">
            <a:spAutoFit/>
          </a:bodyPr>
          <a:lstStyle/>
          <a:p>
            <a:r>
              <a:rPr lang="en-US" sz="700" dirty="0"/>
              <a:t>4</a:t>
            </a:r>
          </a:p>
        </p:txBody>
      </p:sp>
      <p:sp>
        <p:nvSpPr>
          <p:cNvPr id="53" name="TextBox 52">
            <a:extLst>
              <a:ext uri="{FF2B5EF4-FFF2-40B4-BE49-F238E27FC236}">
                <a16:creationId xmlns:a16="http://schemas.microsoft.com/office/drawing/2014/main" id="{C4784FD4-0291-48D0-BDBC-E7F923B6FD24}"/>
              </a:ext>
            </a:extLst>
          </p:cNvPr>
          <p:cNvSpPr txBox="1"/>
          <p:nvPr/>
        </p:nvSpPr>
        <p:spPr>
          <a:xfrm>
            <a:off x="3318374" y="2092796"/>
            <a:ext cx="630411" cy="200055"/>
          </a:xfrm>
          <a:prstGeom prst="rect">
            <a:avLst/>
          </a:prstGeom>
          <a:noFill/>
        </p:spPr>
        <p:txBody>
          <a:bodyPr wrap="square" rtlCol="0">
            <a:spAutoFit/>
          </a:bodyPr>
          <a:lstStyle/>
          <a:p>
            <a:r>
              <a:rPr lang="en-US" sz="700" b="1" dirty="0"/>
              <a:t>3. Visit 4</a:t>
            </a:r>
          </a:p>
        </p:txBody>
      </p:sp>
      <p:sp>
        <p:nvSpPr>
          <p:cNvPr id="54" name="TextBox 53">
            <a:extLst>
              <a:ext uri="{FF2B5EF4-FFF2-40B4-BE49-F238E27FC236}">
                <a16:creationId xmlns:a16="http://schemas.microsoft.com/office/drawing/2014/main" id="{E28DC53E-FF81-47F1-8E3A-D67643D01DE7}"/>
              </a:ext>
            </a:extLst>
          </p:cNvPr>
          <p:cNvSpPr txBox="1"/>
          <p:nvPr/>
        </p:nvSpPr>
        <p:spPr>
          <a:xfrm>
            <a:off x="2822585" y="4538408"/>
            <a:ext cx="3228769" cy="523220"/>
          </a:xfrm>
          <a:prstGeom prst="rect">
            <a:avLst/>
          </a:prstGeom>
          <a:noFill/>
        </p:spPr>
        <p:txBody>
          <a:bodyPr wrap="none" rtlCol="0">
            <a:spAutoFit/>
          </a:bodyPr>
          <a:lstStyle/>
          <a:p>
            <a:r>
              <a:rPr lang="en-US" b="0" i="0" dirty="0">
                <a:solidFill>
                  <a:srgbClr val="F8F8F8"/>
                </a:solidFill>
                <a:effectLst/>
                <a:latin typeface="Oxygen" panose="02000503000000000000" pitchFamily="2" charset="0"/>
              </a:rPr>
              <a:t>Output:</a:t>
            </a:r>
          </a:p>
          <a:p>
            <a:r>
              <a:rPr lang="en-US" b="1" i="0" dirty="0">
                <a:solidFill>
                  <a:srgbClr val="F8F8F8"/>
                </a:solidFill>
                <a:effectLst/>
                <a:latin typeface="Oxygen" panose="02000503000000000000" pitchFamily="2" charset="0"/>
              </a:rPr>
              <a:t>40, 4, 34, 14, 13, 15, 45, 55, 48, 47, 49</a:t>
            </a:r>
          </a:p>
        </p:txBody>
      </p:sp>
      <p:cxnSp>
        <p:nvCxnSpPr>
          <p:cNvPr id="18" name="Straight Arrow Connector 17">
            <a:extLst>
              <a:ext uri="{FF2B5EF4-FFF2-40B4-BE49-F238E27FC236}">
                <a16:creationId xmlns:a16="http://schemas.microsoft.com/office/drawing/2014/main" id="{0AFDB025-F749-433A-B723-ACFC55B248F2}"/>
              </a:ext>
            </a:extLst>
          </p:cNvPr>
          <p:cNvCxnSpPr/>
          <p:nvPr/>
        </p:nvCxnSpPr>
        <p:spPr>
          <a:xfrm>
            <a:off x="3904134" y="2073399"/>
            <a:ext cx="298589" cy="16519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6" name="TextBox 55">
            <a:extLst>
              <a:ext uri="{FF2B5EF4-FFF2-40B4-BE49-F238E27FC236}">
                <a16:creationId xmlns:a16="http://schemas.microsoft.com/office/drawing/2014/main" id="{15F2BD2D-29F7-4B24-A454-71EF3540BB0E}"/>
              </a:ext>
            </a:extLst>
          </p:cNvPr>
          <p:cNvSpPr txBox="1"/>
          <p:nvPr/>
        </p:nvSpPr>
        <p:spPr>
          <a:xfrm>
            <a:off x="3954540" y="2143473"/>
            <a:ext cx="224044" cy="206873"/>
          </a:xfrm>
          <a:prstGeom prst="rect">
            <a:avLst/>
          </a:prstGeom>
          <a:noFill/>
        </p:spPr>
        <p:txBody>
          <a:bodyPr wrap="square" rtlCol="0">
            <a:spAutoFit/>
          </a:bodyPr>
          <a:lstStyle/>
          <a:p>
            <a:r>
              <a:rPr lang="en-US" sz="700" dirty="0"/>
              <a:t>5</a:t>
            </a:r>
          </a:p>
        </p:txBody>
      </p:sp>
      <p:cxnSp>
        <p:nvCxnSpPr>
          <p:cNvPr id="57" name="Straight Arrow Connector 56">
            <a:extLst>
              <a:ext uri="{FF2B5EF4-FFF2-40B4-BE49-F238E27FC236}">
                <a16:creationId xmlns:a16="http://schemas.microsoft.com/office/drawing/2014/main" id="{69788271-5B64-4191-B9BB-F9926BB20175}"/>
              </a:ext>
            </a:extLst>
          </p:cNvPr>
          <p:cNvCxnSpPr>
            <a:cxnSpLocks/>
          </p:cNvCxnSpPr>
          <p:nvPr/>
        </p:nvCxnSpPr>
        <p:spPr>
          <a:xfrm flipH="1">
            <a:off x="3720244" y="2329297"/>
            <a:ext cx="471968" cy="26725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8" name="TextBox 57">
            <a:extLst>
              <a:ext uri="{FF2B5EF4-FFF2-40B4-BE49-F238E27FC236}">
                <a16:creationId xmlns:a16="http://schemas.microsoft.com/office/drawing/2014/main" id="{165926BA-98D0-46D1-8D8D-90AC42523979}"/>
              </a:ext>
            </a:extLst>
          </p:cNvPr>
          <p:cNvSpPr txBox="1"/>
          <p:nvPr/>
        </p:nvSpPr>
        <p:spPr>
          <a:xfrm>
            <a:off x="3687257" y="2387389"/>
            <a:ext cx="224044" cy="206873"/>
          </a:xfrm>
          <a:prstGeom prst="rect">
            <a:avLst/>
          </a:prstGeom>
          <a:noFill/>
        </p:spPr>
        <p:txBody>
          <a:bodyPr wrap="square" rtlCol="0">
            <a:spAutoFit/>
          </a:bodyPr>
          <a:lstStyle/>
          <a:p>
            <a:r>
              <a:rPr lang="en-US" sz="700" dirty="0"/>
              <a:t>7</a:t>
            </a:r>
          </a:p>
        </p:txBody>
      </p:sp>
      <p:cxnSp>
        <p:nvCxnSpPr>
          <p:cNvPr id="59" name="Straight Arrow Connector 58">
            <a:extLst>
              <a:ext uri="{FF2B5EF4-FFF2-40B4-BE49-F238E27FC236}">
                <a16:creationId xmlns:a16="http://schemas.microsoft.com/office/drawing/2014/main" id="{25C0171D-2403-4C0E-8772-75DCA9DD81C0}"/>
              </a:ext>
            </a:extLst>
          </p:cNvPr>
          <p:cNvCxnSpPr>
            <a:cxnSpLocks/>
          </p:cNvCxnSpPr>
          <p:nvPr/>
        </p:nvCxnSpPr>
        <p:spPr>
          <a:xfrm flipH="1">
            <a:off x="3014995" y="2969588"/>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0" name="TextBox 59">
            <a:extLst>
              <a:ext uri="{FF2B5EF4-FFF2-40B4-BE49-F238E27FC236}">
                <a16:creationId xmlns:a16="http://schemas.microsoft.com/office/drawing/2014/main" id="{9C4D98AC-744C-453F-BFD3-3F6ED7EA9CD4}"/>
              </a:ext>
            </a:extLst>
          </p:cNvPr>
          <p:cNvSpPr txBox="1"/>
          <p:nvPr/>
        </p:nvSpPr>
        <p:spPr>
          <a:xfrm>
            <a:off x="2957531" y="2951213"/>
            <a:ext cx="224044" cy="206873"/>
          </a:xfrm>
          <a:prstGeom prst="rect">
            <a:avLst/>
          </a:prstGeom>
          <a:noFill/>
        </p:spPr>
        <p:txBody>
          <a:bodyPr wrap="square" rtlCol="0">
            <a:spAutoFit/>
          </a:bodyPr>
          <a:lstStyle/>
          <a:p>
            <a:r>
              <a:rPr lang="en-US" sz="700" dirty="0"/>
              <a:t>9</a:t>
            </a:r>
          </a:p>
        </p:txBody>
      </p:sp>
      <p:cxnSp>
        <p:nvCxnSpPr>
          <p:cNvPr id="62" name="Straight Arrow Connector 61">
            <a:extLst>
              <a:ext uri="{FF2B5EF4-FFF2-40B4-BE49-F238E27FC236}">
                <a16:creationId xmlns:a16="http://schemas.microsoft.com/office/drawing/2014/main" id="{326D7679-5A49-4E86-B8F0-3749CD550C59}"/>
              </a:ext>
            </a:extLst>
          </p:cNvPr>
          <p:cNvCxnSpPr>
            <a:cxnSpLocks/>
          </p:cNvCxnSpPr>
          <p:nvPr/>
        </p:nvCxnSpPr>
        <p:spPr>
          <a:xfrm flipH="1">
            <a:off x="2424367" y="3624114"/>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3" name="TextBox 62">
            <a:extLst>
              <a:ext uri="{FF2B5EF4-FFF2-40B4-BE49-F238E27FC236}">
                <a16:creationId xmlns:a16="http://schemas.microsoft.com/office/drawing/2014/main" id="{F6E1BA79-2C83-4EB1-AF36-2A758868A2BA}"/>
              </a:ext>
            </a:extLst>
          </p:cNvPr>
          <p:cNvSpPr txBox="1"/>
          <p:nvPr/>
        </p:nvSpPr>
        <p:spPr>
          <a:xfrm>
            <a:off x="2332048" y="3593822"/>
            <a:ext cx="318612" cy="200055"/>
          </a:xfrm>
          <a:prstGeom prst="rect">
            <a:avLst/>
          </a:prstGeom>
          <a:noFill/>
        </p:spPr>
        <p:txBody>
          <a:bodyPr wrap="square" rtlCol="0">
            <a:spAutoFit/>
          </a:bodyPr>
          <a:lstStyle/>
          <a:p>
            <a:r>
              <a:rPr lang="en-US" sz="700" dirty="0"/>
              <a:t>11</a:t>
            </a:r>
          </a:p>
        </p:txBody>
      </p:sp>
      <p:sp>
        <p:nvSpPr>
          <p:cNvPr id="66" name="TextBox 65">
            <a:extLst>
              <a:ext uri="{FF2B5EF4-FFF2-40B4-BE49-F238E27FC236}">
                <a16:creationId xmlns:a16="http://schemas.microsoft.com/office/drawing/2014/main" id="{CB3BB76B-1CAE-46C4-9707-33CB82E3D63B}"/>
              </a:ext>
            </a:extLst>
          </p:cNvPr>
          <p:cNvSpPr txBox="1"/>
          <p:nvPr/>
        </p:nvSpPr>
        <p:spPr>
          <a:xfrm>
            <a:off x="2514773" y="3657688"/>
            <a:ext cx="727427" cy="200055"/>
          </a:xfrm>
          <a:prstGeom prst="rect">
            <a:avLst/>
          </a:prstGeom>
          <a:noFill/>
        </p:spPr>
        <p:txBody>
          <a:bodyPr wrap="square" rtlCol="0">
            <a:spAutoFit/>
          </a:bodyPr>
          <a:lstStyle/>
          <a:p>
            <a:r>
              <a:rPr lang="en-US" sz="700" b="1" dirty="0"/>
              <a:t>10. Visit 13</a:t>
            </a:r>
          </a:p>
        </p:txBody>
      </p:sp>
      <p:cxnSp>
        <p:nvCxnSpPr>
          <p:cNvPr id="67" name="Straight Arrow Connector 66">
            <a:extLst>
              <a:ext uri="{FF2B5EF4-FFF2-40B4-BE49-F238E27FC236}">
                <a16:creationId xmlns:a16="http://schemas.microsoft.com/office/drawing/2014/main" id="{7D8D4E41-98C8-44A6-838E-840C359A8F92}"/>
              </a:ext>
            </a:extLst>
          </p:cNvPr>
          <p:cNvCxnSpPr>
            <a:cxnSpLocks/>
          </p:cNvCxnSpPr>
          <p:nvPr/>
        </p:nvCxnSpPr>
        <p:spPr>
          <a:xfrm>
            <a:off x="3063095" y="3593112"/>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8" name="TextBox 67">
            <a:extLst>
              <a:ext uri="{FF2B5EF4-FFF2-40B4-BE49-F238E27FC236}">
                <a16:creationId xmlns:a16="http://schemas.microsoft.com/office/drawing/2014/main" id="{D2FDEF50-4B4B-464A-B1F9-BE3E8442AE1A}"/>
              </a:ext>
            </a:extLst>
          </p:cNvPr>
          <p:cNvSpPr txBox="1"/>
          <p:nvPr/>
        </p:nvSpPr>
        <p:spPr>
          <a:xfrm>
            <a:off x="3039467" y="3725590"/>
            <a:ext cx="295704" cy="200055"/>
          </a:xfrm>
          <a:prstGeom prst="rect">
            <a:avLst/>
          </a:prstGeom>
          <a:noFill/>
        </p:spPr>
        <p:txBody>
          <a:bodyPr wrap="square" rtlCol="0">
            <a:spAutoFit/>
          </a:bodyPr>
          <a:lstStyle/>
          <a:p>
            <a:r>
              <a:rPr lang="en-US" sz="700" dirty="0"/>
              <a:t>12</a:t>
            </a:r>
          </a:p>
        </p:txBody>
      </p:sp>
      <p:cxnSp>
        <p:nvCxnSpPr>
          <p:cNvPr id="69" name="Straight Arrow Connector 68">
            <a:extLst>
              <a:ext uri="{FF2B5EF4-FFF2-40B4-BE49-F238E27FC236}">
                <a16:creationId xmlns:a16="http://schemas.microsoft.com/office/drawing/2014/main" id="{A107F228-7E11-4D37-ACE9-22755440D910}"/>
              </a:ext>
            </a:extLst>
          </p:cNvPr>
          <p:cNvCxnSpPr/>
          <p:nvPr/>
        </p:nvCxnSpPr>
        <p:spPr>
          <a:xfrm flipV="1">
            <a:off x="3114526" y="3053108"/>
            <a:ext cx="309134" cy="2903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2" name="TextBox 71">
            <a:extLst>
              <a:ext uri="{FF2B5EF4-FFF2-40B4-BE49-F238E27FC236}">
                <a16:creationId xmlns:a16="http://schemas.microsoft.com/office/drawing/2014/main" id="{1F37A8A3-1525-44B0-BFB5-8AB9F42FDC51}"/>
              </a:ext>
            </a:extLst>
          </p:cNvPr>
          <p:cNvSpPr txBox="1"/>
          <p:nvPr/>
        </p:nvSpPr>
        <p:spPr>
          <a:xfrm>
            <a:off x="3257896" y="3105620"/>
            <a:ext cx="301843" cy="200055"/>
          </a:xfrm>
          <a:prstGeom prst="rect">
            <a:avLst/>
          </a:prstGeom>
          <a:noFill/>
        </p:spPr>
        <p:txBody>
          <a:bodyPr wrap="square" rtlCol="0">
            <a:spAutoFit/>
          </a:bodyPr>
          <a:lstStyle/>
          <a:p>
            <a:r>
              <a:rPr lang="en-US" sz="700" dirty="0"/>
              <a:t>13</a:t>
            </a:r>
          </a:p>
        </p:txBody>
      </p:sp>
      <p:sp>
        <p:nvSpPr>
          <p:cNvPr id="73" name="TextBox 72">
            <a:extLst>
              <a:ext uri="{FF2B5EF4-FFF2-40B4-BE49-F238E27FC236}">
                <a16:creationId xmlns:a16="http://schemas.microsoft.com/office/drawing/2014/main" id="{3D29304F-F965-4325-9D58-6B2D2933AB9B}"/>
              </a:ext>
            </a:extLst>
          </p:cNvPr>
          <p:cNvSpPr txBox="1"/>
          <p:nvPr/>
        </p:nvSpPr>
        <p:spPr>
          <a:xfrm>
            <a:off x="3679074" y="2774235"/>
            <a:ext cx="686781" cy="200055"/>
          </a:xfrm>
          <a:prstGeom prst="rect">
            <a:avLst/>
          </a:prstGeom>
          <a:noFill/>
        </p:spPr>
        <p:txBody>
          <a:bodyPr wrap="square" rtlCol="0">
            <a:spAutoFit/>
          </a:bodyPr>
          <a:lstStyle/>
          <a:p>
            <a:r>
              <a:rPr lang="en-US" sz="700" b="1" dirty="0"/>
              <a:t>8. Visit 14</a:t>
            </a:r>
          </a:p>
        </p:txBody>
      </p:sp>
      <p:cxnSp>
        <p:nvCxnSpPr>
          <p:cNvPr id="74" name="Straight Arrow Connector 73">
            <a:extLst>
              <a:ext uri="{FF2B5EF4-FFF2-40B4-BE49-F238E27FC236}">
                <a16:creationId xmlns:a16="http://schemas.microsoft.com/office/drawing/2014/main" id="{1786F0BE-3563-4C36-9D79-D515B8151F04}"/>
              </a:ext>
            </a:extLst>
          </p:cNvPr>
          <p:cNvCxnSpPr>
            <a:cxnSpLocks/>
          </p:cNvCxnSpPr>
          <p:nvPr/>
        </p:nvCxnSpPr>
        <p:spPr>
          <a:xfrm>
            <a:off x="3613099" y="3029424"/>
            <a:ext cx="184087" cy="2291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5" name="TextBox 74">
            <a:extLst>
              <a:ext uri="{FF2B5EF4-FFF2-40B4-BE49-F238E27FC236}">
                <a16:creationId xmlns:a16="http://schemas.microsoft.com/office/drawing/2014/main" id="{C86E252B-3ABD-4C27-957F-B617FA39A1C3}"/>
              </a:ext>
            </a:extLst>
          </p:cNvPr>
          <p:cNvSpPr txBox="1"/>
          <p:nvPr/>
        </p:nvSpPr>
        <p:spPr>
          <a:xfrm>
            <a:off x="3538611" y="3125556"/>
            <a:ext cx="299235" cy="200055"/>
          </a:xfrm>
          <a:prstGeom prst="rect">
            <a:avLst/>
          </a:prstGeom>
          <a:noFill/>
        </p:spPr>
        <p:txBody>
          <a:bodyPr wrap="square" rtlCol="0">
            <a:spAutoFit/>
          </a:bodyPr>
          <a:lstStyle/>
          <a:p>
            <a:r>
              <a:rPr lang="en-US" sz="700" dirty="0"/>
              <a:t>14</a:t>
            </a:r>
          </a:p>
        </p:txBody>
      </p:sp>
      <p:cxnSp>
        <p:nvCxnSpPr>
          <p:cNvPr id="78" name="Straight Arrow Connector 77">
            <a:extLst>
              <a:ext uri="{FF2B5EF4-FFF2-40B4-BE49-F238E27FC236}">
                <a16:creationId xmlns:a16="http://schemas.microsoft.com/office/drawing/2014/main" id="{4952369D-3D6E-40C2-9801-44F200378EC0}"/>
              </a:ext>
            </a:extLst>
          </p:cNvPr>
          <p:cNvCxnSpPr>
            <a:cxnSpLocks/>
          </p:cNvCxnSpPr>
          <p:nvPr/>
        </p:nvCxnSpPr>
        <p:spPr>
          <a:xfrm flipH="1">
            <a:off x="3601327" y="3615025"/>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9" name="TextBox 78">
            <a:extLst>
              <a:ext uri="{FF2B5EF4-FFF2-40B4-BE49-F238E27FC236}">
                <a16:creationId xmlns:a16="http://schemas.microsoft.com/office/drawing/2014/main" id="{35C289CE-14F6-4DF6-ACE7-41D9FA379F0C}"/>
              </a:ext>
            </a:extLst>
          </p:cNvPr>
          <p:cNvSpPr txBox="1"/>
          <p:nvPr/>
        </p:nvSpPr>
        <p:spPr>
          <a:xfrm>
            <a:off x="3524018" y="3596651"/>
            <a:ext cx="295704" cy="200055"/>
          </a:xfrm>
          <a:prstGeom prst="rect">
            <a:avLst/>
          </a:prstGeom>
          <a:noFill/>
        </p:spPr>
        <p:txBody>
          <a:bodyPr wrap="square" rtlCol="0">
            <a:spAutoFit/>
          </a:bodyPr>
          <a:lstStyle/>
          <a:p>
            <a:r>
              <a:rPr lang="en-US" sz="700" dirty="0"/>
              <a:t>16</a:t>
            </a:r>
          </a:p>
        </p:txBody>
      </p:sp>
      <p:sp>
        <p:nvSpPr>
          <p:cNvPr id="80" name="TextBox 79">
            <a:extLst>
              <a:ext uri="{FF2B5EF4-FFF2-40B4-BE49-F238E27FC236}">
                <a16:creationId xmlns:a16="http://schemas.microsoft.com/office/drawing/2014/main" id="{37348E12-97D1-4965-937A-7050758B7C34}"/>
              </a:ext>
            </a:extLst>
          </p:cNvPr>
          <p:cNvSpPr txBox="1"/>
          <p:nvPr/>
        </p:nvSpPr>
        <p:spPr>
          <a:xfrm>
            <a:off x="3748982" y="3647795"/>
            <a:ext cx="702722" cy="200055"/>
          </a:xfrm>
          <a:prstGeom prst="rect">
            <a:avLst/>
          </a:prstGeom>
          <a:noFill/>
        </p:spPr>
        <p:txBody>
          <a:bodyPr wrap="square" rtlCol="0">
            <a:spAutoFit/>
          </a:bodyPr>
          <a:lstStyle/>
          <a:p>
            <a:r>
              <a:rPr lang="en-US" sz="700" b="1" dirty="0"/>
              <a:t>15. Visit 15</a:t>
            </a:r>
          </a:p>
        </p:txBody>
      </p:sp>
      <p:cxnSp>
        <p:nvCxnSpPr>
          <p:cNvPr id="81" name="Straight Arrow Connector 80">
            <a:extLst>
              <a:ext uri="{FF2B5EF4-FFF2-40B4-BE49-F238E27FC236}">
                <a16:creationId xmlns:a16="http://schemas.microsoft.com/office/drawing/2014/main" id="{9E3932D5-CFDA-461D-8B02-0E492E761FCA}"/>
              </a:ext>
            </a:extLst>
          </p:cNvPr>
          <p:cNvCxnSpPr>
            <a:cxnSpLocks/>
          </p:cNvCxnSpPr>
          <p:nvPr/>
        </p:nvCxnSpPr>
        <p:spPr>
          <a:xfrm>
            <a:off x="4239286" y="358442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2" name="TextBox 81">
            <a:extLst>
              <a:ext uri="{FF2B5EF4-FFF2-40B4-BE49-F238E27FC236}">
                <a16:creationId xmlns:a16="http://schemas.microsoft.com/office/drawing/2014/main" id="{8B5E2CEC-5270-4BA1-B747-9D3EF0DC95E0}"/>
              </a:ext>
            </a:extLst>
          </p:cNvPr>
          <p:cNvSpPr txBox="1"/>
          <p:nvPr/>
        </p:nvSpPr>
        <p:spPr>
          <a:xfrm>
            <a:off x="4234455" y="3716907"/>
            <a:ext cx="300594" cy="200055"/>
          </a:xfrm>
          <a:prstGeom prst="rect">
            <a:avLst/>
          </a:prstGeom>
          <a:noFill/>
        </p:spPr>
        <p:txBody>
          <a:bodyPr wrap="square" rtlCol="0">
            <a:spAutoFit/>
          </a:bodyPr>
          <a:lstStyle/>
          <a:p>
            <a:r>
              <a:rPr lang="en-US" sz="700" dirty="0"/>
              <a:t>17</a:t>
            </a:r>
          </a:p>
        </p:txBody>
      </p:sp>
      <p:cxnSp>
        <p:nvCxnSpPr>
          <p:cNvPr id="77" name="Straight Arrow Connector 76">
            <a:extLst>
              <a:ext uri="{FF2B5EF4-FFF2-40B4-BE49-F238E27FC236}">
                <a16:creationId xmlns:a16="http://schemas.microsoft.com/office/drawing/2014/main" id="{93DCD7DE-F1D1-439D-9C60-8979CA1E086F}"/>
              </a:ext>
            </a:extLst>
          </p:cNvPr>
          <p:cNvCxnSpPr>
            <a:endCxn id="17" idx="3"/>
          </p:cNvCxnSpPr>
          <p:nvPr/>
        </p:nvCxnSpPr>
        <p:spPr>
          <a:xfrm flipV="1">
            <a:off x="4202723" y="2469061"/>
            <a:ext cx="147559" cy="81537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8AC7E98C-8151-46FF-B3CA-41267FB5871C}"/>
              </a:ext>
            </a:extLst>
          </p:cNvPr>
          <p:cNvSpPr txBox="1"/>
          <p:nvPr/>
        </p:nvSpPr>
        <p:spPr>
          <a:xfrm>
            <a:off x="4253250" y="2501318"/>
            <a:ext cx="300594" cy="200055"/>
          </a:xfrm>
          <a:prstGeom prst="rect">
            <a:avLst/>
          </a:prstGeom>
          <a:noFill/>
        </p:spPr>
        <p:txBody>
          <a:bodyPr wrap="square" rtlCol="0">
            <a:spAutoFit/>
          </a:bodyPr>
          <a:lstStyle/>
          <a:p>
            <a:r>
              <a:rPr lang="en-US" sz="700" dirty="0"/>
              <a:t>18</a:t>
            </a:r>
          </a:p>
        </p:txBody>
      </p:sp>
      <p:sp>
        <p:nvSpPr>
          <p:cNvPr id="86" name="TextBox 85">
            <a:extLst>
              <a:ext uri="{FF2B5EF4-FFF2-40B4-BE49-F238E27FC236}">
                <a16:creationId xmlns:a16="http://schemas.microsoft.com/office/drawing/2014/main" id="{5FD0323A-BC74-4FE4-B969-CB646C4EC47E}"/>
              </a:ext>
            </a:extLst>
          </p:cNvPr>
          <p:cNvSpPr txBox="1"/>
          <p:nvPr/>
        </p:nvSpPr>
        <p:spPr>
          <a:xfrm>
            <a:off x="4536659" y="2432199"/>
            <a:ext cx="702722" cy="200055"/>
          </a:xfrm>
          <a:prstGeom prst="rect">
            <a:avLst/>
          </a:prstGeom>
          <a:noFill/>
        </p:spPr>
        <p:txBody>
          <a:bodyPr wrap="square" rtlCol="0">
            <a:spAutoFit/>
          </a:bodyPr>
          <a:lstStyle/>
          <a:p>
            <a:r>
              <a:rPr lang="en-US" sz="700" b="1" dirty="0"/>
              <a:t>6. Visit 34</a:t>
            </a:r>
          </a:p>
        </p:txBody>
      </p:sp>
      <p:cxnSp>
        <p:nvCxnSpPr>
          <p:cNvPr id="87" name="Straight Arrow Connector 86">
            <a:extLst>
              <a:ext uri="{FF2B5EF4-FFF2-40B4-BE49-F238E27FC236}">
                <a16:creationId xmlns:a16="http://schemas.microsoft.com/office/drawing/2014/main" id="{7C1286DB-6F68-4B7F-920F-03C8C5D9D106}"/>
              </a:ext>
            </a:extLst>
          </p:cNvPr>
          <p:cNvCxnSpPr>
            <a:cxnSpLocks/>
          </p:cNvCxnSpPr>
          <p:nvPr/>
        </p:nvCxnSpPr>
        <p:spPr>
          <a:xfrm flipV="1">
            <a:off x="4562929" y="1664425"/>
            <a:ext cx="65681" cy="44188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2DDF690B-25A9-4CB8-848A-62FEB09F5164}"/>
              </a:ext>
            </a:extLst>
          </p:cNvPr>
          <p:cNvSpPr txBox="1"/>
          <p:nvPr/>
        </p:nvSpPr>
        <p:spPr>
          <a:xfrm>
            <a:off x="4603401" y="1614129"/>
            <a:ext cx="300594" cy="200055"/>
          </a:xfrm>
          <a:prstGeom prst="rect">
            <a:avLst/>
          </a:prstGeom>
          <a:noFill/>
        </p:spPr>
        <p:txBody>
          <a:bodyPr wrap="square" rtlCol="0">
            <a:spAutoFit/>
          </a:bodyPr>
          <a:lstStyle/>
          <a:p>
            <a:r>
              <a:rPr lang="en-US" sz="700" dirty="0"/>
              <a:t>20</a:t>
            </a:r>
          </a:p>
        </p:txBody>
      </p:sp>
      <p:cxnSp>
        <p:nvCxnSpPr>
          <p:cNvPr id="90" name="Straight Arrow Connector 89">
            <a:extLst>
              <a:ext uri="{FF2B5EF4-FFF2-40B4-BE49-F238E27FC236}">
                <a16:creationId xmlns:a16="http://schemas.microsoft.com/office/drawing/2014/main" id="{FF7A2CE4-E898-46BB-8A6D-264A7F349633}"/>
              </a:ext>
            </a:extLst>
          </p:cNvPr>
          <p:cNvCxnSpPr>
            <a:cxnSpLocks/>
          </p:cNvCxnSpPr>
          <p:nvPr/>
        </p:nvCxnSpPr>
        <p:spPr>
          <a:xfrm>
            <a:off x="4571228" y="254172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1" name="TextBox 90">
            <a:extLst>
              <a:ext uri="{FF2B5EF4-FFF2-40B4-BE49-F238E27FC236}">
                <a16:creationId xmlns:a16="http://schemas.microsoft.com/office/drawing/2014/main" id="{FC1B3018-D7D7-498F-A9D6-7A102D6155EA}"/>
              </a:ext>
            </a:extLst>
          </p:cNvPr>
          <p:cNvSpPr txBox="1"/>
          <p:nvPr/>
        </p:nvSpPr>
        <p:spPr>
          <a:xfrm>
            <a:off x="4566397" y="2674207"/>
            <a:ext cx="300594" cy="200055"/>
          </a:xfrm>
          <a:prstGeom prst="rect">
            <a:avLst/>
          </a:prstGeom>
          <a:noFill/>
        </p:spPr>
        <p:txBody>
          <a:bodyPr wrap="square" rtlCol="0">
            <a:spAutoFit/>
          </a:bodyPr>
          <a:lstStyle/>
          <a:p>
            <a:r>
              <a:rPr lang="en-US" sz="700" dirty="0"/>
              <a:t>19</a:t>
            </a:r>
          </a:p>
        </p:txBody>
      </p:sp>
      <p:sp>
        <p:nvSpPr>
          <p:cNvPr id="92" name="TextBox 91">
            <a:extLst>
              <a:ext uri="{FF2B5EF4-FFF2-40B4-BE49-F238E27FC236}">
                <a16:creationId xmlns:a16="http://schemas.microsoft.com/office/drawing/2014/main" id="{16038482-1BB7-4424-9379-995C44D999EB}"/>
              </a:ext>
            </a:extLst>
          </p:cNvPr>
          <p:cNvSpPr txBox="1"/>
          <p:nvPr/>
        </p:nvSpPr>
        <p:spPr>
          <a:xfrm>
            <a:off x="4417864" y="1164763"/>
            <a:ext cx="702722" cy="200055"/>
          </a:xfrm>
          <a:prstGeom prst="rect">
            <a:avLst/>
          </a:prstGeom>
          <a:noFill/>
        </p:spPr>
        <p:txBody>
          <a:bodyPr wrap="square" rtlCol="0">
            <a:spAutoFit/>
          </a:bodyPr>
          <a:lstStyle/>
          <a:p>
            <a:r>
              <a:rPr lang="en-US" sz="700" b="1" dirty="0"/>
              <a:t>1. Visit 40</a:t>
            </a:r>
          </a:p>
        </p:txBody>
      </p:sp>
      <p:cxnSp>
        <p:nvCxnSpPr>
          <p:cNvPr id="93" name="Straight Arrow Connector 92">
            <a:extLst>
              <a:ext uri="{FF2B5EF4-FFF2-40B4-BE49-F238E27FC236}">
                <a16:creationId xmlns:a16="http://schemas.microsoft.com/office/drawing/2014/main" id="{4F2907C3-7530-453B-8661-872425F72400}"/>
              </a:ext>
            </a:extLst>
          </p:cNvPr>
          <p:cNvCxnSpPr>
            <a:cxnSpLocks/>
            <a:endCxn id="94" idx="3"/>
          </p:cNvCxnSpPr>
          <p:nvPr/>
        </p:nvCxnSpPr>
        <p:spPr>
          <a:xfrm>
            <a:off x="5652527" y="2068676"/>
            <a:ext cx="369703" cy="232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4" name="TextBox 93">
            <a:extLst>
              <a:ext uri="{FF2B5EF4-FFF2-40B4-BE49-F238E27FC236}">
                <a16:creationId xmlns:a16="http://schemas.microsoft.com/office/drawing/2014/main" id="{D49AB083-2658-4FF0-B234-5E7EAFFE89D1}"/>
              </a:ext>
            </a:extLst>
          </p:cNvPr>
          <p:cNvSpPr txBox="1"/>
          <p:nvPr/>
        </p:nvSpPr>
        <p:spPr>
          <a:xfrm>
            <a:off x="5647696" y="2201154"/>
            <a:ext cx="374534" cy="200055"/>
          </a:xfrm>
          <a:prstGeom prst="rect">
            <a:avLst/>
          </a:prstGeom>
          <a:noFill/>
        </p:spPr>
        <p:txBody>
          <a:bodyPr wrap="square" rtlCol="0">
            <a:spAutoFit/>
          </a:bodyPr>
          <a:lstStyle/>
          <a:p>
            <a:r>
              <a:rPr lang="en-US" sz="700" dirty="0"/>
              <a:t>24</a:t>
            </a:r>
          </a:p>
        </p:txBody>
      </p:sp>
      <p:cxnSp>
        <p:nvCxnSpPr>
          <p:cNvPr id="96" name="Straight Arrow Connector 95">
            <a:extLst>
              <a:ext uri="{FF2B5EF4-FFF2-40B4-BE49-F238E27FC236}">
                <a16:creationId xmlns:a16="http://schemas.microsoft.com/office/drawing/2014/main" id="{DC5F76BB-7470-41BF-AEA4-C9FE899252F9}"/>
              </a:ext>
            </a:extLst>
          </p:cNvPr>
          <p:cNvCxnSpPr>
            <a:cxnSpLocks/>
          </p:cNvCxnSpPr>
          <p:nvPr/>
        </p:nvCxnSpPr>
        <p:spPr>
          <a:xfrm flipH="1">
            <a:off x="5090566" y="2100391"/>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7" name="TextBox 96">
            <a:extLst>
              <a:ext uri="{FF2B5EF4-FFF2-40B4-BE49-F238E27FC236}">
                <a16:creationId xmlns:a16="http://schemas.microsoft.com/office/drawing/2014/main" id="{F19AAAAA-6C6F-444F-89C3-80C1EDECE105}"/>
              </a:ext>
            </a:extLst>
          </p:cNvPr>
          <p:cNvSpPr txBox="1"/>
          <p:nvPr/>
        </p:nvSpPr>
        <p:spPr>
          <a:xfrm>
            <a:off x="4957979" y="2076088"/>
            <a:ext cx="325581" cy="200055"/>
          </a:xfrm>
          <a:prstGeom prst="rect">
            <a:avLst/>
          </a:prstGeom>
          <a:noFill/>
        </p:spPr>
        <p:txBody>
          <a:bodyPr wrap="square" rtlCol="0">
            <a:spAutoFit/>
          </a:bodyPr>
          <a:lstStyle/>
          <a:p>
            <a:r>
              <a:rPr lang="en-US" sz="700" dirty="0"/>
              <a:t>23</a:t>
            </a:r>
          </a:p>
        </p:txBody>
      </p:sp>
      <p:sp>
        <p:nvSpPr>
          <p:cNvPr id="99" name="TextBox 98">
            <a:extLst>
              <a:ext uri="{FF2B5EF4-FFF2-40B4-BE49-F238E27FC236}">
                <a16:creationId xmlns:a16="http://schemas.microsoft.com/office/drawing/2014/main" id="{A5486F52-8A70-4894-8095-15327D82E5FC}"/>
              </a:ext>
            </a:extLst>
          </p:cNvPr>
          <p:cNvSpPr txBox="1"/>
          <p:nvPr/>
        </p:nvSpPr>
        <p:spPr>
          <a:xfrm>
            <a:off x="5198335" y="2108362"/>
            <a:ext cx="702722" cy="200055"/>
          </a:xfrm>
          <a:prstGeom prst="rect">
            <a:avLst/>
          </a:prstGeom>
          <a:noFill/>
        </p:spPr>
        <p:txBody>
          <a:bodyPr wrap="square" rtlCol="0">
            <a:spAutoFit/>
          </a:bodyPr>
          <a:lstStyle/>
          <a:p>
            <a:r>
              <a:rPr lang="en-US" sz="700" b="1" dirty="0"/>
              <a:t>22. Visit 45</a:t>
            </a:r>
          </a:p>
        </p:txBody>
      </p:sp>
      <p:cxnSp>
        <p:nvCxnSpPr>
          <p:cNvPr id="100" name="Straight Arrow Connector 99">
            <a:extLst>
              <a:ext uri="{FF2B5EF4-FFF2-40B4-BE49-F238E27FC236}">
                <a16:creationId xmlns:a16="http://schemas.microsoft.com/office/drawing/2014/main" id="{33C504B3-9480-42F2-84FA-C935118213C8}"/>
              </a:ext>
            </a:extLst>
          </p:cNvPr>
          <p:cNvCxnSpPr>
            <a:cxnSpLocks/>
          </p:cNvCxnSpPr>
          <p:nvPr/>
        </p:nvCxnSpPr>
        <p:spPr>
          <a:xfrm>
            <a:off x="4835293" y="1628383"/>
            <a:ext cx="369703" cy="232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1" name="TextBox 100">
            <a:extLst>
              <a:ext uri="{FF2B5EF4-FFF2-40B4-BE49-F238E27FC236}">
                <a16:creationId xmlns:a16="http://schemas.microsoft.com/office/drawing/2014/main" id="{EA93ECFD-7B89-45B7-811D-27DA6B956537}"/>
              </a:ext>
            </a:extLst>
          </p:cNvPr>
          <p:cNvSpPr txBox="1"/>
          <p:nvPr/>
        </p:nvSpPr>
        <p:spPr>
          <a:xfrm>
            <a:off x="4899580" y="1760667"/>
            <a:ext cx="374534" cy="200055"/>
          </a:xfrm>
          <a:prstGeom prst="rect">
            <a:avLst/>
          </a:prstGeom>
          <a:noFill/>
        </p:spPr>
        <p:txBody>
          <a:bodyPr wrap="square" rtlCol="0">
            <a:spAutoFit/>
          </a:bodyPr>
          <a:lstStyle/>
          <a:p>
            <a:r>
              <a:rPr lang="en-US" sz="700" dirty="0"/>
              <a:t>21</a:t>
            </a:r>
          </a:p>
        </p:txBody>
      </p:sp>
      <p:cxnSp>
        <p:nvCxnSpPr>
          <p:cNvPr id="102" name="Straight Arrow Connector 101">
            <a:extLst>
              <a:ext uri="{FF2B5EF4-FFF2-40B4-BE49-F238E27FC236}">
                <a16:creationId xmlns:a16="http://schemas.microsoft.com/office/drawing/2014/main" id="{6146F459-2DEF-4F74-B6A2-D66B84C5D623}"/>
              </a:ext>
            </a:extLst>
          </p:cNvPr>
          <p:cNvCxnSpPr>
            <a:cxnSpLocks/>
          </p:cNvCxnSpPr>
          <p:nvPr/>
        </p:nvCxnSpPr>
        <p:spPr>
          <a:xfrm flipH="1">
            <a:off x="5822068" y="2483318"/>
            <a:ext cx="270550" cy="1341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3" name="TextBox 102">
            <a:extLst>
              <a:ext uri="{FF2B5EF4-FFF2-40B4-BE49-F238E27FC236}">
                <a16:creationId xmlns:a16="http://schemas.microsoft.com/office/drawing/2014/main" id="{CCB6023D-82AD-4B25-BA63-204AC7D52C9A}"/>
              </a:ext>
            </a:extLst>
          </p:cNvPr>
          <p:cNvSpPr txBox="1"/>
          <p:nvPr/>
        </p:nvSpPr>
        <p:spPr>
          <a:xfrm>
            <a:off x="5682921" y="2401290"/>
            <a:ext cx="374534" cy="200055"/>
          </a:xfrm>
          <a:prstGeom prst="rect">
            <a:avLst/>
          </a:prstGeom>
          <a:noFill/>
        </p:spPr>
        <p:txBody>
          <a:bodyPr wrap="square" rtlCol="0">
            <a:spAutoFit/>
          </a:bodyPr>
          <a:lstStyle/>
          <a:p>
            <a:r>
              <a:rPr lang="en-US" sz="700" dirty="0"/>
              <a:t>26</a:t>
            </a:r>
          </a:p>
        </p:txBody>
      </p:sp>
      <p:cxnSp>
        <p:nvCxnSpPr>
          <p:cNvPr id="111" name="Straight Arrow Connector 110">
            <a:extLst>
              <a:ext uri="{FF2B5EF4-FFF2-40B4-BE49-F238E27FC236}">
                <a16:creationId xmlns:a16="http://schemas.microsoft.com/office/drawing/2014/main" id="{FAFC4275-7A58-44FB-8440-AA088C0A31C4}"/>
              </a:ext>
            </a:extLst>
          </p:cNvPr>
          <p:cNvCxnSpPr>
            <a:cxnSpLocks/>
          </p:cNvCxnSpPr>
          <p:nvPr/>
        </p:nvCxnSpPr>
        <p:spPr>
          <a:xfrm flipH="1">
            <a:off x="5152002" y="2952201"/>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2" name="TextBox 111">
            <a:extLst>
              <a:ext uri="{FF2B5EF4-FFF2-40B4-BE49-F238E27FC236}">
                <a16:creationId xmlns:a16="http://schemas.microsoft.com/office/drawing/2014/main" id="{21F48DDE-3DEB-4FF2-AD04-F41E13CC3074}"/>
              </a:ext>
            </a:extLst>
          </p:cNvPr>
          <p:cNvSpPr txBox="1"/>
          <p:nvPr/>
        </p:nvSpPr>
        <p:spPr>
          <a:xfrm>
            <a:off x="4985295" y="2980644"/>
            <a:ext cx="414728" cy="200055"/>
          </a:xfrm>
          <a:prstGeom prst="rect">
            <a:avLst/>
          </a:prstGeom>
          <a:noFill/>
        </p:spPr>
        <p:txBody>
          <a:bodyPr wrap="square" rtlCol="0">
            <a:spAutoFit/>
          </a:bodyPr>
          <a:lstStyle/>
          <a:p>
            <a:r>
              <a:rPr lang="en-US" sz="700" dirty="0"/>
              <a:t>28</a:t>
            </a:r>
          </a:p>
        </p:txBody>
      </p:sp>
      <p:cxnSp>
        <p:nvCxnSpPr>
          <p:cNvPr id="113" name="Straight Arrow Connector 112">
            <a:extLst>
              <a:ext uri="{FF2B5EF4-FFF2-40B4-BE49-F238E27FC236}">
                <a16:creationId xmlns:a16="http://schemas.microsoft.com/office/drawing/2014/main" id="{3576561F-8267-4C2B-8FBC-DD5EA6B7403A}"/>
              </a:ext>
            </a:extLst>
          </p:cNvPr>
          <p:cNvCxnSpPr>
            <a:cxnSpLocks/>
          </p:cNvCxnSpPr>
          <p:nvPr/>
        </p:nvCxnSpPr>
        <p:spPr>
          <a:xfrm flipH="1">
            <a:off x="4667918" y="3617433"/>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4" name="TextBox 113">
            <a:extLst>
              <a:ext uri="{FF2B5EF4-FFF2-40B4-BE49-F238E27FC236}">
                <a16:creationId xmlns:a16="http://schemas.microsoft.com/office/drawing/2014/main" id="{4F7460E5-FE1C-4FD2-82FD-C142CE270430}"/>
              </a:ext>
            </a:extLst>
          </p:cNvPr>
          <p:cNvSpPr txBox="1"/>
          <p:nvPr/>
        </p:nvSpPr>
        <p:spPr>
          <a:xfrm>
            <a:off x="4529764" y="3626716"/>
            <a:ext cx="325581" cy="200055"/>
          </a:xfrm>
          <a:prstGeom prst="rect">
            <a:avLst/>
          </a:prstGeom>
          <a:noFill/>
        </p:spPr>
        <p:txBody>
          <a:bodyPr wrap="square" rtlCol="0">
            <a:spAutoFit/>
          </a:bodyPr>
          <a:lstStyle/>
          <a:p>
            <a:r>
              <a:rPr lang="en-US" sz="700" dirty="0"/>
              <a:t>30</a:t>
            </a:r>
          </a:p>
        </p:txBody>
      </p:sp>
      <p:sp>
        <p:nvSpPr>
          <p:cNvPr id="115" name="TextBox 114">
            <a:extLst>
              <a:ext uri="{FF2B5EF4-FFF2-40B4-BE49-F238E27FC236}">
                <a16:creationId xmlns:a16="http://schemas.microsoft.com/office/drawing/2014/main" id="{7135F98E-7C35-456B-AF8D-3E720642ACCF}"/>
              </a:ext>
            </a:extLst>
          </p:cNvPr>
          <p:cNvSpPr txBox="1"/>
          <p:nvPr/>
        </p:nvSpPr>
        <p:spPr>
          <a:xfrm>
            <a:off x="4776923" y="3666519"/>
            <a:ext cx="702722" cy="200055"/>
          </a:xfrm>
          <a:prstGeom prst="rect">
            <a:avLst/>
          </a:prstGeom>
          <a:noFill/>
        </p:spPr>
        <p:txBody>
          <a:bodyPr wrap="square" rtlCol="0">
            <a:spAutoFit/>
          </a:bodyPr>
          <a:lstStyle/>
          <a:p>
            <a:r>
              <a:rPr lang="en-US" sz="700" b="1" dirty="0"/>
              <a:t>29. Visit 47</a:t>
            </a:r>
          </a:p>
        </p:txBody>
      </p:sp>
      <p:cxnSp>
        <p:nvCxnSpPr>
          <p:cNvPr id="116" name="Straight Arrow Connector 115">
            <a:extLst>
              <a:ext uri="{FF2B5EF4-FFF2-40B4-BE49-F238E27FC236}">
                <a16:creationId xmlns:a16="http://schemas.microsoft.com/office/drawing/2014/main" id="{F1B68377-1B43-4FFE-9D05-CA6A7BFF076A}"/>
              </a:ext>
            </a:extLst>
          </p:cNvPr>
          <p:cNvCxnSpPr>
            <a:cxnSpLocks/>
          </p:cNvCxnSpPr>
          <p:nvPr/>
        </p:nvCxnSpPr>
        <p:spPr>
          <a:xfrm>
            <a:off x="5278726" y="3611874"/>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7" name="TextBox 116">
            <a:extLst>
              <a:ext uri="{FF2B5EF4-FFF2-40B4-BE49-F238E27FC236}">
                <a16:creationId xmlns:a16="http://schemas.microsoft.com/office/drawing/2014/main" id="{8C109A4E-FC52-4B04-BBBA-6137A2E6D170}"/>
              </a:ext>
            </a:extLst>
          </p:cNvPr>
          <p:cNvSpPr txBox="1"/>
          <p:nvPr/>
        </p:nvSpPr>
        <p:spPr>
          <a:xfrm>
            <a:off x="5273895" y="3744352"/>
            <a:ext cx="300594" cy="200055"/>
          </a:xfrm>
          <a:prstGeom prst="rect">
            <a:avLst/>
          </a:prstGeom>
          <a:noFill/>
        </p:spPr>
        <p:txBody>
          <a:bodyPr wrap="square" rtlCol="0">
            <a:spAutoFit/>
          </a:bodyPr>
          <a:lstStyle/>
          <a:p>
            <a:r>
              <a:rPr lang="en-US" sz="700" dirty="0"/>
              <a:t>31</a:t>
            </a:r>
          </a:p>
        </p:txBody>
      </p:sp>
      <p:cxnSp>
        <p:nvCxnSpPr>
          <p:cNvPr id="118" name="Straight Arrow Connector 117">
            <a:extLst>
              <a:ext uri="{FF2B5EF4-FFF2-40B4-BE49-F238E27FC236}">
                <a16:creationId xmlns:a16="http://schemas.microsoft.com/office/drawing/2014/main" id="{AC90AB83-4C5D-4AC4-924E-C21A04DBC461}"/>
              </a:ext>
            </a:extLst>
          </p:cNvPr>
          <p:cNvCxnSpPr/>
          <p:nvPr/>
        </p:nvCxnSpPr>
        <p:spPr>
          <a:xfrm flipV="1">
            <a:off x="5291529" y="3058721"/>
            <a:ext cx="309134" cy="2903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9" name="TextBox 118">
            <a:extLst>
              <a:ext uri="{FF2B5EF4-FFF2-40B4-BE49-F238E27FC236}">
                <a16:creationId xmlns:a16="http://schemas.microsoft.com/office/drawing/2014/main" id="{3B2F06EF-EBE9-4D66-8F5C-A3BFB599FEBF}"/>
              </a:ext>
            </a:extLst>
          </p:cNvPr>
          <p:cNvSpPr txBox="1"/>
          <p:nvPr/>
        </p:nvSpPr>
        <p:spPr>
          <a:xfrm>
            <a:off x="5434899" y="3111233"/>
            <a:ext cx="301843" cy="200055"/>
          </a:xfrm>
          <a:prstGeom prst="rect">
            <a:avLst/>
          </a:prstGeom>
          <a:noFill/>
        </p:spPr>
        <p:txBody>
          <a:bodyPr wrap="square" rtlCol="0">
            <a:spAutoFit/>
          </a:bodyPr>
          <a:lstStyle/>
          <a:p>
            <a:r>
              <a:rPr lang="en-US" sz="700" dirty="0"/>
              <a:t>32</a:t>
            </a:r>
          </a:p>
        </p:txBody>
      </p:sp>
      <p:sp>
        <p:nvSpPr>
          <p:cNvPr id="120" name="TextBox 119">
            <a:extLst>
              <a:ext uri="{FF2B5EF4-FFF2-40B4-BE49-F238E27FC236}">
                <a16:creationId xmlns:a16="http://schemas.microsoft.com/office/drawing/2014/main" id="{DFE71FB6-D06A-441F-A31A-3ABC6B9BD329}"/>
              </a:ext>
            </a:extLst>
          </p:cNvPr>
          <p:cNvSpPr txBox="1"/>
          <p:nvPr/>
        </p:nvSpPr>
        <p:spPr>
          <a:xfrm>
            <a:off x="5528751" y="3018484"/>
            <a:ext cx="702722" cy="200055"/>
          </a:xfrm>
          <a:prstGeom prst="rect">
            <a:avLst/>
          </a:prstGeom>
          <a:noFill/>
        </p:spPr>
        <p:txBody>
          <a:bodyPr wrap="square" rtlCol="0">
            <a:spAutoFit/>
          </a:bodyPr>
          <a:lstStyle/>
          <a:p>
            <a:r>
              <a:rPr lang="en-US" sz="700" b="1" dirty="0"/>
              <a:t>27. Visit 48</a:t>
            </a:r>
          </a:p>
        </p:txBody>
      </p:sp>
      <p:cxnSp>
        <p:nvCxnSpPr>
          <p:cNvPr id="121" name="Straight Arrow Connector 120">
            <a:extLst>
              <a:ext uri="{FF2B5EF4-FFF2-40B4-BE49-F238E27FC236}">
                <a16:creationId xmlns:a16="http://schemas.microsoft.com/office/drawing/2014/main" id="{FF574594-9D09-45D5-944A-FBF1F141159F}"/>
              </a:ext>
            </a:extLst>
          </p:cNvPr>
          <p:cNvCxnSpPr>
            <a:cxnSpLocks/>
          </p:cNvCxnSpPr>
          <p:nvPr/>
        </p:nvCxnSpPr>
        <p:spPr>
          <a:xfrm>
            <a:off x="5851975" y="306377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2" name="TextBox 121">
            <a:extLst>
              <a:ext uri="{FF2B5EF4-FFF2-40B4-BE49-F238E27FC236}">
                <a16:creationId xmlns:a16="http://schemas.microsoft.com/office/drawing/2014/main" id="{CCEA71D6-4758-44CC-AD19-62F82684E5EC}"/>
              </a:ext>
            </a:extLst>
          </p:cNvPr>
          <p:cNvSpPr txBox="1"/>
          <p:nvPr/>
        </p:nvSpPr>
        <p:spPr>
          <a:xfrm>
            <a:off x="5847144" y="3196257"/>
            <a:ext cx="300594" cy="200055"/>
          </a:xfrm>
          <a:prstGeom prst="rect">
            <a:avLst/>
          </a:prstGeom>
          <a:noFill/>
        </p:spPr>
        <p:txBody>
          <a:bodyPr wrap="square" rtlCol="0">
            <a:spAutoFit/>
          </a:bodyPr>
          <a:lstStyle/>
          <a:p>
            <a:r>
              <a:rPr lang="en-US" sz="700" dirty="0"/>
              <a:t>33</a:t>
            </a:r>
          </a:p>
        </p:txBody>
      </p:sp>
      <p:cxnSp>
        <p:nvCxnSpPr>
          <p:cNvPr id="123" name="Straight Arrow Connector 122">
            <a:extLst>
              <a:ext uri="{FF2B5EF4-FFF2-40B4-BE49-F238E27FC236}">
                <a16:creationId xmlns:a16="http://schemas.microsoft.com/office/drawing/2014/main" id="{1405BE57-9B29-4A91-8710-FCA4065164CE}"/>
              </a:ext>
            </a:extLst>
          </p:cNvPr>
          <p:cNvCxnSpPr>
            <a:cxnSpLocks/>
          </p:cNvCxnSpPr>
          <p:nvPr/>
        </p:nvCxnSpPr>
        <p:spPr>
          <a:xfrm flipH="1">
            <a:off x="5902285" y="3575146"/>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4" name="TextBox 123">
            <a:extLst>
              <a:ext uri="{FF2B5EF4-FFF2-40B4-BE49-F238E27FC236}">
                <a16:creationId xmlns:a16="http://schemas.microsoft.com/office/drawing/2014/main" id="{B23D2418-21A3-4A6A-BC5C-02F465F6D377}"/>
              </a:ext>
            </a:extLst>
          </p:cNvPr>
          <p:cNvSpPr txBox="1"/>
          <p:nvPr/>
        </p:nvSpPr>
        <p:spPr>
          <a:xfrm>
            <a:off x="5763976" y="3596867"/>
            <a:ext cx="325581" cy="200055"/>
          </a:xfrm>
          <a:prstGeom prst="rect">
            <a:avLst/>
          </a:prstGeom>
          <a:noFill/>
        </p:spPr>
        <p:txBody>
          <a:bodyPr wrap="square" rtlCol="0">
            <a:spAutoFit/>
          </a:bodyPr>
          <a:lstStyle/>
          <a:p>
            <a:r>
              <a:rPr lang="en-US" sz="700" dirty="0"/>
              <a:t>35</a:t>
            </a:r>
          </a:p>
        </p:txBody>
      </p:sp>
      <p:sp>
        <p:nvSpPr>
          <p:cNvPr id="125" name="TextBox 124">
            <a:extLst>
              <a:ext uri="{FF2B5EF4-FFF2-40B4-BE49-F238E27FC236}">
                <a16:creationId xmlns:a16="http://schemas.microsoft.com/office/drawing/2014/main" id="{ED80B52E-A441-44C1-BA0A-03D799224EF3}"/>
              </a:ext>
            </a:extLst>
          </p:cNvPr>
          <p:cNvSpPr txBox="1"/>
          <p:nvPr/>
        </p:nvSpPr>
        <p:spPr>
          <a:xfrm>
            <a:off x="5970735" y="3678514"/>
            <a:ext cx="702722" cy="200055"/>
          </a:xfrm>
          <a:prstGeom prst="rect">
            <a:avLst/>
          </a:prstGeom>
          <a:noFill/>
        </p:spPr>
        <p:txBody>
          <a:bodyPr wrap="square" rtlCol="0">
            <a:spAutoFit/>
          </a:bodyPr>
          <a:lstStyle/>
          <a:p>
            <a:r>
              <a:rPr lang="en-US" sz="700" b="1" dirty="0"/>
              <a:t>34. Visit 49</a:t>
            </a:r>
          </a:p>
        </p:txBody>
      </p:sp>
      <p:cxnSp>
        <p:nvCxnSpPr>
          <p:cNvPr id="126" name="Straight Arrow Connector 125">
            <a:extLst>
              <a:ext uri="{FF2B5EF4-FFF2-40B4-BE49-F238E27FC236}">
                <a16:creationId xmlns:a16="http://schemas.microsoft.com/office/drawing/2014/main" id="{A460EC01-6E07-4195-A9E6-8C15F7E3870F}"/>
              </a:ext>
            </a:extLst>
          </p:cNvPr>
          <p:cNvCxnSpPr>
            <a:cxnSpLocks/>
          </p:cNvCxnSpPr>
          <p:nvPr/>
        </p:nvCxnSpPr>
        <p:spPr>
          <a:xfrm>
            <a:off x="6556383" y="3605525"/>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7" name="TextBox 126">
            <a:extLst>
              <a:ext uri="{FF2B5EF4-FFF2-40B4-BE49-F238E27FC236}">
                <a16:creationId xmlns:a16="http://schemas.microsoft.com/office/drawing/2014/main" id="{1E13C19E-1D0C-4E26-B792-2064A915FA59}"/>
              </a:ext>
            </a:extLst>
          </p:cNvPr>
          <p:cNvSpPr txBox="1"/>
          <p:nvPr/>
        </p:nvSpPr>
        <p:spPr>
          <a:xfrm>
            <a:off x="6551552" y="3738003"/>
            <a:ext cx="300594" cy="200055"/>
          </a:xfrm>
          <a:prstGeom prst="rect">
            <a:avLst/>
          </a:prstGeom>
          <a:noFill/>
        </p:spPr>
        <p:txBody>
          <a:bodyPr wrap="square" rtlCol="0">
            <a:spAutoFit/>
          </a:bodyPr>
          <a:lstStyle/>
          <a:p>
            <a:r>
              <a:rPr lang="en-US" sz="700" dirty="0"/>
              <a:t>36</a:t>
            </a:r>
          </a:p>
        </p:txBody>
      </p:sp>
      <p:cxnSp>
        <p:nvCxnSpPr>
          <p:cNvPr id="128" name="Straight Arrow Connector 127">
            <a:extLst>
              <a:ext uri="{FF2B5EF4-FFF2-40B4-BE49-F238E27FC236}">
                <a16:creationId xmlns:a16="http://schemas.microsoft.com/office/drawing/2014/main" id="{C5E1781E-7D8B-414B-A28C-87A348D513DB}"/>
              </a:ext>
            </a:extLst>
          </p:cNvPr>
          <p:cNvCxnSpPr>
            <a:cxnSpLocks/>
          </p:cNvCxnSpPr>
          <p:nvPr/>
        </p:nvCxnSpPr>
        <p:spPr>
          <a:xfrm flipV="1">
            <a:off x="6301226" y="2617516"/>
            <a:ext cx="20870" cy="57604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323B883E-61E7-4D87-BE3F-3157883244F7}"/>
              </a:ext>
            </a:extLst>
          </p:cNvPr>
          <p:cNvSpPr txBox="1"/>
          <p:nvPr/>
        </p:nvSpPr>
        <p:spPr>
          <a:xfrm>
            <a:off x="6265356" y="2695791"/>
            <a:ext cx="364200" cy="200055"/>
          </a:xfrm>
          <a:prstGeom prst="rect">
            <a:avLst/>
          </a:prstGeom>
          <a:noFill/>
        </p:spPr>
        <p:txBody>
          <a:bodyPr wrap="square" rtlCol="0">
            <a:spAutoFit/>
          </a:bodyPr>
          <a:lstStyle/>
          <a:p>
            <a:r>
              <a:rPr lang="en-US" sz="700" dirty="0"/>
              <a:t>37</a:t>
            </a:r>
          </a:p>
        </p:txBody>
      </p:sp>
      <p:sp>
        <p:nvSpPr>
          <p:cNvPr id="131" name="TextBox 130">
            <a:extLst>
              <a:ext uri="{FF2B5EF4-FFF2-40B4-BE49-F238E27FC236}">
                <a16:creationId xmlns:a16="http://schemas.microsoft.com/office/drawing/2014/main" id="{69D4A4B7-6D14-4310-A5D3-2CC1A95181DA}"/>
              </a:ext>
            </a:extLst>
          </p:cNvPr>
          <p:cNvSpPr txBox="1"/>
          <p:nvPr/>
        </p:nvSpPr>
        <p:spPr>
          <a:xfrm>
            <a:off x="6278195" y="2062621"/>
            <a:ext cx="702722" cy="200055"/>
          </a:xfrm>
          <a:prstGeom prst="rect">
            <a:avLst/>
          </a:prstGeom>
          <a:noFill/>
        </p:spPr>
        <p:txBody>
          <a:bodyPr wrap="square" rtlCol="0">
            <a:spAutoFit/>
          </a:bodyPr>
          <a:lstStyle/>
          <a:p>
            <a:r>
              <a:rPr lang="en-US" sz="700" b="1" dirty="0"/>
              <a:t>25. Visit 55</a:t>
            </a:r>
          </a:p>
        </p:txBody>
      </p:sp>
      <p:cxnSp>
        <p:nvCxnSpPr>
          <p:cNvPr id="135" name="Straight Arrow Connector 134">
            <a:extLst>
              <a:ext uri="{FF2B5EF4-FFF2-40B4-BE49-F238E27FC236}">
                <a16:creationId xmlns:a16="http://schemas.microsoft.com/office/drawing/2014/main" id="{C707F8AF-1904-4E85-80F4-68DB4273183F}"/>
              </a:ext>
            </a:extLst>
          </p:cNvPr>
          <p:cNvCxnSpPr>
            <a:cxnSpLocks/>
          </p:cNvCxnSpPr>
          <p:nvPr/>
        </p:nvCxnSpPr>
        <p:spPr>
          <a:xfrm>
            <a:off x="6567923" y="2461784"/>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6" name="TextBox 135">
            <a:extLst>
              <a:ext uri="{FF2B5EF4-FFF2-40B4-BE49-F238E27FC236}">
                <a16:creationId xmlns:a16="http://schemas.microsoft.com/office/drawing/2014/main" id="{E64B3789-6895-4A8D-85EE-60F5E4BDE66C}"/>
              </a:ext>
            </a:extLst>
          </p:cNvPr>
          <p:cNvSpPr txBox="1"/>
          <p:nvPr/>
        </p:nvSpPr>
        <p:spPr>
          <a:xfrm>
            <a:off x="6563092" y="2594262"/>
            <a:ext cx="300594" cy="200055"/>
          </a:xfrm>
          <a:prstGeom prst="rect">
            <a:avLst/>
          </a:prstGeom>
          <a:noFill/>
        </p:spPr>
        <p:txBody>
          <a:bodyPr wrap="square" rtlCol="0">
            <a:spAutoFit/>
          </a:bodyPr>
          <a:lstStyle/>
          <a:p>
            <a:r>
              <a:rPr lang="en-US" sz="700" dirty="0"/>
              <a:t>38</a:t>
            </a:r>
          </a:p>
        </p:txBody>
      </p:sp>
      <p:cxnSp>
        <p:nvCxnSpPr>
          <p:cNvPr id="133" name="Straight Arrow Connector 132">
            <a:extLst>
              <a:ext uri="{FF2B5EF4-FFF2-40B4-BE49-F238E27FC236}">
                <a16:creationId xmlns:a16="http://schemas.microsoft.com/office/drawing/2014/main" id="{AAC22DCA-510D-4C5B-AC57-92F80F16FFA1}"/>
              </a:ext>
            </a:extLst>
          </p:cNvPr>
          <p:cNvCxnSpPr/>
          <p:nvPr/>
        </p:nvCxnSpPr>
        <p:spPr>
          <a:xfrm flipH="1" flipV="1">
            <a:off x="5822068" y="1957370"/>
            <a:ext cx="349247" cy="21946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9" name="TextBox 138">
            <a:extLst>
              <a:ext uri="{FF2B5EF4-FFF2-40B4-BE49-F238E27FC236}">
                <a16:creationId xmlns:a16="http://schemas.microsoft.com/office/drawing/2014/main" id="{EFA40037-8713-4ACD-B6A6-43EF3B13FF6F}"/>
              </a:ext>
            </a:extLst>
          </p:cNvPr>
          <p:cNvSpPr txBox="1"/>
          <p:nvPr/>
        </p:nvSpPr>
        <p:spPr>
          <a:xfrm>
            <a:off x="5901057" y="1887108"/>
            <a:ext cx="300594" cy="200055"/>
          </a:xfrm>
          <a:prstGeom prst="rect">
            <a:avLst/>
          </a:prstGeom>
          <a:noFill/>
        </p:spPr>
        <p:txBody>
          <a:bodyPr wrap="square" rtlCol="0">
            <a:spAutoFit/>
          </a:bodyPr>
          <a:lstStyle/>
          <a:p>
            <a:r>
              <a:rPr lang="en-US" sz="700" dirty="0"/>
              <a:t>39</a:t>
            </a:r>
          </a:p>
        </p:txBody>
      </p:sp>
      <p:cxnSp>
        <p:nvCxnSpPr>
          <p:cNvPr id="140" name="Straight Arrow Connector 139">
            <a:extLst>
              <a:ext uri="{FF2B5EF4-FFF2-40B4-BE49-F238E27FC236}">
                <a16:creationId xmlns:a16="http://schemas.microsoft.com/office/drawing/2014/main" id="{BEE54448-C6DD-4CA6-A83D-AA12B099A1AD}"/>
              </a:ext>
            </a:extLst>
          </p:cNvPr>
          <p:cNvCxnSpPr/>
          <p:nvPr/>
        </p:nvCxnSpPr>
        <p:spPr>
          <a:xfrm flipH="1" flipV="1">
            <a:off x="5075434" y="1513390"/>
            <a:ext cx="349247" cy="21946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1" name="TextBox 140">
            <a:extLst>
              <a:ext uri="{FF2B5EF4-FFF2-40B4-BE49-F238E27FC236}">
                <a16:creationId xmlns:a16="http://schemas.microsoft.com/office/drawing/2014/main" id="{B3745190-C4AB-4C8A-A690-ACE8B15919CC}"/>
              </a:ext>
            </a:extLst>
          </p:cNvPr>
          <p:cNvSpPr txBox="1"/>
          <p:nvPr/>
        </p:nvSpPr>
        <p:spPr>
          <a:xfrm>
            <a:off x="5154423" y="1443128"/>
            <a:ext cx="300594" cy="200055"/>
          </a:xfrm>
          <a:prstGeom prst="rect">
            <a:avLst/>
          </a:prstGeom>
          <a:noFill/>
        </p:spPr>
        <p:txBody>
          <a:bodyPr wrap="square" rtlCol="0">
            <a:spAutoFit/>
          </a:bodyPr>
          <a:lstStyle/>
          <a:p>
            <a:r>
              <a:rPr lang="en-US" sz="700" dirty="0"/>
              <a:t>40</a:t>
            </a:r>
          </a:p>
        </p:txBody>
      </p:sp>
    </p:spTree>
    <p:extLst>
      <p:ext uri="{BB962C8B-B14F-4D97-AF65-F5344CB8AC3E}">
        <p14:creationId xmlns:p14="http://schemas.microsoft.com/office/powerpoint/2010/main" val="312095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5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5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8"/>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86"/>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7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6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5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66"/>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62"/>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3"/>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68"/>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67"/>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72"/>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69"/>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75"/>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74"/>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80"/>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79"/>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78"/>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81"/>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85"/>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77"/>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91"/>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90"/>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88"/>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87"/>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101"/>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100"/>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grpId="0" nodeType="clickEffect">
                                  <p:stCondLst>
                                    <p:cond delay="0"/>
                                  </p:stCondLst>
                                  <p:childTnLst>
                                    <p:set>
                                      <p:cBhvr>
                                        <p:cTn id="204" dur="1" fill="hold">
                                          <p:stCondLst>
                                            <p:cond delay="0"/>
                                          </p:stCondLst>
                                        </p:cTn>
                                        <p:tgtEl>
                                          <p:spTgt spid="99"/>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96"/>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97"/>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1" presetClass="entr" presetSubtype="0" fill="hold" nodeType="clickEffect">
                                  <p:stCondLst>
                                    <p:cond delay="0"/>
                                  </p:stCondLst>
                                  <p:childTnLst>
                                    <p:set>
                                      <p:cBhvr>
                                        <p:cTn id="214" dur="1" fill="hold">
                                          <p:stCondLst>
                                            <p:cond delay="0"/>
                                          </p:stCondLst>
                                        </p:cTn>
                                        <p:tgtEl>
                                          <p:spTgt spid="93"/>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94"/>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grpId="0" nodeType="clickEffect">
                                  <p:stCondLst>
                                    <p:cond delay="0"/>
                                  </p:stCondLst>
                                  <p:childTnLst>
                                    <p:set>
                                      <p:cBhvr>
                                        <p:cTn id="220" dur="1" fill="hold">
                                          <p:stCondLst>
                                            <p:cond delay="0"/>
                                          </p:stCondLst>
                                        </p:cTn>
                                        <p:tgtEl>
                                          <p:spTgt spid="131"/>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nodeType="clickEffect">
                                  <p:stCondLst>
                                    <p:cond delay="0"/>
                                  </p:stCondLst>
                                  <p:childTnLst>
                                    <p:set>
                                      <p:cBhvr>
                                        <p:cTn id="224" dur="1" fill="hold">
                                          <p:stCondLst>
                                            <p:cond delay="0"/>
                                          </p:stCondLst>
                                        </p:cTn>
                                        <p:tgtEl>
                                          <p:spTgt spid="102"/>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03"/>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20"/>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11"/>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12"/>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0"/>
                                          </p:stCondLst>
                                        </p:cTn>
                                        <p:tgtEl>
                                          <p:spTgt spid="115"/>
                                        </p:tgtEl>
                                        <p:attrNameLst>
                                          <p:attrName>style.visibility</p:attrName>
                                        </p:attrNameLst>
                                      </p:cBhvr>
                                      <p:to>
                                        <p:strVal val="visible"/>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nodeType="clickEffect">
                                  <p:stCondLst>
                                    <p:cond delay="0"/>
                                  </p:stCondLst>
                                  <p:childTnLst>
                                    <p:set>
                                      <p:cBhvr>
                                        <p:cTn id="244" dur="1" fill="hold">
                                          <p:stCondLst>
                                            <p:cond delay="0"/>
                                          </p:stCondLst>
                                        </p:cTn>
                                        <p:tgtEl>
                                          <p:spTgt spid="113"/>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114"/>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117"/>
                                        </p:tgtEl>
                                        <p:attrNameLst>
                                          <p:attrName>style.visibility</p:attrName>
                                        </p:attrNameLst>
                                      </p:cBhvr>
                                      <p:to>
                                        <p:strVal val="visible"/>
                                      </p:to>
                                    </p:set>
                                  </p:childTnLst>
                                </p:cTn>
                              </p:par>
                              <p:par>
                                <p:cTn id="251" presetID="1" presetClass="entr" presetSubtype="0" fill="hold" nodeType="withEffect">
                                  <p:stCondLst>
                                    <p:cond delay="0"/>
                                  </p:stCondLst>
                                  <p:childTnLst>
                                    <p:set>
                                      <p:cBhvr>
                                        <p:cTn id="252" dur="1" fill="hold">
                                          <p:stCondLst>
                                            <p:cond delay="0"/>
                                          </p:stCondLst>
                                        </p:cTn>
                                        <p:tgtEl>
                                          <p:spTgt spid="116"/>
                                        </p:tgtEl>
                                        <p:attrNameLst>
                                          <p:attrName>style.visibility</p:attrName>
                                        </p:attrNameLst>
                                      </p:cBhvr>
                                      <p:to>
                                        <p:strVal val="visible"/>
                                      </p:to>
                                    </p:set>
                                  </p:childTnLst>
                                </p:cTn>
                              </p:par>
                            </p:childTnLst>
                          </p:cTn>
                        </p:par>
                      </p:childTnLst>
                    </p:cTn>
                  </p:par>
                  <p:par>
                    <p:cTn id="253" fill="hold">
                      <p:stCondLst>
                        <p:cond delay="indefinite"/>
                      </p:stCondLst>
                      <p:childTnLst>
                        <p:par>
                          <p:cTn id="254" fill="hold">
                            <p:stCondLst>
                              <p:cond delay="0"/>
                            </p:stCondLst>
                            <p:childTnLst>
                              <p:par>
                                <p:cTn id="255" presetID="1" presetClass="entr" presetSubtype="0" fill="hold" grpId="0" nodeType="clickEffect">
                                  <p:stCondLst>
                                    <p:cond delay="0"/>
                                  </p:stCondLst>
                                  <p:childTnLst>
                                    <p:set>
                                      <p:cBhvr>
                                        <p:cTn id="256" dur="1" fill="hold">
                                          <p:stCondLst>
                                            <p:cond delay="0"/>
                                          </p:stCondLst>
                                        </p:cTn>
                                        <p:tgtEl>
                                          <p:spTgt spid="119"/>
                                        </p:tgtEl>
                                        <p:attrNameLst>
                                          <p:attrName>style.visibility</p:attrName>
                                        </p:attrNameLst>
                                      </p:cBhvr>
                                      <p:to>
                                        <p:strVal val="visible"/>
                                      </p:to>
                                    </p:set>
                                  </p:childTnLst>
                                </p:cTn>
                              </p:par>
                              <p:par>
                                <p:cTn id="257" presetID="1" presetClass="entr" presetSubtype="0" fill="hold" nodeType="withEffect">
                                  <p:stCondLst>
                                    <p:cond delay="0"/>
                                  </p:stCondLst>
                                  <p:childTnLst>
                                    <p:set>
                                      <p:cBhvr>
                                        <p:cTn id="258" dur="1" fill="hold">
                                          <p:stCondLst>
                                            <p:cond delay="0"/>
                                          </p:stCondLst>
                                        </p:cTn>
                                        <p:tgtEl>
                                          <p:spTgt spid="118"/>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122"/>
                                        </p:tgtEl>
                                        <p:attrNameLst>
                                          <p:attrName>style.visibility</p:attrName>
                                        </p:attrNameLst>
                                      </p:cBhvr>
                                      <p:to>
                                        <p:strVal val="visible"/>
                                      </p:to>
                                    </p:set>
                                  </p:childTnLst>
                                </p:cTn>
                              </p:par>
                              <p:par>
                                <p:cTn id="263" presetID="1" presetClass="entr" presetSubtype="0" fill="hold" nodeType="withEffect">
                                  <p:stCondLst>
                                    <p:cond delay="0"/>
                                  </p:stCondLst>
                                  <p:childTnLst>
                                    <p:set>
                                      <p:cBhvr>
                                        <p:cTn id="264" dur="1" fill="hold">
                                          <p:stCondLst>
                                            <p:cond delay="0"/>
                                          </p:stCondLst>
                                        </p:cTn>
                                        <p:tgtEl>
                                          <p:spTgt spid="121"/>
                                        </p:tgtEl>
                                        <p:attrNameLst>
                                          <p:attrName>style.visibility</p:attrName>
                                        </p:attrNameLst>
                                      </p:cBhvr>
                                      <p:to>
                                        <p:strVal val="visible"/>
                                      </p:to>
                                    </p:set>
                                  </p:childTnLst>
                                </p:cTn>
                              </p:par>
                            </p:childTnLst>
                          </p:cTn>
                        </p:par>
                      </p:childTnLst>
                    </p:cTn>
                  </p:par>
                  <p:par>
                    <p:cTn id="265" fill="hold">
                      <p:stCondLst>
                        <p:cond delay="indefinite"/>
                      </p:stCondLst>
                      <p:childTnLst>
                        <p:par>
                          <p:cTn id="266" fill="hold">
                            <p:stCondLst>
                              <p:cond delay="0"/>
                            </p:stCondLst>
                            <p:childTnLst>
                              <p:par>
                                <p:cTn id="267" presetID="1" presetClass="entr" presetSubtype="0" fill="hold" grpId="0" nodeType="clickEffect">
                                  <p:stCondLst>
                                    <p:cond delay="0"/>
                                  </p:stCondLst>
                                  <p:childTnLst>
                                    <p:set>
                                      <p:cBhvr>
                                        <p:cTn id="268" dur="1" fill="hold">
                                          <p:stCondLst>
                                            <p:cond delay="0"/>
                                          </p:stCondLst>
                                        </p:cTn>
                                        <p:tgtEl>
                                          <p:spTgt spid="125"/>
                                        </p:tgtEl>
                                        <p:attrNameLst>
                                          <p:attrName>style.visibility</p:attrName>
                                        </p:attrNameLst>
                                      </p:cBhvr>
                                      <p:to>
                                        <p:strVal val="visible"/>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grpId="0" nodeType="clickEffect">
                                  <p:stCondLst>
                                    <p:cond delay="0"/>
                                  </p:stCondLst>
                                  <p:childTnLst>
                                    <p:set>
                                      <p:cBhvr>
                                        <p:cTn id="272" dur="1" fill="hold">
                                          <p:stCondLst>
                                            <p:cond delay="0"/>
                                          </p:stCondLst>
                                        </p:cTn>
                                        <p:tgtEl>
                                          <p:spTgt spid="124"/>
                                        </p:tgtEl>
                                        <p:attrNameLst>
                                          <p:attrName>style.visibility</p:attrName>
                                        </p:attrNameLst>
                                      </p:cBhvr>
                                      <p:to>
                                        <p:strVal val="visible"/>
                                      </p:to>
                                    </p:set>
                                  </p:childTnLst>
                                </p:cTn>
                              </p:par>
                              <p:par>
                                <p:cTn id="273" presetID="1" presetClass="entr" presetSubtype="0" fill="hold" nodeType="withEffect">
                                  <p:stCondLst>
                                    <p:cond delay="0"/>
                                  </p:stCondLst>
                                  <p:childTnLst>
                                    <p:set>
                                      <p:cBhvr>
                                        <p:cTn id="274" dur="1" fill="hold">
                                          <p:stCondLst>
                                            <p:cond delay="0"/>
                                          </p:stCondLst>
                                        </p:cTn>
                                        <p:tgtEl>
                                          <p:spTgt spid="123"/>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grpId="0" nodeType="clickEffect">
                                  <p:stCondLst>
                                    <p:cond delay="0"/>
                                  </p:stCondLst>
                                  <p:childTnLst>
                                    <p:set>
                                      <p:cBhvr>
                                        <p:cTn id="278" dur="1" fill="hold">
                                          <p:stCondLst>
                                            <p:cond delay="0"/>
                                          </p:stCondLst>
                                        </p:cTn>
                                        <p:tgtEl>
                                          <p:spTgt spid="127"/>
                                        </p:tgtEl>
                                        <p:attrNameLst>
                                          <p:attrName>style.visibility</p:attrName>
                                        </p:attrNameLst>
                                      </p:cBhvr>
                                      <p:to>
                                        <p:strVal val="visible"/>
                                      </p:to>
                                    </p:set>
                                  </p:childTnLst>
                                </p:cTn>
                              </p:par>
                              <p:par>
                                <p:cTn id="279" presetID="1" presetClass="entr" presetSubtype="0" fill="hold" nodeType="withEffect">
                                  <p:stCondLst>
                                    <p:cond delay="0"/>
                                  </p:stCondLst>
                                  <p:childTnLst>
                                    <p:set>
                                      <p:cBhvr>
                                        <p:cTn id="280" dur="1" fill="hold">
                                          <p:stCondLst>
                                            <p:cond delay="0"/>
                                          </p:stCondLst>
                                        </p:cTn>
                                        <p:tgtEl>
                                          <p:spTgt spid="126"/>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presetID="1" presetClass="entr" presetSubtype="0" fill="hold" grpId="0" nodeType="clickEffect">
                                  <p:stCondLst>
                                    <p:cond delay="0"/>
                                  </p:stCondLst>
                                  <p:childTnLst>
                                    <p:set>
                                      <p:cBhvr>
                                        <p:cTn id="284" dur="1" fill="hold">
                                          <p:stCondLst>
                                            <p:cond delay="0"/>
                                          </p:stCondLst>
                                        </p:cTn>
                                        <p:tgtEl>
                                          <p:spTgt spid="129"/>
                                        </p:tgtEl>
                                        <p:attrNameLst>
                                          <p:attrName>style.visibility</p:attrName>
                                        </p:attrNameLst>
                                      </p:cBhvr>
                                      <p:to>
                                        <p:strVal val="visible"/>
                                      </p:to>
                                    </p:set>
                                  </p:childTnLst>
                                </p:cTn>
                              </p:par>
                              <p:par>
                                <p:cTn id="285" presetID="1" presetClass="entr" presetSubtype="0" fill="hold" nodeType="withEffect">
                                  <p:stCondLst>
                                    <p:cond delay="0"/>
                                  </p:stCondLst>
                                  <p:childTnLst>
                                    <p:set>
                                      <p:cBhvr>
                                        <p:cTn id="286" dur="1" fill="hold">
                                          <p:stCondLst>
                                            <p:cond delay="0"/>
                                          </p:stCondLst>
                                        </p:cTn>
                                        <p:tgtEl>
                                          <p:spTgt spid="128"/>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grpId="0" nodeType="clickEffect">
                                  <p:stCondLst>
                                    <p:cond delay="0"/>
                                  </p:stCondLst>
                                  <p:childTnLst>
                                    <p:set>
                                      <p:cBhvr>
                                        <p:cTn id="290" dur="1" fill="hold">
                                          <p:stCondLst>
                                            <p:cond delay="0"/>
                                          </p:stCondLst>
                                        </p:cTn>
                                        <p:tgtEl>
                                          <p:spTgt spid="136"/>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0"/>
                                          </p:stCondLst>
                                        </p:cTn>
                                        <p:tgtEl>
                                          <p:spTgt spid="135"/>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nodeType="clickEffect">
                                  <p:stCondLst>
                                    <p:cond delay="0"/>
                                  </p:stCondLst>
                                  <p:childTnLst>
                                    <p:set>
                                      <p:cBhvr>
                                        <p:cTn id="296" dur="1" fill="hold">
                                          <p:stCondLst>
                                            <p:cond delay="0"/>
                                          </p:stCondLst>
                                        </p:cTn>
                                        <p:tgtEl>
                                          <p:spTgt spid="133"/>
                                        </p:tgtEl>
                                        <p:attrNameLst>
                                          <p:attrName>style.visibility</p:attrName>
                                        </p:attrNameLst>
                                      </p:cBhvr>
                                      <p:to>
                                        <p:strVal val="visible"/>
                                      </p:to>
                                    </p:set>
                                  </p:childTnLst>
                                </p:cTn>
                              </p:par>
                              <p:par>
                                <p:cTn id="297" presetID="1" presetClass="entr" presetSubtype="0" fill="hold" grpId="0" nodeType="withEffect">
                                  <p:stCondLst>
                                    <p:cond delay="0"/>
                                  </p:stCondLst>
                                  <p:childTnLst>
                                    <p:set>
                                      <p:cBhvr>
                                        <p:cTn id="298" dur="1" fill="hold">
                                          <p:stCondLst>
                                            <p:cond delay="0"/>
                                          </p:stCondLst>
                                        </p:cTn>
                                        <p:tgtEl>
                                          <p:spTgt spid="139"/>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141"/>
                                        </p:tgtEl>
                                        <p:attrNameLst>
                                          <p:attrName>style.visibility</p:attrName>
                                        </p:attrNameLst>
                                      </p:cBhvr>
                                      <p:to>
                                        <p:strVal val="visible"/>
                                      </p:to>
                                    </p:set>
                                  </p:childTnLst>
                                </p:cTn>
                              </p:par>
                              <p:par>
                                <p:cTn id="303" presetID="1" presetClass="entr" presetSubtype="0" fill="hold" nodeType="withEffect">
                                  <p:stCondLst>
                                    <p:cond delay="0"/>
                                  </p:stCondLst>
                                  <p:childTnLst>
                                    <p:set>
                                      <p:cBhvr>
                                        <p:cTn id="304"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5" grpId="0" animBg="1"/>
      <p:bldP spid="16" grpId="0" animBg="1"/>
      <p:bldP spid="17" grpId="0" animBg="1"/>
      <p:bldP spid="20" grpId="0" animBg="1"/>
      <p:bldP spid="21" grpId="0" animBg="1"/>
      <p:bldP spid="23" grpId="0" animBg="1"/>
      <p:bldP spid="25" grpId="0" animBg="1"/>
      <p:bldP spid="28" grpId="0" animBg="1"/>
      <p:bldP spid="30" grpId="0" animBg="1"/>
      <p:bldP spid="32" grpId="0" animBg="1"/>
      <p:bldP spid="33" grpId="0" animBg="1"/>
      <p:bldP spid="35" grpId="0" animBg="1"/>
      <p:bldP spid="36" grpId="0" animBg="1"/>
      <p:bldP spid="39" grpId="0" animBg="1"/>
      <p:bldP spid="41" grpId="0" animBg="1"/>
      <p:bldP spid="43" grpId="0" animBg="1"/>
      <p:bldP spid="45" grpId="0" animBg="1"/>
      <p:bldP spid="47" grpId="0" animBg="1"/>
      <p:bldP spid="48" grpId="0" animBg="1"/>
      <p:bldP spid="11" grpId="0"/>
      <p:bldP spid="52" grpId="0"/>
      <p:bldP spid="53" grpId="0"/>
      <p:bldP spid="56" grpId="0"/>
      <p:bldP spid="58" grpId="0"/>
      <p:bldP spid="60" grpId="0"/>
      <p:bldP spid="63" grpId="0"/>
      <p:bldP spid="66" grpId="0"/>
      <p:bldP spid="68" grpId="0"/>
      <p:bldP spid="72" grpId="0"/>
      <p:bldP spid="73" grpId="0"/>
      <p:bldP spid="75" grpId="0"/>
      <p:bldP spid="79" grpId="0"/>
      <p:bldP spid="80" grpId="0"/>
      <p:bldP spid="82" grpId="0"/>
      <p:bldP spid="85" grpId="0"/>
      <p:bldP spid="86" grpId="0"/>
      <p:bldP spid="88" grpId="0"/>
      <p:bldP spid="91" grpId="0"/>
      <p:bldP spid="92" grpId="0"/>
      <p:bldP spid="94" grpId="0"/>
      <p:bldP spid="97" grpId="0"/>
      <p:bldP spid="99" grpId="0"/>
      <p:bldP spid="101" grpId="0"/>
      <p:bldP spid="103" grpId="0"/>
      <p:bldP spid="112" grpId="0"/>
      <p:bldP spid="114" grpId="0"/>
      <p:bldP spid="115" grpId="0"/>
      <p:bldP spid="117" grpId="0"/>
      <p:bldP spid="119" grpId="0"/>
      <p:bldP spid="120" grpId="0"/>
      <p:bldP spid="122" grpId="0"/>
      <p:bldP spid="124" grpId="0"/>
      <p:bldP spid="125" grpId="0"/>
      <p:bldP spid="127" grpId="0"/>
      <p:bldP spid="129" grpId="0"/>
      <p:bldP spid="131" grpId="0"/>
      <p:bldP spid="136" grpId="0"/>
      <p:bldP spid="139" grpId="0"/>
      <p:bldP spid="14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idx="8"/>
          </p:nvPr>
        </p:nvSpPr>
        <p:spPr>
          <a:xfrm>
            <a:off x="640989" y="486050"/>
            <a:ext cx="3178336" cy="5272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Traversing the Tree</a:t>
            </a:r>
            <a:br>
              <a:rPr lang="en-US" dirty="0"/>
            </a:br>
            <a:r>
              <a:rPr lang="en-US" u="sng" dirty="0"/>
              <a:t>Preorder Traversal</a:t>
            </a:r>
          </a:p>
        </p:txBody>
      </p:sp>
      <p:sp>
        <p:nvSpPr>
          <p:cNvPr id="274" name="Google Shape;274;p36"/>
          <p:cNvSpPr txBox="1">
            <a:spLocks noGrp="1"/>
          </p:cNvSpPr>
          <p:nvPr>
            <p:ph type="subTitle" idx="1"/>
          </p:nvPr>
        </p:nvSpPr>
        <p:spPr>
          <a:xfrm>
            <a:off x="572500" y="1781724"/>
            <a:ext cx="3453809" cy="87298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1. Visit the node.</a:t>
            </a:r>
          </a:p>
          <a:p>
            <a:pPr marL="0" lvl="0" indent="0" algn="l" rtl="0">
              <a:spcBef>
                <a:spcPts val="0"/>
              </a:spcBef>
              <a:spcAft>
                <a:spcPts val="0"/>
              </a:spcAft>
              <a:buClr>
                <a:schemeClr val="dk1"/>
              </a:buClr>
              <a:buSzPts val="1100"/>
              <a:buFont typeface="Arial"/>
              <a:buNone/>
            </a:pPr>
            <a:r>
              <a:rPr lang="en-US" dirty="0"/>
              <a:t>2. Call itself to traverse the node’s left subtree.</a:t>
            </a:r>
          </a:p>
          <a:p>
            <a:pPr marL="0" lvl="0" indent="0" algn="l" rtl="0">
              <a:spcBef>
                <a:spcPts val="0"/>
              </a:spcBef>
              <a:spcAft>
                <a:spcPts val="0"/>
              </a:spcAft>
              <a:buClr>
                <a:schemeClr val="dk1"/>
              </a:buClr>
              <a:buSzPts val="1100"/>
              <a:buFont typeface="Arial"/>
              <a:buNone/>
            </a:pPr>
            <a:r>
              <a:rPr lang="en-US" dirty="0"/>
              <a:t>3. Call itself to traverse the node’s right subtree.</a:t>
            </a:r>
          </a:p>
        </p:txBody>
      </p:sp>
      <p:pic>
        <p:nvPicPr>
          <p:cNvPr id="11" name="Picture 10">
            <a:extLst>
              <a:ext uri="{FF2B5EF4-FFF2-40B4-BE49-F238E27FC236}">
                <a16:creationId xmlns:a16="http://schemas.microsoft.com/office/drawing/2014/main" id="{3A31B041-8076-4F7F-BECD-040A3EC10491}"/>
              </a:ext>
            </a:extLst>
          </p:cNvPr>
          <p:cNvPicPr>
            <a:picLocks noChangeAspect="1"/>
          </p:cNvPicPr>
          <p:nvPr/>
        </p:nvPicPr>
        <p:blipFill>
          <a:blip r:embed="rId3"/>
          <a:stretch>
            <a:fillRect/>
          </a:stretch>
        </p:blipFill>
        <p:spPr>
          <a:xfrm>
            <a:off x="3031382" y="2929780"/>
            <a:ext cx="5528037" cy="1581869"/>
          </a:xfrm>
          <a:prstGeom prst="rect">
            <a:avLst/>
          </a:prstGeom>
        </p:spPr>
      </p:pic>
      <p:sp>
        <p:nvSpPr>
          <p:cNvPr id="12" name="Google Shape;256;p35">
            <a:extLst>
              <a:ext uri="{FF2B5EF4-FFF2-40B4-BE49-F238E27FC236}">
                <a16:creationId xmlns:a16="http://schemas.microsoft.com/office/drawing/2014/main" id="{8A1CA1C9-D8E3-4E89-8454-63DDD7556486}"/>
              </a:ext>
            </a:extLst>
          </p:cNvPr>
          <p:cNvSpPr/>
          <p:nvPr/>
        </p:nvSpPr>
        <p:spPr>
          <a:xfrm rot="-2700000">
            <a:off x="8235701" y="4330490"/>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255;p35">
            <a:extLst>
              <a:ext uri="{FF2B5EF4-FFF2-40B4-BE49-F238E27FC236}">
                <a16:creationId xmlns:a16="http://schemas.microsoft.com/office/drawing/2014/main" id="{B019F63A-9C15-452D-A943-21A032C14810}"/>
              </a:ext>
            </a:extLst>
          </p:cNvPr>
          <p:cNvSpPr/>
          <p:nvPr/>
        </p:nvSpPr>
        <p:spPr>
          <a:xfrm rot="-2700000">
            <a:off x="2824236" y="2796615"/>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8" name="TextBox 7">
            <a:extLst>
              <a:ext uri="{FF2B5EF4-FFF2-40B4-BE49-F238E27FC236}">
                <a16:creationId xmlns:a16="http://schemas.microsoft.com/office/drawing/2014/main" id="{495A24DE-AEC1-4711-882F-ACA1A8FF9102}"/>
              </a:ext>
            </a:extLst>
          </p:cNvPr>
          <p:cNvSpPr txBox="1"/>
          <p:nvPr/>
        </p:nvSpPr>
        <p:spPr>
          <a:xfrm>
            <a:off x="4881614" y="797856"/>
            <a:ext cx="3170781" cy="430887"/>
          </a:xfrm>
          <a:prstGeom prst="rect">
            <a:avLst/>
          </a:prstGeom>
          <a:noFill/>
        </p:spPr>
        <p:txBody>
          <a:bodyPr wrap="square" rtlCol="0">
            <a:spAutoFit/>
          </a:bodyPr>
          <a:lstStyle/>
          <a:p>
            <a:r>
              <a:rPr lang="en-US" sz="1100" b="0" i="0" dirty="0">
                <a:solidFill>
                  <a:srgbClr val="444444"/>
                </a:solidFill>
                <a:effectLst/>
                <a:latin typeface="Oxygen" panose="020B0604020202020204" pitchFamily="2" charset="0"/>
              </a:rPr>
              <a:t>Input:  </a:t>
            </a:r>
          </a:p>
          <a:p>
            <a:r>
              <a:rPr lang="en-US" sz="1100" b="1" i="0" dirty="0">
                <a:solidFill>
                  <a:srgbClr val="444444"/>
                </a:solidFill>
                <a:effectLst/>
                <a:latin typeface="Oxygen" panose="020B0604020202020204" pitchFamily="2" charset="0"/>
              </a:rPr>
              <a:t>40, 4, 34, 45, 14, 55, 48, 13, 15, 49, 47 </a:t>
            </a:r>
            <a:endParaRPr lang="en-US" sz="1100" dirty="0"/>
          </a:p>
        </p:txBody>
      </p:sp>
      <p:sp>
        <p:nvSpPr>
          <p:cNvPr id="9" name="TextBox 8">
            <a:extLst>
              <a:ext uri="{FF2B5EF4-FFF2-40B4-BE49-F238E27FC236}">
                <a16:creationId xmlns:a16="http://schemas.microsoft.com/office/drawing/2014/main" id="{9BA0B8BD-3B0E-48AA-BFE7-03C1EDB35CF3}"/>
              </a:ext>
            </a:extLst>
          </p:cNvPr>
          <p:cNvSpPr txBox="1"/>
          <p:nvPr/>
        </p:nvSpPr>
        <p:spPr>
          <a:xfrm>
            <a:off x="4871716" y="1294431"/>
            <a:ext cx="3180679" cy="492443"/>
          </a:xfrm>
          <a:prstGeom prst="rect">
            <a:avLst/>
          </a:prstGeom>
          <a:noFill/>
        </p:spPr>
        <p:txBody>
          <a:bodyPr wrap="none" rtlCol="0">
            <a:spAutoFit/>
          </a:bodyPr>
          <a:lstStyle/>
          <a:p>
            <a:r>
              <a:rPr lang="en-US" sz="1100" b="0" i="0" dirty="0">
                <a:solidFill>
                  <a:srgbClr val="444444"/>
                </a:solidFill>
                <a:effectLst/>
                <a:latin typeface="Oxygen" panose="02000503000000000000" pitchFamily="2" charset="0"/>
              </a:rPr>
              <a:t>Output:</a:t>
            </a:r>
          </a:p>
          <a:p>
            <a:r>
              <a:rPr lang="en-US" b="1" i="0" dirty="0">
                <a:solidFill>
                  <a:srgbClr val="C00000"/>
                </a:solidFill>
                <a:effectLst/>
                <a:latin typeface="Oxygen" panose="02000503000000000000" pitchFamily="2" charset="0"/>
              </a:rPr>
              <a:t>40, 4, 34, 14, 13, 15, 45, 55, 48, 47, 49</a:t>
            </a:r>
            <a:endParaRPr lang="en-US" b="1" dirty="0">
              <a:solidFill>
                <a:srgbClr val="C00000"/>
              </a:solidFill>
            </a:endParaRPr>
          </a:p>
        </p:txBody>
      </p:sp>
    </p:spTree>
    <p:extLst>
      <p:ext uri="{BB962C8B-B14F-4D97-AF65-F5344CB8AC3E}">
        <p14:creationId xmlns:p14="http://schemas.microsoft.com/office/powerpoint/2010/main" val="15014407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idx="8"/>
          </p:nvPr>
        </p:nvSpPr>
        <p:spPr>
          <a:xfrm>
            <a:off x="640989" y="486050"/>
            <a:ext cx="3178336" cy="5272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Traversing the Tree</a:t>
            </a:r>
            <a:br>
              <a:rPr lang="en-US" dirty="0"/>
            </a:br>
            <a:r>
              <a:rPr lang="en-US" u="sng" dirty="0" err="1"/>
              <a:t>Postorder</a:t>
            </a:r>
            <a:r>
              <a:rPr lang="en-US" u="sng" dirty="0"/>
              <a:t> Traversal</a:t>
            </a:r>
          </a:p>
        </p:txBody>
      </p:sp>
      <p:sp>
        <p:nvSpPr>
          <p:cNvPr id="274" name="Google Shape;274;p36"/>
          <p:cNvSpPr txBox="1">
            <a:spLocks noGrp="1"/>
          </p:cNvSpPr>
          <p:nvPr>
            <p:ph type="subTitle" idx="1"/>
          </p:nvPr>
        </p:nvSpPr>
        <p:spPr>
          <a:xfrm>
            <a:off x="572500" y="1781724"/>
            <a:ext cx="3453809" cy="87298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1. Call itself to traverse the node’s left subtree.</a:t>
            </a:r>
          </a:p>
          <a:p>
            <a:pPr marL="0" lvl="0" indent="0" algn="l" rtl="0">
              <a:spcBef>
                <a:spcPts val="0"/>
              </a:spcBef>
              <a:spcAft>
                <a:spcPts val="0"/>
              </a:spcAft>
              <a:buClr>
                <a:schemeClr val="dk1"/>
              </a:buClr>
              <a:buSzPts val="1100"/>
              <a:buFont typeface="Arial"/>
              <a:buNone/>
            </a:pPr>
            <a:r>
              <a:rPr lang="en-US" dirty="0"/>
              <a:t>2. Call itself to traverse the node’s right subtree.</a:t>
            </a:r>
          </a:p>
          <a:p>
            <a:pPr marL="0" lvl="0" indent="0" algn="l" rtl="0">
              <a:spcBef>
                <a:spcPts val="0"/>
              </a:spcBef>
              <a:spcAft>
                <a:spcPts val="0"/>
              </a:spcAft>
              <a:buClr>
                <a:schemeClr val="dk1"/>
              </a:buClr>
              <a:buSzPts val="1100"/>
              <a:buFont typeface="Arial"/>
              <a:buNone/>
            </a:pPr>
            <a:r>
              <a:rPr lang="en-US" dirty="0"/>
              <a:t>3. Visit the node.</a:t>
            </a:r>
          </a:p>
        </p:txBody>
      </p:sp>
      <p:pic>
        <p:nvPicPr>
          <p:cNvPr id="3" name="Picture 2">
            <a:extLst>
              <a:ext uri="{FF2B5EF4-FFF2-40B4-BE49-F238E27FC236}">
                <a16:creationId xmlns:a16="http://schemas.microsoft.com/office/drawing/2014/main" id="{F1CB4819-6A9F-4C56-976D-ADA33A75DE68}"/>
              </a:ext>
            </a:extLst>
          </p:cNvPr>
          <p:cNvPicPr>
            <a:picLocks noChangeAspect="1"/>
          </p:cNvPicPr>
          <p:nvPr/>
        </p:nvPicPr>
        <p:blipFill>
          <a:blip r:embed="rId3"/>
          <a:stretch>
            <a:fillRect/>
          </a:stretch>
        </p:blipFill>
        <p:spPr>
          <a:xfrm>
            <a:off x="4991100" y="1326107"/>
            <a:ext cx="3344008" cy="2491286"/>
          </a:xfrm>
          <a:prstGeom prst="rect">
            <a:avLst/>
          </a:prstGeom>
        </p:spPr>
      </p:pic>
      <p:sp>
        <p:nvSpPr>
          <p:cNvPr id="10" name="TextBox 9">
            <a:extLst>
              <a:ext uri="{FF2B5EF4-FFF2-40B4-BE49-F238E27FC236}">
                <a16:creationId xmlns:a16="http://schemas.microsoft.com/office/drawing/2014/main" id="{4045B4CA-73DA-4A0C-95C8-8571595BB47C}"/>
              </a:ext>
            </a:extLst>
          </p:cNvPr>
          <p:cNvSpPr txBox="1"/>
          <p:nvPr/>
        </p:nvSpPr>
        <p:spPr>
          <a:xfrm>
            <a:off x="4852307" y="377198"/>
            <a:ext cx="3170781" cy="430887"/>
          </a:xfrm>
          <a:prstGeom prst="rect">
            <a:avLst/>
          </a:prstGeom>
          <a:noFill/>
        </p:spPr>
        <p:txBody>
          <a:bodyPr wrap="square" rtlCol="0">
            <a:spAutoFit/>
          </a:bodyPr>
          <a:lstStyle/>
          <a:p>
            <a:r>
              <a:rPr lang="en-US" sz="1100" b="0" i="0" dirty="0">
                <a:solidFill>
                  <a:srgbClr val="444444"/>
                </a:solidFill>
                <a:effectLst/>
                <a:latin typeface="Oxygen" panose="020B0604020202020204" pitchFamily="2" charset="0"/>
              </a:rPr>
              <a:t>Input:  </a:t>
            </a:r>
          </a:p>
          <a:p>
            <a:r>
              <a:rPr lang="en-US" sz="1100" b="1" i="0" dirty="0">
                <a:solidFill>
                  <a:srgbClr val="444444"/>
                </a:solidFill>
                <a:effectLst/>
                <a:latin typeface="Oxygen" panose="020B0604020202020204" pitchFamily="2" charset="0"/>
              </a:rPr>
              <a:t>40, 4, 34, 45, 14, 55, 48, 13, 15, 49, 47 </a:t>
            </a:r>
            <a:endParaRPr lang="en-US" sz="1100" dirty="0"/>
          </a:p>
        </p:txBody>
      </p:sp>
      <p:sp>
        <p:nvSpPr>
          <p:cNvPr id="11" name="TextBox 10">
            <a:extLst>
              <a:ext uri="{FF2B5EF4-FFF2-40B4-BE49-F238E27FC236}">
                <a16:creationId xmlns:a16="http://schemas.microsoft.com/office/drawing/2014/main" id="{83958C8E-72FD-47B6-A7C1-4D7911D962E6}"/>
              </a:ext>
            </a:extLst>
          </p:cNvPr>
          <p:cNvSpPr txBox="1"/>
          <p:nvPr/>
        </p:nvSpPr>
        <p:spPr>
          <a:xfrm>
            <a:off x="4991100" y="3867210"/>
            <a:ext cx="3180679" cy="523220"/>
          </a:xfrm>
          <a:prstGeom prst="rect">
            <a:avLst/>
          </a:prstGeom>
          <a:noFill/>
        </p:spPr>
        <p:txBody>
          <a:bodyPr wrap="none" rtlCol="0">
            <a:spAutoFit/>
          </a:bodyPr>
          <a:lstStyle/>
          <a:p>
            <a:r>
              <a:rPr lang="en-US" b="0" i="0" dirty="0">
                <a:solidFill>
                  <a:srgbClr val="444444"/>
                </a:solidFill>
                <a:effectLst/>
                <a:latin typeface="Oxygen" panose="02000503000000000000" pitchFamily="2" charset="0"/>
              </a:rPr>
              <a:t>Output:</a:t>
            </a:r>
          </a:p>
          <a:p>
            <a:r>
              <a:rPr lang="en-US" b="1" i="0" dirty="0">
                <a:solidFill>
                  <a:srgbClr val="C00000"/>
                </a:solidFill>
                <a:effectLst/>
                <a:latin typeface="Oxygen" panose="02000503000000000000" pitchFamily="2" charset="0"/>
              </a:rPr>
              <a:t>13, 15, 14, 34, 4, 47, 49, 48, 55, 45, 40</a:t>
            </a:r>
            <a:endParaRPr lang="en-US" b="1" dirty="0">
              <a:solidFill>
                <a:srgbClr val="C00000"/>
              </a:solidFill>
            </a:endParaRPr>
          </a:p>
        </p:txBody>
      </p:sp>
      <p:sp>
        <p:nvSpPr>
          <p:cNvPr id="16" name="TextBox 15">
            <a:extLst>
              <a:ext uri="{FF2B5EF4-FFF2-40B4-BE49-F238E27FC236}">
                <a16:creationId xmlns:a16="http://schemas.microsoft.com/office/drawing/2014/main" id="{536DABB8-8DD9-44D8-A0F9-3FD7741A3BD0}"/>
              </a:ext>
            </a:extLst>
          </p:cNvPr>
          <p:cNvSpPr txBox="1"/>
          <p:nvPr/>
        </p:nvSpPr>
        <p:spPr>
          <a:xfrm>
            <a:off x="5591909" y="1597058"/>
            <a:ext cx="227948" cy="184666"/>
          </a:xfrm>
          <a:prstGeom prst="rect">
            <a:avLst/>
          </a:prstGeom>
          <a:noFill/>
        </p:spPr>
        <p:txBody>
          <a:bodyPr wrap="none" rtlCol="0">
            <a:spAutoFit/>
          </a:bodyPr>
          <a:lstStyle/>
          <a:p>
            <a:r>
              <a:rPr lang="en-US" sz="600" dirty="0">
                <a:solidFill>
                  <a:srgbClr val="C00000"/>
                </a:solidFill>
              </a:rPr>
              <a:t>1</a:t>
            </a:r>
          </a:p>
        </p:txBody>
      </p:sp>
      <p:sp>
        <p:nvSpPr>
          <p:cNvPr id="17" name="TextBox 16">
            <a:extLst>
              <a:ext uri="{FF2B5EF4-FFF2-40B4-BE49-F238E27FC236}">
                <a16:creationId xmlns:a16="http://schemas.microsoft.com/office/drawing/2014/main" id="{AC4B76E7-73B9-462D-A3E1-05D6C148334E}"/>
              </a:ext>
            </a:extLst>
          </p:cNvPr>
          <p:cNvSpPr txBox="1"/>
          <p:nvPr/>
        </p:nvSpPr>
        <p:spPr>
          <a:xfrm>
            <a:off x="5043529" y="3643711"/>
            <a:ext cx="538930" cy="184666"/>
          </a:xfrm>
          <a:prstGeom prst="rect">
            <a:avLst/>
          </a:prstGeom>
          <a:noFill/>
        </p:spPr>
        <p:txBody>
          <a:bodyPr wrap="none" rtlCol="0">
            <a:spAutoFit/>
          </a:bodyPr>
          <a:lstStyle/>
          <a:p>
            <a:r>
              <a:rPr lang="en-US" sz="600" b="1" dirty="0">
                <a:solidFill>
                  <a:srgbClr val="C00000"/>
                </a:solidFill>
              </a:rPr>
              <a:t>8. Visit 13</a:t>
            </a:r>
          </a:p>
        </p:txBody>
      </p:sp>
      <p:cxnSp>
        <p:nvCxnSpPr>
          <p:cNvPr id="5" name="Straight Arrow Connector 4">
            <a:extLst>
              <a:ext uri="{FF2B5EF4-FFF2-40B4-BE49-F238E27FC236}">
                <a16:creationId xmlns:a16="http://schemas.microsoft.com/office/drawing/2014/main" id="{F9737B14-BC36-46A5-9016-9FC1D9D1AC8D}"/>
              </a:ext>
            </a:extLst>
          </p:cNvPr>
          <p:cNvCxnSpPr/>
          <p:nvPr/>
        </p:nvCxnSpPr>
        <p:spPr>
          <a:xfrm flipH="1">
            <a:off x="5638800" y="1565031"/>
            <a:ext cx="621323" cy="2754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68B12B1-DE71-4937-AB33-F74C97D7E999}"/>
              </a:ext>
            </a:extLst>
          </p:cNvPr>
          <p:cNvCxnSpPr/>
          <p:nvPr/>
        </p:nvCxnSpPr>
        <p:spPr>
          <a:xfrm flipH="1">
            <a:off x="4991100" y="2218216"/>
            <a:ext cx="243254" cy="185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B33ABA2-697B-4CEC-818D-CD684C6866C4}"/>
              </a:ext>
            </a:extLst>
          </p:cNvPr>
          <p:cNvSpPr txBox="1"/>
          <p:nvPr/>
        </p:nvSpPr>
        <p:spPr>
          <a:xfrm>
            <a:off x="4929555" y="2168399"/>
            <a:ext cx="227948" cy="184666"/>
          </a:xfrm>
          <a:prstGeom prst="rect">
            <a:avLst/>
          </a:prstGeom>
          <a:noFill/>
        </p:spPr>
        <p:txBody>
          <a:bodyPr wrap="none" rtlCol="0">
            <a:spAutoFit/>
          </a:bodyPr>
          <a:lstStyle/>
          <a:p>
            <a:r>
              <a:rPr lang="en-US" sz="600" dirty="0">
                <a:solidFill>
                  <a:srgbClr val="C00000"/>
                </a:solidFill>
              </a:rPr>
              <a:t>2</a:t>
            </a:r>
          </a:p>
        </p:txBody>
      </p:sp>
      <p:cxnSp>
        <p:nvCxnSpPr>
          <p:cNvPr id="9" name="Straight Arrow Connector 8">
            <a:extLst>
              <a:ext uri="{FF2B5EF4-FFF2-40B4-BE49-F238E27FC236}">
                <a16:creationId xmlns:a16="http://schemas.microsoft.com/office/drawing/2014/main" id="{CEF286B0-4148-4A47-B945-5ABF51CFFDA9}"/>
              </a:ext>
            </a:extLst>
          </p:cNvPr>
          <p:cNvCxnSpPr/>
          <p:nvPr/>
        </p:nvCxnSpPr>
        <p:spPr>
          <a:xfrm>
            <a:off x="5591909" y="2218216"/>
            <a:ext cx="357552" cy="1850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B025AE7-7803-4C4C-8BB0-8C22E356127B}"/>
              </a:ext>
            </a:extLst>
          </p:cNvPr>
          <p:cNvSpPr txBox="1"/>
          <p:nvPr/>
        </p:nvSpPr>
        <p:spPr>
          <a:xfrm>
            <a:off x="5705883" y="2335437"/>
            <a:ext cx="227948" cy="184666"/>
          </a:xfrm>
          <a:prstGeom prst="rect">
            <a:avLst/>
          </a:prstGeom>
          <a:noFill/>
        </p:spPr>
        <p:txBody>
          <a:bodyPr wrap="none" rtlCol="0">
            <a:spAutoFit/>
          </a:bodyPr>
          <a:lstStyle/>
          <a:p>
            <a:r>
              <a:rPr lang="en-US" sz="600" dirty="0">
                <a:solidFill>
                  <a:srgbClr val="C00000"/>
                </a:solidFill>
              </a:rPr>
              <a:t>3</a:t>
            </a:r>
          </a:p>
        </p:txBody>
      </p:sp>
      <p:cxnSp>
        <p:nvCxnSpPr>
          <p:cNvPr id="20" name="Straight Arrow Connector 19">
            <a:extLst>
              <a:ext uri="{FF2B5EF4-FFF2-40B4-BE49-F238E27FC236}">
                <a16:creationId xmlns:a16="http://schemas.microsoft.com/office/drawing/2014/main" id="{CF250A52-8824-4C5D-811C-2C1C7920FA40}"/>
              </a:ext>
            </a:extLst>
          </p:cNvPr>
          <p:cNvCxnSpPr>
            <a:cxnSpLocks/>
          </p:cNvCxnSpPr>
          <p:nvPr/>
        </p:nvCxnSpPr>
        <p:spPr>
          <a:xfrm flipH="1">
            <a:off x="5738284" y="2449195"/>
            <a:ext cx="163146" cy="303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76388A2-5B5B-463A-9EB6-037D428197B3}"/>
              </a:ext>
            </a:extLst>
          </p:cNvPr>
          <p:cNvSpPr txBox="1"/>
          <p:nvPr/>
        </p:nvSpPr>
        <p:spPr>
          <a:xfrm>
            <a:off x="5591909" y="2520103"/>
            <a:ext cx="227948" cy="184666"/>
          </a:xfrm>
          <a:prstGeom prst="rect">
            <a:avLst/>
          </a:prstGeom>
          <a:noFill/>
        </p:spPr>
        <p:txBody>
          <a:bodyPr wrap="none" rtlCol="0">
            <a:spAutoFit/>
          </a:bodyPr>
          <a:lstStyle/>
          <a:p>
            <a:r>
              <a:rPr lang="en-US" sz="600" dirty="0">
                <a:solidFill>
                  <a:srgbClr val="C00000"/>
                </a:solidFill>
              </a:rPr>
              <a:t>4</a:t>
            </a:r>
          </a:p>
        </p:txBody>
      </p:sp>
      <p:cxnSp>
        <p:nvCxnSpPr>
          <p:cNvPr id="26" name="Straight Arrow Connector 25">
            <a:extLst>
              <a:ext uri="{FF2B5EF4-FFF2-40B4-BE49-F238E27FC236}">
                <a16:creationId xmlns:a16="http://schemas.microsoft.com/office/drawing/2014/main" id="{78BABD4F-0890-43E4-B9AF-1A51CFE79A69}"/>
              </a:ext>
            </a:extLst>
          </p:cNvPr>
          <p:cNvCxnSpPr/>
          <p:nvPr/>
        </p:nvCxnSpPr>
        <p:spPr>
          <a:xfrm flipH="1">
            <a:off x="5351585" y="3053862"/>
            <a:ext cx="19343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65BC885-96EB-4F11-9552-283259865BA8}"/>
              </a:ext>
            </a:extLst>
          </p:cNvPr>
          <p:cNvSpPr txBox="1"/>
          <p:nvPr/>
        </p:nvSpPr>
        <p:spPr>
          <a:xfrm>
            <a:off x="5237611" y="3075829"/>
            <a:ext cx="227948" cy="184666"/>
          </a:xfrm>
          <a:prstGeom prst="rect">
            <a:avLst/>
          </a:prstGeom>
          <a:noFill/>
        </p:spPr>
        <p:txBody>
          <a:bodyPr wrap="none" rtlCol="0">
            <a:spAutoFit/>
          </a:bodyPr>
          <a:lstStyle/>
          <a:p>
            <a:r>
              <a:rPr lang="en-US" sz="600" dirty="0">
                <a:solidFill>
                  <a:srgbClr val="C00000"/>
                </a:solidFill>
              </a:rPr>
              <a:t>5</a:t>
            </a:r>
          </a:p>
        </p:txBody>
      </p:sp>
      <p:cxnSp>
        <p:nvCxnSpPr>
          <p:cNvPr id="28" name="Straight Arrow Connector 27">
            <a:extLst>
              <a:ext uri="{FF2B5EF4-FFF2-40B4-BE49-F238E27FC236}">
                <a16:creationId xmlns:a16="http://schemas.microsoft.com/office/drawing/2014/main" id="{6987C238-C4C4-4AAD-874A-A0C518A893F6}"/>
              </a:ext>
            </a:extLst>
          </p:cNvPr>
          <p:cNvCxnSpPr/>
          <p:nvPr/>
        </p:nvCxnSpPr>
        <p:spPr>
          <a:xfrm flipH="1">
            <a:off x="4991100" y="3616569"/>
            <a:ext cx="166403" cy="250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1838ECA-C6EA-42C4-812C-D41832A53D74}"/>
              </a:ext>
            </a:extLst>
          </p:cNvPr>
          <p:cNvSpPr txBox="1"/>
          <p:nvPr/>
        </p:nvSpPr>
        <p:spPr>
          <a:xfrm>
            <a:off x="4929555" y="3621046"/>
            <a:ext cx="227948" cy="184666"/>
          </a:xfrm>
          <a:prstGeom prst="rect">
            <a:avLst/>
          </a:prstGeom>
          <a:noFill/>
        </p:spPr>
        <p:txBody>
          <a:bodyPr wrap="none" rtlCol="0">
            <a:spAutoFit/>
          </a:bodyPr>
          <a:lstStyle/>
          <a:p>
            <a:r>
              <a:rPr lang="en-US" sz="600" dirty="0">
                <a:solidFill>
                  <a:srgbClr val="C00000"/>
                </a:solidFill>
              </a:rPr>
              <a:t>6</a:t>
            </a:r>
          </a:p>
        </p:txBody>
      </p:sp>
      <p:cxnSp>
        <p:nvCxnSpPr>
          <p:cNvPr id="31" name="Straight Arrow Connector 30">
            <a:extLst>
              <a:ext uri="{FF2B5EF4-FFF2-40B4-BE49-F238E27FC236}">
                <a16:creationId xmlns:a16="http://schemas.microsoft.com/office/drawing/2014/main" id="{F4BCA4CB-0410-43C8-9226-40B0C7A28DC5}"/>
              </a:ext>
            </a:extLst>
          </p:cNvPr>
          <p:cNvCxnSpPr/>
          <p:nvPr/>
        </p:nvCxnSpPr>
        <p:spPr>
          <a:xfrm>
            <a:off x="5448300" y="3616569"/>
            <a:ext cx="190500" cy="250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DC2A623-0D3F-4486-9A33-84CB906017C2}"/>
              </a:ext>
            </a:extLst>
          </p:cNvPr>
          <p:cNvSpPr txBox="1"/>
          <p:nvPr/>
        </p:nvSpPr>
        <p:spPr>
          <a:xfrm>
            <a:off x="5542737" y="3650931"/>
            <a:ext cx="227948" cy="184666"/>
          </a:xfrm>
          <a:prstGeom prst="rect">
            <a:avLst/>
          </a:prstGeom>
          <a:noFill/>
        </p:spPr>
        <p:txBody>
          <a:bodyPr wrap="none" rtlCol="0">
            <a:spAutoFit/>
          </a:bodyPr>
          <a:lstStyle/>
          <a:p>
            <a:r>
              <a:rPr lang="en-US" sz="600" dirty="0">
                <a:solidFill>
                  <a:srgbClr val="C00000"/>
                </a:solidFill>
              </a:rPr>
              <a:t>7</a:t>
            </a:r>
          </a:p>
        </p:txBody>
      </p:sp>
      <p:cxnSp>
        <p:nvCxnSpPr>
          <p:cNvPr id="34" name="Straight Arrow Connector 33">
            <a:extLst>
              <a:ext uri="{FF2B5EF4-FFF2-40B4-BE49-F238E27FC236}">
                <a16:creationId xmlns:a16="http://schemas.microsoft.com/office/drawing/2014/main" id="{478684B6-73C6-43FD-9813-2B2FE2AC13DF}"/>
              </a:ext>
            </a:extLst>
          </p:cNvPr>
          <p:cNvCxnSpPr/>
          <p:nvPr/>
        </p:nvCxnSpPr>
        <p:spPr>
          <a:xfrm flipV="1">
            <a:off x="5513427" y="3174024"/>
            <a:ext cx="163146" cy="202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99BF479-E09C-4EEF-BC83-E6B84CE46D9C}"/>
              </a:ext>
            </a:extLst>
          </p:cNvPr>
          <p:cNvSpPr txBox="1"/>
          <p:nvPr/>
        </p:nvSpPr>
        <p:spPr>
          <a:xfrm>
            <a:off x="5544361" y="3214789"/>
            <a:ext cx="227948" cy="184666"/>
          </a:xfrm>
          <a:prstGeom prst="rect">
            <a:avLst/>
          </a:prstGeom>
          <a:noFill/>
        </p:spPr>
        <p:txBody>
          <a:bodyPr wrap="none" rtlCol="0">
            <a:spAutoFit/>
          </a:bodyPr>
          <a:lstStyle/>
          <a:p>
            <a:r>
              <a:rPr lang="en-US" sz="600" dirty="0">
                <a:solidFill>
                  <a:srgbClr val="C00000"/>
                </a:solidFill>
              </a:rPr>
              <a:t>9</a:t>
            </a:r>
          </a:p>
        </p:txBody>
      </p:sp>
      <p:cxnSp>
        <p:nvCxnSpPr>
          <p:cNvPr id="37" name="Straight Arrow Connector 36">
            <a:extLst>
              <a:ext uri="{FF2B5EF4-FFF2-40B4-BE49-F238E27FC236}">
                <a16:creationId xmlns:a16="http://schemas.microsoft.com/office/drawing/2014/main" id="{11905A70-FB1C-4F2E-B452-7FE1E490205E}"/>
              </a:ext>
            </a:extLst>
          </p:cNvPr>
          <p:cNvCxnSpPr/>
          <p:nvPr/>
        </p:nvCxnSpPr>
        <p:spPr>
          <a:xfrm>
            <a:off x="5807481" y="3168162"/>
            <a:ext cx="126350" cy="202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F3652296-97B0-4C87-899D-1C3BB23834DB}"/>
              </a:ext>
            </a:extLst>
          </p:cNvPr>
          <p:cNvSpPr txBox="1"/>
          <p:nvPr/>
        </p:nvSpPr>
        <p:spPr>
          <a:xfrm>
            <a:off x="5696761" y="3238229"/>
            <a:ext cx="271228" cy="184666"/>
          </a:xfrm>
          <a:prstGeom prst="rect">
            <a:avLst/>
          </a:prstGeom>
          <a:noFill/>
        </p:spPr>
        <p:txBody>
          <a:bodyPr wrap="none" rtlCol="0">
            <a:spAutoFit/>
          </a:bodyPr>
          <a:lstStyle/>
          <a:p>
            <a:r>
              <a:rPr lang="en-US" sz="600" dirty="0">
                <a:solidFill>
                  <a:srgbClr val="C00000"/>
                </a:solidFill>
              </a:rPr>
              <a:t>10</a:t>
            </a:r>
          </a:p>
        </p:txBody>
      </p:sp>
      <p:cxnSp>
        <p:nvCxnSpPr>
          <p:cNvPr id="40" name="Straight Arrow Connector 39">
            <a:extLst>
              <a:ext uri="{FF2B5EF4-FFF2-40B4-BE49-F238E27FC236}">
                <a16:creationId xmlns:a16="http://schemas.microsoft.com/office/drawing/2014/main" id="{140A5831-96DB-46E4-A948-33AF954D7BFB}"/>
              </a:ext>
            </a:extLst>
          </p:cNvPr>
          <p:cNvCxnSpPr/>
          <p:nvPr/>
        </p:nvCxnSpPr>
        <p:spPr>
          <a:xfrm flipH="1">
            <a:off x="5819857" y="3643711"/>
            <a:ext cx="148132" cy="173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B8D91C0F-0FF7-4C51-B147-6F22E23AD296}"/>
              </a:ext>
            </a:extLst>
          </p:cNvPr>
          <p:cNvSpPr txBox="1"/>
          <p:nvPr/>
        </p:nvSpPr>
        <p:spPr>
          <a:xfrm>
            <a:off x="5684243" y="3558598"/>
            <a:ext cx="271228" cy="184666"/>
          </a:xfrm>
          <a:prstGeom prst="rect">
            <a:avLst/>
          </a:prstGeom>
          <a:noFill/>
        </p:spPr>
        <p:txBody>
          <a:bodyPr wrap="none" rtlCol="0">
            <a:spAutoFit/>
          </a:bodyPr>
          <a:lstStyle/>
          <a:p>
            <a:r>
              <a:rPr lang="en-US" sz="600" dirty="0">
                <a:solidFill>
                  <a:srgbClr val="C00000"/>
                </a:solidFill>
              </a:rPr>
              <a:t>11</a:t>
            </a:r>
          </a:p>
        </p:txBody>
      </p:sp>
      <p:cxnSp>
        <p:nvCxnSpPr>
          <p:cNvPr id="45" name="Straight Arrow Connector 44">
            <a:extLst>
              <a:ext uri="{FF2B5EF4-FFF2-40B4-BE49-F238E27FC236}">
                <a16:creationId xmlns:a16="http://schemas.microsoft.com/office/drawing/2014/main" id="{0AEA27A6-7277-47BF-9FA1-8AA2F2BF457F}"/>
              </a:ext>
            </a:extLst>
          </p:cNvPr>
          <p:cNvCxnSpPr/>
          <p:nvPr/>
        </p:nvCxnSpPr>
        <p:spPr>
          <a:xfrm>
            <a:off x="6260123" y="3643711"/>
            <a:ext cx="177574" cy="19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E5CA080-CDA9-4580-B111-4867465D4845}"/>
              </a:ext>
            </a:extLst>
          </p:cNvPr>
          <p:cNvSpPr txBox="1"/>
          <p:nvPr/>
        </p:nvSpPr>
        <p:spPr>
          <a:xfrm>
            <a:off x="6292277" y="3612098"/>
            <a:ext cx="271228" cy="184666"/>
          </a:xfrm>
          <a:prstGeom prst="rect">
            <a:avLst/>
          </a:prstGeom>
          <a:noFill/>
        </p:spPr>
        <p:txBody>
          <a:bodyPr wrap="none" rtlCol="0">
            <a:spAutoFit/>
          </a:bodyPr>
          <a:lstStyle/>
          <a:p>
            <a:r>
              <a:rPr lang="en-US" sz="600" dirty="0">
                <a:solidFill>
                  <a:srgbClr val="C00000"/>
                </a:solidFill>
              </a:rPr>
              <a:t>12</a:t>
            </a:r>
          </a:p>
        </p:txBody>
      </p:sp>
      <p:sp>
        <p:nvSpPr>
          <p:cNvPr id="50" name="TextBox 49">
            <a:extLst>
              <a:ext uri="{FF2B5EF4-FFF2-40B4-BE49-F238E27FC236}">
                <a16:creationId xmlns:a16="http://schemas.microsoft.com/office/drawing/2014/main" id="{7F60085A-37D8-4B09-8B90-900154C7E950}"/>
              </a:ext>
            </a:extLst>
          </p:cNvPr>
          <p:cNvSpPr txBox="1"/>
          <p:nvPr/>
        </p:nvSpPr>
        <p:spPr>
          <a:xfrm>
            <a:off x="5803867" y="3685727"/>
            <a:ext cx="582211" cy="184666"/>
          </a:xfrm>
          <a:prstGeom prst="rect">
            <a:avLst/>
          </a:prstGeom>
          <a:noFill/>
        </p:spPr>
        <p:txBody>
          <a:bodyPr wrap="none" rtlCol="0">
            <a:spAutoFit/>
          </a:bodyPr>
          <a:lstStyle/>
          <a:p>
            <a:r>
              <a:rPr lang="en-US" sz="600" b="1" dirty="0">
                <a:solidFill>
                  <a:srgbClr val="C00000"/>
                </a:solidFill>
              </a:rPr>
              <a:t>13. Visit 15</a:t>
            </a:r>
          </a:p>
        </p:txBody>
      </p:sp>
      <p:cxnSp>
        <p:nvCxnSpPr>
          <p:cNvPr id="52" name="Straight Arrow Connector 51">
            <a:extLst>
              <a:ext uri="{FF2B5EF4-FFF2-40B4-BE49-F238E27FC236}">
                <a16:creationId xmlns:a16="http://schemas.microsoft.com/office/drawing/2014/main" id="{27214905-0298-4DC2-B097-EF6038259AB2}"/>
              </a:ext>
            </a:extLst>
          </p:cNvPr>
          <p:cNvCxnSpPr/>
          <p:nvPr/>
        </p:nvCxnSpPr>
        <p:spPr>
          <a:xfrm flipH="1" flipV="1">
            <a:off x="5924878" y="3083172"/>
            <a:ext cx="112508" cy="1843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BF128BDA-FFFA-415D-8053-B7F9297A69C7}"/>
              </a:ext>
            </a:extLst>
          </p:cNvPr>
          <p:cNvSpPr txBox="1"/>
          <p:nvPr/>
        </p:nvSpPr>
        <p:spPr>
          <a:xfrm>
            <a:off x="5945066" y="3066358"/>
            <a:ext cx="271228" cy="184666"/>
          </a:xfrm>
          <a:prstGeom prst="rect">
            <a:avLst/>
          </a:prstGeom>
          <a:noFill/>
        </p:spPr>
        <p:txBody>
          <a:bodyPr wrap="none" rtlCol="0">
            <a:spAutoFit/>
          </a:bodyPr>
          <a:lstStyle/>
          <a:p>
            <a:r>
              <a:rPr lang="en-US" sz="600" dirty="0">
                <a:solidFill>
                  <a:srgbClr val="C00000"/>
                </a:solidFill>
              </a:rPr>
              <a:t>14</a:t>
            </a:r>
          </a:p>
        </p:txBody>
      </p:sp>
      <p:sp>
        <p:nvSpPr>
          <p:cNvPr id="58" name="TextBox 57">
            <a:extLst>
              <a:ext uri="{FF2B5EF4-FFF2-40B4-BE49-F238E27FC236}">
                <a16:creationId xmlns:a16="http://schemas.microsoft.com/office/drawing/2014/main" id="{55ABD042-46B8-44B3-90F8-D5945CB019DC}"/>
              </a:ext>
            </a:extLst>
          </p:cNvPr>
          <p:cNvSpPr txBox="1"/>
          <p:nvPr/>
        </p:nvSpPr>
        <p:spPr>
          <a:xfrm>
            <a:off x="5858480" y="2829377"/>
            <a:ext cx="582211" cy="184666"/>
          </a:xfrm>
          <a:prstGeom prst="rect">
            <a:avLst/>
          </a:prstGeom>
          <a:noFill/>
        </p:spPr>
        <p:txBody>
          <a:bodyPr wrap="none" rtlCol="0">
            <a:spAutoFit/>
          </a:bodyPr>
          <a:lstStyle/>
          <a:p>
            <a:r>
              <a:rPr lang="en-US" sz="600" b="1" dirty="0">
                <a:solidFill>
                  <a:srgbClr val="C00000"/>
                </a:solidFill>
              </a:rPr>
              <a:t>15. Visit 14</a:t>
            </a:r>
          </a:p>
        </p:txBody>
      </p:sp>
      <p:cxnSp>
        <p:nvCxnSpPr>
          <p:cNvPr id="54" name="Straight Arrow Connector 53">
            <a:extLst>
              <a:ext uri="{FF2B5EF4-FFF2-40B4-BE49-F238E27FC236}">
                <a16:creationId xmlns:a16="http://schemas.microsoft.com/office/drawing/2014/main" id="{3A0D29F0-A784-4865-9F15-1B9136B20F89}"/>
              </a:ext>
            </a:extLst>
          </p:cNvPr>
          <p:cNvCxnSpPr/>
          <p:nvPr/>
        </p:nvCxnSpPr>
        <p:spPr>
          <a:xfrm flipV="1">
            <a:off x="5924878" y="2612436"/>
            <a:ext cx="155802" cy="216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886631A-95D1-4F2D-8E75-317BB1FFB694}"/>
              </a:ext>
            </a:extLst>
          </p:cNvPr>
          <p:cNvSpPr txBox="1"/>
          <p:nvPr/>
        </p:nvSpPr>
        <p:spPr>
          <a:xfrm>
            <a:off x="5945066" y="2660876"/>
            <a:ext cx="271228" cy="184666"/>
          </a:xfrm>
          <a:prstGeom prst="rect">
            <a:avLst/>
          </a:prstGeom>
          <a:noFill/>
        </p:spPr>
        <p:txBody>
          <a:bodyPr wrap="none" rtlCol="0">
            <a:spAutoFit/>
          </a:bodyPr>
          <a:lstStyle/>
          <a:p>
            <a:r>
              <a:rPr lang="en-US" sz="600" dirty="0">
                <a:solidFill>
                  <a:srgbClr val="C00000"/>
                </a:solidFill>
              </a:rPr>
              <a:t>16</a:t>
            </a:r>
          </a:p>
        </p:txBody>
      </p:sp>
      <p:cxnSp>
        <p:nvCxnSpPr>
          <p:cNvPr id="60" name="Straight Arrow Connector 59">
            <a:extLst>
              <a:ext uri="{FF2B5EF4-FFF2-40B4-BE49-F238E27FC236}">
                <a16:creationId xmlns:a16="http://schemas.microsoft.com/office/drawing/2014/main" id="{9AEC6B1A-71E3-404C-A1F7-FDE7F6EA2478}"/>
              </a:ext>
            </a:extLst>
          </p:cNvPr>
          <p:cNvCxnSpPr/>
          <p:nvPr/>
        </p:nvCxnSpPr>
        <p:spPr>
          <a:xfrm>
            <a:off x="6280311" y="2571750"/>
            <a:ext cx="269959" cy="273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DFA20CAA-D3D4-4466-9762-0196F43935E8}"/>
              </a:ext>
            </a:extLst>
          </p:cNvPr>
          <p:cNvSpPr txBox="1"/>
          <p:nvPr/>
        </p:nvSpPr>
        <p:spPr>
          <a:xfrm>
            <a:off x="6276278" y="2684729"/>
            <a:ext cx="271228" cy="184666"/>
          </a:xfrm>
          <a:prstGeom prst="rect">
            <a:avLst/>
          </a:prstGeom>
          <a:noFill/>
        </p:spPr>
        <p:txBody>
          <a:bodyPr wrap="none" rtlCol="0">
            <a:spAutoFit/>
          </a:bodyPr>
          <a:lstStyle/>
          <a:p>
            <a:r>
              <a:rPr lang="en-US" sz="600" dirty="0">
                <a:solidFill>
                  <a:srgbClr val="C00000"/>
                </a:solidFill>
              </a:rPr>
              <a:t>17</a:t>
            </a:r>
          </a:p>
        </p:txBody>
      </p:sp>
      <p:sp>
        <p:nvSpPr>
          <p:cNvPr id="65" name="TextBox 64">
            <a:extLst>
              <a:ext uri="{FF2B5EF4-FFF2-40B4-BE49-F238E27FC236}">
                <a16:creationId xmlns:a16="http://schemas.microsoft.com/office/drawing/2014/main" id="{BDD98CF8-1CE7-428E-AF6B-876D1AB4697E}"/>
              </a:ext>
            </a:extLst>
          </p:cNvPr>
          <p:cNvSpPr txBox="1"/>
          <p:nvPr/>
        </p:nvSpPr>
        <p:spPr>
          <a:xfrm>
            <a:off x="6332041" y="2391924"/>
            <a:ext cx="582211" cy="184666"/>
          </a:xfrm>
          <a:prstGeom prst="rect">
            <a:avLst/>
          </a:prstGeom>
          <a:noFill/>
        </p:spPr>
        <p:txBody>
          <a:bodyPr wrap="none" rtlCol="0">
            <a:spAutoFit/>
          </a:bodyPr>
          <a:lstStyle/>
          <a:p>
            <a:r>
              <a:rPr lang="en-US" sz="600" b="1" dirty="0">
                <a:solidFill>
                  <a:srgbClr val="C00000"/>
                </a:solidFill>
              </a:rPr>
              <a:t>18. Visit 34</a:t>
            </a:r>
          </a:p>
        </p:txBody>
      </p:sp>
      <p:sp>
        <p:nvSpPr>
          <p:cNvPr id="68" name="TextBox 67">
            <a:extLst>
              <a:ext uri="{FF2B5EF4-FFF2-40B4-BE49-F238E27FC236}">
                <a16:creationId xmlns:a16="http://schemas.microsoft.com/office/drawing/2014/main" id="{9E998B3B-656A-4E8C-9541-438520145296}"/>
              </a:ext>
            </a:extLst>
          </p:cNvPr>
          <p:cNvSpPr txBox="1"/>
          <p:nvPr/>
        </p:nvSpPr>
        <p:spPr>
          <a:xfrm>
            <a:off x="6184869" y="1817190"/>
            <a:ext cx="271228" cy="184666"/>
          </a:xfrm>
          <a:prstGeom prst="rect">
            <a:avLst/>
          </a:prstGeom>
          <a:noFill/>
        </p:spPr>
        <p:txBody>
          <a:bodyPr wrap="none" rtlCol="0">
            <a:spAutoFit/>
          </a:bodyPr>
          <a:lstStyle/>
          <a:p>
            <a:r>
              <a:rPr lang="en-US" sz="600" dirty="0">
                <a:solidFill>
                  <a:srgbClr val="C00000"/>
                </a:solidFill>
              </a:rPr>
              <a:t>21</a:t>
            </a:r>
          </a:p>
        </p:txBody>
      </p:sp>
      <p:cxnSp>
        <p:nvCxnSpPr>
          <p:cNvPr id="67" name="Straight Arrow Connector 66">
            <a:extLst>
              <a:ext uri="{FF2B5EF4-FFF2-40B4-BE49-F238E27FC236}">
                <a16:creationId xmlns:a16="http://schemas.microsoft.com/office/drawing/2014/main" id="{3328F6EC-2AD6-458A-BE59-54F7469921E8}"/>
              </a:ext>
            </a:extLst>
          </p:cNvPr>
          <p:cNvCxnSpPr/>
          <p:nvPr/>
        </p:nvCxnSpPr>
        <p:spPr>
          <a:xfrm>
            <a:off x="6781800" y="1781724"/>
            <a:ext cx="474785" cy="179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C9BEA31F-DCD6-4AC9-89B4-C5105C73BB97}"/>
              </a:ext>
            </a:extLst>
          </p:cNvPr>
          <p:cNvSpPr txBox="1"/>
          <p:nvPr/>
        </p:nvSpPr>
        <p:spPr>
          <a:xfrm>
            <a:off x="6959374" y="1908163"/>
            <a:ext cx="271228" cy="184666"/>
          </a:xfrm>
          <a:prstGeom prst="rect">
            <a:avLst/>
          </a:prstGeom>
          <a:noFill/>
        </p:spPr>
        <p:txBody>
          <a:bodyPr wrap="none" rtlCol="0">
            <a:spAutoFit/>
          </a:bodyPr>
          <a:lstStyle/>
          <a:p>
            <a:r>
              <a:rPr lang="en-US" sz="600" dirty="0">
                <a:solidFill>
                  <a:srgbClr val="C00000"/>
                </a:solidFill>
              </a:rPr>
              <a:t>22</a:t>
            </a:r>
          </a:p>
        </p:txBody>
      </p:sp>
      <p:cxnSp>
        <p:nvCxnSpPr>
          <p:cNvPr id="70" name="Straight Arrow Connector 69">
            <a:extLst>
              <a:ext uri="{FF2B5EF4-FFF2-40B4-BE49-F238E27FC236}">
                <a16:creationId xmlns:a16="http://schemas.microsoft.com/office/drawing/2014/main" id="{D5A82CF0-F0E0-4EFA-B1D6-22710BAA0CF7}"/>
              </a:ext>
            </a:extLst>
          </p:cNvPr>
          <p:cNvCxnSpPr/>
          <p:nvPr/>
        </p:nvCxnSpPr>
        <p:spPr>
          <a:xfrm flipH="1">
            <a:off x="7019192" y="2168399"/>
            <a:ext cx="237393" cy="223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AE08D961-AF2E-462A-8088-1F419DC6BED6}"/>
              </a:ext>
            </a:extLst>
          </p:cNvPr>
          <p:cNvSpPr txBox="1"/>
          <p:nvPr/>
        </p:nvSpPr>
        <p:spPr>
          <a:xfrm>
            <a:off x="7560408" y="2356862"/>
            <a:ext cx="271228" cy="184666"/>
          </a:xfrm>
          <a:prstGeom prst="rect">
            <a:avLst/>
          </a:prstGeom>
          <a:noFill/>
        </p:spPr>
        <p:txBody>
          <a:bodyPr wrap="square" rtlCol="0">
            <a:spAutoFit/>
          </a:bodyPr>
          <a:lstStyle/>
          <a:p>
            <a:r>
              <a:rPr lang="en-US" sz="600" dirty="0">
                <a:solidFill>
                  <a:srgbClr val="C00000"/>
                </a:solidFill>
              </a:rPr>
              <a:t>24</a:t>
            </a:r>
          </a:p>
        </p:txBody>
      </p:sp>
      <p:cxnSp>
        <p:nvCxnSpPr>
          <p:cNvPr id="73" name="Straight Arrow Connector 72">
            <a:extLst>
              <a:ext uri="{FF2B5EF4-FFF2-40B4-BE49-F238E27FC236}">
                <a16:creationId xmlns:a16="http://schemas.microsoft.com/office/drawing/2014/main" id="{34C27D16-4DB4-4C6B-9AE6-8DD6070938F6}"/>
              </a:ext>
            </a:extLst>
          </p:cNvPr>
          <p:cNvCxnSpPr/>
          <p:nvPr/>
        </p:nvCxnSpPr>
        <p:spPr>
          <a:xfrm>
            <a:off x="7555523" y="2196194"/>
            <a:ext cx="263769" cy="222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3DE4DC5F-8307-43BC-8680-860346A98E82}"/>
              </a:ext>
            </a:extLst>
          </p:cNvPr>
          <p:cNvSpPr txBox="1"/>
          <p:nvPr/>
        </p:nvSpPr>
        <p:spPr>
          <a:xfrm>
            <a:off x="6869591" y="2187828"/>
            <a:ext cx="271228" cy="184666"/>
          </a:xfrm>
          <a:prstGeom prst="rect">
            <a:avLst/>
          </a:prstGeom>
          <a:noFill/>
        </p:spPr>
        <p:txBody>
          <a:bodyPr wrap="none" rtlCol="0">
            <a:spAutoFit/>
          </a:bodyPr>
          <a:lstStyle/>
          <a:p>
            <a:r>
              <a:rPr lang="en-US" sz="600" dirty="0">
                <a:solidFill>
                  <a:srgbClr val="C00000"/>
                </a:solidFill>
              </a:rPr>
              <a:t>23</a:t>
            </a:r>
          </a:p>
        </p:txBody>
      </p:sp>
      <p:cxnSp>
        <p:nvCxnSpPr>
          <p:cNvPr id="76" name="Straight Arrow Connector 75">
            <a:extLst>
              <a:ext uri="{FF2B5EF4-FFF2-40B4-BE49-F238E27FC236}">
                <a16:creationId xmlns:a16="http://schemas.microsoft.com/office/drawing/2014/main" id="{625D7438-B5FE-4711-9BF2-525807A48DBA}"/>
              </a:ext>
            </a:extLst>
          </p:cNvPr>
          <p:cNvCxnSpPr/>
          <p:nvPr/>
        </p:nvCxnSpPr>
        <p:spPr>
          <a:xfrm flipH="1">
            <a:off x="7625862" y="2558003"/>
            <a:ext cx="193430" cy="194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623F892-41BF-4529-9EB7-92A50C6DBCBC}"/>
              </a:ext>
            </a:extLst>
          </p:cNvPr>
          <p:cNvCxnSpPr/>
          <p:nvPr/>
        </p:nvCxnSpPr>
        <p:spPr>
          <a:xfrm flipH="1" flipV="1">
            <a:off x="5705883" y="2014898"/>
            <a:ext cx="374797" cy="188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28411EAD-1375-454B-8095-BAC4BFDD9F58}"/>
              </a:ext>
            </a:extLst>
          </p:cNvPr>
          <p:cNvSpPr txBox="1"/>
          <p:nvPr/>
        </p:nvSpPr>
        <p:spPr>
          <a:xfrm>
            <a:off x="5738284" y="1926808"/>
            <a:ext cx="271228" cy="184666"/>
          </a:xfrm>
          <a:prstGeom prst="rect">
            <a:avLst/>
          </a:prstGeom>
          <a:noFill/>
        </p:spPr>
        <p:txBody>
          <a:bodyPr wrap="none" rtlCol="0">
            <a:spAutoFit/>
          </a:bodyPr>
          <a:lstStyle/>
          <a:p>
            <a:r>
              <a:rPr lang="en-US" sz="600" dirty="0">
                <a:solidFill>
                  <a:srgbClr val="C00000"/>
                </a:solidFill>
              </a:rPr>
              <a:t>19</a:t>
            </a:r>
          </a:p>
        </p:txBody>
      </p:sp>
      <p:sp>
        <p:nvSpPr>
          <p:cNvPr id="83" name="TextBox 82">
            <a:extLst>
              <a:ext uri="{FF2B5EF4-FFF2-40B4-BE49-F238E27FC236}">
                <a16:creationId xmlns:a16="http://schemas.microsoft.com/office/drawing/2014/main" id="{B309EF5E-F16E-4726-A48B-05685FE81EC7}"/>
              </a:ext>
            </a:extLst>
          </p:cNvPr>
          <p:cNvSpPr txBox="1"/>
          <p:nvPr/>
        </p:nvSpPr>
        <p:spPr>
          <a:xfrm>
            <a:off x="4732739" y="1863899"/>
            <a:ext cx="538930" cy="184666"/>
          </a:xfrm>
          <a:prstGeom prst="rect">
            <a:avLst/>
          </a:prstGeom>
          <a:noFill/>
        </p:spPr>
        <p:txBody>
          <a:bodyPr wrap="none" rtlCol="0">
            <a:spAutoFit/>
          </a:bodyPr>
          <a:lstStyle/>
          <a:p>
            <a:r>
              <a:rPr lang="en-US" sz="600" b="1" dirty="0">
                <a:solidFill>
                  <a:srgbClr val="C00000"/>
                </a:solidFill>
              </a:rPr>
              <a:t>20. Visit 4</a:t>
            </a:r>
          </a:p>
        </p:txBody>
      </p:sp>
      <p:cxnSp>
        <p:nvCxnSpPr>
          <p:cNvPr id="81" name="Straight Arrow Connector 80">
            <a:extLst>
              <a:ext uri="{FF2B5EF4-FFF2-40B4-BE49-F238E27FC236}">
                <a16:creationId xmlns:a16="http://schemas.microsoft.com/office/drawing/2014/main" id="{6CFD3A8D-1262-4829-A67A-3E556C7C08BE}"/>
              </a:ext>
            </a:extLst>
          </p:cNvPr>
          <p:cNvCxnSpPr>
            <a:stCxn id="82" idx="0"/>
          </p:cNvCxnSpPr>
          <p:nvPr/>
        </p:nvCxnSpPr>
        <p:spPr>
          <a:xfrm flipV="1">
            <a:off x="5873898" y="1781724"/>
            <a:ext cx="512180" cy="145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E73A2C40-C528-446C-8236-9724AEA3CE54}"/>
              </a:ext>
            </a:extLst>
          </p:cNvPr>
          <p:cNvSpPr txBox="1"/>
          <p:nvPr/>
        </p:nvSpPr>
        <p:spPr>
          <a:xfrm>
            <a:off x="7424794" y="2558003"/>
            <a:ext cx="271228" cy="184666"/>
          </a:xfrm>
          <a:prstGeom prst="rect">
            <a:avLst/>
          </a:prstGeom>
          <a:noFill/>
        </p:spPr>
        <p:txBody>
          <a:bodyPr wrap="square" rtlCol="0">
            <a:spAutoFit/>
          </a:bodyPr>
          <a:lstStyle/>
          <a:p>
            <a:r>
              <a:rPr lang="en-US" sz="600" dirty="0">
                <a:solidFill>
                  <a:srgbClr val="C00000"/>
                </a:solidFill>
              </a:rPr>
              <a:t>25</a:t>
            </a:r>
          </a:p>
        </p:txBody>
      </p:sp>
      <p:cxnSp>
        <p:nvCxnSpPr>
          <p:cNvPr id="87" name="Straight Arrow Connector 86">
            <a:extLst>
              <a:ext uri="{FF2B5EF4-FFF2-40B4-BE49-F238E27FC236}">
                <a16:creationId xmlns:a16="http://schemas.microsoft.com/office/drawing/2014/main" id="{A2130377-0219-4624-A736-DFBFF00F65FF}"/>
              </a:ext>
            </a:extLst>
          </p:cNvPr>
          <p:cNvCxnSpPr/>
          <p:nvPr/>
        </p:nvCxnSpPr>
        <p:spPr>
          <a:xfrm flipH="1">
            <a:off x="7115320" y="3053862"/>
            <a:ext cx="193430" cy="194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03DFEEA5-0047-46C9-ADAB-48FBE08AA495}"/>
              </a:ext>
            </a:extLst>
          </p:cNvPr>
          <p:cNvSpPr txBox="1"/>
          <p:nvPr/>
        </p:nvSpPr>
        <p:spPr>
          <a:xfrm>
            <a:off x="6959374" y="3042878"/>
            <a:ext cx="271228" cy="184666"/>
          </a:xfrm>
          <a:prstGeom prst="rect">
            <a:avLst/>
          </a:prstGeom>
          <a:noFill/>
        </p:spPr>
        <p:txBody>
          <a:bodyPr wrap="square" rtlCol="0">
            <a:spAutoFit/>
          </a:bodyPr>
          <a:lstStyle/>
          <a:p>
            <a:r>
              <a:rPr lang="en-US" sz="600" dirty="0">
                <a:solidFill>
                  <a:srgbClr val="C00000"/>
                </a:solidFill>
              </a:rPr>
              <a:t>26</a:t>
            </a:r>
          </a:p>
        </p:txBody>
      </p:sp>
      <p:cxnSp>
        <p:nvCxnSpPr>
          <p:cNvPr id="89" name="Straight Arrow Connector 88">
            <a:extLst>
              <a:ext uri="{FF2B5EF4-FFF2-40B4-BE49-F238E27FC236}">
                <a16:creationId xmlns:a16="http://schemas.microsoft.com/office/drawing/2014/main" id="{D6803920-2152-439F-820C-F26C9B844997}"/>
              </a:ext>
            </a:extLst>
          </p:cNvPr>
          <p:cNvCxnSpPr/>
          <p:nvPr/>
        </p:nvCxnSpPr>
        <p:spPr>
          <a:xfrm flipH="1">
            <a:off x="6772876" y="3645814"/>
            <a:ext cx="193430" cy="194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08722FEB-17F4-40A4-AF5F-FA30C5173735}"/>
              </a:ext>
            </a:extLst>
          </p:cNvPr>
          <p:cNvSpPr txBox="1"/>
          <p:nvPr/>
        </p:nvSpPr>
        <p:spPr>
          <a:xfrm>
            <a:off x="6661552" y="3580863"/>
            <a:ext cx="271228" cy="184666"/>
          </a:xfrm>
          <a:prstGeom prst="rect">
            <a:avLst/>
          </a:prstGeom>
          <a:noFill/>
        </p:spPr>
        <p:txBody>
          <a:bodyPr wrap="square" rtlCol="0">
            <a:spAutoFit/>
          </a:bodyPr>
          <a:lstStyle/>
          <a:p>
            <a:r>
              <a:rPr lang="en-US" sz="600" dirty="0">
                <a:solidFill>
                  <a:srgbClr val="C00000"/>
                </a:solidFill>
              </a:rPr>
              <a:t>27</a:t>
            </a:r>
          </a:p>
        </p:txBody>
      </p:sp>
      <p:cxnSp>
        <p:nvCxnSpPr>
          <p:cNvPr id="85" name="Straight Arrow Connector 84">
            <a:extLst>
              <a:ext uri="{FF2B5EF4-FFF2-40B4-BE49-F238E27FC236}">
                <a16:creationId xmlns:a16="http://schemas.microsoft.com/office/drawing/2014/main" id="{559A3BB3-0C3C-443D-BA82-7FD7C6135B60}"/>
              </a:ext>
            </a:extLst>
          </p:cNvPr>
          <p:cNvCxnSpPr/>
          <p:nvPr/>
        </p:nvCxnSpPr>
        <p:spPr>
          <a:xfrm>
            <a:off x="7256585" y="3650931"/>
            <a:ext cx="228600" cy="19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A4C32EB9-E200-467C-A33F-BBF959E04714}"/>
              </a:ext>
            </a:extLst>
          </p:cNvPr>
          <p:cNvSpPr txBox="1"/>
          <p:nvPr/>
        </p:nvSpPr>
        <p:spPr>
          <a:xfrm>
            <a:off x="7287925" y="3621046"/>
            <a:ext cx="271228" cy="184666"/>
          </a:xfrm>
          <a:prstGeom prst="rect">
            <a:avLst/>
          </a:prstGeom>
          <a:noFill/>
        </p:spPr>
        <p:txBody>
          <a:bodyPr wrap="square" rtlCol="0">
            <a:spAutoFit/>
          </a:bodyPr>
          <a:lstStyle/>
          <a:p>
            <a:r>
              <a:rPr lang="en-US" sz="600" dirty="0">
                <a:solidFill>
                  <a:srgbClr val="C00000"/>
                </a:solidFill>
              </a:rPr>
              <a:t>28</a:t>
            </a:r>
          </a:p>
        </p:txBody>
      </p:sp>
      <p:sp>
        <p:nvSpPr>
          <p:cNvPr id="94" name="TextBox 93">
            <a:extLst>
              <a:ext uri="{FF2B5EF4-FFF2-40B4-BE49-F238E27FC236}">
                <a16:creationId xmlns:a16="http://schemas.microsoft.com/office/drawing/2014/main" id="{9845CA08-54A1-42B5-B6A1-F3E03298EACE}"/>
              </a:ext>
            </a:extLst>
          </p:cNvPr>
          <p:cNvSpPr txBox="1"/>
          <p:nvPr/>
        </p:nvSpPr>
        <p:spPr>
          <a:xfrm>
            <a:off x="6792842" y="3689764"/>
            <a:ext cx="582211" cy="184666"/>
          </a:xfrm>
          <a:prstGeom prst="rect">
            <a:avLst/>
          </a:prstGeom>
          <a:noFill/>
        </p:spPr>
        <p:txBody>
          <a:bodyPr wrap="none" rtlCol="0">
            <a:spAutoFit/>
          </a:bodyPr>
          <a:lstStyle/>
          <a:p>
            <a:r>
              <a:rPr lang="en-US" sz="600" b="1" dirty="0">
                <a:solidFill>
                  <a:srgbClr val="C00000"/>
                </a:solidFill>
              </a:rPr>
              <a:t>29. Visit 47</a:t>
            </a:r>
          </a:p>
        </p:txBody>
      </p:sp>
      <p:cxnSp>
        <p:nvCxnSpPr>
          <p:cNvPr id="92" name="Straight Arrow Connector 91">
            <a:extLst>
              <a:ext uri="{FF2B5EF4-FFF2-40B4-BE49-F238E27FC236}">
                <a16:creationId xmlns:a16="http://schemas.microsoft.com/office/drawing/2014/main" id="{ED872C19-6631-4397-8B0A-DDA6D02B7075}"/>
              </a:ext>
            </a:extLst>
          </p:cNvPr>
          <p:cNvCxnSpPr/>
          <p:nvPr/>
        </p:nvCxnSpPr>
        <p:spPr>
          <a:xfrm flipV="1">
            <a:off x="7350869" y="3158646"/>
            <a:ext cx="158040" cy="217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335B67F-A50E-4A24-BCE3-1B27566372A3}"/>
              </a:ext>
            </a:extLst>
          </p:cNvPr>
          <p:cNvSpPr txBox="1"/>
          <p:nvPr/>
        </p:nvSpPr>
        <p:spPr>
          <a:xfrm>
            <a:off x="7346430" y="3264602"/>
            <a:ext cx="271228" cy="184666"/>
          </a:xfrm>
          <a:prstGeom prst="rect">
            <a:avLst/>
          </a:prstGeom>
          <a:noFill/>
        </p:spPr>
        <p:txBody>
          <a:bodyPr wrap="square" rtlCol="0">
            <a:spAutoFit/>
          </a:bodyPr>
          <a:lstStyle/>
          <a:p>
            <a:r>
              <a:rPr lang="en-US" sz="600" dirty="0">
                <a:solidFill>
                  <a:srgbClr val="C00000"/>
                </a:solidFill>
              </a:rPr>
              <a:t>30</a:t>
            </a:r>
          </a:p>
        </p:txBody>
      </p:sp>
      <p:cxnSp>
        <p:nvCxnSpPr>
          <p:cNvPr id="96" name="Straight Arrow Connector 95">
            <a:extLst>
              <a:ext uri="{FF2B5EF4-FFF2-40B4-BE49-F238E27FC236}">
                <a16:creationId xmlns:a16="http://schemas.microsoft.com/office/drawing/2014/main" id="{920361E1-2EC1-4314-B40E-F402CB2B3161}"/>
              </a:ext>
            </a:extLst>
          </p:cNvPr>
          <p:cNvCxnSpPr/>
          <p:nvPr/>
        </p:nvCxnSpPr>
        <p:spPr>
          <a:xfrm>
            <a:off x="7625862" y="3227544"/>
            <a:ext cx="146538" cy="1428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882E7BDA-A5E0-4B36-AFAA-1E8826D88362}"/>
              </a:ext>
            </a:extLst>
          </p:cNvPr>
          <p:cNvSpPr txBox="1"/>
          <p:nvPr/>
        </p:nvSpPr>
        <p:spPr>
          <a:xfrm>
            <a:off x="7526494" y="3300022"/>
            <a:ext cx="271228" cy="184666"/>
          </a:xfrm>
          <a:prstGeom prst="rect">
            <a:avLst/>
          </a:prstGeom>
          <a:noFill/>
        </p:spPr>
        <p:txBody>
          <a:bodyPr wrap="square" rtlCol="0">
            <a:spAutoFit/>
          </a:bodyPr>
          <a:lstStyle/>
          <a:p>
            <a:r>
              <a:rPr lang="en-US" sz="600" dirty="0">
                <a:solidFill>
                  <a:srgbClr val="C00000"/>
                </a:solidFill>
              </a:rPr>
              <a:t>31</a:t>
            </a:r>
          </a:p>
        </p:txBody>
      </p:sp>
      <p:cxnSp>
        <p:nvCxnSpPr>
          <p:cNvPr id="99" name="Straight Arrow Connector 98">
            <a:extLst>
              <a:ext uri="{FF2B5EF4-FFF2-40B4-BE49-F238E27FC236}">
                <a16:creationId xmlns:a16="http://schemas.microsoft.com/office/drawing/2014/main" id="{29B504E7-0E55-48C1-B12A-10F607B9F758}"/>
              </a:ext>
            </a:extLst>
          </p:cNvPr>
          <p:cNvCxnSpPr/>
          <p:nvPr/>
        </p:nvCxnSpPr>
        <p:spPr>
          <a:xfrm flipH="1">
            <a:off x="7696022" y="3673196"/>
            <a:ext cx="193609" cy="169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943B09E4-D57F-4FF1-AF11-2ED1842E3296}"/>
              </a:ext>
            </a:extLst>
          </p:cNvPr>
          <p:cNvSpPr txBox="1"/>
          <p:nvPr/>
        </p:nvSpPr>
        <p:spPr>
          <a:xfrm>
            <a:off x="7585890" y="3573340"/>
            <a:ext cx="271228" cy="184666"/>
          </a:xfrm>
          <a:prstGeom prst="rect">
            <a:avLst/>
          </a:prstGeom>
          <a:noFill/>
        </p:spPr>
        <p:txBody>
          <a:bodyPr wrap="square" rtlCol="0">
            <a:spAutoFit/>
          </a:bodyPr>
          <a:lstStyle/>
          <a:p>
            <a:r>
              <a:rPr lang="en-US" sz="600" dirty="0">
                <a:solidFill>
                  <a:srgbClr val="C00000"/>
                </a:solidFill>
              </a:rPr>
              <a:t>32</a:t>
            </a:r>
          </a:p>
        </p:txBody>
      </p:sp>
      <p:cxnSp>
        <p:nvCxnSpPr>
          <p:cNvPr id="104" name="Straight Arrow Connector 103">
            <a:extLst>
              <a:ext uri="{FF2B5EF4-FFF2-40B4-BE49-F238E27FC236}">
                <a16:creationId xmlns:a16="http://schemas.microsoft.com/office/drawing/2014/main" id="{52DEC2FD-6EED-4461-8DEA-1AA62910E2E6}"/>
              </a:ext>
            </a:extLst>
          </p:cNvPr>
          <p:cNvCxnSpPr/>
          <p:nvPr/>
        </p:nvCxnSpPr>
        <p:spPr>
          <a:xfrm>
            <a:off x="8094085" y="3650931"/>
            <a:ext cx="228600" cy="19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A73E5DBC-B9E8-4B3D-B71E-3FA78EF02C26}"/>
              </a:ext>
            </a:extLst>
          </p:cNvPr>
          <p:cNvSpPr txBox="1"/>
          <p:nvPr/>
        </p:nvSpPr>
        <p:spPr>
          <a:xfrm>
            <a:off x="8125425" y="3621046"/>
            <a:ext cx="271228" cy="184666"/>
          </a:xfrm>
          <a:prstGeom prst="rect">
            <a:avLst/>
          </a:prstGeom>
          <a:noFill/>
        </p:spPr>
        <p:txBody>
          <a:bodyPr wrap="square" rtlCol="0">
            <a:spAutoFit/>
          </a:bodyPr>
          <a:lstStyle/>
          <a:p>
            <a:r>
              <a:rPr lang="en-US" sz="600" dirty="0">
                <a:solidFill>
                  <a:srgbClr val="C00000"/>
                </a:solidFill>
              </a:rPr>
              <a:t>33</a:t>
            </a:r>
          </a:p>
        </p:txBody>
      </p:sp>
      <p:sp>
        <p:nvSpPr>
          <p:cNvPr id="106" name="TextBox 105">
            <a:extLst>
              <a:ext uri="{FF2B5EF4-FFF2-40B4-BE49-F238E27FC236}">
                <a16:creationId xmlns:a16="http://schemas.microsoft.com/office/drawing/2014/main" id="{17E1F6AA-C9A8-40B2-8965-8E1E983BB376}"/>
              </a:ext>
            </a:extLst>
          </p:cNvPr>
          <p:cNvSpPr txBox="1"/>
          <p:nvPr/>
        </p:nvSpPr>
        <p:spPr>
          <a:xfrm>
            <a:off x="8086121" y="3348232"/>
            <a:ext cx="582211" cy="184666"/>
          </a:xfrm>
          <a:prstGeom prst="rect">
            <a:avLst/>
          </a:prstGeom>
          <a:noFill/>
        </p:spPr>
        <p:txBody>
          <a:bodyPr wrap="none" rtlCol="0">
            <a:spAutoFit/>
          </a:bodyPr>
          <a:lstStyle/>
          <a:p>
            <a:r>
              <a:rPr lang="en-US" sz="600" b="1" dirty="0">
                <a:solidFill>
                  <a:srgbClr val="C00000"/>
                </a:solidFill>
              </a:rPr>
              <a:t>34. Visit 49</a:t>
            </a:r>
          </a:p>
        </p:txBody>
      </p:sp>
      <p:cxnSp>
        <p:nvCxnSpPr>
          <p:cNvPr id="102" name="Straight Arrow Connector 101">
            <a:extLst>
              <a:ext uri="{FF2B5EF4-FFF2-40B4-BE49-F238E27FC236}">
                <a16:creationId xmlns:a16="http://schemas.microsoft.com/office/drawing/2014/main" id="{72A953F8-35B0-4FC1-9275-50746C5B2523}"/>
              </a:ext>
            </a:extLst>
          </p:cNvPr>
          <p:cNvCxnSpPr/>
          <p:nvPr/>
        </p:nvCxnSpPr>
        <p:spPr>
          <a:xfrm flipH="1" flipV="1">
            <a:off x="7762649" y="3063737"/>
            <a:ext cx="152026" cy="203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2447DF7F-8EF0-46AA-8D27-9BEB125BE0DF}"/>
              </a:ext>
            </a:extLst>
          </p:cNvPr>
          <p:cNvSpPr txBox="1"/>
          <p:nvPr/>
        </p:nvSpPr>
        <p:spPr>
          <a:xfrm>
            <a:off x="7767062" y="3036559"/>
            <a:ext cx="271228" cy="184666"/>
          </a:xfrm>
          <a:prstGeom prst="rect">
            <a:avLst/>
          </a:prstGeom>
          <a:noFill/>
        </p:spPr>
        <p:txBody>
          <a:bodyPr wrap="square" rtlCol="0">
            <a:spAutoFit/>
          </a:bodyPr>
          <a:lstStyle/>
          <a:p>
            <a:r>
              <a:rPr lang="en-US" sz="600" dirty="0">
                <a:solidFill>
                  <a:srgbClr val="C00000"/>
                </a:solidFill>
              </a:rPr>
              <a:t>35</a:t>
            </a:r>
          </a:p>
        </p:txBody>
      </p:sp>
      <p:sp>
        <p:nvSpPr>
          <p:cNvPr id="110" name="TextBox 109">
            <a:extLst>
              <a:ext uri="{FF2B5EF4-FFF2-40B4-BE49-F238E27FC236}">
                <a16:creationId xmlns:a16="http://schemas.microsoft.com/office/drawing/2014/main" id="{3A258083-FB8D-4279-9A20-8AF51F2DFF24}"/>
              </a:ext>
            </a:extLst>
          </p:cNvPr>
          <p:cNvSpPr txBox="1"/>
          <p:nvPr/>
        </p:nvSpPr>
        <p:spPr>
          <a:xfrm>
            <a:off x="7721504" y="2867696"/>
            <a:ext cx="582211" cy="184666"/>
          </a:xfrm>
          <a:prstGeom prst="rect">
            <a:avLst/>
          </a:prstGeom>
          <a:noFill/>
        </p:spPr>
        <p:txBody>
          <a:bodyPr wrap="none" rtlCol="0">
            <a:spAutoFit/>
          </a:bodyPr>
          <a:lstStyle/>
          <a:p>
            <a:r>
              <a:rPr lang="en-US" sz="600" b="1" dirty="0">
                <a:solidFill>
                  <a:srgbClr val="C00000"/>
                </a:solidFill>
              </a:rPr>
              <a:t>36. Visit 48</a:t>
            </a:r>
          </a:p>
        </p:txBody>
      </p:sp>
      <p:cxnSp>
        <p:nvCxnSpPr>
          <p:cNvPr id="108" name="Straight Arrow Connector 107">
            <a:extLst>
              <a:ext uri="{FF2B5EF4-FFF2-40B4-BE49-F238E27FC236}">
                <a16:creationId xmlns:a16="http://schemas.microsoft.com/office/drawing/2014/main" id="{B78D1489-78DF-42C8-8C1B-1568C938B5CF}"/>
              </a:ext>
            </a:extLst>
          </p:cNvPr>
          <p:cNvCxnSpPr/>
          <p:nvPr/>
        </p:nvCxnSpPr>
        <p:spPr>
          <a:xfrm flipV="1">
            <a:off x="7819292" y="2684729"/>
            <a:ext cx="140677" cy="144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C2FAA783-6FE8-4863-8D5E-A900A12A8DB4}"/>
              </a:ext>
            </a:extLst>
          </p:cNvPr>
          <p:cNvSpPr txBox="1"/>
          <p:nvPr/>
        </p:nvSpPr>
        <p:spPr>
          <a:xfrm>
            <a:off x="7850290" y="2692514"/>
            <a:ext cx="271228" cy="184666"/>
          </a:xfrm>
          <a:prstGeom prst="rect">
            <a:avLst/>
          </a:prstGeom>
          <a:noFill/>
        </p:spPr>
        <p:txBody>
          <a:bodyPr wrap="square" rtlCol="0">
            <a:spAutoFit/>
          </a:bodyPr>
          <a:lstStyle/>
          <a:p>
            <a:r>
              <a:rPr lang="en-US" sz="600" dirty="0">
                <a:solidFill>
                  <a:srgbClr val="C00000"/>
                </a:solidFill>
              </a:rPr>
              <a:t>37</a:t>
            </a:r>
          </a:p>
        </p:txBody>
      </p:sp>
      <p:cxnSp>
        <p:nvCxnSpPr>
          <p:cNvPr id="112" name="Straight Arrow Connector 111">
            <a:extLst>
              <a:ext uri="{FF2B5EF4-FFF2-40B4-BE49-F238E27FC236}">
                <a16:creationId xmlns:a16="http://schemas.microsoft.com/office/drawing/2014/main" id="{C30524A3-333B-4E93-ADCA-0674156CD07C}"/>
              </a:ext>
            </a:extLst>
          </p:cNvPr>
          <p:cNvCxnSpPr/>
          <p:nvPr/>
        </p:nvCxnSpPr>
        <p:spPr>
          <a:xfrm>
            <a:off x="8171779" y="2660876"/>
            <a:ext cx="286421" cy="26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EBC157ED-6F6C-456F-8F15-C69296EA0B5D}"/>
              </a:ext>
            </a:extLst>
          </p:cNvPr>
          <p:cNvSpPr txBox="1"/>
          <p:nvPr/>
        </p:nvSpPr>
        <p:spPr>
          <a:xfrm>
            <a:off x="8276484" y="2698960"/>
            <a:ext cx="271228" cy="184666"/>
          </a:xfrm>
          <a:prstGeom prst="rect">
            <a:avLst/>
          </a:prstGeom>
          <a:noFill/>
        </p:spPr>
        <p:txBody>
          <a:bodyPr wrap="square" rtlCol="0">
            <a:spAutoFit/>
          </a:bodyPr>
          <a:lstStyle/>
          <a:p>
            <a:r>
              <a:rPr lang="en-US" sz="600" dirty="0">
                <a:solidFill>
                  <a:srgbClr val="C00000"/>
                </a:solidFill>
              </a:rPr>
              <a:t>38</a:t>
            </a:r>
          </a:p>
        </p:txBody>
      </p:sp>
      <p:sp>
        <p:nvSpPr>
          <p:cNvPr id="117" name="TextBox 116">
            <a:extLst>
              <a:ext uri="{FF2B5EF4-FFF2-40B4-BE49-F238E27FC236}">
                <a16:creationId xmlns:a16="http://schemas.microsoft.com/office/drawing/2014/main" id="{A2C11E24-8525-467B-B239-3BCCE57B2FED}"/>
              </a:ext>
            </a:extLst>
          </p:cNvPr>
          <p:cNvSpPr txBox="1"/>
          <p:nvPr/>
        </p:nvSpPr>
        <p:spPr>
          <a:xfrm>
            <a:off x="8256606" y="2391924"/>
            <a:ext cx="582211" cy="184666"/>
          </a:xfrm>
          <a:prstGeom prst="rect">
            <a:avLst/>
          </a:prstGeom>
          <a:noFill/>
        </p:spPr>
        <p:txBody>
          <a:bodyPr wrap="none" rtlCol="0">
            <a:spAutoFit/>
          </a:bodyPr>
          <a:lstStyle/>
          <a:p>
            <a:r>
              <a:rPr lang="en-US" sz="600" b="1" dirty="0">
                <a:solidFill>
                  <a:srgbClr val="C00000"/>
                </a:solidFill>
              </a:rPr>
              <a:t>39. Visit 55</a:t>
            </a:r>
          </a:p>
        </p:txBody>
      </p:sp>
      <p:cxnSp>
        <p:nvCxnSpPr>
          <p:cNvPr id="115" name="Straight Arrow Connector 114">
            <a:extLst>
              <a:ext uri="{FF2B5EF4-FFF2-40B4-BE49-F238E27FC236}">
                <a16:creationId xmlns:a16="http://schemas.microsoft.com/office/drawing/2014/main" id="{FB99E098-A138-42E9-AA33-06839AD347CB}"/>
              </a:ext>
            </a:extLst>
          </p:cNvPr>
          <p:cNvCxnSpPr/>
          <p:nvPr/>
        </p:nvCxnSpPr>
        <p:spPr>
          <a:xfrm flipH="1" flipV="1">
            <a:off x="7779923" y="2086330"/>
            <a:ext cx="134752" cy="109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DF3DA0B9-5473-4C16-99CD-0B6C098F7206}"/>
              </a:ext>
            </a:extLst>
          </p:cNvPr>
          <p:cNvSpPr txBox="1"/>
          <p:nvPr/>
        </p:nvSpPr>
        <p:spPr>
          <a:xfrm>
            <a:off x="7831636" y="2029694"/>
            <a:ext cx="271228" cy="184666"/>
          </a:xfrm>
          <a:prstGeom prst="rect">
            <a:avLst/>
          </a:prstGeom>
          <a:noFill/>
        </p:spPr>
        <p:txBody>
          <a:bodyPr wrap="square" rtlCol="0">
            <a:spAutoFit/>
          </a:bodyPr>
          <a:lstStyle/>
          <a:p>
            <a:r>
              <a:rPr lang="en-US" sz="600" dirty="0">
                <a:solidFill>
                  <a:srgbClr val="C00000"/>
                </a:solidFill>
              </a:rPr>
              <a:t>40</a:t>
            </a:r>
          </a:p>
        </p:txBody>
      </p:sp>
      <p:sp>
        <p:nvSpPr>
          <p:cNvPr id="121" name="TextBox 120">
            <a:extLst>
              <a:ext uri="{FF2B5EF4-FFF2-40B4-BE49-F238E27FC236}">
                <a16:creationId xmlns:a16="http://schemas.microsoft.com/office/drawing/2014/main" id="{093BCEB3-F7C3-4055-880D-86F2D7A313AA}"/>
              </a:ext>
            </a:extLst>
          </p:cNvPr>
          <p:cNvSpPr txBox="1"/>
          <p:nvPr/>
        </p:nvSpPr>
        <p:spPr>
          <a:xfrm>
            <a:off x="7713430" y="1789426"/>
            <a:ext cx="582211" cy="184666"/>
          </a:xfrm>
          <a:prstGeom prst="rect">
            <a:avLst/>
          </a:prstGeom>
          <a:noFill/>
        </p:spPr>
        <p:txBody>
          <a:bodyPr wrap="none" rtlCol="0">
            <a:spAutoFit/>
          </a:bodyPr>
          <a:lstStyle/>
          <a:p>
            <a:r>
              <a:rPr lang="en-US" sz="600" b="1" dirty="0">
                <a:solidFill>
                  <a:srgbClr val="C00000"/>
                </a:solidFill>
              </a:rPr>
              <a:t>41. Visit 45</a:t>
            </a:r>
          </a:p>
        </p:txBody>
      </p:sp>
      <p:cxnSp>
        <p:nvCxnSpPr>
          <p:cNvPr id="123" name="Straight Arrow Connector 122">
            <a:extLst>
              <a:ext uri="{FF2B5EF4-FFF2-40B4-BE49-F238E27FC236}">
                <a16:creationId xmlns:a16="http://schemas.microsoft.com/office/drawing/2014/main" id="{537415EF-7BA5-4F1B-B1C0-B9D38814962F}"/>
              </a:ext>
            </a:extLst>
          </p:cNvPr>
          <p:cNvCxnSpPr/>
          <p:nvPr/>
        </p:nvCxnSpPr>
        <p:spPr>
          <a:xfrm flipH="1" flipV="1">
            <a:off x="6869591" y="1597058"/>
            <a:ext cx="361011"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F77483AC-6A9B-4C1C-A21E-E2CA760D53A5}"/>
              </a:ext>
            </a:extLst>
          </p:cNvPr>
          <p:cNvSpPr txBox="1"/>
          <p:nvPr/>
        </p:nvSpPr>
        <p:spPr>
          <a:xfrm>
            <a:off x="6906311" y="1472250"/>
            <a:ext cx="271228" cy="184666"/>
          </a:xfrm>
          <a:prstGeom prst="rect">
            <a:avLst/>
          </a:prstGeom>
          <a:noFill/>
        </p:spPr>
        <p:txBody>
          <a:bodyPr wrap="square" rtlCol="0">
            <a:spAutoFit/>
          </a:bodyPr>
          <a:lstStyle/>
          <a:p>
            <a:r>
              <a:rPr lang="en-US" sz="600" dirty="0">
                <a:solidFill>
                  <a:srgbClr val="C00000"/>
                </a:solidFill>
              </a:rPr>
              <a:t>42</a:t>
            </a:r>
          </a:p>
        </p:txBody>
      </p:sp>
      <p:sp>
        <p:nvSpPr>
          <p:cNvPr id="128" name="TextBox 127">
            <a:extLst>
              <a:ext uri="{FF2B5EF4-FFF2-40B4-BE49-F238E27FC236}">
                <a16:creationId xmlns:a16="http://schemas.microsoft.com/office/drawing/2014/main" id="{07470B2A-8AFF-4283-89ED-023256F41681}"/>
              </a:ext>
            </a:extLst>
          </p:cNvPr>
          <p:cNvSpPr txBox="1"/>
          <p:nvPr/>
        </p:nvSpPr>
        <p:spPr>
          <a:xfrm>
            <a:off x="6732400" y="1318342"/>
            <a:ext cx="582211" cy="184666"/>
          </a:xfrm>
          <a:prstGeom prst="rect">
            <a:avLst/>
          </a:prstGeom>
          <a:noFill/>
        </p:spPr>
        <p:txBody>
          <a:bodyPr wrap="none" rtlCol="0">
            <a:spAutoFit/>
          </a:bodyPr>
          <a:lstStyle/>
          <a:p>
            <a:r>
              <a:rPr lang="en-US" sz="600" b="1" dirty="0">
                <a:solidFill>
                  <a:srgbClr val="C00000"/>
                </a:solidFill>
              </a:rPr>
              <a:t>43. Visit 40</a:t>
            </a:r>
          </a:p>
        </p:txBody>
      </p:sp>
    </p:spTree>
    <p:extLst>
      <p:ext uri="{BB962C8B-B14F-4D97-AF65-F5344CB8AC3E}">
        <p14:creationId xmlns:p14="http://schemas.microsoft.com/office/powerpoint/2010/main" val="6523957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49" name="Google Shape;265;p36">
            <a:extLst>
              <a:ext uri="{FF2B5EF4-FFF2-40B4-BE49-F238E27FC236}">
                <a16:creationId xmlns:a16="http://schemas.microsoft.com/office/drawing/2014/main" id="{DE3C2A1C-CC46-4264-9D9E-90758DD17227}"/>
              </a:ext>
            </a:extLst>
          </p:cNvPr>
          <p:cNvPicPr preferRelativeResize="0"/>
          <p:nvPr/>
        </p:nvPicPr>
        <p:blipFill>
          <a:blip r:embed="rId3">
            <a:alphaModFix/>
          </a:blip>
          <a:stretch>
            <a:fillRect/>
          </a:stretch>
        </p:blipFill>
        <p:spPr>
          <a:xfrm>
            <a:off x="7223528" y="139209"/>
            <a:ext cx="1323877" cy="1547814"/>
          </a:xfrm>
          <a:prstGeom prst="rect">
            <a:avLst/>
          </a:prstGeom>
          <a:noFill/>
          <a:ln>
            <a:noFill/>
          </a:ln>
          <a:effectLst>
            <a:outerShdw blurRad="57150" dist="19050" dir="5400000" algn="bl" rotWithShape="0">
              <a:srgbClr val="000000">
                <a:alpha val="50000"/>
              </a:srgbClr>
            </a:outerShdw>
          </a:effectLst>
        </p:spPr>
      </p:pic>
      <p:pic>
        <p:nvPicPr>
          <p:cNvPr id="390" name="Google Shape;390;p41"/>
          <p:cNvPicPr preferRelativeResize="0"/>
          <p:nvPr/>
        </p:nvPicPr>
        <p:blipFill rotWithShape="1">
          <a:blip r:embed="rId4">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5">
            <a:alphaModFix/>
          </a:blip>
          <a:stretch>
            <a:fillRect/>
          </a:stretch>
        </p:blipFill>
        <p:spPr>
          <a:xfrm>
            <a:off x="3183167" y="4282915"/>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2873398" y="494756"/>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None/>
            </a:pPr>
            <a:r>
              <a:rPr lang="en-US" sz="1400" b="1" dirty="0">
                <a:solidFill>
                  <a:srgbClr val="C00000"/>
                </a:solidFill>
                <a:latin typeface="Concert One" panose="020B0604020202020204" charset="0"/>
              </a:rPr>
              <a:t>Traversing the Tree: </a:t>
            </a:r>
            <a:r>
              <a:rPr lang="en-US" sz="1400" b="1" dirty="0" err="1">
                <a:solidFill>
                  <a:srgbClr val="C00000"/>
                </a:solidFill>
                <a:latin typeface="Concert One" panose="020B0604020202020204" charset="0"/>
              </a:rPr>
              <a:t>Postrder</a:t>
            </a:r>
            <a:r>
              <a:rPr lang="en-US" sz="1400" b="1" dirty="0">
                <a:solidFill>
                  <a:srgbClr val="C00000"/>
                </a:solidFill>
                <a:latin typeface="Concert One" panose="020B0604020202020204" charset="0"/>
              </a:rPr>
              <a:t> Traversal</a:t>
            </a:r>
          </a:p>
        </p:txBody>
      </p:sp>
      <p:sp>
        <p:nvSpPr>
          <p:cNvPr id="2" name="TextBox 1">
            <a:extLst>
              <a:ext uri="{FF2B5EF4-FFF2-40B4-BE49-F238E27FC236}">
                <a16:creationId xmlns:a16="http://schemas.microsoft.com/office/drawing/2014/main" id="{AD5394C2-2775-4E67-85F4-2918A5507EF9}"/>
              </a:ext>
            </a:extLst>
          </p:cNvPr>
          <p:cNvSpPr txBox="1"/>
          <p:nvPr/>
        </p:nvSpPr>
        <p:spPr>
          <a:xfrm>
            <a:off x="3355877" y="791446"/>
            <a:ext cx="3244799" cy="261610"/>
          </a:xfrm>
          <a:prstGeom prst="rect">
            <a:avLst/>
          </a:prstGeom>
          <a:noFill/>
        </p:spPr>
        <p:txBody>
          <a:bodyPr wrap="none" rtlCol="0">
            <a:spAutoFit/>
          </a:bodyPr>
          <a:lstStyle/>
          <a:p>
            <a:r>
              <a:rPr lang="en-US" sz="1100" b="0" i="0" dirty="0">
                <a:solidFill>
                  <a:srgbClr val="444444"/>
                </a:solidFill>
                <a:effectLst/>
                <a:latin typeface="Oxygen" panose="020B0604020202020204" pitchFamily="2" charset="0"/>
              </a:rPr>
              <a:t>Input:   { </a:t>
            </a:r>
            <a:r>
              <a:rPr lang="en-US" sz="1100" b="1" i="0" dirty="0">
                <a:solidFill>
                  <a:srgbClr val="444444"/>
                </a:solidFill>
                <a:effectLst/>
                <a:latin typeface="Oxygen" panose="020B0604020202020204" pitchFamily="2" charset="0"/>
              </a:rPr>
              <a:t>40, 4, 34, 45, 14, 55, 48, 13, 15, 49, 47 </a:t>
            </a:r>
            <a:r>
              <a:rPr lang="en-US" sz="1100" b="0" i="0" dirty="0">
                <a:solidFill>
                  <a:srgbClr val="444444"/>
                </a:solidFill>
                <a:effectLst/>
                <a:latin typeface="Oxygen" panose="020B0604020202020204" pitchFamily="2" charset="0"/>
              </a:rPr>
              <a:t>}</a:t>
            </a:r>
            <a:endParaRPr lang="en-US" sz="1100" dirty="0"/>
          </a:p>
        </p:txBody>
      </p:sp>
      <p:sp>
        <p:nvSpPr>
          <p:cNvPr id="3" name="Oval 2">
            <a:extLst>
              <a:ext uri="{FF2B5EF4-FFF2-40B4-BE49-F238E27FC236}">
                <a16:creationId xmlns:a16="http://schemas.microsoft.com/office/drawing/2014/main" id="{8BC2788A-8C79-4CB6-BF7F-E0A0F4D7B13E}"/>
              </a:ext>
            </a:extLst>
          </p:cNvPr>
          <p:cNvSpPr/>
          <p:nvPr/>
        </p:nvSpPr>
        <p:spPr>
          <a:xfrm>
            <a:off x="4442543" y="133057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40</a:t>
            </a:r>
          </a:p>
        </p:txBody>
      </p:sp>
      <p:sp>
        <p:nvSpPr>
          <p:cNvPr id="5" name="Rectangle 4">
            <a:extLst>
              <a:ext uri="{FF2B5EF4-FFF2-40B4-BE49-F238E27FC236}">
                <a16:creationId xmlns:a16="http://schemas.microsoft.com/office/drawing/2014/main" id="{49AF76E1-86A0-46A5-88B9-57649F8F2773}"/>
              </a:ext>
            </a:extLst>
          </p:cNvPr>
          <p:cNvSpPr/>
          <p:nvPr/>
        </p:nvSpPr>
        <p:spPr>
          <a:xfrm>
            <a:off x="2935741" y="1326587"/>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40</a:t>
            </a:r>
          </a:p>
        </p:txBody>
      </p:sp>
      <p:cxnSp>
        <p:nvCxnSpPr>
          <p:cNvPr id="10" name="Straight Arrow Connector 9">
            <a:extLst>
              <a:ext uri="{FF2B5EF4-FFF2-40B4-BE49-F238E27FC236}">
                <a16:creationId xmlns:a16="http://schemas.microsoft.com/office/drawing/2014/main" id="{0E185E4D-61F1-4ED7-8305-35B1C79E91B4}"/>
              </a:ext>
            </a:extLst>
          </p:cNvPr>
          <p:cNvCxnSpPr>
            <a:stCxn id="3" idx="3"/>
          </p:cNvCxnSpPr>
          <p:nvPr/>
        </p:nvCxnSpPr>
        <p:spPr>
          <a:xfrm flipH="1">
            <a:off x="3810503" y="1608769"/>
            <a:ext cx="697279" cy="2188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D0405D29-D7ED-4D6D-8BCA-EDE3AC6E2D04}"/>
              </a:ext>
            </a:extLst>
          </p:cNvPr>
          <p:cNvSpPr/>
          <p:nvPr/>
        </p:nvSpPr>
        <p:spPr>
          <a:xfrm>
            <a:off x="3432267" y="1794407"/>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a:t>
            </a:r>
          </a:p>
        </p:txBody>
      </p:sp>
      <p:sp>
        <p:nvSpPr>
          <p:cNvPr id="15" name="Rectangle 14">
            <a:extLst>
              <a:ext uri="{FF2B5EF4-FFF2-40B4-BE49-F238E27FC236}">
                <a16:creationId xmlns:a16="http://schemas.microsoft.com/office/drawing/2014/main" id="{3B9A044A-AE9B-48B4-9A90-09FAB836C26D}"/>
              </a:ext>
            </a:extLst>
          </p:cNvPr>
          <p:cNvSpPr/>
          <p:nvPr/>
        </p:nvSpPr>
        <p:spPr>
          <a:xfrm>
            <a:off x="2935741" y="1321680"/>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a:t>
            </a:r>
          </a:p>
        </p:txBody>
      </p:sp>
      <p:sp>
        <p:nvSpPr>
          <p:cNvPr id="16" name="Rectangle 15">
            <a:extLst>
              <a:ext uri="{FF2B5EF4-FFF2-40B4-BE49-F238E27FC236}">
                <a16:creationId xmlns:a16="http://schemas.microsoft.com/office/drawing/2014/main" id="{CC0D0930-C07B-4980-91BD-BE9C517CF217}"/>
              </a:ext>
            </a:extLst>
          </p:cNvPr>
          <p:cNvSpPr/>
          <p:nvPr/>
        </p:nvSpPr>
        <p:spPr>
          <a:xfrm>
            <a:off x="2935740" y="1321679"/>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34</a:t>
            </a:r>
          </a:p>
        </p:txBody>
      </p:sp>
      <p:sp>
        <p:nvSpPr>
          <p:cNvPr id="17" name="Oval 16">
            <a:extLst>
              <a:ext uri="{FF2B5EF4-FFF2-40B4-BE49-F238E27FC236}">
                <a16:creationId xmlns:a16="http://schemas.microsoft.com/office/drawing/2014/main" id="{F9BBE720-B219-4261-845F-A37E83B91900}"/>
              </a:ext>
            </a:extLst>
          </p:cNvPr>
          <p:cNvSpPr/>
          <p:nvPr/>
        </p:nvSpPr>
        <p:spPr>
          <a:xfrm>
            <a:off x="4285043" y="2190867"/>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34</a:t>
            </a:r>
          </a:p>
        </p:txBody>
      </p:sp>
      <p:cxnSp>
        <p:nvCxnSpPr>
          <p:cNvPr id="12" name="Straight Arrow Connector 11">
            <a:extLst>
              <a:ext uri="{FF2B5EF4-FFF2-40B4-BE49-F238E27FC236}">
                <a16:creationId xmlns:a16="http://schemas.microsoft.com/office/drawing/2014/main" id="{DF3C4393-0E92-4CDC-A001-6F966E164CDC}"/>
              </a:ext>
            </a:extLst>
          </p:cNvPr>
          <p:cNvCxnSpPr>
            <a:stCxn id="14" idx="6"/>
            <a:endCxn id="17" idx="1"/>
          </p:cNvCxnSpPr>
          <p:nvPr/>
        </p:nvCxnSpPr>
        <p:spPr>
          <a:xfrm>
            <a:off x="3877744" y="1957370"/>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C7FDBB1A-4BD6-40FF-A391-A6CA26BAD592}"/>
              </a:ext>
            </a:extLst>
          </p:cNvPr>
          <p:cNvSpPr/>
          <p:nvPr/>
        </p:nvSpPr>
        <p:spPr>
          <a:xfrm>
            <a:off x="2935739" y="1326125"/>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45</a:t>
            </a:r>
          </a:p>
        </p:txBody>
      </p:sp>
      <p:sp>
        <p:nvSpPr>
          <p:cNvPr id="21" name="Oval 20">
            <a:extLst>
              <a:ext uri="{FF2B5EF4-FFF2-40B4-BE49-F238E27FC236}">
                <a16:creationId xmlns:a16="http://schemas.microsoft.com/office/drawing/2014/main" id="{62426349-93C7-4ECC-A5F9-3048B4203387}"/>
              </a:ext>
            </a:extLst>
          </p:cNvPr>
          <p:cNvSpPr/>
          <p:nvPr/>
        </p:nvSpPr>
        <p:spPr>
          <a:xfrm>
            <a:off x="5277993" y="1779906"/>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45</a:t>
            </a:r>
          </a:p>
        </p:txBody>
      </p:sp>
      <p:cxnSp>
        <p:nvCxnSpPr>
          <p:cNvPr id="22" name="Straight Arrow Connector 21">
            <a:extLst>
              <a:ext uri="{FF2B5EF4-FFF2-40B4-BE49-F238E27FC236}">
                <a16:creationId xmlns:a16="http://schemas.microsoft.com/office/drawing/2014/main" id="{73A91691-CE25-48A6-A159-D0617293EC91}"/>
              </a:ext>
            </a:extLst>
          </p:cNvPr>
          <p:cNvCxnSpPr>
            <a:endCxn id="21" idx="1"/>
          </p:cNvCxnSpPr>
          <p:nvPr/>
        </p:nvCxnSpPr>
        <p:spPr>
          <a:xfrm>
            <a:off x="4870694" y="1546409"/>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470467B5-052F-4223-B254-09C492C1E20A}"/>
              </a:ext>
            </a:extLst>
          </p:cNvPr>
          <p:cNvSpPr/>
          <p:nvPr/>
        </p:nvSpPr>
        <p:spPr>
          <a:xfrm>
            <a:off x="2933856" y="1325663"/>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14</a:t>
            </a:r>
          </a:p>
        </p:txBody>
      </p:sp>
      <p:cxnSp>
        <p:nvCxnSpPr>
          <p:cNvPr id="24" name="Straight Arrow Connector 23">
            <a:extLst>
              <a:ext uri="{FF2B5EF4-FFF2-40B4-BE49-F238E27FC236}">
                <a16:creationId xmlns:a16="http://schemas.microsoft.com/office/drawing/2014/main" id="{A1182170-E3CE-4D4D-9A84-9FFA18BB4E6A}"/>
              </a:ext>
            </a:extLst>
          </p:cNvPr>
          <p:cNvCxnSpPr>
            <a:cxnSpLocks/>
            <a:stCxn id="17" idx="2"/>
          </p:cNvCxnSpPr>
          <p:nvPr/>
        </p:nvCxnSpPr>
        <p:spPr>
          <a:xfrm flipH="1">
            <a:off x="3653005" y="2353830"/>
            <a:ext cx="632038" cy="350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ABA2F04C-4965-4BD2-B570-6FFBC130A215}"/>
              </a:ext>
            </a:extLst>
          </p:cNvPr>
          <p:cNvSpPr/>
          <p:nvPr/>
        </p:nvSpPr>
        <p:spPr>
          <a:xfrm>
            <a:off x="3274767" y="267091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14</a:t>
            </a:r>
          </a:p>
        </p:txBody>
      </p:sp>
      <p:sp>
        <p:nvSpPr>
          <p:cNvPr id="28" name="Oval 27">
            <a:extLst>
              <a:ext uri="{FF2B5EF4-FFF2-40B4-BE49-F238E27FC236}">
                <a16:creationId xmlns:a16="http://schemas.microsoft.com/office/drawing/2014/main" id="{21FF5419-C941-4FB6-BC7C-65D7F5A78FC4}"/>
              </a:ext>
            </a:extLst>
          </p:cNvPr>
          <p:cNvSpPr/>
          <p:nvPr/>
        </p:nvSpPr>
        <p:spPr>
          <a:xfrm>
            <a:off x="6106076" y="2250338"/>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55</a:t>
            </a:r>
          </a:p>
        </p:txBody>
      </p:sp>
      <p:cxnSp>
        <p:nvCxnSpPr>
          <p:cNvPr id="29" name="Straight Arrow Connector 28">
            <a:extLst>
              <a:ext uri="{FF2B5EF4-FFF2-40B4-BE49-F238E27FC236}">
                <a16:creationId xmlns:a16="http://schemas.microsoft.com/office/drawing/2014/main" id="{BD07AF66-E14A-4013-A828-11DBCA6A0300}"/>
              </a:ext>
            </a:extLst>
          </p:cNvPr>
          <p:cNvCxnSpPr>
            <a:endCxn id="28" idx="1"/>
          </p:cNvCxnSpPr>
          <p:nvPr/>
        </p:nvCxnSpPr>
        <p:spPr>
          <a:xfrm>
            <a:off x="5698777" y="2016841"/>
            <a:ext cx="472538" cy="281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AC6F557-3D34-4C04-9CCC-5A44A07DF502}"/>
              </a:ext>
            </a:extLst>
          </p:cNvPr>
          <p:cNvSpPr/>
          <p:nvPr/>
        </p:nvSpPr>
        <p:spPr>
          <a:xfrm>
            <a:off x="2961460" y="1319709"/>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55</a:t>
            </a:r>
          </a:p>
        </p:txBody>
      </p:sp>
      <p:cxnSp>
        <p:nvCxnSpPr>
          <p:cNvPr id="31" name="Straight Arrow Connector 30">
            <a:extLst>
              <a:ext uri="{FF2B5EF4-FFF2-40B4-BE49-F238E27FC236}">
                <a16:creationId xmlns:a16="http://schemas.microsoft.com/office/drawing/2014/main" id="{84F76CA1-1857-439F-84CB-01080D576109}"/>
              </a:ext>
            </a:extLst>
          </p:cNvPr>
          <p:cNvCxnSpPr>
            <a:cxnSpLocks/>
          </p:cNvCxnSpPr>
          <p:nvPr/>
        </p:nvCxnSpPr>
        <p:spPr>
          <a:xfrm flipH="1">
            <a:off x="5769413" y="2522393"/>
            <a:ext cx="365311" cy="217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7612F660-91EB-4D4C-B244-3983A3731A4E}"/>
              </a:ext>
            </a:extLst>
          </p:cNvPr>
          <p:cNvSpPr/>
          <p:nvPr/>
        </p:nvSpPr>
        <p:spPr>
          <a:xfrm>
            <a:off x="5471947" y="274007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48</a:t>
            </a:r>
          </a:p>
        </p:txBody>
      </p:sp>
      <p:sp>
        <p:nvSpPr>
          <p:cNvPr id="33" name="Rectangle 32">
            <a:extLst>
              <a:ext uri="{FF2B5EF4-FFF2-40B4-BE49-F238E27FC236}">
                <a16:creationId xmlns:a16="http://schemas.microsoft.com/office/drawing/2014/main" id="{3717BB00-94F2-4361-95D2-DB62D161F75C}"/>
              </a:ext>
            </a:extLst>
          </p:cNvPr>
          <p:cNvSpPr/>
          <p:nvPr/>
        </p:nvSpPr>
        <p:spPr>
          <a:xfrm>
            <a:off x="2918506" y="1319708"/>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48</a:t>
            </a:r>
          </a:p>
        </p:txBody>
      </p:sp>
      <p:cxnSp>
        <p:nvCxnSpPr>
          <p:cNvPr id="34" name="Straight Arrow Connector 33">
            <a:extLst>
              <a:ext uri="{FF2B5EF4-FFF2-40B4-BE49-F238E27FC236}">
                <a16:creationId xmlns:a16="http://schemas.microsoft.com/office/drawing/2014/main" id="{E761BC1E-C9D9-435A-AEE0-F63F8A34A8DE}"/>
              </a:ext>
            </a:extLst>
          </p:cNvPr>
          <p:cNvCxnSpPr>
            <a:cxnSpLocks/>
          </p:cNvCxnSpPr>
          <p:nvPr/>
        </p:nvCxnSpPr>
        <p:spPr>
          <a:xfrm flipH="1">
            <a:off x="2988494" y="2969588"/>
            <a:ext cx="393916" cy="344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AF0C108D-80CC-4A23-BE87-DF5D42D4AF2E}"/>
              </a:ext>
            </a:extLst>
          </p:cNvPr>
          <p:cNvSpPr/>
          <p:nvPr/>
        </p:nvSpPr>
        <p:spPr>
          <a:xfrm>
            <a:off x="2650660" y="331392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13</a:t>
            </a:r>
          </a:p>
        </p:txBody>
      </p:sp>
      <p:sp>
        <p:nvSpPr>
          <p:cNvPr id="36" name="Rectangle 35">
            <a:extLst>
              <a:ext uri="{FF2B5EF4-FFF2-40B4-BE49-F238E27FC236}">
                <a16:creationId xmlns:a16="http://schemas.microsoft.com/office/drawing/2014/main" id="{237B590B-034A-4A4E-8B35-411FBE015910}"/>
              </a:ext>
            </a:extLst>
          </p:cNvPr>
          <p:cNvSpPr/>
          <p:nvPr/>
        </p:nvSpPr>
        <p:spPr>
          <a:xfrm>
            <a:off x="2936594" y="131369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13</a:t>
            </a:r>
          </a:p>
        </p:txBody>
      </p:sp>
      <p:sp>
        <p:nvSpPr>
          <p:cNvPr id="39" name="Oval 38">
            <a:extLst>
              <a:ext uri="{FF2B5EF4-FFF2-40B4-BE49-F238E27FC236}">
                <a16:creationId xmlns:a16="http://schemas.microsoft.com/office/drawing/2014/main" id="{CB4DF653-3CCA-4493-A2DE-D85C7DCDB425}"/>
              </a:ext>
            </a:extLst>
          </p:cNvPr>
          <p:cNvSpPr/>
          <p:nvPr/>
        </p:nvSpPr>
        <p:spPr>
          <a:xfrm>
            <a:off x="3839566" y="3298189"/>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15</a:t>
            </a:r>
          </a:p>
        </p:txBody>
      </p:sp>
      <p:cxnSp>
        <p:nvCxnSpPr>
          <p:cNvPr id="40" name="Straight Arrow Connector 39">
            <a:extLst>
              <a:ext uri="{FF2B5EF4-FFF2-40B4-BE49-F238E27FC236}">
                <a16:creationId xmlns:a16="http://schemas.microsoft.com/office/drawing/2014/main" id="{6E47E0B8-65C2-4267-A8DA-C51B52B2E40E}"/>
              </a:ext>
            </a:extLst>
          </p:cNvPr>
          <p:cNvCxnSpPr>
            <a:cxnSpLocks/>
          </p:cNvCxnSpPr>
          <p:nvPr/>
        </p:nvCxnSpPr>
        <p:spPr>
          <a:xfrm>
            <a:off x="3639269" y="2971396"/>
            <a:ext cx="282100" cy="341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C3CD75A6-5355-49EB-BD8F-17BD53F401F8}"/>
              </a:ext>
            </a:extLst>
          </p:cNvPr>
          <p:cNvSpPr/>
          <p:nvPr/>
        </p:nvSpPr>
        <p:spPr>
          <a:xfrm>
            <a:off x="2931276" y="1320167"/>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15</a:t>
            </a:r>
          </a:p>
        </p:txBody>
      </p:sp>
      <p:sp>
        <p:nvSpPr>
          <p:cNvPr id="43" name="Oval 42">
            <a:extLst>
              <a:ext uri="{FF2B5EF4-FFF2-40B4-BE49-F238E27FC236}">
                <a16:creationId xmlns:a16="http://schemas.microsoft.com/office/drawing/2014/main" id="{7CE9492D-142E-4FB2-AE4A-E0B52F0348DB}"/>
              </a:ext>
            </a:extLst>
          </p:cNvPr>
          <p:cNvSpPr/>
          <p:nvPr/>
        </p:nvSpPr>
        <p:spPr>
          <a:xfrm>
            <a:off x="6106075" y="3301055"/>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49</a:t>
            </a:r>
          </a:p>
        </p:txBody>
      </p:sp>
      <p:cxnSp>
        <p:nvCxnSpPr>
          <p:cNvPr id="44" name="Straight Arrow Connector 43">
            <a:extLst>
              <a:ext uri="{FF2B5EF4-FFF2-40B4-BE49-F238E27FC236}">
                <a16:creationId xmlns:a16="http://schemas.microsoft.com/office/drawing/2014/main" id="{5C713234-0596-4BAA-B96D-C3F5C3FF6C4A}"/>
              </a:ext>
            </a:extLst>
          </p:cNvPr>
          <p:cNvCxnSpPr>
            <a:cxnSpLocks/>
          </p:cNvCxnSpPr>
          <p:nvPr/>
        </p:nvCxnSpPr>
        <p:spPr>
          <a:xfrm>
            <a:off x="5916433" y="3018269"/>
            <a:ext cx="269842" cy="294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018489B8-14E6-4ED6-81A5-B7C4695A867A}"/>
              </a:ext>
            </a:extLst>
          </p:cNvPr>
          <p:cNvSpPr/>
          <p:nvPr/>
        </p:nvSpPr>
        <p:spPr>
          <a:xfrm>
            <a:off x="2931276" y="132016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49</a:t>
            </a:r>
          </a:p>
        </p:txBody>
      </p:sp>
      <p:cxnSp>
        <p:nvCxnSpPr>
          <p:cNvPr id="46" name="Straight Arrow Connector 45">
            <a:extLst>
              <a:ext uri="{FF2B5EF4-FFF2-40B4-BE49-F238E27FC236}">
                <a16:creationId xmlns:a16="http://schemas.microsoft.com/office/drawing/2014/main" id="{C18128DF-E12F-4503-B29C-F74AD98AD6CE}"/>
              </a:ext>
            </a:extLst>
          </p:cNvPr>
          <p:cNvCxnSpPr>
            <a:cxnSpLocks/>
          </p:cNvCxnSpPr>
          <p:nvPr/>
        </p:nvCxnSpPr>
        <p:spPr>
          <a:xfrm flipH="1">
            <a:off x="5200431" y="3019888"/>
            <a:ext cx="271516" cy="276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6787364-26DE-46E5-AFF5-FADFFCAF13AB}"/>
              </a:ext>
            </a:extLst>
          </p:cNvPr>
          <p:cNvSpPr/>
          <p:nvPr/>
        </p:nvSpPr>
        <p:spPr>
          <a:xfrm>
            <a:off x="4855345" y="3303520"/>
            <a:ext cx="445477" cy="325925"/>
          </a:xfrm>
          <a:prstGeom prst="ellips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900" b="1" dirty="0">
                <a:solidFill>
                  <a:srgbClr val="F8F8F8"/>
                </a:solidFill>
              </a:rPr>
              <a:t>47</a:t>
            </a:r>
          </a:p>
        </p:txBody>
      </p:sp>
      <p:sp>
        <p:nvSpPr>
          <p:cNvPr id="48" name="Rectangle 47">
            <a:extLst>
              <a:ext uri="{FF2B5EF4-FFF2-40B4-BE49-F238E27FC236}">
                <a16:creationId xmlns:a16="http://schemas.microsoft.com/office/drawing/2014/main" id="{7D7FAC09-7FE6-4253-95DF-59F7A6AD9A5B}"/>
              </a:ext>
            </a:extLst>
          </p:cNvPr>
          <p:cNvSpPr/>
          <p:nvPr/>
        </p:nvSpPr>
        <p:spPr>
          <a:xfrm>
            <a:off x="2937626" y="1307276"/>
            <a:ext cx="768751" cy="246339"/>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b="1" dirty="0">
                <a:solidFill>
                  <a:srgbClr val="F8F8F8"/>
                </a:solidFill>
                <a:latin typeface="Oxygen" panose="02000503000000000000" pitchFamily="2" charset="0"/>
              </a:rPr>
              <a:t>Input: 47</a:t>
            </a:r>
          </a:p>
        </p:txBody>
      </p:sp>
      <p:sp>
        <p:nvSpPr>
          <p:cNvPr id="42" name="TextBox 41">
            <a:extLst>
              <a:ext uri="{FF2B5EF4-FFF2-40B4-BE49-F238E27FC236}">
                <a16:creationId xmlns:a16="http://schemas.microsoft.com/office/drawing/2014/main" id="{B6D6DC4D-43BE-4F01-B3D7-5B3FB760AD92}"/>
              </a:ext>
            </a:extLst>
          </p:cNvPr>
          <p:cNvSpPr txBox="1"/>
          <p:nvPr/>
        </p:nvSpPr>
        <p:spPr>
          <a:xfrm>
            <a:off x="7287840" y="618819"/>
            <a:ext cx="1193131" cy="954107"/>
          </a:xfrm>
          <a:prstGeom prst="rect">
            <a:avLst/>
          </a:prstGeom>
          <a:noFill/>
        </p:spPr>
        <p:txBody>
          <a:bodyPr wrap="square">
            <a:spAutoFit/>
          </a:bodyPr>
          <a:lstStyle/>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1. Call itself to traverse the node’s left subtree.</a:t>
            </a:r>
          </a:p>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2. Call itself to traverse the node’s right subtree.</a:t>
            </a:r>
          </a:p>
          <a:p>
            <a:pPr marL="0" lvl="0" indent="0" algn="l" rtl="0">
              <a:spcBef>
                <a:spcPts val="0"/>
              </a:spcBef>
              <a:spcAft>
                <a:spcPts val="0"/>
              </a:spcAft>
              <a:buClr>
                <a:schemeClr val="dk1"/>
              </a:buClr>
              <a:buSzPts val="1100"/>
              <a:buFont typeface="Arial"/>
              <a:buNone/>
            </a:pPr>
            <a:r>
              <a:rPr lang="en-US" sz="800" dirty="0">
                <a:solidFill>
                  <a:srgbClr val="C00000"/>
                </a:solidFill>
                <a:latin typeface="Oxygen" panose="02000503000000000000" pitchFamily="2" charset="0"/>
              </a:rPr>
              <a:t>3. Visit the node.</a:t>
            </a:r>
          </a:p>
        </p:txBody>
      </p:sp>
      <p:cxnSp>
        <p:nvCxnSpPr>
          <p:cNvPr id="9" name="Straight Arrow Connector 8">
            <a:extLst>
              <a:ext uri="{FF2B5EF4-FFF2-40B4-BE49-F238E27FC236}">
                <a16:creationId xmlns:a16="http://schemas.microsoft.com/office/drawing/2014/main" id="{35BA4140-26A1-435C-A8F1-C1C297467EEB}"/>
              </a:ext>
            </a:extLst>
          </p:cNvPr>
          <p:cNvCxnSpPr/>
          <p:nvPr/>
        </p:nvCxnSpPr>
        <p:spPr>
          <a:xfrm flipH="1">
            <a:off x="3921369" y="1572926"/>
            <a:ext cx="428913" cy="1452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94F2E05D-A3C0-422E-BC04-D8CC69E860A6}"/>
              </a:ext>
            </a:extLst>
          </p:cNvPr>
          <p:cNvSpPr txBox="1"/>
          <p:nvPr/>
        </p:nvSpPr>
        <p:spPr>
          <a:xfrm>
            <a:off x="3904134" y="1511330"/>
            <a:ext cx="224044" cy="206873"/>
          </a:xfrm>
          <a:prstGeom prst="rect">
            <a:avLst/>
          </a:prstGeom>
          <a:noFill/>
        </p:spPr>
        <p:txBody>
          <a:bodyPr wrap="square" rtlCol="0">
            <a:spAutoFit/>
          </a:bodyPr>
          <a:lstStyle/>
          <a:p>
            <a:r>
              <a:rPr lang="en-US" sz="700" dirty="0"/>
              <a:t>1</a:t>
            </a:r>
          </a:p>
        </p:txBody>
      </p:sp>
      <p:cxnSp>
        <p:nvCxnSpPr>
          <p:cNvPr id="51" name="Straight Arrow Connector 50">
            <a:extLst>
              <a:ext uri="{FF2B5EF4-FFF2-40B4-BE49-F238E27FC236}">
                <a16:creationId xmlns:a16="http://schemas.microsoft.com/office/drawing/2014/main" id="{3602E1E5-4657-45DD-9491-9FE3531D3622}"/>
              </a:ext>
            </a:extLst>
          </p:cNvPr>
          <p:cNvCxnSpPr/>
          <p:nvPr/>
        </p:nvCxnSpPr>
        <p:spPr>
          <a:xfrm flipH="1">
            <a:off x="2976358" y="2031559"/>
            <a:ext cx="428913" cy="14527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2" name="TextBox 51">
            <a:extLst>
              <a:ext uri="{FF2B5EF4-FFF2-40B4-BE49-F238E27FC236}">
                <a16:creationId xmlns:a16="http://schemas.microsoft.com/office/drawing/2014/main" id="{1298F68F-4892-44CD-A323-F52FFBF617D4}"/>
              </a:ext>
            </a:extLst>
          </p:cNvPr>
          <p:cNvSpPr txBox="1"/>
          <p:nvPr/>
        </p:nvSpPr>
        <p:spPr>
          <a:xfrm>
            <a:off x="2959123" y="1969963"/>
            <a:ext cx="224044" cy="206873"/>
          </a:xfrm>
          <a:prstGeom prst="rect">
            <a:avLst/>
          </a:prstGeom>
          <a:noFill/>
        </p:spPr>
        <p:txBody>
          <a:bodyPr wrap="square" rtlCol="0">
            <a:spAutoFit/>
          </a:bodyPr>
          <a:lstStyle/>
          <a:p>
            <a:r>
              <a:rPr lang="en-US" sz="700" dirty="0"/>
              <a:t>2</a:t>
            </a:r>
          </a:p>
        </p:txBody>
      </p:sp>
      <p:sp>
        <p:nvSpPr>
          <p:cNvPr id="53" name="TextBox 52">
            <a:extLst>
              <a:ext uri="{FF2B5EF4-FFF2-40B4-BE49-F238E27FC236}">
                <a16:creationId xmlns:a16="http://schemas.microsoft.com/office/drawing/2014/main" id="{C4784FD4-0291-48D0-BDBC-E7F923B6FD24}"/>
              </a:ext>
            </a:extLst>
          </p:cNvPr>
          <p:cNvSpPr txBox="1"/>
          <p:nvPr/>
        </p:nvSpPr>
        <p:spPr>
          <a:xfrm>
            <a:off x="3318374" y="2092796"/>
            <a:ext cx="630411" cy="200055"/>
          </a:xfrm>
          <a:prstGeom prst="rect">
            <a:avLst/>
          </a:prstGeom>
          <a:noFill/>
        </p:spPr>
        <p:txBody>
          <a:bodyPr wrap="square" rtlCol="0">
            <a:spAutoFit/>
          </a:bodyPr>
          <a:lstStyle/>
          <a:p>
            <a:r>
              <a:rPr lang="en-US" sz="700" b="1" dirty="0"/>
              <a:t>20. Visit 4</a:t>
            </a:r>
          </a:p>
        </p:txBody>
      </p:sp>
      <p:sp>
        <p:nvSpPr>
          <p:cNvPr id="54" name="TextBox 53">
            <a:extLst>
              <a:ext uri="{FF2B5EF4-FFF2-40B4-BE49-F238E27FC236}">
                <a16:creationId xmlns:a16="http://schemas.microsoft.com/office/drawing/2014/main" id="{E28DC53E-FF81-47F1-8E3A-D67643D01DE7}"/>
              </a:ext>
            </a:extLst>
          </p:cNvPr>
          <p:cNvSpPr txBox="1"/>
          <p:nvPr/>
        </p:nvSpPr>
        <p:spPr>
          <a:xfrm>
            <a:off x="2822585" y="4538408"/>
            <a:ext cx="3228769" cy="523220"/>
          </a:xfrm>
          <a:prstGeom prst="rect">
            <a:avLst/>
          </a:prstGeom>
          <a:noFill/>
        </p:spPr>
        <p:txBody>
          <a:bodyPr wrap="none" rtlCol="0">
            <a:spAutoFit/>
          </a:bodyPr>
          <a:lstStyle/>
          <a:p>
            <a:r>
              <a:rPr lang="en-US" b="0" i="0" dirty="0">
                <a:solidFill>
                  <a:srgbClr val="F8F8F8"/>
                </a:solidFill>
                <a:effectLst/>
                <a:latin typeface="Oxygen" panose="02000503000000000000" pitchFamily="2" charset="0"/>
              </a:rPr>
              <a:t>Output:</a:t>
            </a:r>
          </a:p>
          <a:p>
            <a:r>
              <a:rPr lang="en-US" b="1" i="0" dirty="0">
                <a:solidFill>
                  <a:srgbClr val="F8F8F8"/>
                </a:solidFill>
                <a:effectLst/>
                <a:latin typeface="Oxygen" panose="02000503000000000000" pitchFamily="2" charset="0"/>
              </a:rPr>
              <a:t>13, 15, 14, 34, 4, 47, 49, 48, 55, 45, 40</a:t>
            </a:r>
          </a:p>
        </p:txBody>
      </p:sp>
      <p:cxnSp>
        <p:nvCxnSpPr>
          <p:cNvPr id="18" name="Straight Arrow Connector 17">
            <a:extLst>
              <a:ext uri="{FF2B5EF4-FFF2-40B4-BE49-F238E27FC236}">
                <a16:creationId xmlns:a16="http://schemas.microsoft.com/office/drawing/2014/main" id="{0AFDB025-F749-433A-B723-ACFC55B248F2}"/>
              </a:ext>
            </a:extLst>
          </p:cNvPr>
          <p:cNvCxnSpPr/>
          <p:nvPr/>
        </p:nvCxnSpPr>
        <p:spPr>
          <a:xfrm>
            <a:off x="3904134" y="2073399"/>
            <a:ext cx="298589" cy="16519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6" name="TextBox 55">
            <a:extLst>
              <a:ext uri="{FF2B5EF4-FFF2-40B4-BE49-F238E27FC236}">
                <a16:creationId xmlns:a16="http://schemas.microsoft.com/office/drawing/2014/main" id="{15F2BD2D-29F7-4B24-A454-71EF3540BB0E}"/>
              </a:ext>
            </a:extLst>
          </p:cNvPr>
          <p:cNvSpPr txBox="1"/>
          <p:nvPr/>
        </p:nvSpPr>
        <p:spPr>
          <a:xfrm>
            <a:off x="3928568" y="2135161"/>
            <a:ext cx="224044" cy="206873"/>
          </a:xfrm>
          <a:prstGeom prst="rect">
            <a:avLst/>
          </a:prstGeom>
          <a:noFill/>
        </p:spPr>
        <p:txBody>
          <a:bodyPr wrap="square" rtlCol="0">
            <a:spAutoFit/>
          </a:bodyPr>
          <a:lstStyle/>
          <a:p>
            <a:r>
              <a:rPr lang="en-US" sz="700" dirty="0"/>
              <a:t>3</a:t>
            </a:r>
          </a:p>
        </p:txBody>
      </p:sp>
      <p:cxnSp>
        <p:nvCxnSpPr>
          <p:cNvPr id="57" name="Straight Arrow Connector 56">
            <a:extLst>
              <a:ext uri="{FF2B5EF4-FFF2-40B4-BE49-F238E27FC236}">
                <a16:creationId xmlns:a16="http://schemas.microsoft.com/office/drawing/2014/main" id="{69788271-5B64-4191-B9BB-F9926BB20175}"/>
              </a:ext>
            </a:extLst>
          </p:cNvPr>
          <p:cNvCxnSpPr>
            <a:cxnSpLocks/>
          </p:cNvCxnSpPr>
          <p:nvPr/>
        </p:nvCxnSpPr>
        <p:spPr>
          <a:xfrm flipH="1">
            <a:off x="3720244" y="2329297"/>
            <a:ext cx="471968" cy="26725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8" name="TextBox 57">
            <a:extLst>
              <a:ext uri="{FF2B5EF4-FFF2-40B4-BE49-F238E27FC236}">
                <a16:creationId xmlns:a16="http://schemas.microsoft.com/office/drawing/2014/main" id="{165926BA-98D0-46D1-8D8D-90AC42523979}"/>
              </a:ext>
            </a:extLst>
          </p:cNvPr>
          <p:cNvSpPr txBox="1"/>
          <p:nvPr/>
        </p:nvSpPr>
        <p:spPr>
          <a:xfrm>
            <a:off x="3687257" y="2387389"/>
            <a:ext cx="224044" cy="206873"/>
          </a:xfrm>
          <a:prstGeom prst="rect">
            <a:avLst/>
          </a:prstGeom>
          <a:noFill/>
        </p:spPr>
        <p:txBody>
          <a:bodyPr wrap="square" rtlCol="0">
            <a:spAutoFit/>
          </a:bodyPr>
          <a:lstStyle/>
          <a:p>
            <a:r>
              <a:rPr lang="en-US" sz="700" dirty="0"/>
              <a:t>4</a:t>
            </a:r>
          </a:p>
        </p:txBody>
      </p:sp>
      <p:cxnSp>
        <p:nvCxnSpPr>
          <p:cNvPr id="59" name="Straight Arrow Connector 58">
            <a:extLst>
              <a:ext uri="{FF2B5EF4-FFF2-40B4-BE49-F238E27FC236}">
                <a16:creationId xmlns:a16="http://schemas.microsoft.com/office/drawing/2014/main" id="{25C0171D-2403-4C0E-8772-75DCA9DD81C0}"/>
              </a:ext>
            </a:extLst>
          </p:cNvPr>
          <p:cNvCxnSpPr>
            <a:cxnSpLocks/>
          </p:cNvCxnSpPr>
          <p:nvPr/>
        </p:nvCxnSpPr>
        <p:spPr>
          <a:xfrm flipH="1">
            <a:off x="3014995" y="2969588"/>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0" name="TextBox 59">
            <a:extLst>
              <a:ext uri="{FF2B5EF4-FFF2-40B4-BE49-F238E27FC236}">
                <a16:creationId xmlns:a16="http://schemas.microsoft.com/office/drawing/2014/main" id="{9C4D98AC-744C-453F-BFD3-3F6ED7EA9CD4}"/>
              </a:ext>
            </a:extLst>
          </p:cNvPr>
          <p:cNvSpPr txBox="1"/>
          <p:nvPr/>
        </p:nvSpPr>
        <p:spPr>
          <a:xfrm>
            <a:off x="2957531" y="2951213"/>
            <a:ext cx="224044" cy="206873"/>
          </a:xfrm>
          <a:prstGeom prst="rect">
            <a:avLst/>
          </a:prstGeom>
          <a:noFill/>
        </p:spPr>
        <p:txBody>
          <a:bodyPr wrap="square" rtlCol="0">
            <a:spAutoFit/>
          </a:bodyPr>
          <a:lstStyle/>
          <a:p>
            <a:r>
              <a:rPr lang="en-US" sz="700" dirty="0"/>
              <a:t>5</a:t>
            </a:r>
          </a:p>
        </p:txBody>
      </p:sp>
      <p:cxnSp>
        <p:nvCxnSpPr>
          <p:cNvPr id="62" name="Straight Arrow Connector 61">
            <a:extLst>
              <a:ext uri="{FF2B5EF4-FFF2-40B4-BE49-F238E27FC236}">
                <a16:creationId xmlns:a16="http://schemas.microsoft.com/office/drawing/2014/main" id="{326D7679-5A49-4E86-B8F0-3749CD550C59}"/>
              </a:ext>
            </a:extLst>
          </p:cNvPr>
          <p:cNvCxnSpPr>
            <a:cxnSpLocks/>
          </p:cNvCxnSpPr>
          <p:nvPr/>
        </p:nvCxnSpPr>
        <p:spPr>
          <a:xfrm flipH="1">
            <a:off x="2424367" y="3624114"/>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3" name="TextBox 62">
            <a:extLst>
              <a:ext uri="{FF2B5EF4-FFF2-40B4-BE49-F238E27FC236}">
                <a16:creationId xmlns:a16="http://schemas.microsoft.com/office/drawing/2014/main" id="{F6E1BA79-2C83-4EB1-AF36-2A758868A2BA}"/>
              </a:ext>
            </a:extLst>
          </p:cNvPr>
          <p:cNvSpPr txBox="1"/>
          <p:nvPr/>
        </p:nvSpPr>
        <p:spPr>
          <a:xfrm>
            <a:off x="2366903" y="3605739"/>
            <a:ext cx="224044" cy="206873"/>
          </a:xfrm>
          <a:prstGeom prst="rect">
            <a:avLst/>
          </a:prstGeom>
          <a:noFill/>
        </p:spPr>
        <p:txBody>
          <a:bodyPr wrap="square" rtlCol="0">
            <a:spAutoFit/>
          </a:bodyPr>
          <a:lstStyle/>
          <a:p>
            <a:r>
              <a:rPr lang="en-US" sz="700" dirty="0"/>
              <a:t>6</a:t>
            </a:r>
          </a:p>
        </p:txBody>
      </p:sp>
      <p:sp>
        <p:nvSpPr>
          <p:cNvPr id="66" name="TextBox 65">
            <a:extLst>
              <a:ext uri="{FF2B5EF4-FFF2-40B4-BE49-F238E27FC236}">
                <a16:creationId xmlns:a16="http://schemas.microsoft.com/office/drawing/2014/main" id="{CB3BB76B-1CAE-46C4-9707-33CB82E3D63B}"/>
              </a:ext>
            </a:extLst>
          </p:cNvPr>
          <p:cNvSpPr txBox="1"/>
          <p:nvPr/>
        </p:nvSpPr>
        <p:spPr>
          <a:xfrm>
            <a:off x="2597529" y="3818731"/>
            <a:ext cx="626431" cy="200055"/>
          </a:xfrm>
          <a:prstGeom prst="rect">
            <a:avLst/>
          </a:prstGeom>
          <a:noFill/>
        </p:spPr>
        <p:txBody>
          <a:bodyPr wrap="square" rtlCol="0">
            <a:spAutoFit/>
          </a:bodyPr>
          <a:lstStyle/>
          <a:p>
            <a:r>
              <a:rPr lang="en-US" sz="700" b="1" dirty="0"/>
              <a:t>8. Visit 13</a:t>
            </a:r>
          </a:p>
        </p:txBody>
      </p:sp>
      <p:cxnSp>
        <p:nvCxnSpPr>
          <p:cNvPr id="67" name="Straight Arrow Connector 66">
            <a:extLst>
              <a:ext uri="{FF2B5EF4-FFF2-40B4-BE49-F238E27FC236}">
                <a16:creationId xmlns:a16="http://schemas.microsoft.com/office/drawing/2014/main" id="{7D8D4E41-98C8-44A6-838E-840C359A8F92}"/>
              </a:ext>
            </a:extLst>
          </p:cNvPr>
          <p:cNvCxnSpPr>
            <a:cxnSpLocks/>
          </p:cNvCxnSpPr>
          <p:nvPr/>
        </p:nvCxnSpPr>
        <p:spPr>
          <a:xfrm>
            <a:off x="3063095" y="3593112"/>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68" name="TextBox 67">
            <a:extLst>
              <a:ext uri="{FF2B5EF4-FFF2-40B4-BE49-F238E27FC236}">
                <a16:creationId xmlns:a16="http://schemas.microsoft.com/office/drawing/2014/main" id="{D2FDEF50-4B4B-464A-B1F9-BE3E8442AE1A}"/>
              </a:ext>
            </a:extLst>
          </p:cNvPr>
          <p:cNvSpPr txBox="1"/>
          <p:nvPr/>
        </p:nvSpPr>
        <p:spPr>
          <a:xfrm>
            <a:off x="3101811" y="3725590"/>
            <a:ext cx="224044" cy="206873"/>
          </a:xfrm>
          <a:prstGeom prst="rect">
            <a:avLst/>
          </a:prstGeom>
          <a:noFill/>
        </p:spPr>
        <p:txBody>
          <a:bodyPr wrap="square" rtlCol="0">
            <a:spAutoFit/>
          </a:bodyPr>
          <a:lstStyle/>
          <a:p>
            <a:r>
              <a:rPr lang="en-US" sz="700" dirty="0"/>
              <a:t>7</a:t>
            </a:r>
          </a:p>
        </p:txBody>
      </p:sp>
      <p:cxnSp>
        <p:nvCxnSpPr>
          <p:cNvPr id="69" name="Straight Arrow Connector 68">
            <a:extLst>
              <a:ext uri="{FF2B5EF4-FFF2-40B4-BE49-F238E27FC236}">
                <a16:creationId xmlns:a16="http://schemas.microsoft.com/office/drawing/2014/main" id="{A107F228-7E11-4D37-ACE9-22755440D910}"/>
              </a:ext>
            </a:extLst>
          </p:cNvPr>
          <p:cNvCxnSpPr/>
          <p:nvPr/>
        </p:nvCxnSpPr>
        <p:spPr>
          <a:xfrm flipV="1">
            <a:off x="3114526" y="3053108"/>
            <a:ext cx="309134" cy="2903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2" name="TextBox 71">
            <a:extLst>
              <a:ext uri="{FF2B5EF4-FFF2-40B4-BE49-F238E27FC236}">
                <a16:creationId xmlns:a16="http://schemas.microsoft.com/office/drawing/2014/main" id="{1F37A8A3-1525-44B0-BFB5-8AB9F42FDC51}"/>
              </a:ext>
            </a:extLst>
          </p:cNvPr>
          <p:cNvSpPr txBox="1"/>
          <p:nvPr/>
        </p:nvSpPr>
        <p:spPr>
          <a:xfrm>
            <a:off x="3257896" y="3105620"/>
            <a:ext cx="301843" cy="200055"/>
          </a:xfrm>
          <a:prstGeom prst="rect">
            <a:avLst/>
          </a:prstGeom>
          <a:noFill/>
        </p:spPr>
        <p:txBody>
          <a:bodyPr wrap="square" rtlCol="0">
            <a:spAutoFit/>
          </a:bodyPr>
          <a:lstStyle/>
          <a:p>
            <a:r>
              <a:rPr lang="en-US" sz="700" dirty="0"/>
              <a:t>9</a:t>
            </a:r>
          </a:p>
        </p:txBody>
      </p:sp>
      <p:sp>
        <p:nvSpPr>
          <p:cNvPr id="73" name="TextBox 72">
            <a:extLst>
              <a:ext uri="{FF2B5EF4-FFF2-40B4-BE49-F238E27FC236}">
                <a16:creationId xmlns:a16="http://schemas.microsoft.com/office/drawing/2014/main" id="{3D29304F-F965-4325-9D58-6B2D2933AB9B}"/>
              </a:ext>
            </a:extLst>
          </p:cNvPr>
          <p:cNvSpPr txBox="1"/>
          <p:nvPr/>
        </p:nvSpPr>
        <p:spPr>
          <a:xfrm>
            <a:off x="3679074" y="2774235"/>
            <a:ext cx="686781" cy="200055"/>
          </a:xfrm>
          <a:prstGeom prst="rect">
            <a:avLst/>
          </a:prstGeom>
          <a:noFill/>
        </p:spPr>
        <p:txBody>
          <a:bodyPr wrap="square" rtlCol="0">
            <a:spAutoFit/>
          </a:bodyPr>
          <a:lstStyle/>
          <a:p>
            <a:r>
              <a:rPr lang="en-US" sz="700" b="1" dirty="0"/>
              <a:t>15. Visit 14</a:t>
            </a:r>
          </a:p>
        </p:txBody>
      </p:sp>
      <p:cxnSp>
        <p:nvCxnSpPr>
          <p:cNvPr id="74" name="Straight Arrow Connector 73">
            <a:extLst>
              <a:ext uri="{FF2B5EF4-FFF2-40B4-BE49-F238E27FC236}">
                <a16:creationId xmlns:a16="http://schemas.microsoft.com/office/drawing/2014/main" id="{1786F0BE-3563-4C36-9D79-D515B8151F04}"/>
              </a:ext>
            </a:extLst>
          </p:cNvPr>
          <p:cNvCxnSpPr>
            <a:cxnSpLocks/>
          </p:cNvCxnSpPr>
          <p:nvPr/>
        </p:nvCxnSpPr>
        <p:spPr>
          <a:xfrm>
            <a:off x="3613099" y="3029424"/>
            <a:ext cx="184087" cy="2291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5" name="TextBox 74">
            <a:extLst>
              <a:ext uri="{FF2B5EF4-FFF2-40B4-BE49-F238E27FC236}">
                <a16:creationId xmlns:a16="http://schemas.microsoft.com/office/drawing/2014/main" id="{C86E252B-3ABD-4C27-957F-B617FA39A1C3}"/>
              </a:ext>
            </a:extLst>
          </p:cNvPr>
          <p:cNvSpPr txBox="1"/>
          <p:nvPr/>
        </p:nvSpPr>
        <p:spPr>
          <a:xfrm>
            <a:off x="3499636" y="3084377"/>
            <a:ext cx="299235" cy="200055"/>
          </a:xfrm>
          <a:prstGeom prst="rect">
            <a:avLst/>
          </a:prstGeom>
          <a:noFill/>
        </p:spPr>
        <p:txBody>
          <a:bodyPr wrap="square" rtlCol="0">
            <a:spAutoFit/>
          </a:bodyPr>
          <a:lstStyle/>
          <a:p>
            <a:r>
              <a:rPr lang="en-US" sz="700" dirty="0"/>
              <a:t>10</a:t>
            </a:r>
          </a:p>
        </p:txBody>
      </p:sp>
      <p:cxnSp>
        <p:nvCxnSpPr>
          <p:cNvPr id="78" name="Straight Arrow Connector 77">
            <a:extLst>
              <a:ext uri="{FF2B5EF4-FFF2-40B4-BE49-F238E27FC236}">
                <a16:creationId xmlns:a16="http://schemas.microsoft.com/office/drawing/2014/main" id="{4952369D-3D6E-40C2-9801-44F200378EC0}"/>
              </a:ext>
            </a:extLst>
          </p:cNvPr>
          <p:cNvCxnSpPr>
            <a:cxnSpLocks/>
          </p:cNvCxnSpPr>
          <p:nvPr/>
        </p:nvCxnSpPr>
        <p:spPr>
          <a:xfrm flipH="1">
            <a:off x="3601327" y="3615025"/>
            <a:ext cx="287886" cy="214817"/>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9" name="TextBox 78">
            <a:extLst>
              <a:ext uri="{FF2B5EF4-FFF2-40B4-BE49-F238E27FC236}">
                <a16:creationId xmlns:a16="http://schemas.microsoft.com/office/drawing/2014/main" id="{35C289CE-14F6-4DF6-ACE7-41D9FA379F0C}"/>
              </a:ext>
            </a:extLst>
          </p:cNvPr>
          <p:cNvSpPr txBox="1"/>
          <p:nvPr/>
        </p:nvSpPr>
        <p:spPr>
          <a:xfrm>
            <a:off x="3496366" y="3554052"/>
            <a:ext cx="295704" cy="200055"/>
          </a:xfrm>
          <a:prstGeom prst="rect">
            <a:avLst/>
          </a:prstGeom>
          <a:noFill/>
        </p:spPr>
        <p:txBody>
          <a:bodyPr wrap="square" rtlCol="0">
            <a:spAutoFit/>
          </a:bodyPr>
          <a:lstStyle/>
          <a:p>
            <a:r>
              <a:rPr lang="en-US" sz="700" dirty="0"/>
              <a:t>11</a:t>
            </a:r>
          </a:p>
        </p:txBody>
      </p:sp>
      <p:sp>
        <p:nvSpPr>
          <p:cNvPr id="80" name="TextBox 79">
            <a:extLst>
              <a:ext uri="{FF2B5EF4-FFF2-40B4-BE49-F238E27FC236}">
                <a16:creationId xmlns:a16="http://schemas.microsoft.com/office/drawing/2014/main" id="{37348E12-97D1-4965-937A-7050758B7C34}"/>
              </a:ext>
            </a:extLst>
          </p:cNvPr>
          <p:cNvSpPr txBox="1"/>
          <p:nvPr/>
        </p:nvSpPr>
        <p:spPr>
          <a:xfrm>
            <a:off x="3785520" y="3590850"/>
            <a:ext cx="702722" cy="200055"/>
          </a:xfrm>
          <a:prstGeom prst="rect">
            <a:avLst/>
          </a:prstGeom>
          <a:noFill/>
        </p:spPr>
        <p:txBody>
          <a:bodyPr wrap="square" rtlCol="0">
            <a:spAutoFit/>
          </a:bodyPr>
          <a:lstStyle/>
          <a:p>
            <a:r>
              <a:rPr lang="en-US" sz="700" b="1" dirty="0"/>
              <a:t>13. Visit 15</a:t>
            </a:r>
          </a:p>
        </p:txBody>
      </p:sp>
      <p:cxnSp>
        <p:nvCxnSpPr>
          <p:cNvPr id="81" name="Straight Arrow Connector 80">
            <a:extLst>
              <a:ext uri="{FF2B5EF4-FFF2-40B4-BE49-F238E27FC236}">
                <a16:creationId xmlns:a16="http://schemas.microsoft.com/office/drawing/2014/main" id="{9E3932D5-CFDA-461D-8B02-0E492E761FCA}"/>
              </a:ext>
            </a:extLst>
          </p:cNvPr>
          <p:cNvCxnSpPr>
            <a:cxnSpLocks/>
          </p:cNvCxnSpPr>
          <p:nvPr/>
        </p:nvCxnSpPr>
        <p:spPr>
          <a:xfrm>
            <a:off x="4239286" y="358442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2" name="TextBox 81">
            <a:extLst>
              <a:ext uri="{FF2B5EF4-FFF2-40B4-BE49-F238E27FC236}">
                <a16:creationId xmlns:a16="http://schemas.microsoft.com/office/drawing/2014/main" id="{8B5E2CEC-5270-4BA1-B747-9D3EF0DC95E0}"/>
              </a:ext>
            </a:extLst>
          </p:cNvPr>
          <p:cNvSpPr txBox="1"/>
          <p:nvPr/>
        </p:nvSpPr>
        <p:spPr>
          <a:xfrm>
            <a:off x="4234455" y="3716907"/>
            <a:ext cx="300594" cy="200055"/>
          </a:xfrm>
          <a:prstGeom prst="rect">
            <a:avLst/>
          </a:prstGeom>
          <a:noFill/>
        </p:spPr>
        <p:txBody>
          <a:bodyPr wrap="square" rtlCol="0">
            <a:spAutoFit/>
          </a:bodyPr>
          <a:lstStyle/>
          <a:p>
            <a:r>
              <a:rPr lang="en-US" sz="700" dirty="0"/>
              <a:t>12</a:t>
            </a:r>
          </a:p>
        </p:txBody>
      </p:sp>
      <p:cxnSp>
        <p:nvCxnSpPr>
          <p:cNvPr id="77" name="Straight Arrow Connector 76">
            <a:extLst>
              <a:ext uri="{FF2B5EF4-FFF2-40B4-BE49-F238E27FC236}">
                <a16:creationId xmlns:a16="http://schemas.microsoft.com/office/drawing/2014/main" id="{93DCD7DE-F1D1-439D-9C60-8979CA1E086F}"/>
              </a:ext>
            </a:extLst>
          </p:cNvPr>
          <p:cNvCxnSpPr>
            <a:cxnSpLocks/>
          </p:cNvCxnSpPr>
          <p:nvPr/>
        </p:nvCxnSpPr>
        <p:spPr>
          <a:xfrm flipH="1" flipV="1">
            <a:off x="3695612" y="2910389"/>
            <a:ext cx="260616" cy="29500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8AC7E98C-8151-46FF-B3CA-41267FB5871C}"/>
              </a:ext>
            </a:extLst>
          </p:cNvPr>
          <p:cNvSpPr txBox="1"/>
          <p:nvPr/>
        </p:nvSpPr>
        <p:spPr>
          <a:xfrm>
            <a:off x="3741278" y="2930510"/>
            <a:ext cx="300594" cy="200055"/>
          </a:xfrm>
          <a:prstGeom prst="rect">
            <a:avLst/>
          </a:prstGeom>
          <a:noFill/>
        </p:spPr>
        <p:txBody>
          <a:bodyPr wrap="square" rtlCol="0">
            <a:spAutoFit/>
          </a:bodyPr>
          <a:lstStyle/>
          <a:p>
            <a:r>
              <a:rPr lang="en-US" sz="700" dirty="0"/>
              <a:t>14</a:t>
            </a:r>
          </a:p>
        </p:txBody>
      </p:sp>
      <p:sp>
        <p:nvSpPr>
          <p:cNvPr id="86" name="TextBox 85">
            <a:extLst>
              <a:ext uri="{FF2B5EF4-FFF2-40B4-BE49-F238E27FC236}">
                <a16:creationId xmlns:a16="http://schemas.microsoft.com/office/drawing/2014/main" id="{5FD0323A-BC74-4FE4-B969-CB646C4EC47E}"/>
              </a:ext>
            </a:extLst>
          </p:cNvPr>
          <p:cNvSpPr txBox="1"/>
          <p:nvPr/>
        </p:nvSpPr>
        <p:spPr>
          <a:xfrm>
            <a:off x="4536659" y="2432199"/>
            <a:ext cx="702722" cy="200055"/>
          </a:xfrm>
          <a:prstGeom prst="rect">
            <a:avLst/>
          </a:prstGeom>
          <a:noFill/>
        </p:spPr>
        <p:txBody>
          <a:bodyPr wrap="square" rtlCol="0">
            <a:spAutoFit/>
          </a:bodyPr>
          <a:lstStyle/>
          <a:p>
            <a:r>
              <a:rPr lang="en-US" sz="700" b="1" dirty="0"/>
              <a:t>18. Visit 34</a:t>
            </a:r>
          </a:p>
        </p:txBody>
      </p:sp>
      <p:cxnSp>
        <p:nvCxnSpPr>
          <p:cNvPr id="90" name="Straight Arrow Connector 89">
            <a:extLst>
              <a:ext uri="{FF2B5EF4-FFF2-40B4-BE49-F238E27FC236}">
                <a16:creationId xmlns:a16="http://schemas.microsoft.com/office/drawing/2014/main" id="{FF7A2CE4-E898-46BB-8A6D-264A7F349633}"/>
              </a:ext>
            </a:extLst>
          </p:cNvPr>
          <p:cNvCxnSpPr>
            <a:cxnSpLocks/>
          </p:cNvCxnSpPr>
          <p:nvPr/>
        </p:nvCxnSpPr>
        <p:spPr>
          <a:xfrm>
            <a:off x="4571228" y="254172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1" name="TextBox 90">
            <a:extLst>
              <a:ext uri="{FF2B5EF4-FFF2-40B4-BE49-F238E27FC236}">
                <a16:creationId xmlns:a16="http://schemas.microsoft.com/office/drawing/2014/main" id="{FC1B3018-D7D7-498F-A9D6-7A102D6155EA}"/>
              </a:ext>
            </a:extLst>
          </p:cNvPr>
          <p:cNvSpPr txBox="1"/>
          <p:nvPr/>
        </p:nvSpPr>
        <p:spPr>
          <a:xfrm>
            <a:off x="4566397" y="2674207"/>
            <a:ext cx="300594" cy="200055"/>
          </a:xfrm>
          <a:prstGeom prst="rect">
            <a:avLst/>
          </a:prstGeom>
          <a:noFill/>
        </p:spPr>
        <p:txBody>
          <a:bodyPr wrap="square" rtlCol="0">
            <a:spAutoFit/>
          </a:bodyPr>
          <a:lstStyle/>
          <a:p>
            <a:r>
              <a:rPr lang="en-US" sz="700" dirty="0"/>
              <a:t>17</a:t>
            </a:r>
          </a:p>
        </p:txBody>
      </p:sp>
      <p:sp>
        <p:nvSpPr>
          <p:cNvPr id="92" name="TextBox 91">
            <a:extLst>
              <a:ext uri="{FF2B5EF4-FFF2-40B4-BE49-F238E27FC236}">
                <a16:creationId xmlns:a16="http://schemas.microsoft.com/office/drawing/2014/main" id="{16038482-1BB7-4424-9379-995C44D999EB}"/>
              </a:ext>
            </a:extLst>
          </p:cNvPr>
          <p:cNvSpPr txBox="1"/>
          <p:nvPr/>
        </p:nvSpPr>
        <p:spPr>
          <a:xfrm>
            <a:off x="4909819" y="1351614"/>
            <a:ext cx="702722" cy="200055"/>
          </a:xfrm>
          <a:prstGeom prst="rect">
            <a:avLst/>
          </a:prstGeom>
          <a:noFill/>
        </p:spPr>
        <p:txBody>
          <a:bodyPr wrap="square" rtlCol="0">
            <a:spAutoFit/>
          </a:bodyPr>
          <a:lstStyle/>
          <a:p>
            <a:r>
              <a:rPr lang="en-US" sz="700" b="1" dirty="0"/>
              <a:t>43. Visit 40</a:t>
            </a:r>
          </a:p>
        </p:txBody>
      </p:sp>
      <p:cxnSp>
        <p:nvCxnSpPr>
          <p:cNvPr id="93" name="Straight Arrow Connector 92">
            <a:extLst>
              <a:ext uri="{FF2B5EF4-FFF2-40B4-BE49-F238E27FC236}">
                <a16:creationId xmlns:a16="http://schemas.microsoft.com/office/drawing/2014/main" id="{4F2907C3-7530-453B-8661-872425F72400}"/>
              </a:ext>
            </a:extLst>
          </p:cNvPr>
          <p:cNvCxnSpPr>
            <a:cxnSpLocks/>
            <a:endCxn id="94" idx="3"/>
          </p:cNvCxnSpPr>
          <p:nvPr/>
        </p:nvCxnSpPr>
        <p:spPr>
          <a:xfrm>
            <a:off x="5652527" y="2068676"/>
            <a:ext cx="369703" cy="232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4" name="TextBox 93">
            <a:extLst>
              <a:ext uri="{FF2B5EF4-FFF2-40B4-BE49-F238E27FC236}">
                <a16:creationId xmlns:a16="http://schemas.microsoft.com/office/drawing/2014/main" id="{D49AB083-2658-4FF0-B234-5E7EAFFE89D1}"/>
              </a:ext>
            </a:extLst>
          </p:cNvPr>
          <p:cNvSpPr txBox="1"/>
          <p:nvPr/>
        </p:nvSpPr>
        <p:spPr>
          <a:xfrm>
            <a:off x="5647696" y="2201154"/>
            <a:ext cx="374534" cy="200055"/>
          </a:xfrm>
          <a:prstGeom prst="rect">
            <a:avLst/>
          </a:prstGeom>
          <a:noFill/>
        </p:spPr>
        <p:txBody>
          <a:bodyPr wrap="square" rtlCol="0">
            <a:spAutoFit/>
          </a:bodyPr>
          <a:lstStyle/>
          <a:p>
            <a:r>
              <a:rPr lang="en-US" sz="700" dirty="0"/>
              <a:t>24</a:t>
            </a:r>
          </a:p>
        </p:txBody>
      </p:sp>
      <p:cxnSp>
        <p:nvCxnSpPr>
          <p:cNvPr id="96" name="Straight Arrow Connector 95">
            <a:extLst>
              <a:ext uri="{FF2B5EF4-FFF2-40B4-BE49-F238E27FC236}">
                <a16:creationId xmlns:a16="http://schemas.microsoft.com/office/drawing/2014/main" id="{DC5F76BB-7470-41BF-AEA4-C9FE899252F9}"/>
              </a:ext>
            </a:extLst>
          </p:cNvPr>
          <p:cNvCxnSpPr>
            <a:cxnSpLocks/>
          </p:cNvCxnSpPr>
          <p:nvPr/>
        </p:nvCxnSpPr>
        <p:spPr>
          <a:xfrm flipH="1">
            <a:off x="5090566" y="2100391"/>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7" name="TextBox 96">
            <a:extLst>
              <a:ext uri="{FF2B5EF4-FFF2-40B4-BE49-F238E27FC236}">
                <a16:creationId xmlns:a16="http://schemas.microsoft.com/office/drawing/2014/main" id="{F19AAAAA-6C6F-444F-89C3-80C1EDECE105}"/>
              </a:ext>
            </a:extLst>
          </p:cNvPr>
          <p:cNvSpPr txBox="1"/>
          <p:nvPr/>
        </p:nvSpPr>
        <p:spPr>
          <a:xfrm>
            <a:off x="4952412" y="2109674"/>
            <a:ext cx="325581" cy="200055"/>
          </a:xfrm>
          <a:prstGeom prst="rect">
            <a:avLst/>
          </a:prstGeom>
          <a:noFill/>
        </p:spPr>
        <p:txBody>
          <a:bodyPr wrap="square" rtlCol="0">
            <a:spAutoFit/>
          </a:bodyPr>
          <a:lstStyle/>
          <a:p>
            <a:r>
              <a:rPr lang="en-US" sz="700" dirty="0"/>
              <a:t>23</a:t>
            </a:r>
          </a:p>
        </p:txBody>
      </p:sp>
      <p:sp>
        <p:nvSpPr>
          <p:cNvPr id="99" name="TextBox 98">
            <a:extLst>
              <a:ext uri="{FF2B5EF4-FFF2-40B4-BE49-F238E27FC236}">
                <a16:creationId xmlns:a16="http://schemas.microsoft.com/office/drawing/2014/main" id="{A5486F52-8A70-4894-8095-15327D82E5FC}"/>
              </a:ext>
            </a:extLst>
          </p:cNvPr>
          <p:cNvSpPr txBox="1"/>
          <p:nvPr/>
        </p:nvSpPr>
        <p:spPr>
          <a:xfrm>
            <a:off x="5636254" y="1688843"/>
            <a:ext cx="702722" cy="200055"/>
          </a:xfrm>
          <a:prstGeom prst="rect">
            <a:avLst/>
          </a:prstGeom>
          <a:noFill/>
        </p:spPr>
        <p:txBody>
          <a:bodyPr wrap="square" rtlCol="0">
            <a:spAutoFit/>
          </a:bodyPr>
          <a:lstStyle/>
          <a:p>
            <a:r>
              <a:rPr lang="en-US" sz="700" b="1" dirty="0"/>
              <a:t>41. Visit 45</a:t>
            </a:r>
          </a:p>
        </p:txBody>
      </p:sp>
      <p:cxnSp>
        <p:nvCxnSpPr>
          <p:cNvPr id="100" name="Straight Arrow Connector 99">
            <a:extLst>
              <a:ext uri="{FF2B5EF4-FFF2-40B4-BE49-F238E27FC236}">
                <a16:creationId xmlns:a16="http://schemas.microsoft.com/office/drawing/2014/main" id="{33C504B3-9480-42F2-84FA-C935118213C8}"/>
              </a:ext>
            </a:extLst>
          </p:cNvPr>
          <p:cNvCxnSpPr>
            <a:cxnSpLocks/>
          </p:cNvCxnSpPr>
          <p:nvPr/>
        </p:nvCxnSpPr>
        <p:spPr>
          <a:xfrm>
            <a:off x="4835293" y="1628383"/>
            <a:ext cx="369703" cy="23250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1" name="TextBox 100">
            <a:extLst>
              <a:ext uri="{FF2B5EF4-FFF2-40B4-BE49-F238E27FC236}">
                <a16:creationId xmlns:a16="http://schemas.microsoft.com/office/drawing/2014/main" id="{EA93ECFD-7B89-45B7-811D-27DA6B956537}"/>
              </a:ext>
            </a:extLst>
          </p:cNvPr>
          <p:cNvSpPr txBox="1"/>
          <p:nvPr/>
        </p:nvSpPr>
        <p:spPr>
          <a:xfrm>
            <a:off x="4899580" y="1760667"/>
            <a:ext cx="374534" cy="200055"/>
          </a:xfrm>
          <a:prstGeom prst="rect">
            <a:avLst/>
          </a:prstGeom>
          <a:noFill/>
        </p:spPr>
        <p:txBody>
          <a:bodyPr wrap="square" rtlCol="0">
            <a:spAutoFit/>
          </a:bodyPr>
          <a:lstStyle/>
          <a:p>
            <a:r>
              <a:rPr lang="en-US" sz="700" dirty="0"/>
              <a:t>22</a:t>
            </a:r>
          </a:p>
        </p:txBody>
      </p:sp>
      <p:cxnSp>
        <p:nvCxnSpPr>
          <p:cNvPr id="102" name="Straight Arrow Connector 101">
            <a:extLst>
              <a:ext uri="{FF2B5EF4-FFF2-40B4-BE49-F238E27FC236}">
                <a16:creationId xmlns:a16="http://schemas.microsoft.com/office/drawing/2014/main" id="{6146F459-2DEF-4F74-B6A2-D66B84C5D623}"/>
              </a:ext>
            </a:extLst>
          </p:cNvPr>
          <p:cNvCxnSpPr>
            <a:cxnSpLocks/>
          </p:cNvCxnSpPr>
          <p:nvPr/>
        </p:nvCxnSpPr>
        <p:spPr>
          <a:xfrm flipH="1">
            <a:off x="5822068" y="2483318"/>
            <a:ext cx="270550" cy="13419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3" name="TextBox 102">
            <a:extLst>
              <a:ext uri="{FF2B5EF4-FFF2-40B4-BE49-F238E27FC236}">
                <a16:creationId xmlns:a16="http://schemas.microsoft.com/office/drawing/2014/main" id="{CCB6023D-82AD-4B25-BA63-204AC7D52C9A}"/>
              </a:ext>
            </a:extLst>
          </p:cNvPr>
          <p:cNvSpPr txBox="1"/>
          <p:nvPr/>
        </p:nvSpPr>
        <p:spPr>
          <a:xfrm>
            <a:off x="5682921" y="2401290"/>
            <a:ext cx="374534" cy="200055"/>
          </a:xfrm>
          <a:prstGeom prst="rect">
            <a:avLst/>
          </a:prstGeom>
          <a:noFill/>
        </p:spPr>
        <p:txBody>
          <a:bodyPr wrap="square" rtlCol="0">
            <a:spAutoFit/>
          </a:bodyPr>
          <a:lstStyle/>
          <a:p>
            <a:r>
              <a:rPr lang="en-US" sz="700" dirty="0"/>
              <a:t>25</a:t>
            </a:r>
          </a:p>
        </p:txBody>
      </p:sp>
      <p:cxnSp>
        <p:nvCxnSpPr>
          <p:cNvPr id="111" name="Straight Arrow Connector 110">
            <a:extLst>
              <a:ext uri="{FF2B5EF4-FFF2-40B4-BE49-F238E27FC236}">
                <a16:creationId xmlns:a16="http://schemas.microsoft.com/office/drawing/2014/main" id="{FAFC4275-7A58-44FB-8440-AA088C0A31C4}"/>
              </a:ext>
            </a:extLst>
          </p:cNvPr>
          <p:cNvCxnSpPr>
            <a:cxnSpLocks/>
          </p:cNvCxnSpPr>
          <p:nvPr/>
        </p:nvCxnSpPr>
        <p:spPr>
          <a:xfrm flipH="1">
            <a:off x="5152002" y="2952201"/>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2" name="TextBox 111">
            <a:extLst>
              <a:ext uri="{FF2B5EF4-FFF2-40B4-BE49-F238E27FC236}">
                <a16:creationId xmlns:a16="http://schemas.microsoft.com/office/drawing/2014/main" id="{21F48DDE-3DEB-4FF2-AD04-F41E13CC3074}"/>
              </a:ext>
            </a:extLst>
          </p:cNvPr>
          <p:cNvSpPr txBox="1"/>
          <p:nvPr/>
        </p:nvSpPr>
        <p:spPr>
          <a:xfrm>
            <a:off x="5013848" y="2980733"/>
            <a:ext cx="414728" cy="200055"/>
          </a:xfrm>
          <a:prstGeom prst="rect">
            <a:avLst/>
          </a:prstGeom>
          <a:noFill/>
        </p:spPr>
        <p:txBody>
          <a:bodyPr wrap="square" rtlCol="0">
            <a:spAutoFit/>
          </a:bodyPr>
          <a:lstStyle/>
          <a:p>
            <a:r>
              <a:rPr lang="en-US" sz="700" dirty="0"/>
              <a:t>26</a:t>
            </a:r>
          </a:p>
        </p:txBody>
      </p:sp>
      <p:cxnSp>
        <p:nvCxnSpPr>
          <p:cNvPr id="113" name="Straight Arrow Connector 112">
            <a:extLst>
              <a:ext uri="{FF2B5EF4-FFF2-40B4-BE49-F238E27FC236}">
                <a16:creationId xmlns:a16="http://schemas.microsoft.com/office/drawing/2014/main" id="{3576561F-8267-4C2B-8FBC-DD5EA6B7403A}"/>
              </a:ext>
            </a:extLst>
          </p:cNvPr>
          <p:cNvCxnSpPr>
            <a:cxnSpLocks/>
          </p:cNvCxnSpPr>
          <p:nvPr/>
        </p:nvCxnSpPr>
        <p:spPr>
          <a:xfrm flipH="1">
            <a:off x="4667918" y="3617433"/>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4" name="TextBox 113">
            <a:extLst>
              <a:ext uri="{FF2B5EF4-FFF2-40B4-BE49-F238E27FC236}">
                <a16:creationId xmlns:a16="http://schemas.microsoft.com/office/drawing/2014/main" id="{4F7460E5-FE1C-4FD2-82FD-C142CE270430}"/>
              </a:ext>
            </a:extLst>
          </p:cNvPr>
          <p:cNvSpPr txBox="1"/>
          <p:nvPr/>
        </p:nvSpPr>
        <p:spPr>
          <a:xfrm>
            <a:off x="4529764" y="3626716"/>
            <a:ext cx="325581" cy="200055"/>
          </a:xfrm>
          <a:prstGeom prst="rect">
            <a:avLst/>
          </a:prstGeom>
          <a:noFill/>
        </p:spPr>
        <p:txBody>
          <a:bodyPr wrap="square" rtlCol="0">
            <a:spAutoFit/>
          </a:bodyPr>
          <a:lstStyle/>
          <a:p>
            <a:r>
              <a:rPr lang="en-US" sz="700" dirty="0"/>
              <a:t>27</a:t>
            </a:r>
          </a:p>
        </p:txBody>
      </p:sp>
      <p:sp>
        <p:nvSpPr>
          <p:cNvPr id="115" name="TextBox 114">
            <a:extLst>
              <a:ext uri="{FF2B5EF4-FFF2-40B4-BE49-F238E27FC236}">
                <a16:creationId xmlns:a16="http://schemas.microsoft.com/office/drawing/2014/main" id="{7135F98E-7C35-456B-AF8D-3E720642ACCF}"/>
              </a:ext>
            </a:extLst>
          </p:cNvPr>
          <p:cNvSpPr txBox="1"/>
          <p:nvPr/>
        </p:nvSpPr>
        <p:spPr>
          <a:xfrm>
            <a:off x="4769225" y="3657688"/>
            <a:ext cx="702722" cy="200055"/>
          </a:xfrm>
          <a:prstGeom prst="rect">
            <a:avLst/>
          </a:prstGeom>
          <a:noFill/>
        </p:spPr>
        <p:txBody>
          <a:bodyPr wrap="square" rtlCol="0">
            <a:spAutoFit/>
          </a:bodyPr>
          <a:lstStyle/>
          <a:p>
            <a:r>
              <a:rPr lang="en-US" sz="700" b="1" dirty="0"/>
              <a:t>29. Visit 47</a:t>
            </a:r>
          </a:p>
        </p:txBody>
      </p:sp>
      <p:cxnSp>
        <p:nvCxnSpPr>
          <p:cNvPr id="116" name="Straight Arrow Connector 115">
            <a:extLst>
              <a:ext uri="{FF2B5EF4-FFF2-40B4-BE49-F238E27FC236}">
                <a16:creationId xmlns:a16="http://schemas.microsoft.com/office/drawing/2014/main" id="{F1B68377-1B43-4FFE-9D05-CA6A7BFF076A}"/>
              </a:ext>
            </a:extLst>
          </p:cNvPr>
          <p:cNvCxnSpPr>
            <a:cxnSpLocks/>
          </p:cNvCxnSpPr>
          <p:nvPr/>
        </p:nvCxnSpPr>
        <p:spPr>
          <a:xfrm>
            <a:off x="5278726" y="3611874"/>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7" name="TextBox 116">
            <a:extLst>
              <a:ext uri="{FF2B5EF4-FFF2-40B4-BE49-F238E27FC236}">
                <a16:creationId xmlns:a16="http://schemas.microsoft.com/office/drawing/2014/main" id="{8C109A4E-FC52-4B04-BBBA-6137A2E6D170}"/>
              </a:ext>
            </a:extLst>
          </p:cNvPr>
          <p:cNvSpPr txBox="1"/>
          <p:nvPr/>
        </p:nvSpPr>
        <p:spPr>
          <a:xfrm>
            <a:off x="5273895" y="3744352"/>
            <a:ext cx="300594" cy="200055"/>
          </a:xfrm>
          <a:prstGeom prst="rect">
            <a:avLst/>
          </a:prstGeom>
          <a:noFill/>
        </p:spPr>
        <p:txBody>
          <a:bodyPr wrap="square" rtlCol="0">
            <a:spAutoFit/>
          </a:bodyPr>
          <a:lstStyle/>
          <a:p>
            <a:r>
              <a:rPr lang="en-US" sz="700" dirty="0"/>
              <a:t>28</a:t>
            </a:r>
          </a:p>
        </p:txBody>
      </p:sp>
      <p:cxnSp>
        <p:nvCxnSpPr>
          <p:cNvPr id="118" name="Straight Arrow Connector 117">
            <a:extLst>
              <a:ext uri="{FF2B5EF4-FFF2-40B4-BE49-F238E27FC236}">
                <a16:creationId xmlns:a16="http://schemas.microsoft.com/office/drawing/2014/main" id="{AC90AB83-4C5D-4AC4-924E-C21A04DBC461}"/>
              </a:ext>
            </a:extLst>
          </p:cNvPr>
          <p:cNvCxnSpPr/>
          <p:nvPr/>
        </p:nvCxnSpPr>
        <p:spPr>
          <a:xfrm flipV="1">
            <a:off x="5291529" y="3058721"/>
            <a:ext cx="309134" cy="29031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9" name="TextBox 118">
            <a:extLst>
              <a:ext uri="{FF2B5EF4-FFF2-40B4-BE49-F238E27FC236}">
                <a16:creationId xmlns:a16="http://schemas.microsoft.com/office/drawing/2014/main" id="{3B2F06EF-EBE9-4D66-8F5C-A3BFB599FEBF}"/>
              </a:ext>
            </a:extLst>
          </p:cNvPr>
          <p:cNvSpPr txBox="1"/>
          <p:nvPr/>
        </p:nvSpPr>
        <p:spPr>
          <a:xfrm>
            <a:off x="5434899" y="3111233"/>
            <a:ext cx="301843" cy="200055"/>
          </a:xfrm>
          <a:prstGeom prst="rect">
            <a:avLst/>
          </a:prstGeom>
          <a:noFill/>
        </p:spPr>
        <p:txBody>
          <a:bodyPr wrap="square" rtlCol="0">
            <a:spAutoFit/>
          </a:bodyPr>
          <a:lstStyle/>
          <a:p>
            <a:r>
              <a:rPr lang="en-US" sz="700" dirty="0"/>
              <a:t>30</a:t>
            </a:r>
          </a:p>
        </p:txBody>
      </p:sp>
      <p:sp>
        <p:nvSpPr>
          <p:cNvPr id="120" name="TextBox 119">
            <a:extLst>
              <a:ext uri="{FF2B5EF4-FFF2-40B4-BE49-F238E27FC236}">
                <a16:creationId xmlns:a16="http://schemas.microsoft.com/office/drawing/2014/main" id="{DFE71FB6-D06A-441F-A31A-3ABC6B9BD329}"/>
              </a:ext>
            </a:extLst>
          </p:cNvPr>
          <p:cNvSpPr txBox="1"/>
          <p:nvPr/>
        </p:nvSpPr>
        <p:spPr>
          <a:xfrm>
            <a:off x="5906540" y="2812028"/>
            <a:ext cx="702722" cy="200055"/>
          </a:xfrm>
          <a:prstGeom prst="rect">
            <a:avLst/>
          </a:prstGeom>
          <a:noFill/>
        </p:spPr>
        <p:txBody>
          <a:bodyPr wrap="square" rtlCol="0">
            <a:spAutoFit/>
          </a:bodyPr>
          <a:lstStyle/>
          <a:p>
            <a:r>
              <a:rPr lang="en-US" sz="700" b="1" dirty="0"/>
              <a:t>36. Visit 48</a:t>
            </a:r>
          </a:p>
        </p:txBody>
      </p:sp>
      <p:cxnSp>
        <p:nvCxnSpPr>
          <p:cNvPr id="121" name="Straight Arrow Connector 120">
            <a:extLst>
              <a:ext uri="{FF2B5EF4-FFF2-40B4-BE49-F238E27FC236}">
                <a16:creationId xmlns:a16="http://schemas.microsoft.com/office/drawing/2014/main" id="{FF574594-9D09-45D5-944A-FBF1F141159F}"/>
              </a:ext>
            </a:extLst>
          </p:cNvPr>
          <p:cNvCxnSpPr>
            <a:cxnSpLocks/>
          </p:cNvCxnSpPr>
          <p:nvPr/>
        </p:nvCxnSpPr>
        <p:spPr>
          <a:xfrm>
            <a:off x="5851975" y="3063779"/>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2" name="TextBox 121">
            <a:extLst>
              <a:ext uri="{FF2B5EF4-FFF2-40B4-BE49-F238E27FC236}">
                <a16:creationId xmlns:a16="http://schemas.microsoft.com/office/drawing/2014/main" id="{CCEA71D6-4758-44CC-AD19-62F82684E5EC}"/>
              </a:ext>
            </a:extLst>
          </p:cNvPr>
          <p:cNvSpPr txBox="1"/>
          <p:nvPr/>
        </p:nvSpPr>
        <p:spPr>
          <a:xfrm>
            <a:off x="5847144" y="3196257"/>
            <a:ext cx="300594" cy="200055"/>
          </a:xfrm>
          <a:prstGeom prst="rect">
            <a:avLst/>
          </a:prstGeom>
          <a:noFill/>
        </p:spPr>
        <p:txBody>
          <a:bodyPr wrap="square" rtlCol="0">
            <a:spAutoFit/>
          </a:bodyPr>
          <a:lstStyle/>
          <a:p>
            <a:r>
              <a:rPr lang="en-US" sz="700" dirty="0"/>
              <a:t>31</a:t>
            </a:r>
          </a:p>
        </p:txBody>
      </p:sp>
      <p:cxnSp>
        <p:nvCxnSpPr>
          <p:cNvPr id="123" name="Straight Arrow Connector 122">
            <a:extLst>
              <a:ext uri="{FF2B5EF4-FFF2-40B4-BE49-F238E27FC236}">
                <a16:creationId xmlns:a16="http://schemas.microsoft.com/office/drawing/2014/main" id="{1405BE57-9B29-4A91-8710-FCA4065164CE}"/>
              </a:ext>
            </a:extLst>
          </p:cNvPr>
          <p:cNvCxnSpPr>
            <a:cxnSpLocks/>
          </p:cNvCxnSpPr>
          <p:nvPr/>
        </p:nvCxnSpPr>
        <p:spPr>
          <a:xfrm flipH="1">
            <a:off x="5902285" y="3575146"/>
            <a:ext cx="226627" cy="27873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4" name="TextBox 123">
            <a:extLst>
              <a:ext uri="{FF2B5EF4-FFF2-40B4-BE49-F238E27FC236}">
                <a16:creationId xmlns:a16="http://schemas.microsoft.com/office/drawing/2014/main" id="{B23D2418-21A3-4A6A-BC5C-02F465F6D377}"/>
              </a:ext>
            </a:extLst>
          </p:cNvPr>
          <p:cNvSpPr txBox="1"/>
          <p:nvPr/>
        </p:nvSpPr>
        <p:spPr>
          <a:xfrm>
            <a:off x="5764131" y="3584429"/>
            <a:ext cx="325581" cy="200055"/>
          </a:xfrm>
          <a:prstGeom prst="rect">
            <a:avLst/>
          </a:prstGeom>
          <a:noFill/>
        </p:spPr>
        <p:txBody>
          <a:bodyPr wrap="square" rtlCol="0">
            <a:spAutoFit/>
          </a:bodyPr>
          <a:lstStyle/>
          <a:p>
            <a:r>
              <a:rPr lang="en-US" sz="700" dirty="0"/>
              <a:t>32</a:t>
            </a:r>
          </a:p>
        </p:txBody>
      </p:sp>
      <p:sp>
        <p:nvSpPr>
          <p:cNvPr id="125" name="TextBox 124">
            <a:extLst>
              <a:ext uri="{FF2B5EF4-FFF2-40B4-BE49-F238E27FC236}">
                <a16:creationId xmlns:a16="http://schemas.microsoft.com/office/drawing/2014/main" id="{ED80B52E-A441-44C1-BA0A-03D799224EF3}"/>
              </a:ext>
            </a:extLst>
          </p:cNvPr>
          <p:cNvSpPr txBox="1"/>
          <p:nvPr/>
        </p:nvSpPr>
        <p:spPr>
          <a:xfrm>
            <a:off x="6010667" y="3630022"/>
            <a:ext cx="702722" cy="200055"/>
          </a:xfrm>
          <a:prstGeom prst="rect">
            <a:avLst/>
          </a:prstGeom>
          <a:noFill/>
        </p:spPr>
        <p:txBody>
          <a:bodyPr wrap="square" rtlCol="0">
            <a:spAutoFit/>
          </a:bodyPr>
          <a:lstStyle/>
          <a:p>
            <a:r>
              <a:rPr lang="en-US" sz="700" b="1" dirty="0"/>
              <a:t>34. Visit 49</a:t>
            </a:r>
          </a:p>
        </p:txBody>
      </p:sp>
      <p:cxnSp>
        <p:nvCxnSpPr>
          <p:cNvPr id="126" name="Straight Arrow Connector 125">
            <a:extLst>
              <a:ext uri="{FF2B5EF4-FFF2-40B4-BE49-F238E27FC236}">
                <a16:creationId xmlns:a16="http://schemas.microsoft.com/office/drawing/2014/main" id="{A460EC01-6E07-4195-A9E6-8C15F7E3870F}"/>
              </a:ext>
            </a:extLst>
          </p:cNvPr>
          <p:cNvCxnSpPr>
            <a:cxnSpLocks/>
          </p:cNvCxnSpPr>
          <p:nvPr/>
        </p:nvCxnSpPr>
        <p:spPr>
          <a:xfrm>
            <a:off x="6556383" y="3605525"/>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7" name="TextBox 126">
            <a:extLst>
              <a:ext uri="{FF2B5EF4-FFF2-40B4-BE49-F238E27FC236}">
                <a16:creationId xmlns:a16="http://schemas.microsoft.com/office/drawing/2014/main" id="{1E13C19E-1D0C-4E26-B792-2064A915FA59}"/>
              </a:ext>
            </a:extLst>
          </p:cNvPr>
          <p:cNvSpPr txBox="1"/>
          <p:nvPr/>
        </p:nvSpPr>
        <p:spPr>
          <a:xfrm>
            <a:off x="6551552" y="3738003"/>
            <a:ext cx="300594" cy="200055"/>
          </a:xfrm>
          <a:prstGeom prst="rect">
            <a:avLst/>
          </a:prstGeom>
          <a:noFill/>
        </p:spPr>
        <p:txBody>
          <a:bodyPr wrap="square" rtlCol="0">
            <a:spAutoFit/>
          </a:bodyPr>
          <a:lstStyle/>
          <a:p>
            <a:r>
              <a:rPr lang="en-US" sz="700" dirty="0"/>
              <a:t>33</a:t>
            </a:r>
          </a:p>
        </p:txBody>
      </p:sp>
      <p:cxnSp>
        <p:nvCxnSpPr>
          <p:cNvPr id="128" name="Straight Arrow Connector 127">
            <a:extLst>
              <a:ext uri="{FF2B5EF4-FFF2-40B4-BE49-F238E27FC236}">
                <a16:creationId xmlns:a16="http://schemas.microsoft.com/office/drawing/2014/main" id="{C5E1781E-7D8B-414B-A28C-87A348D513DB}"/>
              </a:ext>
            </a:extLst>
          </p:cNvPr>
          <p:cNvCxnSpPr>
            <a:cxnSpLocks/>
          </p:cNvCxnSpPr>
          <p:nvPr/>
        </p:nvCxnSpPr>
        <p:spPr>
          <a:xfrm flipV="1">
            <a:off x="5875990" y="2555203"/>
            <a:ext cx="324050" cy="20696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69D4A4B7-6D14-4310-A5D3-2CC1A95181DA}"/>
              </a:ext>
            </a:extLst>
          </p:cNvPr>
          <p:cNvSpPr txBox="1"/>
          <p:nvPr/>
        </p:nvSpPr>
        <p:spPr>
          <a:xfrm>
            <a:off x="6278195" y="2062621"/>
            <a:ext cx="702722" cy="200055"/>
          </a:xfrm>
          <a:prstGeom prst="rect">
            <a:avLst/>
          </a:prstGeom>
          <a:noFill/>
        </p:spPr>
        <p:txBody>
          <a:bodyPr wrap="square" rtlCol="0">
            <a:spAutoFit/>
          </a:bodyPr>
          <a:lstStyle/>
          <a:p>
            <a:r>
              <a:rPr lang="en-US" sz="700" b="1" dirty="0"/>
              <a:t>39. Visit 55</a:t>
            </a:r>
          </a:p>
        </p:txBody>
      </p:sp>
      <p:cxnSp>
        <p:nvCxnSpPr>
          <p:cNvPr id="135" name="Straight Arrow Connector 134">
            <a:extLst>
              <a:ext uri="{FF2B5EF4-FFF2-40B4-BE49-F238E27FC236}">
                <a16:creationId xmlns:a16="http://schemas.microsoft.com/office/drawing/2014/main" id="{C707F8AF-1904-4E85-80F4-68DB4273183F}"/>
              </a:ext>
            </a:extLst>
          </p:cNvPr>
          <p:cNvCxnSpPr>
            <a:cxnSpLocks/>
          </p:cNvCxnSpPr>
          <p:nvPr/>
        </p:nvCxnSpPr>
        <p:spPr>
          <a:xfrm>
            <a:off x="6567923" y="2461784"/>
            <a:ext cx="271281" cy="27304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6" name="TextBox 135">
            <a:extLst>
              <a:ext uri="{FF2B5EF4-FFF2-40B4-BE49-F238E27FC236}">
                <a16:creationId xmlns:a16="http://schemas.microsoft.com/office/drawing/2014/main" id="{E64B3789-6895-4A8D-85EE-60F5E4BDE66C}"/>
              </a:ext>
            </a:extLst>
          </p:cNvPr>
          <p:cNvSpPr txBox="1"/>
          <p:nvPr/>
        </p:nvSpPr>
        <p:spPr>
          <a:xfrm>
            <a:off x="6563092" y="2594262"/>
            <a:ext cx="300594" cy="200055"/>
          </a:xfrm>
          <a:prstGeom prst="rect">
            <a:avLst/>
          </a:prstGeom>
          <a:noFill/>
        </p:spPr>
        <p:txBody>
          <a:bodyPr wrap="square" rtlCol="0">
            <a:spAutoFit/>
          </a:bodyPr>
          <a:lstStyle/>
          <a:p>
            <a:r>
              <a:rPr lang="en-US" sz="700" dirty="0"/>
              <a:t>38</a:t>
            </a:r>
          </a:p>
        </p:txBody>
      </p:sp>
      <p:cxnSp>
        <p:nvCxnSpPr>
          <p:cNvPr id="133" name="Straight Arrow Connector 132">
            <a:extLst>
              <a:ext uri="{FF2B5EF4-FFF2-40B4-BE49-F238E27FC236}">
                <a16:creationId xmlns:a16="http://schemas.microsoft.com/office/drawing/2014/main" id="{AAC22DCA-510D-4C5B-AC57-92F80F16FFA1}"/>
              </a:ext>
            </a:extLst>
          </p:cNvPr>
          <p:cNvCxnSpPr/>
          <p:nvPr/>
        </p:nvCxnSpPr>
        <p:spPr>
          <a:xfrm flipH="1" flipV="1">
            <a:off x="5822068" y="1957370"/>
            <a:ext cx="349247" cy="21946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9" name="TextBox 138">
            <a:extLst>
              <a:ext uri="{FF2B5EF4-FFF2-40B4-BE49-F238E27FC236}">
                <a16:creationId xmlns:a16="http://schemas.microsoft.com/office/drawing/2014/main" id="{EFA40037-8713-4ACD-B6A6-43EF3B13FF6F}"/>
              </a:ext>
            </a:extLst>
          </p:cNvPr>
          <p:cNvSpPr txBox="1"/>
          <p:nvPr/>
        </p:nvSpPr>
        <p:spPr>
          <a:xfrm>
            <a:off x="5901057" y="1887108"/>
            <a:ext cx="300594" cy="200055"/>
          </a:xfrm>
          <a:prstGeom prst="rect">
            <a:avLst/>
          </a:prstGeom>
          <a:noFill/>
        </p:spPr>
        <p:txBody>
          <a:bodyPr wrap="square" rtlCol="0">
            <a:spAutoFit/>
          </a:bodyPr>
          <a:lstStyle/>
          <a:p>
            <a:r>
              <a:rPr lang="en-US" sz="700" dirty="0"/>
              <a:t>40</a:t>
            </a:r>
          </a:p>
        </p:txBody>
      </p:sp>
      <p:cxnSp>
        <p:nvCxnSpPr>
          <p:cNvPr id="140" name="Straight Arrow Connector 139">
            <a:extLst>
              <a:ext uri="{FF2B5EF4-FFF2-40B4-BE49-F238E27FC236}">
                <a16:creationId xmlns:a16="http://schemas.microsoft.com/office/drawing/2014/main" id="{BEE54448-C6DD-4CA6-A83D-AA12B099A1AD}"/>
              </a:ext>
            </a:extLst>
          </p:cNvPr>
          <p:cNvCxnSpPr/>
          <p:nvPr/>
        </p:nvCxnSpPr>
        <p:spPr>
          <a:xfrm flipH="1" flipV="1">
            <a:off x="5075434" y="1513390"/>
            <a:ext cx="349247" cy="21946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1" name="TextBox 140">
            <a:extLst>
              <a:ext uri="{FF2B5EF4-FFF2-40B4-BE49-F238E27FC236}">
                <a16:creationId xmlns:a16="http://schemas.microsoft.com/office/drawing/2014/main" id="{B3745190-C4AB-4C8A-A690-ACE8B15919CC}"/>
              </a:ext>
            </a:extLst>
          </p:cNvPr>
          <p:cNvSpPr txBox="1"/>
          <p:nvPr/>
        </p:nvSpPr>
        <p:spPr>
          <a:xfrm>
            <a:off x="5154423" y="1443128"/>
            <a:ext cx="300594" cy="200055"/>
          </a:xfrm>
          <a:prstGeom prst="rect">
            <a:avLst/>
          </a:prstGeom>
          <a:noFill/>
        </p:spPr>
        <p:txBody>
          <a:bodyPr wrap="square" rtlCol="0">
            <a:spAutoFit/>
          </a:bodyPr>
          <a:lstStyle/>
          <a:p>
            <a:r>
              <a:rPr lang="en-US" sz="700" dirty="0"/>
              <a:t>42</a:t>
            </a:r>
          </a:p>
        </p:txBody>
      </p:sp>
      <p:cxnSp>
        <p:nvCxnSpPr>
          <p:cNvPr id="130" name="Straight Arrow Connector 129">
            <a:extLst>
              <a:ext uri="{FF2B5EF4-FFF2-40B4-BE49-F238E27FC236}">
                <a16:creationId xmlns:a16="http://schemas.microsoft.com/office/drawing/2014/main" id="{393393C3-40C7-48F0-8886-8B6ADB9B5272}"/>
              </a:ext>
            </a:extLst>
          </p:cNvPr>
          <p:cNvCxnSpPr>
            <a:cxnSpLocks/>
          </p:cNvCxnSpPr>
          <p:nvPr/>
        </p:nvCxnSpPr>
        <p:spPr>
          <a:xfrm flipV="1">
            <a:off x="3815473" y="2457114"/>
            <a:ext cx="466348" cy="27587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2" name="TextBox 131">
            <a:extLst>
              <a:ext uri="{FF2B5EF4-FFF2-40B4-BE49-F238E27FC236}">
                <a16:creationId xmlns:a16="http://schemas.microsoft.com/office/drawing/2014/main" id="{1157587C-9462-4D0C-95F3-92B03D1904FC}"/>
              </a:ext>
            </a:extLst>
          </p:cNvPr>
          <p:cNvSpPr txBox="1"/>
          <p:nvPr/>
        </p:nvSpPr>
        <p:spPr>
          <a:xfrm>
            <a:off x="4070391" y="2494234"/>
            <a:ext cx="301843" cy="200055"/>
          </a:xfrm>
          <a:prstGeom prst="rect">
            <a:avLst/>
          </a:prstGeom>
          <a:noFill/>
        </p:spPr>
        <p:txBody>
          <a:bodyPr wrap="square" rtlCol="0">
            <a:spAutoFit/>
          </a:bodyPr>
          <a:lstStyle/>
          <a:p>
            <a:r>
              <a:rPr lang="en-US" sz="700" dirty="0"/>
              <a:t>16</a:t>
            </a:r>
          </a:p>
        </p:txBody>
      </p:sp>
      <p:cxnSp>
        <p:nvCxnSpPr>
          <p:cNvPr id="134" name="Straight Arrow Connector 133">
            <a:extLst>
              <a:ext uri="{FF2B5EF4-FFF2-40B4-BE49-F238E27FC236}">
                <a16:creationId xmlns:a16="http://schemas.microsoft.com/office/drawing/2014/main" id="{C4E93E00-9E96-4A5F-AC6A-A232F8D4BE6D}"/>
              </a:ext>
            </a:extLst>
          </p:cNvPr>
          <p:cNvCxnSpPr/>
          <p:nvPr/>
        </p:nvCxnSpPr>
        <p:spPr>
          <a:xfrm flipH="1" flipV="1">
            <a:off x="3944495" y="1894334"/>
            <a:ext cx="349247" cy="21946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7" name="TextBox 136">
            <a:extLst>
              <a:ext uri="{FF2B5EF4-FFF2-40B4-BE49-F238E27FC236}">
                <a16:creationId xmlns:a16="http://schemas.microsoft.com/office/drawing/2014/main" id="{8D6B9E47-AF53-4ABE-A507-2981257F1AB2}"/>
              </a:ext>
            </a:extLst>
          </p:cNvPr>
          <p:cNvSpPr txBox="1"/>
          <p:nvPr/>
        </p:nvSpPr>
        <p:spPr>
          <a:xfrm>
            <a:off x="4023484" y="1824072"/>
            <a:ext cx="300594" cy="200055"/>
          </a:xfrm>
          <a:prstGeom prst="rect">
            <a:avLst/>
          </a:prstGeom>
          <a:noFill/>
        </p:spPr>
        <p:txBody>
          <a:bodyPr wrap="square" rtlCol="0">
            <a:spAutoFit/>
          </a:bodyPr>
          <a:lstStyle/>
          <a:p>
            <a:r>
              <a:rPr lang="en-US" sz="700" dirty="0"/>
              <a:t>19</a:t>
            </a:r>
          </a:p>
        </p:txBody>
      </p:sp>
      <p:cxnSp>
        <p:nvCxnSpPr>
          <p:cNvPr id="138" name="Straight Arrow Connector 137">
            <a:extLst>
              <a:ext uri="{FF2B5EF4-FFF2-40B4-BE49-F238E27FC236}">
                <a16:creationId xmlns:a16="http://schemas.microsoft.com/office/drawing/2014/main" id="{6FBBDD56-38AD-4D6D-8FFB-ED0E7475BE8C}"/>
              </a:ext>
            </a:extLst>
          </p:cNvPr>
          <p:cNvCxnSpPr>
            <a:cxnSpLocks/>
          </p:cNvCxnSpPr>
          <p:nvPr/>
        </p:nvCxnSpPr>
        <p:spPr>
          <a:xfrm flipV="1">
            <a:off x="4023484" y="1682076"/>
            <a:ext cx="494085" cy="1649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2" name="TextBox 141">
            <a:extLst>
              <a:ext uri="{FF2B5EF4-FFF2-40B4-BE49-F238E27FC236}">
                <a16:creationId xmlns:a16="http://schemas.microsoft.com/office/drawing/2014/main" id="{3D987B2C-9A00-4513-A0D4-FECE5FC1E291}"/>
              </a:ext>
            </a:extLst>
          </p:cNvPr>
          <p:cNvSpPr txBox="1"/>
          <p:nvPr/>
        </p:nvSpPr>
        <p:spPr>
          <a:xfrm>
            <a:off x="4308435" y="1726261"/>
            <a:ext cx="301843" cy="200055"/>
          </a:xfrm>
          <a:prstGeom prst="rect">
            <a:avLst/>
          </a:prstGeom>
          <a:noFill/>
        </p:spPr>
        <p:txBody>
          <a:bodyPr wrap="square" rtlCol="0">
            <a:spAutoFit/>
          </a:bodyPr>
          <a:lstStyle/>
          <a:p>
            <a:r>
              <a:rPr lang="en-US" sz="700" dirty="0"/>
              <a:t>21</a:t>
            </a:r>
          </a:p>
        </p:txBody>
      </p:sp>
      <p:cxnSp>
        <p:nvCxnSpPr>
          <p:cNvPr id="143" name="Straight Arrow Connector 142">
            <a:extLst>
              <a:ext uri="{FF2B5EF4-FFF2-40B4-BE49-F238E27FC236}">
                <a16:creationId xmlns:a16="http://schemas.microsoft.com/office/drawing/2014/main" id="{9060191A-95D4-4327-AEDD-33AC203B5201}"/>
              </a:ext>
            </a:extLst>
          </p:cNvPr>
          <p:cNvCxnSpPr>
            <a:cxnSpLocks/>
          </p:cNvCxnSpPr>
          <p:nvPr/>
        </p:nvCxnSpPr>
        <p:spPr>
          <a:xfrm flipH="1" flipV="1">
            <a:off x="5952068" y="2950739"/>
            <a:ext cx="260616" cy="29500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702E205F-35D7-4A02-AD0A-4F71EC839259}"/>
              </a:ext>
            </a:extLst>
          </p:cNvPr>
          <p:cNvSpPr txBox="1"/>
          <p:nvPr/>
        </p:nvSpPr>
        <p:spPr>
          <a:xfrm>
            <a:off x="5978202" y="2914509"/>
            <a:ext cx="300594" cy="200055"/>
          </a:xfrm>
          <a:prstGeom prst="rect">
            <a:avLst/>
          </a:prstGeom>
          <a:noFill/>
        </p:spPr>
        <p:txBody>
          <a:bodyPr wrap="square" rtlCol="0">
            <a:spAutoFit/>
          </a:bodyPr>
          <a:lstStyle/>
          <a:p>
            <a:r>
              <a:rPr lang="en-US" sz="700" dirty="0"/>
              <a:t>35</a:t>
            </a:r>
          </a:p>
        </p:txBody>
      </p:sp>
      <p:sp>
        <p:nvSpPr>
          <p:cNvPr id="145" name="TextBox 144">
            <a:extLst>
              <a:ext uri="{FF2B5EF4-FFF2-40B4-BE49-F238E27FC236}">
                <a16:creationId xmlns:a16="http://schemas.microsoft.com/office/drawing/2014/main" id="{D1BA72E7-46EC-482D-BABE-221B201055B4}"/>
              </a:ext>
            </a:extLst>
          </p:cNvPr>
          <p:cNvSpPr txBox="1"/>
          <p:nvPr/>
        </p:nvSpPr>
        <p:spPr>
          <a:xfrm>
            <a:off x="6008607" y="2592721"/>
            <a:ext cx="364200" cy="200055"/>
          </a:xfrm>
          <a:prstGeom prst="rect">
            <a:avLst/>
          </a:prstGeom>
          <a:noFill/>
        </p:spPr>
        <p:txBody>
          <a:bodyPr wrap="square" rtlCol="0">
            <a:spAutoFit/>
          </a:bodyPr>
          <a:lstStyle/>
          <a:p>
            <a:r>
              <a:rPr lang="en-US" sz="700" dirty="0"/>
              <a:t>37</a:t>
            </a:r>
          </a:p>
        </p:txBody>
      </p:sp>
    </p:spTree>
    <p:extLst>
      <p:ext uri="{BB962C8B-B14F-4D97-AF65-F5344CB8AC3E}">
        <p14:creationId xmlns:p14="http://schemas.microsoft.com/office/powerpoint/2010/main" val="244690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4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5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8"/>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7"/>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60"/>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59"/>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63"/>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6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68"/>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67"/>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6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72"/>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6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7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5"/>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78"/>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79"/>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82"/>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81"/>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80"/>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85"/>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7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73"/>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32"/>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130"/>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childTnLst>
                                    <p:set>
                                      <p:cBhvr>
                                        <p:cTn id="180" dur="1" fill="hold">
                                          <p:stCondLst>
                                            <p:cond delay="0"/>
                                          </p:stCondLst>
                                        </p:cTn>
                                        <p:tgtEl>
                                          <p:spTgt spid="91"/>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90"/>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86"/>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134"/>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137"/>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53"/>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142"/>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138"/>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100"/>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101"/>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96"/>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97"/>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nodeType="clickEffect">
                                  <p:stCondLst>
                                    <p:cond delay="0"/>
                                  </p:stCondLst>
                                  <p:childTnLst>
                                    <p:set>
                                      <p:cBhvr>
                                        <p:cTn id="218" dur="1" fill="hold">
                                          <p:stCondLst>
                                            <p:cond delay="0"/>
                                          </p:stCondLst>
                                        </p:cTn>
                                        <p:tgtEl>
                                          <p:spTgt spid="93"/>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94"/>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presetSubtype="0" fill="hold" grpId="0" nodeType="clickEffect">
                                  <p:stCondLst>
                                    <p:cond delay="0"/>
                                  </p:stCondLst>
                                  <p:childTnLst>
                                    <p:set>
                                      <p:cBhvr>
                                        <p:cTn id="224" dur="1" fill="hold">
                                          <p:stCondLst>
                                            <p:cond delay="0"/>
                                          </p:stCondLst>
                                        </p:cTn>
                                        <p:tgtEl>
                                          <p:spTgt spid="103"/>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02"/>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11"/>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12"/>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113"/>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14"/>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grpId="0" nodeType="clickEffect">
                                  <p:stCondLst>
                                    <p:cond delay="0"/>
                                  </p:stCondLst>
                                  <p:childTnLst>
                                    <p:set>
                                      <p:cBhvr>
                                        <p:cTn id="242" dur="1" fill="hold">
                                          <p:stCondLst>
                                            <p:cond delay="0"/>
                                          </p:stCondLst>
                                        </p:cTn>
                                        <p:tgtEl>
                                          <p:spTgt spid="117"/>
                                        </p:tgtEl>
                                        <p:attrNameLst>
                                          <p:attrName>style.visibility</p:attrName>
                                        </p:attrNameLst>
                                      </p:cBhvr>
                                      <p:to>
                                        <p:strVal val="visible"/>
                                      </p:to>
                                    </p:set>
                                  </p:childTnLst>
                                </p:cTn>
                              </p:par>
                              <p:par>
                                <p:cTn id="243" presetID="1" presetClass="entr" presetSubtype="0" fill="hold" nodeType="withEffect">
                                  <p:stCondLst>
                                    <p:cond delay="0"/>
                                  </p:stCondLst>
                                  <p:childTnLst>
                                    <p:set>
                                      <p:cBhvr>
                                        <p:cTn id="244" dur="1" fill="hold">
                                          <p:stCondLst>
                                            <p:cond delay="0"/>
                                          </p:stCondLst>
                                        </p:cTn>
                                        <p:tgtEl>
                                          <p:spTgt spid="116"/>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grpId="0" nodeType="clickEffect">
                                  <p:stCondLst>
                                    <p:cond delay="0"/>
                                  </p:stCondLst>
                                  <p:childTnLst>
                                    <p:set>
                                      <p:cBhvr>
                                        <p:cTn id="248" dur="1" fill="hold">
                                          <p:stCondLst>
                                            <p:cond delay="0"/>
                                          </p:stCondLst>
                                        </p:cTn>
                                        <p:tgtEl>
                                          <p:spTgt spid="115"/>
                                        </p:tgtEl>
                                        <p:attrNameLst>
                                          <p:attrName>style.visibility</p:attrName>
                                        </p:attrNameLst>
                                      </p:cBhvr>
                                      <p:to>
                                        <p:strVal val="visible"/>
                                      </p:to>
                                    </p:set>
                                  </p:childTnLst>
                                </p:cTn>
                              </p:par>
                            </p:childTnLst>
                          </p:cTn>
                        </p:par>
                      </p:childTnLst>
                    </p:cTn>
                  </p:par>
                  <p:par>
                    <p:cTn id="249" fill="hold">
                      <p:stCondLst>
                        <p:cond delay="indefinite"/>
                      </p:stCondLst>
                      <p:childTnLst>
                        <p:par>
                          <p:cTn id="250" fill="hold">
                            <p:stCondLst>
                              <p:cond delay="0"/>
                            </p:stCondLst>
                            <p:childTnLst>
                              <p:par>
                                <p:cTn id="251" presetID="1" presetClass="entr" presetSubtype="0" fill="hold" grpId="0" nodeType="clickEffect">
                                  <p:stCondLst>
                                    <p:cond delay="0"/>
                                  </p:stCondLst>
                                  <p:childTnLst>
                                    <p:set>
                                      <p:cBhvr>
                                        <p:cTn id="252" dur="1" fill="hold">
                                          <p:stCondLst>
                                            <p:cond delay="0"/>
                                          </p:stCondLst>
                                        </p:cTn>
                                        <p:tgtEl>
                                          <p:spTgt spid="119"/>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118"/>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22"/>
                                        </p:tgtEl>
                                        <p:attrNameLst>
                                          <p:attrName>style.visibility</p:attrName>
                                        </p:attrNameLst>
                                      </p:cBhvr>
                                      <p:to>
                                        <p:strVal val="visible"/>
                                      </p:to>
                                    </p:set>
                                  </p:childTnLst>
                                </p:cTn>
                              </p:par>
                              <p:par>
                                <p:cTn id="259" presetID="1" presetClass="entr" presetSubtype="0" fill="hold" nodeType="withEffect">
                                  <p:stCondLst>
                                    <p:cond delay="0"/>
                                  </p:stCondLst>
                                  <p:childTnLst>
                                    <p:set>
                                      <p:cBhvr>
                                        <p:cTn id="260" dur="1" fill="hold">
                                          <p:stCondLst>
                                            <p:cond delay="0"/>
                                          </p:stCondLst>
                                        </p:cTn>
                                        <p:tgtEl>
                                          <p:spTgt spid="121"/>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grpId="0" nodeType="clickEffect">
                                  <p:stCondLst>
                                    <p:cond delay="0"/>
                                  </p:stCondLst>
                                  <p:childTnLst>
                                    <p:set>
                                      <p:cBhvr>
                                        <p:cTn id="264" dur="1" fill="hold">
                                          <p:stCondLst>
                                            <p:cond delay="0"/>
                                          </p:stCondLst>
                                        </p:cTn>
                                        <p:tgtEl>
                                          <p:spTgt spid="124"/>
                                        </p:tgtEl>
                                        <p:attrNameLst>
                                          <p:attrName>style.visibility</p:attrName>
                                        </p:attrNameLst>
                                      </p:cBhvr>
                                      <p:to>
                                        <p:strVal val="visible"/>
                                      </p:to>
                                    </p:set>
                                  </p:childTnLst>
                                </p:cTn>
                              </p:par>
                              <p:par>
                                <p:cTn id="265" presetID="1" presetClass="entr" presetSubtype="0" fill="hold" nodeType="withEffect">
                                  <p:stCondLst>
                                    <p:cond delay="0"/>
                                  </p:stCondLst>
                                  <p:childTnLst>
                                    <p:set>
                                      <p:cBhvr>
                                        <p:cTn id="266" dur="1" fill="hold">
                                          <p:stCondLst>
                                            <p:cond delay="0"/>
                                          </p:stCondLst>
                                        </p:cTn>
                                        <p:tgtEl>
                                          <p:spTgt spid="123"/>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 presetClass="entr" presetSubtype="0" fill="hold" grpId="0" nodeType="clickEffect">
                                  <p:stCondLst>
                                    <p:cond delay="0"/>
                                  </p:stCondLst>
                                  <p:childTnLst>
                                    <p:set>
                                      <p:cBhvr>
                                        <p:cTn id="270" dur="1" fill="hold">
                                          <p:stCondLst>
                                            <p:cond delay="0"/>
                                          </p:stCondLst>
                                        </p:cTn>
                                        <p:tgtEl>
                                          <p:spTgt spid="127"/>
                                        </p:tgtEl>
                                        <p:attrNameLst>
                                          <p:attrName>style.visibility</p:attrName>
                                        </p:attrNameLst>
                                      </p:cBhvr>
                                      <p:to>
                                        <p:strVal val="visible"/>
                                      </p:to>
                                    </p:set>
                                  </p:childTnLst>
                                </p:cTn>
                              </p:par>
                              <p:par>
                                <p:cTn id="271" presetID="1" presetClass="entr" presetSubtype="0" fill="hold" nodeType="withEffect">
                                  <p:stCondLst>
                                    <p:cond delay="0"/>
                                  </p:stCondLst>
                                  <p:childTnLst>
                                    <p:set>
                                      <p:cBhvr>
                                        <p:cTn id="272" dur="1" fill="hold">
                                          <p:stCondLst>
                                            <p:cond delay="0"/>
                                          </p:stCondLst>
                                        </p:cTn>
                                        <p:tgtEl>
                                          <p:spTgt spid="126"/>
                                        </p:tgtEl>
                                        <p:attrNameLst>
                                          <p:attrName>style.visibility</p:attrName>
                                        </p:attrNameLst>
                                      </p:cBhvr>
                                      <p:to>
                                        <p:strVal val="visible"/>
                                      </p:to>
                                    </p:set>
                                  </p:childTnLst>
                                </p:cTn>
                              </p:par>
                            </p:childTnLst>
                          </p:cTn>
                        </p:par>
                      </p:childTnLst>
                    </p:cTn>
                  </p:par>
                  <p:par>
                    <p:cTn id="273" fill="hold">
                      <p:stCondLst>
                        <p:cond delay="indefinite"/>
                      </p:stCondLst>
                      <p:childTnLst>
                        <p:par>
                          <p:cTn id="274" fill="hold">
                            <p:stCondLst>
                              <p:cond delay="0"/>
                            </p:stCondLst>
                            <p:childTnLst>
                              <p:par>
                                <p:cTn id="275" presetID="1" presetClass="entr" presetSubtype="0" fill="hold" grpId="0" nodeType="clickEffect">
                                  <p:stCondLst>
                                    <p:cond delay="0"/>
                                  </p:stCondLst>
                                  <p:childTnLst>
                                    <p:set>
                                      <p:cBhvr>
                                        <p:cTn id="276" dur="1" fill="hold">
                                          <p:stCondLst>
                                            <p:cond delay="0"/>
                                          </p:stCondLst>
                                        </p:cTn>
                                        <p:tgtEl>
                                          <p:spTgt spid="125"/>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presetID="1" presetClass="entr" presetSubtype="0" fill="hold" grpId="0" nodeType="clickEffect">
                                  <p:stCondLst>
                                    <p:cond delay="0"/>
                                  </p:stCondLst>
                                  <p:childTnLst>
                                    <p:set>
                                      <p:cBhvr>
                                        <p:cTn id="280" dur="1" fill="hold">
                                          <p:stCondLst>
                                            <p:cond delay="0"/>
                                          </p:stCondLst>
                                        </p:cTn>
                                        <p:tgtEl>
                                          <p:spTgt spid="144"/>
                                        </p:tgtEl>
                                        <p:attrNameLst>
                                          <p:attrName>style.visibility</p:attrName>
                                        </p:attrNameLst>
                                      </p:cBhvr>
                                      <p:to>
                                        <p:strVal val="visible"/>
                                      </p:to>
                                    </p:set>
                                  </p:childTnLst>
                                </p:cTn>
                              </p:par>
                              <p:par>
                                <p:cTn id="281" presetID="1" presetClass="entr" presetSubtype="0" fill="hold" nodeType="withEffect">
                                  <p:stCondLst>
                                    <p:cond delay="0"/>
                                  </p:stCondLst>
                                  <p:childTnLst>
                                    <p:set>
                                      <p:cBhvr>
                                        <p:cTn id="282" dur="1" fill="hold">
                                          <p:stCondLst>
                                            <p:cond delay="0"/>
                                          </p:stCondLst>
                                        </p:cTn>
                                        <p:tgtEl>
                                          <p:spTgt spid="143"/>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grpId="0" nodeType="clickEffect">
                                  <p:stCondLst>
                                    <p:cond delay="0"/>
                                  </p:stCondLst>
                                  <p:childTnLst>
                                    <p:set>
                                      <p:cBhvr>
                                        <p:cTn id="286" dur="1" fill="hold">
                                          <p:stCondLst>
                                            <p:cond delay="0"/>
                                          </p:stCondLst>
                                        </p:cTn>
                                        <p:tgtEl>
                                          <p:spTgt spid="120"/>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grpId="0" nodeType="clickEffect">
                                  <p:stCondLst>
                                    <p:cond delay="0"/>
                                  </p:stCondLst>
                                  <p:childTnLst>
                                    <p:set>
                                      <p:cBhvr>
                                        <p:cTn id="290" dur="1" fill="hold">
                                          <p:stCondLst>
                                            <p:cond delay="0"/>
                                          </p:stCondLst>
                                        </p:cTn>
                                        <p:tgtEl>
                                          <p:spTgt spid="145"/>
                                        </p:tgtEl>
                                        <p:attrNameLst>
                                          <p:attrName>style.visibility</p:attrName>
                                        </p:attrNameLst>
                                      </p:cBhvr>
                                      <p:to>
                                        <p:strVal val="visible"/>
                                      </p:to>
                                    </p:set>
                                  </p:childTnLst>
                                </p:cTn>
                              </p:par>
                              <p:par>
                                <p:cTn id="291" presetID="1" presetClass="entr" presetSubtype="0" fill="hold" nodeType="withEffect">
                                  <p:stCondLst>
                                    <p:cond delay="0"/>
                                  </p:stCondLst>
                                  <p:childTnLst>
                                    <p:set>
                                      <p:cBhvr>
                                        <p:cTn id="292" dur="1" fill="hold">
                                          <p:stCondLst>
                                            <p:cond delay="0"/>
                                          </p:stCondLst>
                                        </p:cTn>
                                        <p:tgtEl>
                                          <p:spTgt spid="128"/>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grpId="0" nodeType="clickEffect">
                                  <p:stCondLst>
                                    <p:cond delay="0"/>
                                  </p:stCondLst>
                                  <p:childTnLst>
                                    <p:set>
                                      <p:cBhvr>
                                        <p:cTn id="296" dur="1" fill="hold">
                                          <p:stCondLst>
                                            <p:cond delay="0"/>
                                          </p:stCondLst>
                                        </p:cTn>
                                        <p:tgtEl>
                                          <p:spTgt spid="136"/>
                                        </p:tgtEl>
                                        <p:attrNameLst>
                                          <p:attrName>style.visibility</p:attrName>
                                        </p:attrNameLst>
                                      </p:cBhvr>
                                      <p:to>
                                        <p:strVal val="visible"/>
                                      </p:to>
                                    </p:set>
                                  </p:childTnLst>
                                </p:cTn>
                              </p:par>
                              <p:par>
                                <p:cTn id="297" presetID="1" presetClass="entr" presetSubtype="0" fill="hold" nodeType="withEffect">
                                  <p:stCondLst>
                                    <p:cond delay="0"/>
                                  </p:stCondLst>
                                  <p:childTnLst>
                                    <p:set>
                                      <p:cBhvr>
                                        <p:cTn id="298" dur="1" fill="hold">
                                          <p:stCondLst>
                                            <p:cond delay="0"/>
                                          </p:stCondLst>
                                        </p:cTn>
                                        <p:tgtEl>
                                          <p:spTgt spid="135"/>
                                        </p:tgtEl>
                                        <p:attrNameLst>
                                          <p:attrName>style.visibility</p:attrName>
                                        </p:attrNameLst>
                                      </p:cBhvr>
                                      <p:to>
                                        <p:strVal val="visible"/>
                                      </p:to>
                                    </p:set>
                                  </p:childTnLst>
                                </p:cTn>
                              </p:par>
                            </p:childTnLst>
                          </p:cTn>
                        </p:par>
                      </p:childTnLst>
                    </p:cTn>
                  </p:par>
                  <p:par>
                    <p:cTn id="299" fill="hold">
                      <p:stCondLst>
                        <p:cond delay="indefinite"/>
                      </p:stCondLst>
                      <p:childTnLst>
                        <p:par>
                          <p:cTn id="300" fill="hold">
                            <p:stCondLst>
                              <p:cond delay="0"/>
                            </p:stCondLst>
                            <p:childTnLst>
                              <p:par>
                                <p:cTn id="301" presetID="1" presetClass="entr" presetSubtype="0" fill="hold" grpId="0" nodeType="clickEffect">
                                  <p:stCondLst>
                                    <p:cond delay="0"/>
                                  </p:stCondLst>
                                  <p:childTnLst>
                                    <p:set>
                                      <p:cBhvr>
                                        <p:cTn id="302" dur="1" fill="hold">
                                          <p:stCondLst>
                                            <p:cond delay="0"/>
                                          </p:stCondLst>
                                        </p:cTn>
                                        <p:tgtEl>
                                          <p:spTgt spid="131"/>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presetSubtype="0" fill="hold" grpId="0" nodeType="clickEffect">
                                  <p:stCondLst>
                                    <p:cond delay="0"/>
                                  </p:stCondLst>
                                  <p:childTnLst>
                                    <p:set>
                                      <p:cBhvr>
                                        <p:cTn id="306" dur="1" fill="hold">
                                          <p:stCondLst>
                                            <p:cond delay="0"/>
                                          </p:stCondLst>
                                        </p:cTn>
                                        <p:tgtEl>
                                          <p:spTgt spid="139"/>
                                        </p:tgtEl>
                                        <p:attrNameLst>
                                          <p:attrName>style.visibility</p:attrName>
                                        </p:attrNameLst>
                                      </p:cBhvr>
                                      <p:to>
                                        <p:strVal val="visible"/>
                                      </p:to>
                                    </p:set>
                                  </p:childTnLst>
                                </p:cTn>
                              </p:par>
                              <p:par>
                                <p:cTn id="307" presetID="1" presetClass="entr" presetSubtype="0" fill="hold" nodeType="withEffect">
                                  <p:stCondLst>
                                    <p:cond delay="0"/>
                                  </p:stCondLst>
                                  <p:childTnLst>
                                    <p:set>
                                      <p:cBhvr>
                                        <p:cTn id="308" dur="1" fill="hold">
                                          <p:stCondLst>
                                            <p:cond delay="0"/>
                                          </p:stCondLst>
                                        </p:cTn>
                                        <p:tgtEl>
                                          <p:spTgt spid="133"/>
                                        </p:tgtEl>
                                        <p:attrNameLst>
                                          <p:attrName>style.visibility</p:attrName>
                                        </p:attrNameLst>
                                      </p:cBhvr>
                                      <p:to>
                                        <p:strVal val="visible"/>
                                      </p:to>
                                    </p:set>
                                  </p:childTnLst>
                                </p:cTn>
                              </p:par>
                            </p:childTnLst>
                          </p:cTn>
                        </p:par>
                      </p:childTnLst>
                    </p:cTn>
                  </p:par>
                  <p:par>
                    <p:cTn id="309" fill="hold">
                      <p:stCondLst>
                        <p:cond delay="indefinite"/>
                      </p:stCondLst>
                      <p:childTnLst>
                        <p:par>
                          <p:cTn id="310" fill="hold">
                            <p:stCondLst>
                              <p:cond delay="0"/>
                            </p:stCondLst>
                            <p:childTnLst>
                              <p:par>
                                <p:cTn id="311" presetID="1" presetClass="entr" presetSubtype="0" fill="hold" grpId="0" nodeType="clickEffect">
                                  <p:stCondLst>
                                    <p:cond delay="0"/>
                                  </p:stCondLst>
                                  <p:childTnLst>
                                    <p:set>
                                      <p:cBhvr>
                                        <p:cTn id="312" dur="1" fill="hold">
                                          <p:stCondLst>
                                            <p:cond delay="0"/>
                                          </p:stCondLst>
                                        </p:cTn>
                                        <p:tgtEl>
                                          <p:spTgt spid="99"/>
                                        </p:tgtEl>
                                        <p:attrNameLst>
                                          <p:attrName>style.visibility</p:attrName>
                                        </p:attrNameLst>
                                      </p:cBhvr>
                                      <p:to>
                                        <p:strVal val="visible"/>
                                      </p:to>
                                    </p:set>
                                  </p:childTnLst>
                                </p:cTn>
                              </p:par>
                            </p:childTnLst>
                          </p:cTn>
                        </p:par>
                      </p:childTnLst>
                    </p:cTn>
                  </p:par>
                  <p:par>
                    <p:cTn id="313" fill="hold">
                      <p:stCondLst>
                        <p:cond delay="indefinite"/>
                      </p:stCondLst>
                      <p:childTnLst>
                        <p:par>
                          <p:cTn id="314" fill="hold">
                            <p:stCondLst>
                              <p:cond delay="0"/>
                            </p:stCondLst>
                            <p:childTnLst>
                              <p:par>
                                <p:cTn id="315" presetID="1" presetClass="entr" presetSubtype="0" fill="hold" grpId="0" nodeType="clickEffect">
                                  <p:stCondLst>
                                    <p:cond delay="0"/>
                                  </p:stCondLst>
                                  <p:childTnLst>
                                    <p:set>
                                      <p:cBhvr>
                                        <p:cTn id="316" dur="1" fill="hold">
                                          <p:stCondLst>
                                            <p:cond delay="0"/>
                                          </p:stCondLst>
                                        </p:cTn>
                                        <p:tgtEl>
                                          <p:spTgt spid="141"/>
                                        </p:tgtEl>
                                        <p:attrNameLst>
                                          <p:attrName>style.visibility</p:attrName>
                                        </p:attrNameLst>
                                      </p:cBhvr>
                                      <p:to>
                                        <p:strVal val="visible"/>
                                      </p:to>
                                    </p:set>
                                  </p:childTnLst>
                                </p:cTn>
                              </p:par>
                              <p:par>
                                <p:cTn id="317" presetID="1" presetClass="entr" presetSubtype="0" fill="hold" nodeType="withEffect">
                                  <p:stCondLst>
                                    <p:cond delay="0"/>
                                  </p:stCondLst>
                                  <p:childTnLst>
                                    <p:set>
                                      <p:cBhvr>
                                        <p:cTn id="318" dur="1" fill="hold">
                                          <p:stCondLst>
                                            <p:cond delay="0"/>
                                          </p:stCondLst>
                                        </p:cTn>
                                        <p:tgtEl>
                                          <p:spTgt spid="140"/>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grpId="0" nodeType="clickEffect">
                                  <p:stCondLst>
                                    <p:cond delay="0"/>
                                  </p:stCondLst>
                                  <p:childTnLst>
                                    <p:set>
                                      <p:cBhvr>
                                        <p:cTn id="322"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5" grpId="0" animBg="1"/>
      <p:bldP spid="16" grpId="0" animBg="1"/>
      <p:bldP spid="17" grpId="0" animBg="1"/>
      <p:bldP spid="20" grpId="0" animBg="1"/>
      <p:bldP spid="21" grpId="0" animBg="1"/>
      <p:bldP spid="23" grpId="0" animBg="1"/>
      <p:bldP spid="25" grpId="0" animBg="1"/>
      <p:bldP spid="28" grpId="0" animBg="1"/>
      <p:bldP spid="30" grpId="0" animBg="1"/>
      <p:bldP spid="32" grpId="0" animBg="1"/>
      <p:bldP spid="33" grpId="0" animBg="1"/>
      <p:bldP spid="35" grpId="0" animBg="1"/>
      <p:bldP spid="36" grpId="0" animBg="1"/>
      <p:bldP spid="39" grpId="0" animBg="1"/>
      <p:bldP spid="41" grpId="0" animBg="1"/>
      <p:bldP spid="43" grpId="0" animBg="1"/>
      <p:bldP spid="45" grpId="0" animBg="1"/>
      <p:bldP spid="47" grpId="0" animBg="1"/>
      <p:bldP spid="48" grpId="0" animBg="1"/>
      <p:bldP spid="11" grpId="0"/>
      <p:bldP spid="52" grpId="0"/>
      <p:bldP spid="53" grpId="0"/>
      <p:bldP spid="56" grpId="0"/>
      <p:bldP spid="58" grpId="0"/>
      <p:bldP spid="60" grpId="0"/>
      <p:bldP spid="63" grpId="0"/>
      <p:bldP spid="66" grpId="0"/>
      <p:bldP spid="68" grpId="0"/>
      <p:bldP spid="72" grpId="0"/>
      <p:bldP spid="73" grpId="0"/>
      <p:bldP spid="75" grpId="0"/>
      <p:bldP spid="79" grpId="0"/>
      <p:bldP spid="80" grpId="0"/>
      <p:bldP spid="82" grpId="0"/>
      <p:bldP spid="85" grpId="0"/>
      <p:bldP spid="86" grpId="0"/>
      <p:bldP spid="91" grpId="0"/>
      <p:bldP spid="92" grpId="0"/>
      <p:bldP spid="94" grpId="0"/>
      <p:bldP spid="97" grpId="0"/>
      <p:bldP spid="99" grpId="0"/>
      <p:bldP spid="101" grpId="0"/>
      <p:bldP spid="103" grpId="0"/>
      <p:bldP spid="112" grpId="0"/>
      <p:bldP spid="114" grpId="0"/>
      <p:bldP spid="115" grpId="0"/>
      <p:bldP spid="117" grpId="0"/>
      <p:bldP spid="119" grpId="0"/>
      <p:bldP spid="120" grpId="0"/>
      <p:bldP spid="122" grpId="0"/>
      <p:bldP spid="124" grpId="0"/>
      <p:bldP spid="125" grpId="0"/>
      <p:bldP spid="127" grpId="0"/>
      <p:bldP spid="131" grpId="0"/>
      <p:bldP spid="136" grpId="0"/>
      <p:bldP spid="139" grpId="0"/>
      <p:bldP spid="141" grpId="0"/>
      <p:bldP spid="132" grpId="0"/>
      <p:bldP spid="137" grpId="0"/>
      <p:bldP spid="142" grpId="0"/>
      <p:bldP spid="144" grpId="0"/>
      <p:bldP spid="14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6"/>
          <p:cNvSpPr txBox="1">
            <a:spLocks noGrp="1"/>
          </p:cNvSpPr>
          <p:nvPr>
            <p:ph type="title" idx="8"/>
          </p:nvPr>
        </p:nvSpPr>
        <p:spPr>
          <a:xfrm>
            <a:off x="640989" y="486050"/>
            <a:ext cx="3178336" cy="5272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Traversing the Tree</a:t>
            </a:r>
            <a:br>
              <a:rPr lang="en-US" dirty="0"/>
            </a:br>
            <a:r>
              <a:rPr lang="en-US" u="sng" dirty="0" err="1"/>
              <a:t>Postorder</a:t>
            </a:r>
            <a:r>
              <a:rPr lang="en-US" u="sng" dirty="0"/>
              <a:t> Traversal</a:t>
            </a:r>
          </a:p>
        </p:txBody>
      </p:sp>
      <p:sp>
        <p:nvSpPr>
          <p:cNvPr id="274" name="Google Shape;274;p36"/>
          <p:cNvSpPr txBox="1">
            <a:spLocks noGrp="1"/>
          </p:cNvSpPr>
          <p:nvPr>
            <p:ph type="subTitle" idx="1"/>
          </p:nvPr>
        </p:nvSpPr>
        <p:spPr>
          <a:xfrm>
            <a:off x="572500" y="1781724"/>
            <a:ext cx="3453809" cy="87298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1. Call itself to traverse the node’s left subtree.</a:t>
            </a:r>
          </a:p>
          <a:p>
            <a:pPr marL="0" lvl="0" indent="0" algn="l" rtl="0">
              <a:spcBef>
                <a:spcPts val="0"/>
              </a:spcBef>
              <a:spcAft>
                <a:spcPts val="0"/>
              </a:spcAft>
              <a:buClr>
                <a:schemeClr val="dk1"/>
              </a:buClr>
              <a:buSzPts val="1100"/>
              <a:buFont typeface="Arial"/>
              <a:buNone/>
            </a:pPr>
            <a:r>
              <a:rPr lang="en-US" dirty="0"/>
              <a:t>2. Call itself to traverse the node’s right subtree.</a:t>
            </a:r>
          </a:p>
          <a:p>
            <a:pPr marL="0" lvl="0" indent="0" algn="l" rtl="0">
              <a:spcBef>
                <a:spcPts val="0"/>
              </a:spcBef>
              <a:spcAft>
                <a:spcPts val="0"/>
              </a:spcAft>
              <a:buClr>
                <a:schemeClr val="dk1"/>
              </a:buClr>
              <a:buSzPts val="1100"/>
              <a:buFont typeface="Arial"/>
              <a:buNone/>
            </a:pPr>
            <a:r>
              <a:rPr lang="en-US" dirty="0"/>
              <a:t>3. Visit the node.</a:t>
            </a:r>
          </a:p>
        </p:txBody>
      </p:sp>
      <p:pic>
        <p:nvPicPr>
          <p:cNvPr id="14" name="Picture 13">
            <a:extLst>
              <a:ext uri="{FF2B5EF4-FFF2-40B4-BE49-F238E27FC236}">
                <a16:creationId xmlns:a16="http://schemas.microsoft.com/office/drawing/2014/main" id="{6129528C-1CD4-4F73-8E8E-E854325EDFEF}"/>
              </a:ext>
            </a:extLst>
          </p:cNvPr>
          <p:cNvPicPr>
            <a:picLocks noChangeAspect="1"/>
          </p:cNvPicPr>
          <p:nvPr/>
        </p:nvPicPr>
        <p:blipFill>
          <a:blip r:embed="rId3"/>
          <a:stretch>
            <a:fillRect/>
          </a:stretch>
        </p:blipFill>
        <p:spPr>
          <a:xfrm>
            <a:off x="3118213" y="2927553"/>
            <a:ext cx="5304810" cy="1369715"/>
          </a:xfrm>
          <a:prstGeom prst="rect">
            <a:avLst/>
          </a:prstGeom>
        </p:spPr>
      </p:pic>
      <p:sp>
        <p:nvSpPr>
          <p:cNvPr id="12" name="Google Shape;256;p35">
            <a:extLst>
              <a:ext uri="{FF2B5EF4-FFF2-40B4-BE49-F238E27FC236}">
                <a16:creationId xmlns:a16="http://schemas.microsoft.com/office/drawing/2014/main" id="{8A1CA1C9-D8E3-4E89-8454-63DDD7556486}"/>
              </a:ext>
            </a:extLst>
          </p:cNvPr>
          <p:cNvSpPr/>
          <p:nvPr/>
        </p:nvSpPr>
        <p:spPr>
          <a:xfrm rot="-2700000">
            <a:off x="8081904" y="4164102"/>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255;p35">
            <a:extLst>
              <a:ext uri="{FF2B5EF4-FFF2-40B4-BE49-F238E27FC236}">
                <a16:creationId xmlns:a16="http://schemas.microsoft.com/office/drawing/2014/main" id="{B019F63A-9C15-452D-A943-21A032C14810}"/>
              </a:ext>
            </a:extLst>
          </p:cNvPr>
          <p:cNvSpPr/>
          <p:nvPr/>
        </p:nvSpPr>
        <p:spPr>
          <a:xfrm rot="-2700000">
            <a:off x="2824236" y="2796615"/>
            <a:ext cx="647436" cy="266330"/>
          </a:xfrm>
          <a:custGeom>
            <a:avLst/>
            <a:gdLst/>
            <a:ahLst/>
            <a:cxnLst/>
            <a:rect l="l" t="t" r="r" b="b"/>
            <a:pathLst>
              <a:path w="36226" h="14902" extrusionOk="0">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dist="19050" dir="5400000" algn="bl" rotWithShape="0">
              <a:srgbClr val="000000">
                <a:alpha val="3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8" name="TextBox 7">
            <a:extLst>
              <a:ext uri="{FF2B5EF4-FFF2-40B4-BE49-F238E27FC236}">
                <a16:creationId xmlns:a16="http://schemas.microsoft.com/office/drawing/2014/main" id="{23DC29D9-0123-4C1E-898C-FB15C36D2F35}"/>
              </a:ext>
            </a:extLst>
          </p:cNvPr>
          <p:cNvSpPr txBox="1"/>
          <p:nvPr/>
        </p:nvSpPr>
        <p:spPr>
          <a:xfrm>
            <a:off x="4847357" y="876729"/>
            <a:ext cx="3170781" cy="430887"/>
          </a:xfrm>
          <a:prstGeom prst="rect">
            <a:avLst/>
          </a:prstGeom>
          <a:noFill/>
        </p:spPr>
        <p:txBody>
          <a:bodyPr wrap="square" rtlCol="0">
            <a:spAutoFit/>
          </a:bodyPr>
          <a:lstStyle/>
          <a:p>
            <a:r>
              <a:rPr lang="en-US" sz="1100" b="0" i="0" dirty="0">
                <a:solidFill>
                  <a:srgbClr val="444444"/>
                </a:solidFill>
                <a:effectLst/>
                <a:latin typeface="Oxygen" panose="020B0604020202020204" pitchFamily="2" charset="0"/>
              </a:rPr>
              <a:t>Input:  </a:t>
            </a:r>
          </a:p>
          <a:p>
            <a:r>
              <a:rPr lang="en-US" sz="1100" b="1" i="0" dirty="0">
                <a:solidFill>
                  <a:srgbClr val="444444"/>
                </a:solidFill>
                <a:effectLst/>
                <a:latin typeface="Oxygen" panose="020B0604020202020204" pitchFamily="2" charset="0"/>
              </a:rPr>
              <a:t>40, 4, 34, 45, 14, 55, 48, 13, 15, 49, 47 </a:t>
            </a:r>
            <a:endParaRPr lang="en-US" sz="1100" dirty="0"/>
          </a:p>
        </p:txBody>
      </p:sp>
      <p:sp>
        <p:nvSpPr>
          <p:cNvPr id="9" name="TextBox 8">
            <a:extLst>
              <a:ext uri="{FF2B5EF4-FFF2-40B4-BE49-F238E27FC236}">
                <a16:creationId xmlns:a16="http://schemas.microsoft.com/office/drawing/2014/main" id="{141AB41B-3E1F-4BD1-89FE-12473A0D2C78}"/>
              </a:ext>
            </a:extLst>
          </p:cNvPr>
          <p:cNvSpPr txBox="1"/>
          <p:nvPr/>
        </p:nvSpPr>
        <p:spPr>
          <a:xfrm>
            <a:off x="4816877" y="1463658"/>
            <a:ext cx="3180679" cy="523220"/>
          </a:xfrm>
          <a:prstGeom prst="rect">
            <a:avLst/>
          </a:prstGeom>
          <a:noFill/>
        </p:spPr>
        <p:txBody>
          <a:bodyPr wrap="none" rtlCol="0">
            <a:spAutoFit/>
          </a:bodyPr>
          <a:lstStyle/>
          <a:p>
            <a:r>
              <a:rPr lang="en-US" b="0" i="0" dirty="0">
                <a:solidFill>
                  <a:srgbClr val="444444"/>
                </a:solidFill>
                <a:effectLst/>
                <a:latin typeface="Oxygen" panose="02000503000000000000" pitchFamily="2" charset="0"/>
              </a:rPr>
              <a:t>Output:</a:t>
            </a:r>
          </a:p>
          <a:p>
            <a:r>
              <a:rPr lang="en-US" b="1" i="0" dirty="0">
                <a:solidFill>
                  <a:srgbClr val="C00000"/>
                </a:solidFill>
                <a:effectLst/>
                <a:latin typeface="Oxygen" panose="02000503000000000000" pitchFamily="2" charset="0"/>
              </a:rPr>
              <a:t>13, 15, 14, 34, 4, 47, 49, 48, 55, 45, 40</a:t>
            </a:r>
            <a:endParaRPr lang="en-US" b="1" dirty="0">
              <a:solidFill>
                <a:srgbClr val="C00000"/>
              </a:solidFill>
            </a:endParaRPr>
          </a:p>
        </p:txBody>
      </p:sp>
    </p:spTree>
    <p:extLst>
      <p:ext uri="{BB962C8B-B14F-4D97-AF65-F5344CB8AC3E}">
        <p14:creationId xmlns:p14="http://schemas.microsoft.com/office/powerpoint/2010/main" val="10258210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pic>
        <p:nvPicPr>
          <p:cNvPr id="390" name="Google Shape;390;p41"/>
          <p:cNvPicPr preferRelativeResize="0"/>
          <p:nvPr/>
        </p:nvPicPr>
        <p:blipFill rotWithShape="1">
          <a:blip r:embed="rId3">
            <a:alphaModFix amt="78000"/>
          </a:blip>
          <a:srcRect l="19967"/>
          <a:stretch/>
        </p:blipFill>
        <p:spPr>
          <a:xfrm rot="3044709">
            <a:off x="2502219" y="655690"/>
            <a:ext cx="972551" cy="533122"/>
          </a:xfrm>
          <a:prstGeom prst="rect">
            <a:avLst/>
          </a:prstGeom>
          <a:noFill/>
          <a:ln>
            <a:noFill/>
          </a:ln>
        </p:spPr>
      </p:pic>
      <p:pic>
        <p:nvPicPr>
          <p:cNvPr id="391" name="Google Shape;391;p41"/>
          <p:cNvPicPr preferRelativeResize="0"/>
          <p:nvPr/>
        </p:nvPicPr>
        <p:blipFill>
          <a:blip r:embed="rId4">
            <a:alphaModFix/>
          </a:blip>
          <a:stretch>
            <a:fillRect/>
          </a:stretch>
        </p:blipFill>
        <p:spPr>
          <a:xfrm>
            <a:off x="2845079" y="4274088"/>
            <a:ext cx="2610150" cy="325925"/>
          </a:xfrm>
          <a:prstGeom prst="rect">
            <a:avLst/>
          </a:prstGeom>
          <a:noFill/>
          <a:ln>
            <a:noFill/>
          </a:ln>
        </p:spPr>
      </p:pic>
      <p:sp>
        <p:nvSpPr>
          <p:cNvPr id="6" name="Google Shape;234;p34">
            <a:extLst>
              <a:ext uri="{FF2B5EF4-FFF2-40B4-BE49-F238E27FC236}">
                <a16:creationId xmlns:a16="http://schemas.microsoft.com/office/drawing/2014/main" id="{566CCBA2-C3F3-4E54-BD3E-E1D3BCAFC325}"/>
              </a:ext>
            </a:extLst>
          </p:cNvPr>
          <p:cNvSpPr txBox="1">
            <a:spLocks/>
          </p:cNvSpPr>
          <p:nvPr/>
        </p:nvSpPr>
        <p:spPr>
          <a:xfrm>
            <a:off x="3132587" y="453603"/>
            <a:ext cx="3439500" cy="5351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1pPr>
            <a:lvl2pPr marL="914400" marR="0" lvl="1"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2pPr>
            <a:lvl3pPr marL="1371600" marR="0" lvl="2"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3pPr>
            <a:lvl4pPr marL="1828800" marR="0" lvl="3"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4pPr>
            <a:lvl5pPr marL="2286000" marR="0" lvl="4"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5pPr>
            <a:lvl6pPr marL="2743200" marR="0" lvl="5"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6pPr>
            <a:lvl7pPr marL="3200400" marR="0" lvl="6"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7pPr>
            <a:lvl8pPr marL="3657600" marR="0" lvl="7" indent="-342900" algn="ctr" rtl="0">
              <a:lnSpc>
                <a:spcPct val="100000"/>
              </a:lnSpc>
              <a:spcBef>
                <a:spcPts val="1600"/>
              </a:spcBef>
              <a:spcAft>
                <a:spcPts val="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8pPr>
            <a:lvl9pPr marL="4114800" marR="0" lvl="8" indent="-342900" algn="ctr" rtl="0">
              <a:lnSpc>
                <a:spcPct val="100000"/>
              </a:lnSpc>
              <a:spcBef>
                <a:spcPts val="1600"/>
              </a:spcBef>
              <a:spcAft>
                <a:spcPts val="1600"/>
              </a:spcAft>
              <a:buClr>
                <a:schemeClr val="dk2"/>
              </a:buClr>
              <a:buSzPts val="1800"/>
              <a:buFont typeface="Roboto Mono Medium"/>
              <a:buChar char="■"/>
              <a:defRPr sz="1800" b="0" i="0" u="none" strike="noStrike" cap="none">
                <a:solidFill>
                  <a:schemeClr val="dk2"/>
                </a:solidFill>
                <a:latin typeface="Roboto Mono Medium"/>
                <a:ea typeface="Roboto Mono Medium"/>
                <a:cs typeface="Roboto Mono Medium"/>
                <a:sym typeface="Roboto Mono Medium"/>
              </a:defRPr>
            </a:lvl9pPr>
          </a:lstStyle>
          <a:p>
            <a:pPr marL="0" indent="0" algn="l">
              <a:buFont typeface="Roboto Mono Medium"/>
              <a:buNone/>
            </a:pPr>
            <a:r>
              <a:rPr lang="en-US" b="1" dirty="0">
                <a:solidFill>
                  <a:srgbClr val="C00000"/>
                </a:solidFill>
                <a:latin typeface="Concert One" panose="020B0604020202020204" charset="0"/>
              </a:rPr>
              <a:t>Let us test your learning!</a:t>
            </a:r>
          </a:p>
        </p:txBody>
      </p:sp>
      <p:sp>
        <p:nvSpPr>
          <p:cNvPr id="7" name="TextBox 6">
            <a:extLst>
              <a:ext uri="{FF2B5EF4-FFF2-40B4-BE49-F238E27FC236}">
                <a16:creationId xmlns:a16="http://schemas.microsoft.com/office/drawing/2014/main" id="{4C5B1854-AB16-4B6D-8D7F-EA5344C3B9CC}"/>
              </a:ext>
            </a:extLst>
          </p:cNvPr>
          <p:cNvSpPr txBox="1"/>
          <p:nvPr/>
        </p:nvSpPr>
        <p:spPr>
          <a:xfrm>
            <a:off x="2845079" y="1406744"/>
            <a:ext cx="3727008" cy="769441"/>
          </a:xfrm>
          <a:prstGeom prst="rect">
            <a:avLst/>
          </a:prstGeom>
          <a:noFill/>
        </p:spPr>
        <p:txBody>
          <a:bodyPr wrap="square" rtlCol="0">
            <a:spAutoFit/>
          </a:bodyPr>
          <a:lstStyle/>
          <a:p>
            <a:r>
              <a:rPr lang="en-US" sz="1100" dirty="0">
                <a:solidFill>
                  <a:srgbClr val="C00000"/>
                </a:solidFill>
                <a:latin typeface="Oxygen" panose="02000503000000000000" pitchFamily="2" charset="0"/>
              </a:rPr>
              <a:t>1. Suppose you have the following items to be inserted in your tree.</a:t>
            </a:r>
          </a:p>
          <a:p>
            <a:r>
              <a:rPr lang="en-US" sz="1100" b="1" dirty="0">
                <a:solidFill>
                  <a:srgbClr val="C00000"/>
                </a:solidFill>
                <a:latin typeface="Oxygen" panose="02000503000000000000" pitchFamily="2" charset="0"/>
              </a:rPr>
              <a:t>            58,  45,  92,  35,  81,  50,  95,  22, </a:t>
            </a:r>
          </a:p>
          <a:p>
            <a:r>
              <a:rPr lang="en-US" sz="1100" b="1" dirty="0">
                <a:solidFill>
                  <a:srgbClr val="C00000"/>
                </a:solidFill>
                <a:latin typeface="Oxygen" panose="02000503000000000000" pitchFamily="2" charset="0"/>
              </a:rPr>
              <a:t>            48,  54, 37,  85,  90,  78,  71</a:t>
            </a:r>
          </a:p>
        </p:txBody>
      </p:sp>
      <p:sp>
        <p:nvSpPr>
          <p:cNvPr id="8" name="TextBox 7">
            <a:extLst>
              <a:ext uri="{FF2B5EF4-FFF2-40B4-BE49-F238E27FC236}">
                <a16:creationId xmlns:a16="http://schemas.microsoft.com/office/drawing/2014/main" id="{98238C49-3D28-4BF6-95EE-09BE7A839914}"/>
              </a:ext>
            </a:extLst>
          </p:cNvPr>
          <p:cNvSpPr txBox="1"/>
          <p:nvPr/>
        </p:nvSpPr>
        <p:spPr>
          <a:xfrm>
            <a:off x="3132587" y="2243538"/>
            <a:ext cx="3573013" cy="938719"/>
          </a:xfrm>
          <a:prstGeom prst="rect">
            <a:avLst/>
          </a:prstGeom>
          <a:noFill/>
        </p:spPr>
        <p:txBody>
          <a:bodyPr wrap="square" rtlCol="0">
            <a:spAutoFit/>
          </a:bodyPr>
          <a:lstStyle/>
          <a:p>
            <a:r>
              <a:rPr lang="en-US" sz="1100" dirty="0">
                <a:solidFill>
                  <a:srgbClr val="C00000"/>
                </a:solidFill>
                <a:latin typeface="Oxygen" panose="02000503000000000000" pitchFamily="2" charset="0"/>
              </a:rPr>
              <a:t>a. Create a binary tree using the items above.</a:t>
            </a:r>
          </a:p>
          <a:p>
            <a:r>
              <a:rPr lang="en-US" sz="1100" dirty="0">
                <a:solidFill>
                  <a:srgbClr val="C00000"/>
                </a:solidFill>
                <a:latin typeface="Oxygen" panose="02000503000000000000" pitchFamily="2" charset="0"/>
              </a:rPr>
              <a:t>b. Identify the following:</a:t>
            </a:r>
          </a:p>
          <a:p>
            <a:r>
              <a:rPr lang="en-US" sz="1100" dirty="0">
                <a:solidFill>
                  <a:srgbClr val="C00000"/>
                </a:solidFill>
                <a:latin typeface="Oxygen" panose="02000503000000000000" pitchFamily="2" charset="0"/>
              </a:rPr>
              <a:t>     • Levels(), subtree/s and leaf</a:t>
            </a:r>
          </a:p>
          <a:p>
            <a:r>
              <a:rPr lang="en-US" sz="1100" dirty="0">
                <a:solidFill>
                  <a:srgbClr val="C00000"/>
                </a:solidFill>
                <a:latin typeface="Oxygen" panose="02000503000000000000" pitchFamily="2" charset="0"/>
              </a:rPr>
              <a:t>c. Do the </a:t>
            </a:r>
            <a:r>
              <a:rPr lang="en-US" sz="1100" dirty="0" err="1">
                <a:solidFill>
                  <a:srgbClr val="C00000"/>
                </a:solidFill>
                <a:latin typeface="Oxygen" panose="02000503000000000000" pitchFamily="2" charset="0"/>
              </a:rPr>
              <a:t>inorder</a:t>
            </a:r>
            <a:r>
              <a:rPr lang="en-US" sz="1100" dirty="0">
                <a:solidFill>
                  <a:srgbClr val="C00000"/>
                </a:solidFill>
                <a:latin typeface="Oxygen" panose="02000503000000000000" pitchFamily="2" charset="0"/>
              </a:rPr>
              <a:t>, preorder and </a:t>
            </a:r>
            <a:r>
              <a:rPr lang="en-US" sz="1100" dirty="0" err="1">
                <a:solidFill>
                  <a:srgbClr val="C00000"/>
                </a:solidFill>
                <a:latin typeface="Oxygen" panose="02000503000000000000" pitchFamily="2" charset="0"/>
              </a:rPr>
              <a:t>postorder</a:t>
            </a:r>
            <a:r>
              <a:rPr lang="en-US" sz="1100" dirty="0">
                <a:solidFill>
                  <a:srgbClr val="C00000"/>
                </a:solidFill>
                <a:latin typeface="Oxygen" panose="02000503000000000000" pitchFamily="2" charset="0"/>
              </a:rPr>
              <a:t> traversing method. (Show your solution)</a:t>
            </a:r>
          </a:p>
        </p:txBody>
      </p:sp>
      <p:sp>
        <p:nvSpPr>
          <p:cNvPr id="9" name="TextBox 8">
            <a:extLst>
              <a:ext uri="{FF2B5EF4-FFF2-40B4-BE49-F238E27FC236}">
                <a16:creationId xmlns:a16="http://schemas.microsoft.com/office/drawing/2014/main" id="{E10B258C-9375-4067-AD05-BE9F493D63D0}"/>
              </a:ext>
            </a:extLst>
          </p:cNvPr>
          <p:cNvSpPr txBox="1"/>
          <p:nvPr/>
        </p:nvSpPr>
        <p:spPr>
          <a:xfrm>
            <a:off x="2845079" y="3205893"/>
            <a:ext cx="3727008" cy="938719"/>
          </a:xfrm>
          <a:prstGeom prst="rect">
            <a:avLst/>
          </a:prstGeom>
          <a:noFill/>
        </p:spPr>
        <p:txBody>
          <a:bodyPr wrap="square" rtlCol="0">
            <a:spAutoFit/>
          </a:bodyPr>
          <a:lstStyle/>
          <a:p>
            <a:r>
              <a:rPr lang="en-US" sz="1100" dirty="0">
                <a:solidFill>
                  <a:srgbClr val="C00000"/>
                </a:solidFill>
                <a:latin typeface="Oxygen" panose="02000503000000000000" pitchFamily="2" charset="0"/>
              </a:rPr>
              <a:t>Use your pen and paper in answering this quiz. Capture your answer using your camera and submit in the Google Classroom. Make sure that your handwritten is readable and the captured image is not pixelated.</a:t>
            </a:r>
          </a:p>
          <a:p>
            <a:endParaRPr lang="en-US" sz="1100" b="1" dirty="0">
              <a:solidFill>
                <a:srgbClr val="C00000"/>
              </a:solidFill>
              <a:latin typeface="Oxygen" panose="02000503000000000000" pitchFamily="2" charset="0"/>
            </a:endParaRPr>
          </a:p>
        </p:txBody>
      </p:sp>
    </p:spTree>
    <p:extLst>
      <p:ext uri="{BB962C8B-B14F-4D97-AF65-F5344CB8AC3E}">
        <p14:creationId xmlns:p14="http://schemas.microsoft.com/office/powerpoint/2010/main" val="3426109063"/>
      </p:ext>
    </p:extLst>
  </p:cSld>
  <p:clrMapOvr>
    <a:masterClrMapping/>
  </p:clrMapOvr>
</p:sld>
</file>

<file path=ppt/theme/theme1.xml><?xml version="1.0" encoding="utf-8"?>
<a:theme xmlns:a="http://schemas.openxmlformats.org/drawingml/2006/main" name="Notebook Lesson by Slidesgo">
  <a:themeElements>
    <a:clrScheme name="Simple Light">
      <a:dk1>
        <a:srgbClr val="595959"/>
      </a:dk1>
      <a:lt1>
        <a:srgbClr val="F1C232"/>
      </a:lt1>
      <a:dk2>
        <a:srgbClr val="595959"/>
      </a:dk2>
      <a:lt2>
        <a:srgbClr val="A8D68C"/>
      </a:lt2>
      <a:accent1>
        <a:srgbClr val="F1C232"/>
      </a:accent1>
      <a:accent2>
        <a:srgbClr val="B44141"/>
      </a:accent2>
      <a:accent3>
        <a:srgbClr val="F1C232"/>
      </a:accent3>
      <a:accent4>
        <a:srgbClr val="DF7070"/>
      </a:accent4>
      <a:accent5>
        <a:srgbClr val="7A9E64"/>
      </a:accent5>
      <a:accent6>
        <a:srgbClr val="595959"/>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1248</TotalTime>
  <Words>2543</Words>
  <Application>Microsoft Office PowerPoint</Application>
  <PresentationFormat>On-screen Show (16:9)</PresentationFormat>
  <Paragraphs>524</Paragraphs>
  <Slides>41</Slides>
  <Notes>41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Anonymous Pro</vt:lpstr>
      <vt:lpstr>Oxygen</vt:lpstr>
      <vt:lpstr>Coming Soon</vt:lpstr>
      <vt:lpstr>Concert One</vt:lpstr>
      <vt:lpstr>Roboto Mono Medium</vt:lpstr>
      <vt:lpstr>Arial</vt:lpstr>
      <vt:lpstr>Notebook Lesson by Slidesgo</vt:lpstr>
      <vt:lpstr>DATA STRUCTURES  AND ALGORITHMS</vt:lpstr>
      <vt:lpstr>Topics</vt:lpstr>
      <vt:lpstr>01</vt:lpstr>
      <vt:lpstr>So far we have seen linear structures • linear: before and after relationship • lists, vectors, arrays, stacks, queues, etc  Non-linear structure: trees • probably the most fundamental structure in computing • hierarchical structure • Terminology: from family trees (genealogy)</vt:lpstr>
      <vt:lpstr> A tree consists of nodes connected by edges.     store elements hierarchically    the top element: root    except the root, each element has a parent    each element has 0 or more children</vt:lpstr>
      <vt:lpstr>PowerPoint Presentation</vt:lpstr>
      <vt:lpstr>PowerPoint Presentation</vt:lpstr>
      <vt:lpstr>PowerPoint Presentation</vt:lpstr>
      <vt:lpstr>Tree Terminology</vt:lpstr>
      <vt:lpstr>Tree Terminology</vt:lpstr>
      <vt:lpstr>Tree Terminology</vt:lpstr>
      <vt:lpstr>02</vt:lpstr>
      <vt:lpstr> It combines the advantages of two other structures: an ordered array and a linked list. You can search a tree quickly, as you can an ordered array, and you can also insert and delete items quickly, as you can with a linked list.   If every node in a tree can have at most two children, the tree is called a binary tree.    The two children of each node in a binary tree are called the left child and the right child, corresponding to their positions when you draw a picture of a tree. A node in a binary tree doesn’t necessarily have the maximum of two children; it may have only a left child, or only a right child, or it can have no children at all (in which case it’s a leaf). </vt:lpstr>
      <vt:lpstr>PowerPoint Presentation</vt:lpstr>
      <vt:lpstr>PowerPoint Presentation</vt:lpstr>
      <vt:lpstr>03</vt:lpstr>
      <vt:lpstr>Common binary tree operations:     finding a node with a given key     inserting a new node     traversing the tree     deleting a node</vt:lpstr>
      <vt:lpstr>Binary Search Tree Sample Program</vt:lpstr>
      <vt:lpstr>PowerPoint Presentation</vt:lpstr>
      <vt:lpstr>PowerPoint Presentation</vt:lpstr>
      <vt:lpstr>PowerPoint Presentation</vt:lpstr>
      <vt:lpstr>PowerPoint Presentation</vt:lpstr>
      <vt:lpstr>Binary Search Tree Sample Program</vt:lpstr>
      <vt:lpstr>PowerPoint Presentation</vt:lpstr>
      <vt:lpstr>PowerPoint Presentation</vt:lpstr>
      <vt:lpstr>PowerPoint Presentation</vt:lpstr>
      <vt:lpstr>Binary Search Tree Sample Program</vt:lpstr>
      <vt:lpstr> Traversing a tree means visiting each node in a specified order.   There are three simple ways to traverse a tree. They're called preorder, inorder, and postorder. </vt:lpstr>
      <vt:lpstr>   Inorder Traversal   An inorder traversal of a binary search tree will cause all the nodes to be visited in ascending order, based on their key values. If you want to create a sorted list of the data in a binary tree, this is one way to do it.</vt:lpstr>
      <vt:lpstr>Traversing the Tree Inorder Traversal</vt:lpstr>
      <vt:lpstr>PowerPoint Presentation</vt:lpstr>
      <vt:lpstr>Traversing the Tree Inorder Traversal</vt:lpstr>
      <vt:lpstr>Binary Search Tree Sample Program</vt:lpstr>
      <vt:lpstr>Binary Search Tree Sample Program</vt:lpstr>
      <vt:lpstr>Traversing the Tree Preorder Traversal</vt:lpstr>
      <vt:lpstr>PowerPoint Presentation</vt:lpstr>
      <vt:lpstr>Traversing the Tree Preorder Traversal</vt:lpstr>
      <vt:lpstr>Traversing the Tree Postorder Traversal</vt:lpstr>
      <vt:lpstr>PowerPoint Presentation</vt:lpstr>
      <vt:lpstr>Traversing the Tree Postorder Traversal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NOTEBOOK LESSON</dc:title>
  <dc:creator>Mish</dc:creator>
  <cp:lastModifiedBy>ORCULLO Lowell Jay C.</cp:lastModifiedBy>
  <cp:revision>81</cp:revision>
  <dcterms:modified xsi:type="dcterms:W3CDTF">2025-10-28T04:37:32Z</dcterms:modified>
</cp:coreProperties>
</file>