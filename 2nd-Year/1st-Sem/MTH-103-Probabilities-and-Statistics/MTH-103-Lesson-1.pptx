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30"/>
  </p:notesMasterIdLst>
  <p:sldIdLst>
    <p:sldId id="256" r:id="rId2"/>
    <p:sldId id="266" r:id="rId3"/>
    <p:sldId id="289" r:id="rId4"/>
    <p:sldId id="290" r:id="rId5"/>
    <p:sldId id="288" r:id="rId6"/>
    <p:sldId id="267" r:id="rId7"/>
    <p:sldId id="268" r:id="rId8"/>
    <p:sldId id="292" r:id="rId9"/>
    <p:sldId id="293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</p:sldIdLst>
  <p:sldSz cx="9144000" cy="5143500" type="screen16x9"/>
  <p:notesSz cx="6858000" cy="9144000"/>
  <p:embeddedFontLst>
    <p:embeddedFont>
      <p:font typeface="Roboto Condensed Light" charset="0"/>
      <p:regular r:id="rId31"/>
      <p:bold r:id="rId32"/>
      <p:italic r:id="rId33"/>
      <p:boldItalic r:id="rId34"/>
    </p:embeddedFont>
    <p:embeddedFont>
      <p:font typeface="Arvo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E361D0E8-D997-425D-AB2C-E45440580EAB}">
  <a:tblStyle styleId="{E361D0E8-D997-425D-AB2C-E45440580E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80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1318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398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187289" y="941824"/>
            <a:ext cx="8471971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600" dirty="0" smtClean="0"/>
              <a:t>PROBABILITY &amp; STATISTICS</a:t>
            </a:r>
            <a:r>
              <a:rPr lang="en" sz="3600" dirty="0" smtClean="0">
                <a:solidFill>
                  <a:srgbClr val="FFC000"/>
                </a:solidFill>
              </a:rPr>
              <a:t/>
            </a:r>
            <a:br>
              <a:rPr lang="en" sz="3600" dirty="0" smtClean="0">
                <a:solidFill>
                  <a:srgbClr val="FFC000"/>
                </a:solidFill>
              </a:rPr>
            </a:br>
            <a:r>
              <a:rPr lang="en" sz="3200" dirty="0" smtClean="0">
                <a:solidFill>
                  <a:srgbClr val="FFC000"/>
                </a:solidFill>
              </a:rPr>
              <a:t>MATH 103 – LESSON 1</a:t>
            </a:r>
            <a:endParaRPr sz="60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63" y="1449087"/>
            <a:ext cx="6147486" cy="905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451188"/>
            <a:ext cx="6461344" cy="41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63" y="3114675"/>
            <a:ext cx="6680500" cy="923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68" y="1389362"/>
            <a:ext cx="6970627" cy="1697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6693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76" y="1340450"/>
            <a:ext cx="6396681" cy="992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76" y="2398432"/>
            <a:ext cx="6462583" cy="884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76" y="3315737"/>
            <a:ext cx="6462583" cy="666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65" y="4008474"/>
            <a:ext cx="6571735" cy="895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443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68" y="1393297"/>
            <a:ext cx="6324599" cy="540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33" y="3767172"/>
            <a:ext cx="6324599" cy="969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85" y="1933709"/>
            <a:ext cx="6242584" cy="440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27" y="2418820"/>
            <a:ext cx="6265574" cy="450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60" y="2874613"/>
            <a:ext cx="3820142" cy="197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94" y="3169707"/>
            <a:ext cx="6256609" cy="431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353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THE POPULATION AND THE SAMPLE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44" y="1406225"/>
            <a:ext cx="6976522" cy="908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44" y="2410855"/>
            <a:ext cx="6976522" cy="458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45" y="2924878"/>
            <a:ext cx="6976522" cy="655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940" y="3513181"/>
            <a:ext cx="2303634" cy="1278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504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sz="1800" dirty="0" smtClean="0">
                <a:solidFill>
                  <a:srgbClr val="FFC000"/>
                </a:solidFill>
              </a:rPr>
              <a:t>DESCRIPTIVE AND INFERENTIAL STATISCTIS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07" y="1359373"/>
            <a:ext cx="6706591" cy="1326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05" y="2762250"/>
            <a:ext cx="6733493" cy="671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05" y="3468569"/>
            <a:ext cx="6733493" cy="1342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518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sz="1800" dirty="0" smtClean="0">
                <a:solidFill>
                  <a:srgbClr val="FFC000"/>
                </a:solidFill>
              </a:rPr>
              <a:t>APPLICATION OF STATISCTIS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47017"/>
            <a:ext cx="6590785" cy="106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33" y="2519492"/>
            <a:ext cx="6640035" cy="708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33" y="3332335"/>
            <a:ext cx="6640035" cy="1076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386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sz="1800" dirty="0" smtClean="0">
                <a:solidFill>
                  <a:srgbClr val="FFC000"/>
                </a:solidFill>
              </a:rPr>
              <a:t>APPLICATION OF STATISCTIS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32" y="1437502"/>
            <a:ext cx="6737779" cy="641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32" y="2285613"/>
            <a:ext cx="6886060" cy="1515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706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sz="1800" dirty="0" smtClean="0">
                <a:solidFill>
                  <a:srgbClr val="FFC000"/>
                </a:solidFill>
              </a:rPr>
              <a:t>VARIABLES AND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67" y="1469810"/>
            <a:ext cx="3092407" cy="2563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134" y="1552189"/>
            <a:ext cx="3679630" cy="2196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585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sz="1800" dirty="0" smtClean="0">
                <a:solidFill>
                  <a:srgbClr val="FFC000"/>
                </a:solidFill>
              </a:rPr>
              <a:t>VARIABLES AND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00" y="2845533"/>
            <a:ext cx="3490092" cy="1792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00" y="1395751"/>
            <a:ext cx="3429773" cy="1449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521" y="1420465"/>
            <a:ext cx="2924690" cy="1590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521" y="3103565"/>
            <a:ext cx="3477097" cy="1468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591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sz="1800" dirty="0" smtClean="0">
                <a:solidFill>
                  <a:srgbClr val="FFC000"/>
                </a:solidFill>
              </a:rPr>
              <a:t>VARIABLES AND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409639"/>
            <a:ext cx="4315869" cy="182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311" y="1472106"/>
            <a:ext cx="3447147" cy="1707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3293975"/>
            <a:ext cx="6421265" cy="821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29" y="4178259"/>
            <a:ext cx="6274575" cy="614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349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sz="1800" dirty="0" smtClean="0">
                <a:solidFill>
                  <a:srgbClr val="FFC000"/>
                </a:solidFill>
              </a:rPr>
              <a:t>VARIABLES AND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14" y="1362204"/>
            <a:ext cx="6518367" cy="3440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304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sz="1800" dirty="0" smtClean="0">
                <a:solidFill>
                  <a:srgbClr val="FFC000"/>
                </a:solidFill>
              </a:rPr>
              <a:t>VARIABLES AND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92" y="1330412"/>
            <a:ext cx="5790554" cy="976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759932"/>
            <a:ext cx="2808186" cy="1896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492" y="2759932"/>
            <a:ext cx="2524184" cy="1449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309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TYPES </a:t>
            </a:r>
            <a:r>
              <a:rPr lang="en-US" smtClean="0">
                <a:solidFill>
                  <a:srgbClr val="FFC000"/>
                </a:solidFill>
              </a:rPr>
              <a:t>OF </a:t>
            </a:r>
            <a:r>
              <a:rPr lang="en-US" smtClean="0">
                <a:solidFill>
                  <a:srgbClr val="FFC000"/>
                </a:solidFill>
              </a:rPr>
              <a:t>VARIABLES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68" y="1416009"/>
            <a:ext cx="6769829" cy="664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68" y="2292436"/>
            <a:ext cx="6769829" cy="87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78" y="3278828"/>
            <a:ext cx="5331924" cy="678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326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TYPES OF ARIABLES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95" y="1414978"/>
            <a:ext cx="6688738" cy="143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95" y="2995614"/>
            <a:ext cx="6688738" cy="678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95" y="3772029"/>
            <a:ext cx="6688738" cy="659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748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TYPES OF ARIABLES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460802"/>
            <a:ext cx="3494567" cy="1941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991" y="1460803"/>
            <a:ext cx="3353800" cy="1842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3619103"/>
            <a:ext cx="5254605" cy="238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3857599"/>
            <a:ext cx="6346014" cy="216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45" y="4074292"/>
            <a:ext cx="4995009" cy="19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46" y="4274093"/>
            <a:ext cx="4747874" cy="196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47" y="4488957"/>
            <a:ext cx="4500738" cy="196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644" y="4685324"/>
            <a:ext cx="6257200" cy="182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467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GRAPHS FOR CATEGORICAL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420254"/>
            <a:ext cx="6618973" cy="862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86" y="2405834"/>
            <a:ext cx="6594070" cy="633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3379936"/>
            <a:ext cx="6618973" cy="621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4026115"/>
            <a:ext cx="5340998" cy="638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713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GRAPHS FOR CATEGORICAL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4" y="1390650"/>
            <a:ext cx="6420154" cy="409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70" y="1870666"/>
            <a:ext cx="3289342" cy="775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94" y="2916324"/>
            <a:ext cx="6478544" cy="820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42" y="3846426"/>
            <a:ext cx="6478544" cy="447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365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GRAPHS FOR CATEGORICAL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97730"/>
            <a:ext cx="6913347" cy="1599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725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GRAPHS FOR CATEGORICAL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94" y="1391036"/>
            <a:ext cx="6888444" cy="878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385756"/>
            <a:ext cx="3362033" cy="201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588" y="2711150"/>
            <a:ext cx="1866900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092" y="2587617"/>
            <a:ext cx="2822031" cy="1770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865" y="4393251"/>
            <a:ext cx="2311643" cy="223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579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GRAPHS FOR CATEGORICAL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68" y="1419613"/>
            <a:ext cx="6473782" cy="318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87" y="1816442"/>
            <a:ext cx="1402128" cy="910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662" y="1820133"/>
            <a:ext cx="1151816" cy="906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441" y="1816442"/>
            <a:ext cx="405456" cy="923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502" y="1820133"/>
            <a:ext cx="1451148" cy="931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53" y="2808974"/>
            <a:ext cx="6434397" cy="66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86" y="2876702"/>
            <a:ext cx="1422429" cy="242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3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049" y="2876702"/>
            <a:ext cx="363430" cy="218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4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321" y="2875156"/>
            <a:ext cx="445101" cy="226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5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500" y="2866780"/>
            <a:ext cx="355514" cy="198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6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68" y="3267331"/>
            <a:ext cx="6528617" cy="621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289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GRAPHS FOR CATEGORICAL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843" y="1614036"/>
            <a:ext cx="2674676" cy="269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943" y="1614036"/>
            <a:ext cx="4065880" cy="2651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130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GRAPHS FOR QUANTITATIVE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55" y="1421414"/>
            <a:ext cx="6875248" cy="415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56" y="1994329"/>
            <a:ext cx="6875248" cy="1105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57" y="3205163"/>
            <a:ext cx="6875248" cy="460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2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GRAPHS FOR QUANTITATIVE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89" y="1546653"/>
            <a:ext cx="3557693" cy="200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587" y="1546653"/>
            <a:ext cx="3382802" cy="2206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007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GRAPHS FOR QUANTITATIVE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18" y="1764056"/>
            <a:ext cx="3715487" cy="2305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432" y="1764056"/>
            <a:ext cx="3574797" cy="2305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536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GRAPHS FOR QUANTITATIVE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51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473028"/>
            <a:ext cx="3103733" cy="28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2173" y="1537644"/>
            <a:ext cx="3106951" cy="2527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1252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4" y="378720"/>
            <a:ext cx="6014893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GRAPHS FOR QUANTITATIVE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442394"/>
            <a:ext cx="3111972" cy="1552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245" y="1700209"/>
            <a:ext cx="4215841" cy="1036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682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2329</TotalTime>
  <Words>57</Words>
  <Application>Microsoft Office PowerPoint</Application>
  <PresentationFormat>On-screen Show (16:9)</PresentationFormat>
  <Paragraphs>55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Roboto Condensed Light</vt:lpstr>
      <vt:lpstr>Arvo</vt:lpstr>
      <vt:lpstr>Roboto Condensed</vt:lpstr>
      <vt:lpstr>Salerio template</vt:lpstr>
      <vt:lpstr>PROBABILITY &amp; STATISTICS MATH 103 – LESSON 1</vt:lpstr>
      <vt:lpstr>INTRODUCTION</vt:lpstr>
      <vt:lpstr>INTRODUCTION</vt:lpstr>
      <vt:lpstr>INTRODUCTION</vt:lpstr>
      <vt:lpstr>INTRODUCTION</vt:lpstr>
      <vt:lpstr>INTRODUCTION THE POPULATION AND THE SAMPLE</vt:lpstr>
      <vt:lpstr>INTRODUCTION DESCRIPTIVE AND INFERENTIAL STATISCTIS</vt:lpstr>
      <vt:lpstr>INTRODUCTION APPLICATION OF STATISCTIS</vt:lpstr>
      <vt:lpstr>INTRODUCTION APPLICATION OF STATISCTIS</vt:lpstr>
      <vt:lpstr>INTRODUCTION VARIABLES AND DATA</vt:lpstr>
      <vt:lpstr>INTRODUCTION VARIABLES AND DATA</vt:lpstr>
      <vt:lpstr>INTRODUCTION VARIABLES AND DATA</vt:lpstr>
      <vt:lpstr>INTRODUCTION VARIABLES AND DATA</vt:lpstr>
      <vt:lpstr>INTRODUCTION VARIABLES AND DATA</vt:lpstr>
      <vt:lpstr>INTRODUCTION TYPES OF VARIABLES</vt:lpstr>
      <vt:lpstr>INTRODUCTION TYPES OF ARIABLES</vt:lpstr>
      <vt:lpstr>INTRODUCTION TYPES OF ARIABLES</vt:lpstr>
      <vt:lpstr>INTRODUCTION GRAPHS FOR CATEGORICAL DATA</vt:lpstr>
      <vt:lpstr>INTRODUCTION GRAPHS FOR CATEGORICAL DATA</vt:lpstr>
      <vt:lpstr>INTRODUCTION GRAPHS FOR CATEGORICAL DATA</vt:lpstr>
      <vt:lpstr>INTRODUCTION GRAPHS FOR CATEGORICAL DATA</vt:lpstr>
      <vt:lpstr>INTRODUCTION GRAPHS FOR CATEGORICAL DATA</vt:lpstr>
      <vt:lpstr>INTRODUCTION GRAPHS FOR CATEGORICAL DATA</vt:lpstr>
      <vt:lpstr>INTRODUCTION GRAPHS FOR QUANTITATIVE DATA</vt:lpstr>
      <vt:lpstr>INTRODUCTION GRAPHS FOR QUANTITATIVE DATA</vt:lpstr>
      <vt:lpstr>INTRODUCTION GRAPHS FOR QUANTITATIVE DATA</vt:lpstr>
      <vt:lpstr>INTRODUCTION GRAPHS FOR QUANTITATIVE DATA</vt:lpstr>
      <vt:lpstr>INTRODUCTION GRAPHS FOR QUANTITATIVE DATA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FOR EMPLOYEE LOGIN &amp; LOGOUT MANAGEMENT SYSTEM WITH RFID AND CHANGING THE PASSWORD USER MANUALLY Literature Review</dc:title>
  <dc:creator>ERAO</dc:creator>
  <cp:lastModifiedBy>Ando Ariel V</cp:lastModifiedBy>
  <cp:revision>460</cp:revision>
  <dcterms:modified xsi:type="dcterms:W3CDTF">2024-08-22T03:33:37Z</dcterms:modified>
</cp:coreProperties>
</file>