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19"/>
  </p:notesMasterIdLst>
  <p:sldIdLst>
    <p:sldId id="268" r:id="rId3"/>
    <p:sldId id="444" r:id="rId4"/>
    <p:sldId id="419" r:id="rId5"/>
    <p:sldId id="431" r:id="rId6"/>
    <p:sldId id="432" r:id="rId7"/>
    <p:sldId id="433" r:id="rId8"/>
    <p:sldId id="434" r:id="rId9"/>
    <p:sldId id="435" r:id="rId10"/>
    <p:sldId id="436" r:id="rId11"/>
    <p:sldId id="465" r:id="rId12"/>
    <p:sldId id="421" r:id="rId13"/>
    <p:sldId id="468" r:id="rId14"/>
    <p:sldId id="469" r:id="rId15"/>
    <p:sldId id="466" r:id="rId16"/>
    <p:sldId id="467" r:id="rId17"/>
    <p:sldId id="395" r:id="rId18"/>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A40D"/>
    <a:srgbClr val="32A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26" autoAdjust="0"/>
    <p:restoredTop sz="94061" autoAdjust="0"/>
  </p:normalViewPr>
  <p:slideViewPr>
    <p:cSldViewPr>
      <p:cViewPr varScale="1">
        <p:scale>
          <a:sx n="117" d="100"/>
          <a:sy n="117" d="100"/>
        </p:scale>
        <p:origin x="542" y="86"/>
      </p:cViewPr>
      <p:guideLst>
        <p:guide orient="horz" pos="1393"/>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1F006B-912C-44FB-AF90-1327324F3FDE}"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CCEC0F-9B09-4FF5-9CCF-F6E60A951A69}" type="slidenum">
              <a:rPr lang="en-US" smtClean="0"/>
              <a:t>‹#›</a:t>
            </a:fld>
            <a:endParaRPr lang="en-US"/>
          </a:p>
        </p:txBody>
      </p:sp>
    </p:spTree>
    <p:extLst>
      <p:ext uri="{BB962C8B-B14F-4D97-AF65-F5344CB8AC3E}">
        <p14:creationId xmlns:p14="http://schemas.microsoft.com/office/powerpoint/2010/main" val="925741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3</a:t>
            </a:fld>
            <a:endParaRPr lang="en-US"/>
          </a:p>
        </p:txBody>
      </p:sp>
    </p:spTree>
    <p:extLst>
      <p:ext uri="{BB962C8B-B14F-4D97-AF65-F5344CB8AC3E}">
        <p14:creationId xmlns:p14="http://schemas.microsoft.com/office/powerpoint/2010/main" val="1462978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4</a:t>
            </a:fld>
            <a:endParaRPr lang="en-US"/>
          </a:p>
        </p:txBody>
      </p:sp>
    </p:spTree>
    <p:extLst>
      <p:ext uri="{BB962C8B-B14F-4D97-AF65-F5344CB8AC3E}">
        <p14:creationId xmlns:p14="http://schemas.microsoft.com/office/powerpoint/2010/main" val="840701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5</a:t>
            </a:fld>
            <a:endParaRPr lang="en-US"/>
          </a:p>
        </p:txBody>
      </p:sp>
    </p:spTree>
    <p:extLst>
      <p:ext uri="{BB962C8B-B14F-4D97-AF65-F5344CB8AC3E}">
        <p14:creationId xmlns:p14="http://schemas.microsoft.com/office/powerpoint/2010/main" val="2310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6</a:t>
            </a:fld>
            <a:endParaRPr lang="en-US"/>
          </a:p>
        </p:txBody>
      </p:sp>
    </p:spTree>
    <p:extLst>
      <p:ext uri="{BB962C8B-B14F-4D97-AF65-F5344CB8AC3E}">
        <p14:creationId xmlns:p14="http://schemas.microsoft.com/office/powerpoint/2010/main" val="3691893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7</a:t>
            </a:fld>
            <a:endParaRPr lang="en-US"/>
          </a:p>
        </p:txBody>
      </p:sp>
    </p:spTree>
    <p:extLst>
      <p:ext uri="{BB962C8B-B14F-4D97-AF65-F5344CB8AC3E}">
        <p14:creationId xmlns:p14="http://schemas.microsoft.com/office/powerpoint/2010/main" val="3300049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8</a:t>
            </a:fld>
            <a:endParaRPr lang="en-US"/>
          </a:p>
        </p:txBody>
      </p:sp>
    </p:spTree>
    <p:extLst>
      <p:ext uri="{BB962C8B-B14F-4D97-AF65-F5344CB8AC3E}">
        <p14:creationId xmlns:p14="http://schemas.microsoft.com/office/powerpoint/2010/main" val="1662651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9</a:t>
            </a:fld>
            <a:endParaRPr lang="en-US"/>
          </a:p>
        </p:txBody>
      </p:sp>
    </p:spTree>
    <p:extLst>
      <p:ext uri="{BB962C8B-B14F-4D97-AF65-F5344CB8AC3E}">
        <p14:creationId xmlns:p14="http://schemas.microsoft.com/office/powerpoint/2010/main" val="3409881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10</a:t>
            </a:fld>
            <a:endParaRPr lang="en-US"/>
          </a:p>
        </p:txBody>
      </p:sp>
    </p:spTree>
    <p:extLst>
      <p:ext uri="{BB962C8B-B14F-4D97-AF65-F5344CB8AC3E}">
        <p14:creationId xmlns:p14="http://schemas.microsoft.com/office/powerpoint/2010/main" val="179145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11</a:t>
            </a:fld>
            <a:endParaRPr lang="en-US"/>
          </a:p>
        </p:txBody>
      </p:sp>
    </p:spTree>
    <p:extLst>
      <p:ext uri="{BB962C8B-B14F-4D97-AF65-F5344CB8AC3E}">
        <p14:creationId xmlns:p14="http://schemas.microsoft.com/office/powerpoint/2010/main" val="2597737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12</a:t>
            </a:fld>
            <a:endParaRPr lang="en-US"/>
          </a:p>
        </p:txBody>
      </p:sp>
    </p:spTree>
    <p:extLst>
      <p:ext uri="{BB962C8B-B14F-4D97-AF65-F5344CB8AC3E}">
        <p14:creationId xmlns:p14="http://schemas.microsoft.com/office/powerpoint/2010/main" val="3025551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13</a:t>
            </a:fld>
            <a:endParaRPr lang="en-US"/>
          </a:p>
        </p:txBody>
      </p:sp>
    </p:spTree>
    <p:extLst>
      <p:ext uri="{BB962C8B-B14F-4D97-AF65-F5344CB8AC3E}">
        <p14:creationId xmlns:p14="http://schemas.microsoft.com/office/powerpoint/2010/main" val="3164469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14</a:t>
            </a:fld>
            <a:endParaRPr lang="en-US"/>
          </a:p>
        </p:txBody>
      </p:sp>
    </p:spTree>
    <p:extLst>
      <p:ext uri="{BB962C8B-B14F-4D97-AF65-F5344CB8AC3E}">
        <p14:creationId xmlns:p14="http://schemas.microsoft.com/office/powerpoint/2010/main" val="2292423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15</a:t>
            </a:fld>
            <a:endParaRPr lang="en-US"/>
          </a:p>
        </p:txBody>
      </p:sp>
    </p:spTree>
    <p:extLst>
      <p:ext uri="{BB962C8B-B14F-4D97-AF65-F5344CB8AC3E}">
        <p14:creationId xmlns:p14="http://schemas.microsoft.com/office/powerpoint/2010/main" val="15169871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6735" y="2931790"/>
            <a:ext cx="945499" cy="209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99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3399842"/>
            <a:ext cx="9144000" cy="1743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4043561" y="2859782"/>
            <a:ext cx="1080120" cy="108012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8057" y="3010192"/>
            <a:ext cx="351128" cy="77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86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960850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43508" y="92609"/>
            <a:ext cx="8856984" cy="49582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232792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465584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698376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userDrawn="1"/>
        </p:nvSpPr>
        <p:spPr>
          <a:xfrm>
            <a:off x="2328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12"/>
          <p:cNvSpPr/>
          <p:nvPr userDrawn="1"/>
        </p:nvSpPr>
        <p:spPr>
          <a:xfrm>
            <a:off x="4656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p:cNvSpPr/>
          <p:nvPr userDrawn="1"/>
        </p:nvSpPr>
        <p:spPr>
          <a:xfrm>
            <a:off x="6984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1596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26058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759754"/>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23208" y="1042230"/>
            <a:ext cx="2869272" cy="347463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7380312" y="1175233"/>
            <a:ext cx="1008112"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5643269" y="1261134"/>
            <a:ext cx="1654766"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0013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4860032" y="0"/>
            <a:ext cx="3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p:cNvSpPr/>
          <p:nvPr userDrawn="1"/>
        </p:nvSpPr>
        <p:spPr>
          <a:xfrm>
            <a:off x="4896032" y="1311750"/>
            <a:ext cx="180000" cy="25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344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307657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95063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131840" y="181632"/>
            <a:ext cx="601216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131840" y="757696"/>
            <a:ext cx="601216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146470" y="1131590"/>
            <a:ext cx="3059832" cy="401191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88877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411510"/>
            <a:ext cx="6444208" cy="4320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Picture Placeholder 2"/>
          <p:cNvSpPr>
            <a:spLocks noGrp="1"/>
          </p:cNvSpPr>
          <p:nvPr>
            <p:ph type="pic" idx="1" hasCustomPrompt="1"/>
          </p:nvPr>
        </p:nvSpPr>
        <p:spPr>
          <a:xfrm>
            <a:off x="135622"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223854"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312086"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742137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444208"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6444208"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3986213"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3986213"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209397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3291830"/>
            <a:ext cx="8748464"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95536" y="3867894"/>
            <a:ext cx="87484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Picture Placeholder 2"/>
          <p:cNvSpPr>
            <a:spLocks noGrp="1"/>
          </p:cNvSpPr>
          <p:nvPr>
            <p:ph type="pic" idx="12" hasCustomPrompt="1"/>
          </p:nvPr>
        </p:nvSpPr>
        <p:spPr>
          <a:xfrm>
            <a:off x="467544" y="339502"/>
            <a:ext cx="3312128" cy="280807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3995936" y="339502"/>
            <a:ext cx="468052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399593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561619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723645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65242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3106909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3" name="Rectangle 2"/>
          <p:cNvSpPr/>
          <p:nvPr userDrawn="1"/>
        </p:nvSpPr>
        <p:spPr>
          <a:xfrm>
            <a:off x="0" y="2571750"/>
            <a:ext cx="9144000" cy="2571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p:cNvSpPr/>
          <p:nvPr userDrawn="1"/>
        </p:nvSpPr>
        <p:spPr>
          <a:xfrm>
            <a:off x="2116108" y="843558"/>
            <a:ext cx="4896544" cy="3456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Rectangle 4"/>
          <p:cNvSpPr/>
          <p:nvPr userDrawn="1"/>
        </p:nvSpPr>
        <p:spPr>
          <a:xfrm>
            <a:off x="2116108" y="0"/>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2116108" y="4948014"/>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116108" y="3049518"/>
            <a:ext cx="4896544"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2116108" y="3625582"/>
            <a:ext cx="4896544"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pic>
        <p:nvPicPr>
          <p:cNvPr id="2050"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flipH="1">
            <a:off x="4155985" y="1156325"/>
            <a:ext cx="816788" cy="181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72" r:id="rId2"/>
    <p:sldLayoutId id="2147483670" r:id="rId3"/>
    <p:sldLayoutId id="2147483652" r:id="rId4"/>
    <p:sldLayoutId id="2147483671" r:id="rId5"/>
    <p:sldLayoutId id="2147483655" r:id="rId6"/>
    <p:sldLayoutId id="2147483662" r:id="rId7"/>
    <p:sldLayoutId id="2147483663" r:id="rId8"/>
    <p:sldLayoutId id="2147483665" r:id="rId9"/>
    <p:sldLayoutId id="2147483666" r:id="rId10"/>
    <p:sldLayoutId id="2147483667" r:id="rId11"/>
    <p:sldLayoutId id="2147483664" r:id="rId12"/>
    <p:sldLayoutId id="2147483668" r:id="rId13"/>
    <p:sldLayoutId id="2147483669" r:id="rId14"/>
    <p:sldLayoutId id="2147483673"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CCE105 – </a:t>
            </a:r>
            <a:r>
              <a:rPr lang="en-US" altLang="ko-KR" sz="2400" cap="all" dirty="0">
                <a:latin typeface="Amasis MT Pro Black" panose="02040A04050005020304" pitchFamily="18" charset="0"/>
              </a:rPr>
              <a:t>DATA STRUCTURES</a:t>
            </a:r>
            <a:endParaRPr lang="ko-KR" altLang="en-US" sz="2400" cap="all" dirty="0">
              <a:latin typeface="Amasis MT Pro Black" panose="02040A04050005020304" pitchFamily="18" charset="0"/>
            </a:endParaRPr>
          </a:p>
        </p:txBody>
      </p:sp>
      <p:sp>
        <p:nvSpPr>
          <p:cNvPr id="3" name="Text Placeholder 2"/>
          <p:cNvSpPr>
            <a:spLocks noGrp="1"/>
          </p:cNvSpPr>
          <p:nvPr>
            <p:ph type="body" sz="quarter" idx="11"/>
          </p:nvPr>
        </p:nvSpPr>
        <p:spPr>
          <a:xfrm>
            <a:off x="18002" y="4273255"/>
            <a:ext cx="9144000" cy="288032"/>
          </a:xfrm>
        </p:spPr>
        <p:txBody>
          <a:bodyPr/>
          <a:lstStyle/>
          <a:p>
            <a:pPr lvl="0"/>
            <a:r>
              <a:rPr lang="en-US" altLang="ko-KR" sz="2000" dirty="0">
                <a:latin typeface="Amasis MT Pro Black" panose="02040A04050005020304" pitchFamily="18" charset="0"/>
              </a:rPr>
              <a:t>LESSON 3: </a:t>
            </a:r>
          </a:p>
          <a:p>
            <a:pPr lvl="0"/>
            <a:r>
              <a:rPr lang="en-US" altLang="ko-KR" sz="2000" cap="all" dirty="0">
                <a:latin typeface="Amasis MT Pro Black" panose="02040A04050005020304" pitchFamily="18" charset="0"/>
              </a:rPr>
              <a:t>Stack and queue</a:t>
            </a: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2">
            <a:extLst>
              <a:ext uri="{FF2B5EF4-FFF2-40B4-BE49-F238E27FC236}">
                <a16:creationId xmlns:a16="http://schemas.microsoft.com/office/drawing/2014/main" id="{1DDC057A-F9D5-7B66-7AA3-F96DC0F3DB8C}"/>
              </a:ext>
            </a:extLst>
          </p:cNvPr>
          <p:cNvSpPr txBox="1">
            <a:spLocks/>
          </p:cNvSpPr>
          <p:nvPr/>
        </p:nvSpPr>
        <p:spPr>
          <a:xfrm>
            <a:off x="6372200" y="4873827"/>
            <a:ext cx="3384376" cy="288032"/>
          </a:xfrm>
          <a:prstGeom prst="rect">
            <a:avLst/>
          </a:prstGeom>
        </p:spPr>
        <p:txBody>
          <a:bodyPr anchor="ctr"/>
          <a:lstStyle>
            <a:lvl1pPr marL="0" indent="0" algn="ctr" defTabSz="914400" rtl="0" eaLnBrk="1" latinLnBrk="1" hangingPunct="1">
              <a:spcBef>
                <a:spcPct val="20000"/>
              </a:spcBef>
              <a:buFont typeface="Arial" pitchFamily="34" charset="0"/>
              <a:buNone/>
              <a:defRPr sz="1400" b="0"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gn="l"/>
            <a:endParaRPr lang="en-US" altLang="ko-KR" sz="1200" dirty="0">
              <a:latin typeface="Amasis MT Pro" panose="02040504050005020304" pitchFamily="18" charset="0"/>
            </a:endParaRPr>
          </a:p>
        </p:txBody>
      </p:sp>
      <p:pic>
        <p:nvPicPr>
          <p:cNvPr id="6" name="Picture 5">
            <a:extLst>
              <a:ext uri="{FF2B5EF4-FFF2-40B4-BE49-F238E27FC236}">
                <a16:creationId xmlns:a16="http://schemas.microsoft.com/office/drawing/2014/main" id="{FE3D5CD3-999F-13F3-0563-FD348E22FC52}"/>
              </a:ext>
            </a:extLst>
          </p:cNvPr>
          <p:cNvPicPr>
            <a:picLocks noChangeAspect="1"/>
          </p:cNvPicPr>
          <p:nvPr/>
        </p:nvPicPr>
        <p:blipFill>
          <a:blip r:embed="rId2"/>
          <a:stretch>
            <a:fillRect/>
          </a:stretch>
        </p:blipFill>
        <p:spPr>
          <a:xfrm>
            <a:off x="3347865" y="397064"/>
            <a:ext cx="2736304" cy="1403372"/>
          </a:xfrm>
          <a:prstGeom prst="rect">
            <a:avLst/>
          </a:prstGeom>
        </p:spPr>
      </p:pic>
    </p:spTree>
    <p:extLst>
      <p:ext uri="{BB962C8B-B14F-4D97-AF65-F5344CB8AC3E}">
        <p14:creationId xmlns:p14="http://schemas.microsoft.com/office/powerpoint/2010/main" val="1766728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STACK DATA STRUCTURES</a:t>
            </a:r>
            <a:endParaRPr lang="ko-KR" altLang="en-US" sz="2400" cap="all" dirty="0">
              <a:latin typeface="Amasis MT Pro Black" panose="02040A04050005020304" pitchFamily="18" charset="0"/>
            </a:endParaRP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25D010B-7D51-BF3E-231C-B29A7EDE63DF}"/>
              </a:ext>
            </a:extLst>
          </p:cNvPr>
          <p:cNvPicPr>
            <a:picLocks noChangeAspect="1"/>
          </p:cNvPicPr>
          <p:nvPr/>
        </p:nvPicPr>
        <p:blipFill>
          <a:blip r:embed="rId2"/>
          <a:stretch>
            <a:fillRect/>
          </a:stretch>
        </p:blipFill>
        <p:spPr>
          <a:xfrm>
            <a:off x="3347864" y="397064"/>
            <a:ext cx="2831299" cy="1452092"/>
          </a:xfrm>
          <a:prstGeom prst="rect">
            <a:avLst/>
          </a:prstGeom>
        </p:spPr>
      </p:pic>
    </p:spTree>
    <p:extLst>
      <p:ext uri="{BB962C8B-B14F-4D97-AF65-F5344CB8AC3E}">
        <p14:creationId xmlns:p14="http://schemas.microsoft.com/office/powerpoint/2010/main" val="3727375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2246769"/>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 stack is a </a:t>
            </a:r>
            <a:r>
              <a:rPr lang="en-US" altLang="ko-KR" sz="1400" b="1" dirty="0">
                <a:solidFill>
                  <a:schemeClr val="tx1">
                    <a:lumMod val="75000"/>
                    <a:lumOff val="25000"/>
                  </a:schemeClr>
                </a:solidFill>
                <a:cs typeface="Arial" pitchFamily="34" charset="0"/>
              </a:rPr>
              <a:t>last-in/first-out (LIFO) </a:t>
            </a:r>
            <a:r>
              <a:rPr lang="en-US" altLang="ko-KR" sz="1400" dirty="0">
                <a:solidFill>
                  <a:schemeClr val="tx1">
                    <a:lumMod val="75000"/>
                    <a:lumOff val="25000"/>
                  </a:schemeClr>
                </a:solidFill>
                <a:cs typeface="Arial" pitchFamily="34" charset="0"/>
              </a:rPr>
              <a:t>structure.</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All access to the stack are restricted to the topmost element</a:t>
            </a:r>
          </a:p>
          <a:p>
            <a:pPr marL="1200150" lvl="2" indent="-285750">
              <a:buFont typeface="Arial" panose="020B0604020202020204" pitchFamily="34" charset="0"/>
              <a:buChar char="•"/>
            </a:pPr>
            <a:r>
              <a:rPr lang="en-US" altLang="ko-KR" sz="1400" dirty="0">
                <a:solidFill>
                  <a:schemeClr val="tx1">
                    <a:lumMod val="75000"/>
                    <a:lumOff val="25000"/>
                  </a:schemeClr>
                </a:solidFill>
                <a:cs typeface="Arial" pitchFamily="34" charset="0"/>
              </a:rPr>
              <a:t>Referenced through an attribute called </a:t>
            </a:r>
            <a:r>
              <a:rPr lang="en-US" altLang="ko-KR" sz="1400" b="1" dirty="0">
                <a:solidFill>
                  <a:schemeClr val="tx1">
                    <a:lumMod val="75000"/>
                    <a:lumOff val="25000"/>
                  </a:schemeClr>
                </a:solidFill>
                <a:cs typeface="Arial" pitchFamily="34" charset="0"/>
              </a:rPr>
              <a:t>top</a:t>
            </a:r>
            <a:r>
              <a:rPr lang="en-US" altLang="ko-KR" sz="1400" dirty="0">
                <a:solidFill>
                  <a:schemeClr val="tx1">
                    <a:lumMod val="75000"/>
                    <a:lumOff val="25000"/>
                  </a:schemeClr>
                </a:solidFill>
                <a:cs typeface="Arial" pitchFamily="34" charset="0"/>
              </a:rPr>
              <a:t>.</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An insertion to the stack is done via </a:t>
            </a:r>
            <a:r>
              <a:rPr lang="en-US" altLang="ko-KR" sz="1400" b="1" dirty="0">
                <a:solidFill>
                  <a:schemeClr val="tx1">
                    <a:lumMod val="75000"/>
                    <a:lumOff val="25000"/>
                  </a:schemeClr>
                </a:solidFill>
                <a:cs typeface="Arial" pitchFamily="34" charset="0"/>
              </a:rPr>
              <a:t>push</a:t>
            </a:r>
            <a:r>
              <a:rPr lang="en-US" altLang="ko-KR" sz="1400" dirty="0">
                <a:solidFill>
                  <a:schemeClr val="tx1">
                    <a:lumMod val="75000"/>
                    <a:lumOff val="25000"/>
                  </a:schemeClr>
                </a:solidFill>
                <a:cs typeface="Arial" pitchFamily="34" charset="0"/>
              </a:rPr>
              <a:t> operation,</a:t>
            </a:r>
          </a:p>
          <a:p>
            <a:pPr marL="1200150" lvl="2" indent="-285750">
              <a:buFont typeface="Arial" panose="020B0604020202020204" pitchFamily="34" charset="0"/>
              <a:buChar char="•"/>
            </a:pPr>
            <a:r>
              <a:rPr lang="en-US" altLang="ko-KR" sz="1400" dirty="0">
                <a:solidFill>
                  <a:schemeClr val="tx1">
                    <a:lumMod val="75000"/>
                    <a:lumOff val="25000"/>
                  </a:schemeClr>
                </a:solidFill>
                <a:cs typeface="Arial" pitchFamily="34" charset="0"/>
              </a:rPr>
              <a:t>Which always inserts the new element on top of the stack</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 deletion from the stack is done via a </a:t>
            </a:r>
            <a:r>
              <a:rPr lang="en-US" altLang="ko-KR" sz="1400" b="1" dirty="0">
                <a:solidFill>
                  <a:schemeClr val="tx1">
                    <a:lumMod val="75000"/>
                    <a:lumOff val="25000"/>
                  </a:schemeClr>
                </a:solidFill>
                <a:cs typeface="Arial" pitchFamily="34" charset="0"/>
              </a:rPr>
              <a:t>pop</a:t>
            </a:r>
            <a:r>
              <a:rPr lang="en-US" altLang="ko-KR" sz="1400" dirty="0">
                <a:solidFill>
                  <a:schemeClr val="tx1">
                    <a:lumMod val="75000"/>
                    <a:lumOff val="25000"/>
                  </a:schemeClr>
                </a:solidFill>
                <a:cs typeface="Arial" pitchFamily="34" charset="0"/>
              </a:rPr>
              <a:t> operation</a:t>
            </a:r>
          </a:p>
          <a:p>
            <a:pPr marL="1200150" lvl="2" indent="-285750">
              <a:buFont typeface="Arial" panose="020B0604020202020204" pitchFamily="34" charset="0"/>
              <a:buChar char="•"/>
            </a:pPr>
            <a:r>
              <a:rPr lang="en-US" altLang="ko-KR" sz="1400" dirty="0">
                <a:solidFill>
                  <a:schemeClr val="tx1">
                    <a:lumMod val="75000"/>
                    <a:lumOff val="25000"/>
                  </a:schemeClr>
                </a:solidFill>
                <a:cs typeface="Arial" pitchFamily="34" charset="0"/>
              </a:rPr>
              <a:t>Which always removes and returns the element referenced by top.</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The </a:t>
            </a:r>
            <a:r>
              <a:rPr lang="en-US" altLang="ko-KR" sz="1400" b="1" dirty="0">
                <a:solidFill>
                  <a:schemeClr val="tx1">
                    <a:lumMod val="75000"/>
                    <a:lumOff val="25000"/>
                  </a:schemeClr>
                </a:solidFill>
                <a:cs typeface="Arial" pitchFamily="34" charset="0"/>
              </a:rPr>
              <a:t>peek</a:t>
            </a:r>
            <a:r>
              <a:rPr lang="en-US" altLang="ko-KR" sz="1400" dirty="0">
                <a:solidFill>
                  <a:schemeClr val="tx1">
                    <a:lumMod val="75000"/>
                    <a:lumOff val="25000"/>
                  </a:schemeClr>
                </a:solidFill>
                <a:cs typeface="Arial" pitchFamily="34" charset="0"/>
              </a:rPr>
              <a:t> operation returns the element referenced  by top but does not remove it.</a:t>
            </a:r>
          </a:p>
        </p:txBody>
      </p:sp>
    </p:spTree>
    <p:extLst>
      <p:ext uri="{BB962C8B-B14F-4D97-AF65-F5344CB8AC3E}">
        <p14:creationId xmlns:p14="http://schemas.microsoft.com/office/powerpoint/2010/main" val="410217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Specification (Stack ADT)</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195736" y="1485861"/>
            <a:ext cx="6491792" cy="1815882"/>
          </a:xfrm>
          <a:prstGeom prst="rect">
            <a:avLst/>
          </a:prstGeom>
          <a:noFill/>
        </p:spPr>
        <p:txBody>
          <a:bodyPr wrap="square" rtlCol="0">
            <a:spAutoFit/>
          </a:bodyPr>
          <a:lstStyle/>
          <a:p>
            <a:pPr lvl="1"/>
            <a:r>
              <a:rPr lang="en-US" altLang="ko-KR" sz="1400" u="sng" dirty="0">
                <a:solidFill>
                  <a:schemeClr val="tx1">
                    <a:lumMod val="75000"/>
                    <a:lumOff val="25000"/>
                  </a:schemeClr>
                </a:solidFill>
                <a:cs typeface="Arial" pitchFamily="34" charset="0"/>
              </a:rPr>
              <a:t>Description</a:t>
            </a:r>
          </a:p>
          <a:p>
            <a:pPr marL="1200150" lvl="2"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This ADT describes a dynamic stack (size is not fixed) whose element type is left unspecified</a:t>
            </a:r>
          </a:p>
          <a:p>
            <a:pPr lvl="1"/>
            <a:r>
              <a:rPr lang="en-US" altLang="ko-KR" sz="1400" u="sng" dirty="0">
                <a:solidFill>
                  <a:schemeClr val="tx1">
                    <a:lumMod val="75000"/>
                    <a:lumOff val="25000"/>
                  </a:schemeClr>
                </a:solidFill>
                <a:cs typeface="Arial" pitchFamily="34" charset="0"/>
              </a:rPr>
              <a:t>Properties</a:t>
            </a:r>
          </a:p>
          <a:p>
            <a:pPr marL="1200150" lvl="2"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Stacks are LIFO data structures</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All accesses are done to the element referenced by top</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The top always refers to the topmost element in the stack</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Insertions are done “above” the top element</a:t>
            </a:r>
          </a:p>
        </p:txBody>
      </p:sp>
    </p:spTree>
    <p:extLst>
      <p:ext uri="{BB962C8B-B14F-4D97-AF65-F5344CB8AC3E}">
        <p14:creationId xmlns:p14="http://schemas.microsoft.com/office/powerpoint/2010/main" val="328435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Specification (Stack ADT)</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195736" y="1485861"/>
            <a:ext cx="6491792" cy="2246769"/>
          </a:xfrm>
          <a:prstGeom prst="rect">
            <a:avLst/>
          </a:prstGeom>
          <a:noFill/>
        </p:spPr>
        <p:txBody>
          <a:bodyPr wrap="square" rtlCol="0">
            <a:spAutoFit/>
          </a:bodyPr>
          <a:lstStyle/>
          <a:p>
            <a:pPr lvl="1"/>
            <a:r>
              <a:rPr lang="en-US" altLang="ko-KR" sz="1400" u="sng" dirty="0">
                <a:solidFill>
                  <a:schemeClr val="tx1">
                    <a:lumMod val="75000"/>
                    <a:lumOff val="25000"/>
                  </a:schemeClr>
                </a:solidFill>
                <a:cs typeface="Arial" pitchFamily="34" charset="0"/>
              </a:rPr>
              <a:t>Attributes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size</a:t>
            </a:r>
            <a:r>
              <a:rPr lang="en-US" altLang="ko-KR" sz="1400" dirty="0">
                <a:solidFill>
                  <a:schemeClr val="tx1">
                    <a:lumMod val="75000"/>
                    <a:lumOff val="25000"/>
                  </a:schemeClr>
                </a:solidFill>
                <a:cs typeface="Arial" pitchFamily="34" charset="0"/>
              </a:rPr>
              <a:t> – no. of elements in the stack: size &gt;= 0 at all times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top</a:t>
            </a:r>
            <a:r>
              <a:rPr lang="en-US" altLang="ko-KR" sz="1400" dirty="0">
                <a:solidFill>
                  <a:schemeClr val="tx1">
                    <a:lumMod val="75000"/>
                    <a:lumOff val="25000"/>
                  </a:schemeClr>
                </a:solidFill>
                <a:cs typeface="Arial" pitchFamily="34" charset="0"/>
              </a:rPr>
              <a:t> – topmost element of the stack, null when stack is empty</a:t>
            </a:r>
          </a:p>
          <a:p>
            <a:pPr lvl="1"/>
            <a:endParaRPr lang="en-US" altLang="ko-KR" sz="1400" dirty="0">
              <a:solidFill>
                <a:schemeClr val="tx1">
                  <a:lumMod val="75000"/>
                  <a:lumOff val="25000"/>
                </a:schemeClr>
              </a:solidFill>
              <a:cs typeface="Arial" pitchFamily="34" charset="0"/>
            </a:endParaRPr>
          </a:p>
          <a:p>
            <a:pPr lvl="1"/>
            <a:r>
              <a:rPr lang="en-US" altLang="ko-KR" sz="1400" u="sng" dirty="0">
                <a:solidFill>
                  <a:schemeClr val="tx1">
                    <a:lumMod val="75000"/>
                    <a:lumOff val="25000"/>
                  </a:schemeClr>
                </a:solidFill>
                <a:cs typeface="Arial" pitchFamily="34" charset="0"/>
              </a:rPr>
              <a:t>Operations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Stack() </a:t>
            </a:r>
            <a:r>
              <a:rPr lang="en-US" altLang="ko-KR" sz="1400" dirty="0">
                <a:solidFill>
                  <a:schemeClr val="tx1">
                    <a:lumMod val="75000"/>
                    <a:lumOff val="25000"/>
                  </a:schemeClr>
                </a:solidFill>
                <a:cs typeface="Arial" pitchFamily="34" charset="0"/>
              </a:rPr>
              <a:t>– constructor</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push()</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Push element onto the top of the stack</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Post-condition – element is placed on top of the stack, size is incremented by 1, top refers to the element pushed</a:t>
            </a:r>
          </a:p>
        </p:txBody>
      </p:sp>
    </p:spTree>
    <p:extLst>
      <p:ext uri="{BB962C8B-B14F-4D97-AF65-F5344CB8AC3E}">
        <p14:creationId xmlns:p14="http://schemas.microsoft.com/office/powerpoint/2010/main" val="988283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Specification (Stack ADT)</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195736" y="1485861"/>
            <a:ext cx="6491792" cy="2031325"/>
          </a:xfrm>
          <a:prstGeom prst="rect">
            <a:avLst/>
          </a:prstGeom>
          <a:noFill/>
        </p:spPr>
        <p:txBody>
          <a:bodyPr wrap="square" rtlCol="0">
            <a:spAutoFit/>
          </a:bodyPr>
          <a:lstStyle/>
          <a:p>
            <a:pPr lvl="1"/>
            <a:r>
              <a:rPr lang="en-US" altLang="ko-KR" sz="1400" u="sng" dirty="0">
                <a:solidFill>
                  <a:schemeClr val="tx1">
                    <a:lumMod val="75000"/>
                    <a:lumOff val="25000"/>
                  </a:schemeClr>
                </a:solidFill>
                <a:cs typeface="Arial" pitchFamily="34" charset="0"/>
              </a:rPr>
              <a:t>Operations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pop()</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Pre-condition – </a:t>
            </a:r>
            <a:r>
              <a:rPr lang="en-US" altLang="ko-KR" sz="1400" dirty="0" err="1">
                <a:solidFill>
                  <a:schemeClr val="tx1">
                    <a:lumMod val="75000"/>
                    <a:lumOff val="25000"/>
                  </a:schemeClr>
                </a:solidFill>
                <a:cs typeface="Arial" pitchFamily="34" charset="0"/>
              </a:rPr>
              <a:t>isEmpty</a:t>
            </a:r>
            <a:r>
              <a:rPr lang="en-US" altLang="ko-KR" sz="1400" dirty="0">
                <a:solidFill>
                  <a:schemeClr val="tx1">
                    <a:lumMod val="75000"/>
                    <a:lumOff val="25000"/>
                  </a:schemeClr>
                </a:solidFill>
                <a:cs typeface="Arial" pitchFamily="34" charset="0"/>
              </a:rPr>
              <a:t>() is false</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Remove and return the element at top</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Post-condition – the top element is no longer in the stack, size is decremented by 1, top refers to the element below the previous topmost element or null if the stack is empty</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Returns – the element removed</a:t>
            </a:r>
          </a:p>
          <a:p>
            <a:pPr marL="1657350" lvl="3" indent="-285750">
              <a:buFont typeface="Wingdings" panose="05000000000000000000" pitchFamily="2" charset="2"/>
              <a:buChar char="§"/>
            </a:pPr>
            <a:endParaRPr lang="en-US" altLang="ko-KR" sz="14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2925300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Specification (Stack ADT)</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195736" y="1485861"/>
            <a:ext cx="6491792" cy="1600438"/>
          </a:xfrm>
          <a:prstGeom prst="rect">
            <a:avLst/>
          </a:prstGeom>
          <a:noFill/>
        </p:spPr>
        <p:txBody>
          <a:bodyPr wrap="square" rtlCol="0">
            <a:spAutoFit/>
          </a:bodyPr>
          <a:lstStyle/>
          <a:p>
            <a:pPr lvl="1"/>
            <a:r>
              <a:rPr lang="en-US" altLang="ko-KR" sz="1400" u="sng" dirty="0">
                <a:solidFill>
                  <a:schemeClr val="tx1">
                    <a:lumMod val="75000"/>
                    <a:lumOff val="25000"/>
                  </a:schemeClr>
                </a:solidFill>
                <a:cs typeface="Arial" pitchFamily="34" charset="0"/>
              </a:rPr>
              <a:t>Operations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peek()</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Pre-condition – </a:t>
            </a:r>
            <a:r>
              <a:rPr lang="en-US" altLang="ko-KR" sz="1400" dirty="0" err="1">
                <a:solidFill>
                  <a:schemeClr val="tx1">
                    <a:lumMod val="75000"/>
                    <a:lumOff val="25000"/>
                  </a:schemeClr>
                </a:solidFill>
                <a:cs typeface="Arial" pitchFamily="34" charset="0"/>
              </a:rPr>
              <a:t>isEmpty</a:t>
            </a:r>
            <a:r>
              <a:rPr lang="en-US" altLang="ko-KR" sz="1400" dirty="0">
                <a:solidFill>
                  <a:schemeClr val="tx1">
                    <a:lumMod val="75000"/>
                    <a:lumOff val="25000"/>
                  </a:schemeClr>
                </a:solidFill>
                <a:cs typeface="Arial" pitchFamily="34" charset="0"/>
              </a:rPr>
              <a:t>() is false</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Return the element at top</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Post-condition – the stack is unchanged</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Returns – the element referenced by top</a:t>
            </a:r>
          </a:p>
          <a:p>
            <a:pPr marL="1657350" lvl="3" indent="-285750">
              <a:buFont typeface="Wingdings" panose="05000000000000000000" pitchFamily="2" charset="2"/>
              <a:buChar char="§"/>
            </a:pPr>
            <a:endParaRPr lang="en-US" altLang="ko-KR" sz="14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3977629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Specification (Stack ADT)</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195736" y="1485861"/>
            <a:ext cx="6491792" cy="2246769"/>
          </a:xfrm>
          <a:prstGeom prst="rect">
            <a:avLst/>
          </a:prstGeom>
          <a:noFill/>
        </p:spPr>
        <p:txBody>
          <a:bodyPr wrap="square" rtlCol="0">
            <a:spAutoFit/>
          </a:bodyPr>
          <a:lstStyle/>
          <a:p>
            <a:pPr lvl="1"/>
            <a:r>
              <a:rPr lang="en-US" altLang="ko-KR" sz="1400" u="sng" dirty="0">
                <a:solidFill>
                  <a:schemeClr val="tx1">
                    <a:lumMod val="75000"/>
                    <a:lumOff val="25000"/>
                  </a:schemeClr>
                </a:solidFill>
                <a:cs typeface="Arial" pitchFamily="34" charset="0"/>
              </a:rPr>
              <a:t>Operations</a:t>
            </a:r>
          </a:p>
          <a:p>
            <a:pPr marL="1200150" lvl="2" indent="-285750">
              <a:buFont typeface="Wingdings" panose="05000000000000000000" pitchFamily="2" charset="2"/>
              <a:buChar char="§"/>
            </a:pPr>
            <a:r>
              <a:rPr lang="en-US" altLang="ko-KR" sz="1400" b="1" dirty="0">
                <a:solidFill>
                  <a:schemeClr val="tx1">
                    <a:lumMod val="75000"/>
                    <a:lumOff val="25000"/>
                  </a:schemeClr>
                </a:solidFill>
                <a:cs typeface="Arial" pitchFamily="34" charset="0"/>
              </a:rPr>
              <a:t>size()</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Determine the number of elements in the stack</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Post-condition – the stack is unchanged</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Returns – the number of elements in the stack</a:t>
            </a:r>
          </a:p>
          <a:p>
            <a:pPr marL="1200150" lvl="2" indent="-285750">
              <a:buFont typeface="Wingdings" panose="05000000000000000000" pitchFamily="2" charset="2"/>
              <a:buChar char="§"/>
            </a:pPr>
            <a:r>
              <a:rPr lang="en-US" altLang="ko-KR" sz="1400" b="1" dirty="0" err="1">
                <a:solidFill>
                  <a:schemeClr val="tx1">
                    <a:lumMod val="75000"/>
                    <a:lumOff val="25000"/>
                  </a:schemeClr>
                </a:solidFill>
                <a:cs typeface="Arial" pitchFamily="34" charset="0"/>
              </a:rPr>
              <a:t>isEmpty</a:t>
            </a:r>
            <a:r>
              <a:rPr lang="en-US" altLang="ko-KR" sz="1400" b="1" dirty="0">
                <a:solidFill>
                  <a:schemeClr val="tx1">
                    <a:lumMod val="75000"/>
                    <a:lumOff val="25000"/>
                  </a:schemeClr>
                </a:solidFill>
                <a:cs typeface="Arial" pitchFamily="34" charset="0"/>
              </a:rPr>
              <a:t>()</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Determine if the stack has any elements in it</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Post-condition – the stack is unchanged</a:t>
            </a:r>
          </a:p>
          <a:p>
            <a:pPr marL="1657350" lvl="3"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Returns – true if the stack is empty (size() == 0), false otherwise</a:t>
            </a:r>
          </a:p>
        </p:txBody>
      </p:sp>
    </p:spTree>
    <p:extLst>
      <p:ext uri="{BB962C8B-B14F-4D97-AF65-F5344CB8AC3E}">
        <p14:creationId xmlns:p14="http://schemas.microsoft.com/office/powerpoint/2010/main" val="3130314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36919" y="2811671"/>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1</a:t>
            </a:r>
            <a:endParaRPr lang="ko-KR" altLang="en-US" sz="1400" b="1" dirty="0">
              <a:solidFill>
                <a:schemeClr val="bg1"/>
              </a:solidFill>
              <a:cs typeface="Arial" pitchFamily="34" charset="0"/>
            </a:endParaRPr>
          </a:p>
        </p:txBody>
      </p:sp>
      <p:pic>
        <p:nvPicPr>
          <p:cNvPr id="17" name="Picture 16">
            <a:extLst>
              <a:ext uri="{FF2B5EF4-FFF2-40B4-BE49-F238E27FC236}">
                <a16:creationId xmlns:a16="http://schemas.microsoft.com/office/drawing/2014/main" id="{9F22ED0E-D9E6-BED5-D80F-7741539AD555}"/>
              </a:ext>
            </a:extLst>
          </p:cNvPr>
          <p:cNvPicPr>
            <a:picLocks noChangeAspect="1"/>
          </p:cNvPicPr>
          <p:nvPr/>
        </p:nvPicPr>
        <p:blipFill>
          <a:blip r:embed="rId3"/>
          <a:stretch>
            <a:fillRect/>
          </a:stretch>
        </p:blipFill>
        <p:spPr>
          <a:xfrm>
            <a:off x="633452" y="1418655"/>
            <a:ext cx="4204568" cy="1996058"/>
          </a:xfrm>
          <a:prstGeom prst="rect">
            <a:avLst/>
          </a:prstGeom>
        </p:spPr>
      </p:pic>
    </p:spTree>
    <p:extLst>
      <p:ext uri="{BB962C8B-B14F-4D97-AF65-F5344CB8AC3E}">
        <p14:creationId xmlns:p14="http://schemas.microsoft.com/office/powerpoint/2010/main" val="2012752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36919" y="2811671"/>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1</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0C1DAD08-AEEB-FA55-ED79-59CF81875EB4}"/>
              </a:ext>
            </a:extLst>
          </p:cNvPr>
          <p:cNvPicPr>
            <a:picLocks noChangeAspect="1"/>
          </p:cNvPicPr>
          <p:nvPr/>
        </p:nvPicPr>
        <p:blipFill>
          <a:blip r:embed="rId3"/>
          <a:stretch>
            <a:fillRect/>
          </a:stretch>
        </p:blipFill>
        <p:spPr>
          <a:xfrm>
            <a:off x="626252" y="1485861"/>
            <a:ext cx="3960440" cy="1681124"/>
          </a:xfrm>
          <a:prstGeom prst="rect">
            <a:avLst/>
          </a:prstGeom>
        </p:spPr>
      </p:pic>
    </p:spTree>
    <p:extLst>
      <p:ext uri="{BB962C8B-B14F-4D97-AF65-F5344CB8AC3E}">
        <p14:creationId xmlns:p14="http://schemas.microsoft.com/office/powerpoint/2010/main" val="2840227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36919" y="3185329"/>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1</a:t>
            </a:r>
            <a:endParaRPr lang="ko-KR" altLang="en-US" sz="1400" b="1" dirty="0">
              <a:solidFill>
                <a:schemeClr val="bg1"/>
              </a:solidFill>
              <a:cs typeface="Arial" pitchFamily="34" charset="0"/>
            </a:endParaRPr>
          </a:p>
        </p:txBody>
      </p:sp>
      <p:pic>
        <p:nvPicPr>
          <p:cNvPr id="15" name="Picture 14">
            <a:extLst>
              <a:ext uri="{FF2B5EF4-FFF2-40B4-BE49-F238E27FC236}">
                <a16:creationId xmlns:a16="http://schemas.microsoft.com/office/drawing/2014/main" id="{E5A80528-251F-9506-6CD0-ABD7BA4571D6}"/>
              </a:ext>
            </a:extLst>
          </p:cNvPr>
          <p:cNvPicPr>
            <a:picLocks noChangeAspect="1"/>
          </p:cNvPicPr>
          <p:nvPr/>
        </p:nvPicPr>
        <p:blipFill>
          <a:blip r:embed="rId3"/>
          <a:stretch>
            <a:fillRect/>
          </a:stretch>
        </p:blipFill>
        <p:spPr>
          <a:xfrm>
            <a:off x="582752" y="1120187"/>
            <a:ext cx="3451473" cy="1883611"/>
          </a:xfrm>
          <a:prstGeom prst="rect">
            <a:avLst/>
          </a:prstGeom>
        </p:spPr>
      </p:pic>
      <p:sp>
        <p:nvSpPr>
          <p:cNvPr id="7" name="TextBox 6">
            <a:extLst>
              <a:ext uri="{FF2B5EF4-FFF2-40B4-BE49-F238E27FC236}">
                <a16:creationId xmlns:a16="http://schemas.microsoft.com/office/drawing/2014/main" id="{63B627B8-45A8-334C-1A69-A5C37912C33D}"/>
              </a:ext>
            </a:extLst>
          </p:cNvPr>
          <p:cNvSpPr txBox="1"/>
          <p:nvPr/>
        </p:nvSpPr>
        <p:spPr>
          <a:xfrm>
            <a:off x="5153672" y="658522"/>
            <a:ext cx="2514671" cy="461665"/>
          </a:xfrm>
          <a:prstGeom prst="rect">
            <a:avLst/>
          </a:prstGeom>
          <a:noFill/>
        </p:spPr>
        <p:txBody>
          <a:bodyPr wrap="square" rtlCol="0">
            <a:spAutoFit/>
          </a:bodyPr>
          <a:lstStyle/>
          <a:p>
            <a:r>
              <a:rPr lang="en-US" sz="1200" dirty="0" err="1"/>
              <a:t>stackArray</a:t>
            </a:r>
            <a:r>
              <a:rPr lang="en-US" sz="1200" dirty="0"/>
              <a:t> = 10  //</a:t>
            </a:r>
            <a:r>
              <a:rPr lang="en-US" sz="1200" dirty="0" err="1"/>
              <a:t>maxSize</a:t>
            </a:r>
            <a:r>
              <a:rPr lang="en-US" sz="1200" dirty="0"/>
              <a:t>=10</a:t>
            </a:r>
          </a:p>
          <a:p>
            <a:r>
              <a:rPr lang="en-US" sz="1200" dirty="0"/>
              <a:t>top=-1</a:t>
            </a:r>
          </a:p>
        </p:txBody>
      </p:sp>
      <p:sp>
        <p:nvSpPr>
          <p:cNvPr id="8" name="TextBox 7">
            <a:extLst>
              <a:ext uri="{FF2B5EF4-FFF2-40B4-BE49-F238E27FC236}">
                <a16:creationId xmlns:a16="http://schemas.microsoft.com/office/drawing/2014/main" id="{6950C3BD-A315-62A3-6B7B-8722099725EE}"/>
              </a:ext>
            </a:extLst>
          </p:cNvPr>
          <p:cNvSpPr txBox="1"/>
          <p:nvPr/>
        </p:nvSpPr>
        <p:spPr>
          <a:xfrm>
            <a:off x="5153672" y="1120187"/>
            <a:ext cx="2154632" cy="461665"/>
          </a:xfrm>
          <a:prstGeom prst="rect">
            <a:avLst/>
          </a:prstGeom>
          <a:noFill/>
        </p:spPr>
        <p:txBody>
          <a:bodyPr wrap="square" rtlCol="0">
            <a:spAutoFit/>
          </a:bodyPr>
          <a:lstStyle/>
          <a:p>
            <a:r>
              <a:rPr lang="en-US" sz="1200" dirty="0"/>
              <a:t>push(10)</a:t>
            </a:r>
          </a:p>
          <a:p>
            <a:r>
              <a:rPr lang="en-US" sz="1200" dirty="0" err="1"/>
              <a:t>stackArray</a:t>
            </a:r>
            <a:r>
              <a:rPr lang="en-US" sz="1200" dirty="0"/>
              <a:t>[0] = </a:t>
            </a:r>
            <a:r>
              <a:rPr lang="en-US" sz="1200" b="1" dirty="0"/>
              <a:t>10    </a:t>
            </a:r>
            <a:r>
              <a:rPr lang="en-US" sz="1200" dirty="0"/>
              <a:t>top=0</a:t>
            </a:r>
            <a:endParaRPr lang="en-US" sz="1200" b="1" dirty="0"/>
          </a:p>
        </p:txBody>
      </p:sp>
      <p:sp>
        <p:nvSpPr>
          <p:cNvPr id="9" name="TextBox 8">
            <a:extLst>
              <a:ext uri="{FF2B5EF4-FFF2-40B4-BE49-F238E27FC236}">
                <a16:creationId xmlns:a16="http://schemas.microsoft.com/office/drawing/2014/main" id="{DDCA6E48-617F-C72F-A0F2-163C7557DD08}"/>
              </a:ext>
            </a:extLst>
          </p:cNvPr>
          <p:cNvSpPr txBox="1"/>
          <p:nvPr/>
        </p:nvSpPr>
        <p:spPr>
          <a:xfrm>
            <a:off x="5153672" y="1550904"/>
            <a:ext cx="2154632" cy="461665"/>
          </a:xfrm>
          <a:prstGeom prst="rect">
            <a:avLst/>
          </a:prstGeom>
          <a:noFill/>
        </p:spPr>
        <p:txBody>
          <a:bodyPr wrap="square" rtlCol="0">
            <a:spAutoFit/>
          </a:bodyPr>
          <a:lstStyle/>
          <a:p>
            <a:r>
              <a:rPr lang="en-US" sz="1200" dirty="0"/>
              <a:t>push(20)</a:t>
            </a:r>
          </a:p>
          <a:p>
            <a:r>
              <a:rPr lang="en-US" sz="1200" dirty="0" err="1"/>
              <a:t>stackArray</a:t>
            </a:r>
            <a:r>
              <a:rPr lang="en-US" sz="1200" dirty="0"/>
              <a:t>[1] = </a:t>
            </a:r>
            <a:r>
              <a:rPr lang="en-US" sz="1200" b="1" dirty="0"/>
              <a:t>20    </a:t>
            </a:r>
            <a:r>
              <a:rPr lang="en-US" sz="1200" dirty="0"/>
              <a:t>top=1</a:t>
            </a:r>
            <a:endParaRPr lang="en-US" sz="1200" b="1" dirty="0"/>
          </a:p>
        </p:txBody>
      </p:sp>
      <p:sp>
        <p:nvSpPr>
          <p:cNvPr id="11" name="TextBox 10">
            <a:extLst>
              <a:ext uri="{FF2B5EF4-FFF2-40B4-BE49-F238E27FC236}">
                <a16:creationId xmlns:a16="http://schemas.microsoft.com/office/drawing/2014/main" id="{908499B2-A29C-8855-B926-08F26D391B3D}"/>
              </a:ext>
            </a:extLst>
          </p:cNvPr>
          <p:cNvSpPr txBox="1"/>
          <p:nvPr/>
        </p:nvSpPr>
        <p:spPr>
          <a:xfrm>
            <a:off x="5153672" y="1981621"/>
            <a:ext cx="2154632" cy="461665"/>
          </a:xfrm>
          <a:prstGeom prst="rect">
            <a:avLst/>
          </a:prstGeom>
          <a:noFill/>
        </p:spPr>
        <p:txBody>
          <a:bodyPr wrap="square" rtlCol="0">
            <a:spAutoFit/>
          </a:bodyPr>
          <a:lstStyle/>
          <a:p>
            <a:r>
              <a:rPr lang="en-US" sz="1200" dirty="0"/>
              <a:t>push(30)</a:t>
            </a:r>
          </a:p>
          <a:p>
            <a:r>
              <a:rPr lang="en-US" sz="1200" dirty="0" err="1"/>
              <a:t>stackArray</a:t>
            </a:r>
            <a:r>
              <a:rPr lang="en-US" sz="1200" dirty="0"/>
              <a:t>[2] = </a:t>
            </a:r>
            <a:r>
              <a:rPr lang="en-US" sz="1200" b="1" dirty="0"/>
              <a:t>30    </a:t>
            </a:r>
            <a:r>
              <a:rPr lang="en-US" sz="1200" dirty="0"/>
              <a:t>top=2</a:t>
            </a:r>
            <a:endParaRPr lang="en-US" sz="1200" b="1" dirty="0"/>
          </a:p>
        </p:txBody>
      </p:sp>
      <p:sp>
        <p:nvSpPr>
          <p:cNvPr id="16" name="TextBox 15">
            <a:extLst>
              <a:ext uri="{FF2B5EF4-FFF2-40B4-BE49-F238E27FC236}">
                <a16:creationId xmlns:a16="http://schemas.microsoft.com/office/drawing/2014/main" id="{C6639B76-3733-F280-F215-3B8AA49C5ACD}"/>
              </a:ext>
            </a:extLst>
          </p:cNvPr>
          <p:cNvSpPr txBox="1"/>
          <p:nvPr/>
        </p:nvSpPr>
        <p:spPr>
          <a:xfrm>
            <a:off x="5153672" y="2412338"/>
            <a:ext cx="2082624" cy="461665"/>
          </a:xfrm>
          <a:prstGeom prst="rect">
            <a:avLst/>
          </a:prstGeom>
          <a:noFill/>
        </p:spPr>
        <p:txBody>
          <a:bodyPr wrap="square" rtlCol="0">
            <a:spAutoFit/>
          </a:bodyPr>
          <a:lstStyle/>
          <a:p>
            <a:r>
              <a:rPr lang="en-US" sz="1200" dirty="0"/>
              <a:t>push(40)</a:t>
            </a:r>
          </a:p>
          <a:p>
            <a:r>
              <a:rPr lang="en-US" sz="1200" dirty="0" err="1"/>
              <a:t>stackArray</a:t>
            </a:r>
            <a:r>
              <a:rPr lang="en-US" sz="1200" dirty="0"/>
              <a:t>[3] = </a:t>
            </a:r>
            <a:r>
              <a:rPr lang="en-US" sz="1200" b="1" dirty="0"/>
              <a:t>40    </a:t>
            </a:r>
            <a:r>
              <a:rPr lang="en-US" sz="1200" dirty="0"/>
              <a:t>top=3</a:t>
            </a:r>
            <a:endParaRPr lang="en-US" sz="1200" b="1" dirty="0"/>
          </a:p>
        </p:txBody>
      </p:sp>
      <p:sp>
        <p:nvSpPr>
          <p:cNvPr id="17" name="TextBox 16">
            <a:extLst>
              <a:ext uri="{FF2B5EF4-FFF2-40B4-BE49-F238E27FC236}">
                <a16:creationId xmlns:a16="http://schemas.microsoft.com/office/drawing/2014/main" id="{99660225-00B2-CD13-F41F-9E1A3BE95080}"/>
              </a:ext>
            </a:extLst>
          </p:cNvPr>
          <p:cNvSpPr txBox="1"/>
          <p:nvPr/>
        </p:nvSpPr>
        <p:spPr>
          <a:xfrm>
            <a:off x="5153672" y="2794565"/>
            <a:ext cx="2082624" cy="461665"/>
          </a:xfrm>
          <a:prstGeom prst="rect">
            <a:avLst/>
          </a:prstGeom>
          <a:noFill/>
        </p:spPr>
        <p:txBody>
          <a:bodyPr wrap="square" rtlCol="0">
            <a:spAutoFit/>
          </a:bodyPr>
          <a:lstStyle/>
          <a:p>
            <a:r>
              <a:rPr lang="en-US" sz="1200" dirty="0"/>
              <a:t>push(50)</a:t>
            </a:r>
          </a:p>
          <a:p>
            <a:r>
              <a:rPr lang="en-US" sz="1200" dirty="0" err="1"/>
              <a:t>stackArray</a:t>
            </a:r>
            <a:r>
              <a:rPr lang="en-US" sz="1200" dirty="0"/>
              <a:t>[4] = </a:t>
            </a:r>
            <a:r>
              <a:rPr lang="en-US" sz="1200" b="1" dirty="0"/>
              <a:t>50    </a:t>
            </a:r>
            <a:r>
              <a:rPr lang="en-US" sz="1200" dirty="0"/>
              <a:t>top=4</a:t>
            </a:r>
            <a:endParaRPr lang="en-US" sz="1200" b="1" dirty="0"/>
          </a:p>
        </p:txBody>
      </p:sp>
      <p:sp>
        <p:nvSpPr>
          <p:cNvPr id="18" name="TextBox 17">
            <a:extLst>
              <a:ext uri="{FF2B5EF4-FFF2-40B4-BE49-F238E27FC236}">
                <a16:creationId xmlns:a16="http://schemas.microsoft.com/office/drawing/2014/main" id="{C3B0685B-E6B6-9BC7-93CB-594F44875584}"/>
              </a:ext>
            </a:extLst>
          </p:cNvPr>
          <p:cNvSpPr txBox="1"/>
          <p:nvPr/>
        </p:nvSpPr>
        <p:spPr>
          <a:xfrm>
            <a:off x="5153671" y="3154874"/>
            <a:ext cx="2226641" cy="461665"/>
          </a:xfrm>
          <a:prstGeom prst="rect">
            <a:avLst/>
          </a:prstGeom>
          <a:noFill/>
        </p:spPr>
        <p:txBody>
          <a:bodyPr wrap="square" rtlCol="0">
            <a:spAutoFit/>
          </a:bodyPr>
          <a:lstStyle/>
          <a:p>
            <a:r>
              <a:rPr lang="en-US" sz="1200" dirty="0"/>
              <a:t>push(60)</a:t>
            </a:r>
          </a:p>
          <a:p>
            <a:r>
              <a:rPr lang="en-US" sz="1200" dirty="0" err="1"/>
              <a:t>stackArray</a:t>
            </a:r>
            <a:r>
              <a:rPr lang="en-US" sz="1200" dirty="0"/>
              <a:t>[5] = </a:t>
            </a:r>
            <a:r>
              <a:rPr lang="en-US" sz="1200" b="1" dirty="0"/>
              <a:t>60    </a:t>
            </a:r>
            <a:r>
              <a:rPr lang="en-US" sz="1200" dirty="0"/>
              <a:t>top=5</a:t>
            </a:r>
            <a:endParaRPr lang="en-US" sz="1200" b="1" dirty="0"/>
          </a:p>
        </p:txBody>
      </p:sp>
      <p:sp>
        <p:nvSpPr>
          <p:cNvPr id="19" name="TextBox 18">
            <a:extLst>
              <a:ext uri="{FF2B5EF4-FFF2-40B4-BE49-F238E27FC236}">
                <a16:creationId xmlns:a16="http://schemas.microsoft.com/office/drawing/2014/main" id="{F428926D-481F-A511-9079-627700B9DE58}"/>
              </a:ext>
            </a:extLst>
          </p:cNvPr>
          <p:cNvSpPr txBox="1"/>
          <p:nvPr/>
        </p:nvSpPr>
        <p:spPr>
          <a:xfrm>
            <a:off x="5153671" y="3549388"/>
            <a:ext cx="2226641" cy="461665"/>
          </a:xfrm>
          <a:prstGeom prst="rect">
            <a:avLst/>
          </a:prstGeom>
          <a:noFill/>
        </p:spPr>
        <p:txBody>
          <a:bodyPr wrap="square" rtlCol="0">
            <a:spAutoFit/>
          </a:bodyPr>
          <a:lstStyle/>
          <a:p>
            <a:r>
              <a:rPr lang="en-US" sz="1200" dirty="0"/>
              <a:t>push(70)</a:t>
            </a:r>
          </a:p>
          <a:p>
            <a:r>
              <a:rPr lang="en-US" sz="1200" dirty="0" err="1"/>
              <a:t>stackArray</a:t>
            </a:r>
            <a:r>
              <a:rPr lang="en-US" sz="1200" dirty="0"/>
              <a:t>[6] = </a:t>
            </a:r>
            <a:r>
              <a:rPr lang="en-US" sz="1200" b="1" dirty="0"/>
              <a:t>70    </a:t>
            </a:r>
            <a:r>
              <a:rPr lang="en-US" sz="1200" dirty="0"/>
              <a:t>top=6</a:t>
            </a:r>
            <a:endParaRPr lang="en-US" sz="1200" b="1" dirty="0"/>
          </a:p>
        </p:txBody>
      </p:sp>
      <p:sp>
        <p:nvSpPr>
          <p:cNvPr id="20" name="TextBox 19">
            <a:extLst>
              <a:ext uri="{FF2B5EF4-FFF2-40B4-BE49-F238E27FC236}">
                <a16:creationId xmlns:a16="http://schemas.microsoft.com/office/drawing/2014/main" id="{7613FFB9-3E46-83A9-ECB5-F5EA1869F772}"/>
              </a:ext>
            </a:extLst>
          </p:cNvPr>
          <p:cNvSpPr txBox="1"/>
          <p:nvPr/>
        </p:nvSpPr>
        <p:spPr>
          <a:xfrm>
            <a:off x="5153671" y="3910315"/>
            <a:ext cx="2226641" cy="461665"/>
          </a:xfrm>
          <a:prstGeom prst="rect">
            <a:avLst/>
          </a:prstGeom>
          <a:noFill/>
        </p:spPr>
        <p:txBody>
          <a:bodyPr wrap="square" rtlCol="0">
            <a:spAutoFit/>
          </a:bodyPr>
          <a:lstStyle/>
          <a:p>
            <a:r>
              <a:rPr lang="en-US" sz="1200" dirty="0"/>
              <a:t>push(80)</a:t>
            </a:r>
          </a:p>
          <a:p>
            <a:r>
              <a:rPr lang="en-US" sz="1200" dirty="0" err="1"/>
              <a:t>stackArray</a:t>
            </a:r>
            <a:r>
              <a:rPr lang="en-US" sz="1200" dirty="0"/>
              <a:t>[7] = </a:t>
            </a:r>
            <a:r>
              <a:rPr lang="en-US" sz="1200" b="1" dirty="0"/>
              <a:t>80    </a:t>
            </a:r>
            <a:r>
              <a:rPr lang="en-US" sz="1200" dirty="0"/>
              <a:t>top=7</a:t>
            </a:r>
            <a:endParaRPr lang="en-US" sz="1200" b="1" dirty="0"/>
          </a:p>
        </p:txBody>
      </p:sp>
      <p:sp>
        <p:nvSpPr>
          <p:cNvPr id="22" name="TextBox 21">
            <a:extLst>
              <a:ext uri="{FF2B5EF4-FFF2-40B4-BE49-F238E27FC236}">
                <a16:creationId xmlns:a16="http://schemas.microsoft.com/office/drawing/2014/main" id="{3B2C27EB-4BEF-7A67-22B9-9163AE5AF95C}"/>
              </a:ext>
            </a:extLst>
          </p:cNvPr>
          <p:cNvSpPr txBox="1"/>
          <p:nvPr/>
        </p:nvSpPr>
        <p:spPr>
          <a:xfrm>
            <a:off x="5139399" y="4305959"/>
            <a:ext cx="2384929" cy="461665"/>
          </a:xfrm>
          <a:prstGeom prst="rect">
            <a:avLst/>
          </a:prstGeom>
          <a:noFill/>
        </p:spPr>
        <p:txBody>
          <a:bodyPr wrap="square" rtlCol="0">
            <a:spAutoFit/>
          </a:bodyPr>
          <a:lstStyle/>
          <a:p>
            <a:r>
              <a:rPr lang="en-US" sz="1200" dirty="0"/>
              <a:t>push(90)</a:t>
            </a:r>
          </a:p>
          <a:p>
            <a:r>
              <a:rPr lang="en-US" sz="1200" dirty="0" err="1"/>
              <a:t>stackArray</a:t>
            </a:r>
            <a:r>
              <a:rPr lang="en-US" sz="1200" dirty="0"/>
              <a:t>[8] = </a:t>
            </a:r>
            <a:r>
              <a:rPr lang="en-US" sz="1200" b="1" dirty="0"/>
              <a:t>90     </a:t>
            </a:r>
            <a:r>
              <a:rPr lang="en-US" sz="1200" dirty="0"/>
              <a:t>top=8</a:t>
            </a:r>
            <a:endParaRPr lang="en-US" sz="1200" b="1" dirty="0"/>
          </a:p>
        </p:txBody>
      </p:sp>
      <p:sp>
        <p:nvSpPr>
          <p:cNvPr id="23" name="TextBox 22">
            <a:extLst>
              <a:ext uri="{FF2B5EF4-FFF2-40B4-BE49-F238E27FC236}">
                <a16:creationId xmlns:a16="http://schemas.microsoft.com/office/drawing/2014/main" id="{FC07BD87-3012-844A-E57A-5F2CA48138D3}"/>
              </a:ext>
            </a:extLst>
          </p:cNvPr>
          <p:cNvSpPr txBox="1"/>
          <p:nvPr/>
        </p:nvSpPr>
        <p:spPr>
          <a:xfrm>
            <a:off x="5139399" y="4691896"/>
            <a:ext cx="2312921" cy="461665"/>
          </a:xfrm>
          <a:prstGeom prst="rect">
            <a:avLst/>
          </a:prstGeom>
          <a:noFill/>
        </p:spPr>
        <p:txBody>
          <a:bodyPr wrap="square" rtlCol="0">
            <a:spAutoFit/>
          </a:bodyPr>
          <a:lstStyle/>
          <a:p>
            <a:r>
              <a:rPr lang="en-US" sz="1200" dirty="0"/>
              <a:t>push(100)</a:t>
            </a:r>
          </a:p>
          <a:p>
            <a:r>
              <a:rPr lang="en-US" sz="1200" dirty="0" err="1"/>
              <a:t>stackArray</a:t>
            </a:r>
            <a:r>
              <a:rPr lang="en-US" sz="1200" dirty="0"/>
              <a:t>[9] = </a:t>
            </a:r>
            <a:r>
              <a:rPr lang="en-US" sz="1200" b="1" dirty="0"/>
              <a:t>100   </a:t>
            </a:r>
            <a:r>
              <a:rPr lang="en-US" sz="1200" dirty="0"/>
              <a:t>top=9</a:t>
            </a:r>
            <a:endParaRPr lang="en-US" sz="1200" b="1" dirty="0"/>
          </a:p>
        </p:txBody>
      </p:sp>
    </p:spTree>
    <p:extLst>
      <p:ext uri="{BB962C8B-B14F-4D97-AF65-F5344CB8AC3E}">
        <p14:creationId xmlns:p14="http://schemas.microsoft.com/office/powerpoint/2010/main" val="211457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6" grpId="0"/>
      <p:bldP spid="17" grpId="0"/>
      <p:bldP spid="18" grpId="0"/>
      <p:bldP spid="19" grpId="0"/>
      <p:bldP spid="20"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B2C5065-0E19-92EF-43EF-E05A0D546073}"/>
              </a:ext>
            </a:extLst>
          </p:cNvPr>
          <p:cNvSpPr/>
          <p:nvPr/>
        </p:nvSpPr>
        <p:spPr>
          <a:xfrm>
            <a:off x="481201" y="4456156"/>
            <a:ext cx="3226703" cy="63587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36919" y="3185329"/>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1</a:t>
            </a:r>
            <a:endParaRPr lang="ko-KR" altLang="en-US" sz="1400" b="1" dirty="0">
              <a:solidFill>
                <a:schemeClr val="bg1"/>
              </a:solidFill>
              <a:cs typeface="Arial" pitchFamily="34" charset="0"/>
            </a:endParaRPr>
          </a:p>
        </p:txBody>
      </p:sp>
      <p:pic>
        <p:nvPicPr>
          <p:cNvPr id="17" name="Picture 16">
            <a:extLst>
              <a:ext uri="{FF2B5EF4-FFF2-40B4-BE49-F238E27FC236}">
                <a16:creationId xmlns:a16="http://schemas.microsoft.com/office/drawing/2014/main" id="{EF006DFE-B6AF-33C4-761D-AB96F048E449}"/>
              </a:ext>
            </a:extLst>
          </p:cNvPr>
          <p:cNvPicPr>
            <a:picLocks noChangeAspect="1"/>
          </p:cNvPicPr>
          <p:nvPr/>
        </p:nvPicPr>
        <p:blipFill>
          <a:blip r:embed="rId3"/>
          <a:stretch>
            <a:fillRect/>
          </a:stretch>
        </p:blipFill>
        <p:spPr>
          <a:xfrm>
            <a:off x="635089" y="1175714"/>
            <a:ext cx="4224943" cy="1520979"/>
          </a:xfrm>
          <a:prstGeom prst="rect">
            <a:avLst/>
          </a:prstGeom>
        </p:spPr>
      </p:pic>
      <p:pic>
        <p:nvPicPr>
          <p:cNvPr id="21" name="Picture 20">
            <a:extLst>
              <a:ext uri="{FF2B5EF4-FFF2-40B4-BE49-F238E27FC236}">
                <a16:creationId xmlns:a16="http://schemas.microsoft.com/office/drawing/2014/main" id="{35739DB1-238A-4656-12AD-BC00BEEC83F0}"/>
              </a:ext>
            </a:extLst>
          </p:cNvPr>
          <p:cNvPicPr>
            <a:picLocks noChangeAspect="1"/>
          </p:cNvPicPr>
          <p:nvPr/>
        </p:nvPicPr>
        <p:blipFill>
          <a:blip r:embed="rId4"/>
          <a:stretch>
            <a:fillRect/>
          </a:stretch>
        </p:blipFill>
        <p:spPr>
          <a:xfrm>
            <a:off x="655378" y="4563908"/>
            <a:ext cx="2875518" cy="400050"/>
          </a:xfrm>
          <a:prstGeom prst="rect">
            <a:avLst/>
          </a:prstGeom>
        </p:spPr>
      </p:pic>
      <p:grpSp>
        <p:nvGrpSpPr>
          <p:cNvPr id="49" name="Group 48">
            <a:extLst>
              <a:ext uri="{FF2B5EF4-FFF2-40B4-BE49-F238E27FC236}">
                <a16:creationId xmlns:a16="http://schemas.microsoft.com/office/drawing/2014/main" id="{74D034F6-A71F-A006-6DD1-B5879EE829BD}"/>
              </a:ext>
            </a:extLst>
          </p:cNvPr>
          <p:cNvGrpSpPr/>
          <p:nvPr/>
        </p:nvGrpSpPr>
        <p:grpSpPr>
          <a:xfrm>
            <a:off x="5153672" y="531767"/>
            <a:ext cx="4170856" cy="276999"/>
            <a:chOff x="5153672" y="658522"/>
            <a:chExt cx="4170856" cy="276999"/>
          </a:xfrm>
        </p:grpSpPr>
        <p:sp>
          <p:nvSpPr>
            <p:cNvPr id="7" name="TextBox 6">
              <a:extLst>
                <a:ext uri="{FF2B5EF4-FFF2-40B4-BE49-F238E27FC236}">
                  <a16:creationId xmlns:a16="http://schemas.microsoft.com/office/drawing/2014/main" id="{CE354F57-C78F-5EBA-27A1-D6678AE248A9}"/>
                </a:ext>
              </a:extLst>
            </p:cNvPr>
            <p:cNvSpPr txBox="1"/>
            <p:nvPr/>
          </p:nvSpPr>
          <p:spPr>
            <a:xfrm>
              <a:off x="5153672" y="658522"/>
              <a:ext cx="4170856" cy="276999"/>
            </a:xfrm>
            <a:prstGeom prst="rect">
              <a:avLst/>
            </a:prstGeom>
            <a:noFill/>
          </p:spPr>
          <p:txBody>
            <a:bodyPr wrap="square" rtlCol="0">
              <a:spAutoFit/>
            </a:bodyPr>
            <a:lstStyle/>
            <a:p>
              <a:r>
                <a:rPr lang="en-US" sz="1200" dirty="0"/>
                <a:t>!</a:t>
              </a:r>
              <a:r>
                <a:rPr lang="en-US" sz="1200" dirty="0" err="1"/>
                <a:t>isFull</a:t>
              </a:r>
              <a:r>
                <a:rPr lang="en-US" sz="1200" dirty="0"/>
                <a:t>()?  F         </a:t>
              </a:r>
              <a:r>
                <a:rPr lang="en-US" sz="1200" dirty="0" err="1"/>
                <a:t>isFull</a:t>
              </a:r>
              <a:r>
                <a:rPr lang="en-US" sz="1200" dirty="0"/>
                <a:t> (top==maxSize-1)  top==9? T! = F</a:t>
              </a:r>
            </a:p>
          </p:txBody>
        </p:sp>
        <p:sp>
          <p:nvSpPr>
            <p:cNvPr id="8" name="Arrow: Right 7">
              <a:extLst>
                <a:ext uri="{FF2B5EF4-FFF2-40B4-BE49-F238E27FC236}">
                  <a16:creationId xmlns:a16="http://schemas.microsoft.com/office/drawing/2014/main" id="{EDC126F6-DD05-CF12-5681-956353CF2E66}"/>
                </a:ext>
              </a:extLst>
            </p:cNvPr>
            <p:cNvSpPr/>
            <p:nvPr/>
          </p:nvSpPr>
          <p:spPr>
            <a:xfrm>
              <a:off x="6091352" y="71394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85E79ABE-8596-830D-F8F9-09A0597A8D5B}"/>
              </a:ext>
            </a:extLst>
          </p:cNvPr>
          <p:cNvSpPr txBox="1"/>
          <p:nvPr/>
        </p:nvSpPr>
        <p:spPr>
          <a:xfrm>
            <a:off x="5148897" y="791138"/>
            <a:ext cx="4170856" cy="461665"/>
          </a:xfrm>
          <a:prstGeom prst="rect">
            <a:avLst/>
          </a:prstGeom>
          <a:noFill/>
        </p:spPr>
        <p:txBody>
          <a:bodyPr wrap="square" rtlCol="0">
            <a:spAutoFit/>
          </a:bodyPr>
          <a:lstStyle/>
          <a:p>
            <a:r>
              <a:rPr lang="en-US" sz="1200" dirty="0"/>
              <a:t>else</a:t>
            </a:r>
          </a:p>
          <a:p>
            <a:r>
              <a:rPr lang="en-US" sz="1200" dirty="0"/>
              <a:t>Output “Can’t insert, stack is full”</a:t>
            </a:r>
          </a:p>
        </p:txBody>
      </p:sp>
      <p:grpSp>
        <p:nvGrpSpPr>
          <p:cNvPr id="39" name="Group 38">
            <a:extLst>
              <a:ext uri="{FF2B5EF4-FFF2-40B4-BE49-F238E27FC236}">
                <a16:creationId xmlns:a16="http://schemas.microsoft.com/office/drawing/2014/main" id="{F4D2E8C7-7608-A856-31E2-A70ED3158D96}"/>
              </a:ext>
            </a:extLst>
          </p:cNvPr>
          <p:cNvGrpSpPr/>
          <p:nvPr/>
        </p:nvGrpSpPr>
        <p:grpSpPr>
          <a:xfrm>
            <a:off x="5148897" y="1266930"/>
            <a:ext cx="4170856" cy="461665"/>
            <a:chOff x="5153672" y="1375761"/>
            <a:chExt cx="4170856" cy="461665"/>
          </a:xfrm>
        </p:grpSpPr>
        <p:sp>
          <p:nvSpPr>
            <p:cNvPr id="11" name="TextBox 10">
              <a:extLst>
                <a:ext uri="{FF2B5EF4-FFF2-40B4-BE49-F238E27FC236}">
                  <a16:creationId xmlns:a16="http://schemas.microsoft.com/office/drawing/2014/main" id="{063AD6E5-2B6B-A8FA-4A56-FF1A6DF16CB7}"/>
                </a:ext>
              </a:extLst>
            </p:cNvPr>
            <p:cNvSpPr txBox="1"/>
            <p:nvPr/>
          </p:nvSpPr>
          <p:spPr>
            <a:xfrm>
              <a:off x="5153672" y="1375761"/>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15" name="Arrow: Right 14">
              <a:extLst>
                <a:ext uri="{FF2B5EF4-FFF2-40B4-BE49-F238E27FC236}">
                  <a16:creationId xmlns:a16="http://schemas.microsoft.com/office/drawing/2014/main" id="{93F7EB5A-F8A1-16B2-4237-A2A2DA6D34C0}"/>
                </a:ext>
              </a:extLst>
            </p:cNvPr>
            <p:cNvSpPr/>
            <p:nvPr/>
          </p:nvSpPr>
          <p:spPr>
            <a:xfrm>
              <a:off x="6228184" y="160311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198F4EF8-88E5-A026-3DE4-C1CAA695A32F}"/>
              </a:ext>
            </a:extLst>
          </p:cNvPr>
          <p:cNvGrpSpPr/>
          <p:nvPr/>
        </p:nvGrpSpPr>
        <p:grpSpPr>
          <a:xfrm>
            <a:off x="5312232" y="1637387"/>
            <a:ext cx="2716152" cy="646331"/>
            <a:chOff x="5312232" y="1749846"/>
            <a:chExt cx="2716152" cy="646331"/>
          </a:xfrm>
        </p:grpSpPr>
        <p:sp>
          <p:nvSpPr>
            <p:cNvPr id="16" name="TextBox 15">
              <a:extLst>
                <a:ext uri="{FF2B5EF4-FFF2-40B4-BE49-F238E27FC236}">
                  <a16:creationId xmlns:a16="http://schemas.microsoft.com/office/drawing/2014/main" id="{D0C8279A-F5C8-ECFC-9814-60381C095EB6}"/>
                </a:ext>
              </a:extLst>
            </p:cNvPr>
            <p:cNvSpPr txBox="1"/>
            <p:nvPr/>
          </p:nvSpPr>
          <p:spPr>
            <a:xfrm>
              <a:off x="5312232" y="1749846"/>
              <a:ext cx="2716152" cy="646331"/>
            </a:xfrm>
            <a:prstGeom prst="rect">
              <a:avLst/>
            </a:prstGeom>
            <a:noFill/>
          </p:spPr>
          <p:txBody>
            <a:bodyPr wrap="square" rtlCol="0">
              <a:spAutoFit/>
            </a:bodyPr>
            <a:lstStyle/>
            <a:p>
              <a:r>
                <a:rPr lang="en-US" sz="1200" dirty="0"/>
                <a:t>value=pop()         top=9   value=100</a:t>
              </a:r>
            </a:p>
            <a:p>
              <a:r>
                <a:rPr lang="en-US" sz="1200" dirty="0" err="1"/>
                <a:t>stackArray</a:t>
              </a:r>
              <a:r>
                <a:rPr lang="en-US" sz="1200" dirty="0"/>
                <a:t>[top--]        top=8</a:t>
              </a:r>
            </a:p>
            <a:p>
              <a:r>
                <a:rPr lang="en-US" sz="1200" dirty="0"/>
                <a:t>print 100</a:t>
              </a:r>
            </a:p>
          </p:txBody>
        </p:sp>
        <p:sp>
          <p:nvSpPr>
            <p:cNvPr id="18" name="Arrow: Right 17">
              <a:extLst>
                <a:ext uri="{FF2B5EF4-FFF2-40B4-BE49-F238E27FC236}">
                  <a16:creationId xmlns:a16="http://schemas.microsoft.com/office/drawing/2014/main" id="{E27C7C18-32F4-AC22-FE48-C4A3DD2345C2}"/>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1F0E5365-AFCF-E963-3862-E53D69B7F3BB}"/>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3BE25390-804B-B73D-26A2-3CD1F7C0616D}"/>
              </a:ext>
            </a:extLst>
          </p:cNvPr>
          <p:cNvSpPr txBox="1"/>
          <p:nvPr/>
        </p:nvSpPr>
        <p:spPr>
          <a:xfrm>
            <a:off x="495200" y="4209693"/>
            <a:ext cx="1518829" cy="307777"/>
          </a:xfrm>
          <a:prstGeom prst="rect">
            <a:avLst/>
          </a:prstGeom>
          <a:noFill/>
        </p:spPr>
        <p:txBody>
          <a:bodyPr wrap="square" rtlCol="0">
            <a:spAutoFit/>
          </a:bodyPr>
          <a:lstStyle/>
          <a:p>
            <a:r>
              <a:rPr lang="en-US" sz="1400" b="1" u="sng" dirty="0"/>
              <a:t>OUTPUT</a:t>
            </a:r>
          </a:p>
        </p:txBody>
      </p:sp>
      <p:grpSp>
        <p:nvGrpSpPr>
          <p:cNvPr id="27" name="Group 26">
            <a:extLst>
              <a:ext uri="{FF2B5EF4-FFF2-40B4-BE49-F238E27FC236}">
                <a16:creationId xmlns:a16="http://schemas.microsoft.com/office/drawing/2014/main" id="{AF6AB2A2-464A-1182-FA83-AFCC0B64F7FD}"/>
              </a:ext>
            </a:extLst>
          </p:cNvPr>
          <p:cNvGrpSpPr/>
          <p:nvPr/>
        </p:nvGrpSpPr>
        <p:grpSpPr>
          <a:xfrm>
            <a:off x="5292080" y="2630582"/>
            <a:ext cx="2716152" cy="646331"/>
            <a:chOff x="5312232" y="1749846"/>
            <a:chExt cx="2716152" cy="646331"/>
          </a:xfrm>
        </p:grpSpPr>
        <p:sp>
          <p:nvSpPr>
            <p:cNvPr id="28" name="TextBox 27">
              <a:extLst>
                <a:ext uri="{FF2B5EF4-FFF2-40B4-BE49-F238E27FC236}">
                  <a16:creationId xmlns:a16="http://schemas.microsoft.com/office/drawing/2014/main" id="{6A6D8157-BA0F-E357-3319-463F9153C7EF}"/>
                </a:ext>
              </a:extLst>
            </p:cNvPr>
            <p:cNvSpPr txBox="1"/>
            <p:nvPr/>
          </p:nvSpPr>
          <p:spPr>
            <a:xfrm>
              <a:off x="5312232" y="1749846"/>
              <a:ext cx="2716152" cy="646331"/>
            </a:xfrm>
            <a:prstGeom prst="rect">
              <a:avLst/>
            </a:prstGeom>
            <a:noFill/>
          </p:spPr>
          <p:txBody>
            <a:bodyPr wrap="square" rtlCol="0">
              <a:spAutoFit/>
            </a:bodyPr>
            <a:lstStyle/>
            <a:p>
              <a:r>
                <a:rPr lang="en-US" sz="1200" dirty="0"/>
                <a:t>value=pop()         top=8   value=90</a:t>
              </a:r>
            </a:p>
            <a:p>
              <a:r>
                <a:rPr lang="en-US" sz="1200" dirty="0" err="1"/>
                <a:t>stackArray</a:t>
              </a:r>
              <a:r>
                <a:rPr lang="en-US" sz="1200" dirty="0"/>
                <a:t>[top--]        top=7</a:t>
              </a:r>
            </a:p>
            <a:p>
              <a:r>
                <a:rPr lang="en-US" sz="1200" dirty="0"/>
                <a:t>print 90</a:t>
              </a:r>
            </a:p>
          </p:txBody>
        </p:sp>
        <p:sp>
          <p:nvSpPr>
            <p:cNvPr id="29" name="Arrow: Right 28">
              <a:extLst>
                <a:ext uri="{FF2B5EF4-FFF2-40B4-BE49-F238E27FC236}">
                  <a16:creationId xmlns:a16="http://schemas.microsoft.com/office/drawing/2014/main" id="{0C1E096A-655A-EF5C-8694-0BBD3DB47AAC}"/>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A683920C-8667-AF1B-149F-F8C78BB40519}"/>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2616C18E-3B91-B6FF-091F-F7E5DA6B67C6}"/>
              </a:ext>
            </a:extLst>
          </p:cNvPr>
          <p:cNvGrpSpPr/>
          <p:nvPr/>
        </p:nvGrpSpPr>
        <p:grpSpPr>
          <a:xfrm>
            <a:off x="5175432" y="2189183"/>
            <a:ext cx="4170856" cy="461665"/>
            <a:chOff x="5175432" y="2325983"/>
            <a:chExt cx="4170856" cy="461665"/>
          </a:xfrm>
        </p:grpSpPr>
        <p:sp>
          <p:nvSpPr>
            <p:cNvPr id="26" name="TextBox 25">
              <a:extLst>
                <a:ext uri="{FF2B5EF4-FFF2-40B4-BE49-F238E27FC236}">
                  <a16:creationId xmlns:a16="http://schemas.microsoft.com/office/drawing/2014/main" id="{75CF2E5C-862A-2759-DC5D-B8B82F6E7152}"/>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40" name="Arrow: Right 39">
              <a:extLst>
                <a:ext uri="{FF2B5EF4-FFF2-40B4-BE49-F238E27FC236}">
                  <a16:creationId xmlns:a16="http://schemas.microsoft.com/office/drawing/2014/main" id="{411DC7EF-5176-C89D-AA1D-9B551413387A}"/>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F3008986-7F88-CDC9-941C-9F0EB0528683}"/>
              </a:ext>
            </a:extLst>
          </p:cNvPr>
          <p:cNvGrpSpPr/>
          <p:nvPr/>
        </p:nvGrpSpPr>
        <p:grpSpPr>
          <a:xfrm>
            <a:off x="5312232" y="3644225"/>
            <a:ext cx="2716152" cy="646331"/>
            <a:chOff x="5312232" y="1749846"/>
            <a:chExt cx="2716152" cy="646331"/>
          </a:xfrm>
        </p:grpSpPr>
        <p:sp>
          <p:nvSpPr>
            <p:cNvPr id="43" name="TextBox 42">
              <a:extLst>
                <a:ext uri="{FF2B5EF4-FFF2-40B4-BE49-F238E27FC236}">
                  <a16:creationId xmlns:a16="http://schemas.microsoft.com/office/drawing/2014/main" id="{09837FBE-40C0-9314-3532-BC5EA1C8DE34}"/>
                </a:ext>
              </a:extLst>
            </p:cNvPr>
            <p:cNvSpPr txBox="1"/>
            <p:nvPr/>
          </p:nvSpPr>
          <p:spPr>
            <a:xfrm>
              <a:off x="5312232" y="1749846"/>
              <a:ext cx="2716152" cy="646331"/>
            </a:xfrm>
            <a:prstGeom prst="rect">
              <a:avLst/>
            </a:prstGeom>
            <a:noFill/>
          </p:spPr>
          <p:txBody>
            <a:bodyPr wrap="square" rtlCol="0">
              <a:spAutoFit/>
            </a:bodyPr>
            <a:lstStyle/>
            <a:p>
              <a:r>
                <a:rPr lang="en-US" sz="1200" dirty="0"/>
                <a:t>value=pop()         top=7   value=80</a:t>
              </a:r>
            </a:p>
            <a:p>
              <a:r>
                <a:rPr lang="en-US" sz="1200" dirty="0" err="1"/>
                <a:t>stackArray</a:t>
              </a:r>
              <a:r>
                <a:rPr lang="en-US" sz="1200" dirty="0"/>
                <a:t>[top--]        top=6</a:t>
              </a:r>
            </a:p>
            <a:p>
              <a:r>
                <a:rPr lang="en-US" sz="1200" dirty="0"/>
                <a:t>print 80</a:t>
              </a:r>
            </a:p>
          </p:txBody>
        </p:sp>
        <p:sp>
          <p:nvSpPr>
            <p:cNvPr id="44" name="Arrow: Right 43">
              <a:extLst>
                <a:ext uri="{FF2B5EF4-FFF2-40B4-BE49-F238E27FC236}">
                  <a16:creationId xmlns:a16="http://schemas.microsoft.com/office/drawing/2014/main" id="{F0BAE987-008A-071D-94E1-2E890B683D07}"/>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94B0711F-3EAA-4979-0587-DF1A908CF238}"/>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69475049-5971-8653-717F-F4703C536E86}"/>
              </a:ext>
            </a:extLst>
          </p:cNvPr>
          <p:cNvGrpSpPr/>
          <p:nvPr/>
        </p:nvGrpSpPr>
        <p:grpSpPr>
          <a:xfrm>
            <a:off x="5195584" y="3210026"/>
            <a:ext cx="4170856" cy="461665"/>
            <a:chOff x="5175432" y="2325983"/>
            <a:chExt cx="4170856" cy="461665"/>
          </a:xfrm>
        </p:grpSpPr>
        <p:sp>
          <p:nvSpPr>
            <p:cNvPr id="47" name="TextBox 46">
              <a:extLst>
                <a:ext uri="{FF2B5EF4-FFF2-40B4-BE49-F238E27FC236}">
                  <a16:creationId xmlns:a16="http://schemas.microsoft.com/office/drawing/2014/main" id="{28339ED5-7346-1B81-66B6-D8699FD98762}"/>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48" name="Arrow: Right 47">
              <a:extLst>
                <a:ext uri="{FF2B5EF4-FFF2-40B4-BE49-F238E27FC236}">
                  <a16:creationId xmlns:a16="http://schemas.microsoft.com/office/drawing/2014/main" id="{87A9F219-5EEA-346F-9A9D-CCC3A5F291DD}"/>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6A346B91-AA3B-78A3-D509-D93D566A170D}"/>
              </a:ext>
            </a:extLst>
          </p:cNvPr>
          <p:cNvGrpSpPr/>
          <p:nvPr/>
        </p:nvGrpSpPr>
        <p:grpSpPr>
          <a:xfrm>
            <a:off x="5274597" y="4566320"/>
            <a:ext cx="2716152" cy="646331"/>
            <a:chOff x="5312232" y="1670646"/>
            <a:chExt cx="2716152" cy="646331"/>
          </a:xfrm>
        </p:grpSpPr>
        <p:sp>
          <p:nvSpPr>
            <p:cNvPr id="51" name="TextBox 50">
              <a:extLst>
                <a:ext uri="{FF2B5EF4-FFF2-40B4-BE49-F238E27FC236}">
                  <a16:creationId xmlns:a16="http://schemas.microsoft.com/office/drawing/2014/main" id="{BF95129B-A148-8E2C-48D4-5F0D1AEF862D}"/>
                </a:ext>
              </a:extLst>
            </p:cNvPr>
            <p:cNvSpPr txBox="1"/>
            <p:nvPr/>
          </p:nvSpPr>
          <p:spPr>
            <a:xfrm>
              <a:off x="5312232" y="1670646"/>
              <a:ext cx="2716152" cy="646331"/>
            </a:xfrm>
            <a:prstGeom prst="rect">
              <a:avLst/>
            </a:prstGeom>
            <a:noFill/>
          </p:spPr>
          <p:txBody>
            <a:bodyPr wrap="square" rtlCol="0">
              <a:spAutoFit/>
            </a:bodyPr>
            <a:lstStyle/>
            <a:p>
              <a:r>
                <a:rPr lang="en-US" sz="1200" dirty="0"/>
                <a:t>value=pop()         top= 6   value=70</a:t>
              </a:r>
            </a:p>
            <a:p>
              <a:r>
                <a:rPr lang="en-US" sz="1200" dirty="0" err="1"/>
                <a:t>stackArray</a:t>
              </a:r>
              <a:r>
                <a:rPr lang="en-US" sz="1200" dirty="0"/>
                <a:t>[top--]        top=5</a:t>
              </a:r>
            </a:p>
            <a:p>
              <a:r>
                <a:rPr lang="en-US" sz="1200" dirty="0"/>
                <a:t>print 70</a:t>
              </a:r>
            </a:p>
          </p:txBody>
        </p:sp>
        <p:sp>
          <p:nvSpPr>
            <p:cNvPr id="52" name="Arrow: Right 51">
              <a:extLst>
                <a:ext uri="{FF2B5EF4-FFF2-40B4-BE49-F238E27FC236}">
                  <a16:creationId xmlns:a16="http://schemas.microsoft.com/office/drawing/2014/main" id="{80CFEFC3-CDE7-3AE4-B078-08FFDD69CF94}"/>
                </a:ext>
              </a:extLst>
            </p:cNvPr>
            <p:cNvSpPr/>
            <p:nvPr/>
          </p:nvSpPr>
          <p:spPr>
            <a:xfrm>
              <a:off x="6307604" y="17438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33ED3461-DAF7-E359-38E2-78AF6BE6A691}"/>
                </a:ext>
              </a:extLst>
            </p:cNvPr>
            <p:cNvSpPr/>
            <p:nvPr/>
          </p:nvSpPr>
          <p:spPr>
            <a:xfrm>
              <a:off x="6562296" y="19550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651D9B42-6FD4-E42B-4329-1A7D1B6F7AF5}"/>
              </a:ext>
            </a:extLst>
          </p:cNvPr>
          <p:cNvGrpSpPr/>
          <p:nvPr/>
        </p:nvGrpSpPr>
        <p:grpSpPr>
          <a:xfrm>
            <a:off x="5157949" y="4211321"/>
            <a:ext cx="4170856" cy="461665"/>
            <a:chOff x="5175432" y="2325983"/>
            <a:chExt cx="4170856" cy="461665"/>
          </a:xfrm>
        </p:grpSpPr>
        <p:sp>
          <p:nvSpPr>
            <p:cNvPr id="55" name="TextBox 54">
              <a:extLst>
                <a:ext uri="{FF2B5EF4-FFF2-40B4-BE49-F238E27FC236}">
                  <a16:creationId xmlns:a16="http://schemas.microsoft.com/office/drawing/2014/main" id="{2BF6DB2C-0CDA-F381-6417-E100C97756B6}"/>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56" name="Arrow: Right 55">
              <a:extLst>
                <a:ext uri="{FF2B5EF4-FFF2-40B4-BE49-F238E27FC236}">
                  <a16:creationId xmlns:a16="http://schemas.microsoft.com/office/drawing/2014/main" id="{3F2B9747-2CD2-776A-5F12-191F8A73F28F}"/>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Picture 31">
            <a:extLst>
              <a:ext uri="{FF2B5EF4-FFF2-40B4-BE49-F238E27FC236}">
                <a16:creationId xmlns:a16="http://schemas.microsoft.com/office/drawing/2014/main" id="{0D5EBC62-AB93-3E8D-5E0F-A3A403677C48}"/>
              </a:ext>
            </a:extLst>
          </p:cNvPr>
          <p:cNvPicPr>
            <a:picLocks noChangeAspect="1"/>
          </p:cNvPicPr>
          <p:nvPr/>
        </p:nvPicPr>
        <p:blipFill>
          <a:blip r:embed="rId5"/>
          <a:stretch>
            <a:fillRect/>
          </a:stretch>
        </p:blipFill>
        <p:spPr>
          <a:xfrm>
            <a:off x="979761" y="2733895"/>
            <a:ext cx="3755182" cy="794560"/>
          </a:xfrm>
          <a:prstGeom prst="rect">
            <a:avLst/>
          </a:prstGeom>
        </p:spPr>
      </p:pic>
    </p:spTree>
    <p:extLst>
      <p:ext uri="{BB962C8B-B14F-4D97-AF65-F5344CB8AC3E}">
        <p14:creationId xmlns:p14="http://schemas.microsoft.com/office/powerpoint/2010/main" val="355810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B2C5065-0E19-92EF-43EF-E05A0D546073}"/>
              </a:ext>
            </a:extLst>
          </p:cNvPr>
          <p:cNvSpPr/>
          <p:nvPr/>
        </p:nvSpPr>
        <p:spPr>
          <a:xfrm>
            <a:off x="481201" y="4456156"/>
            <a:ext cx="3226703" cy="63587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36919" y="3185329"/>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1</a:t>
            </a:r>
            <a:endParaRPr lang="ko-KR" altLang="en-US" sz="1400" b="1" dirty="0">
              <a:solidFill>
                <a:schemeClr val="bg1"/>
              </a:solidFill>
              <a:cs typeface="Arial" pitchFamily="34" charset="0"/>
            </a:endParaRPr>
          </a:p>
        </p:txBody>
      </p:sp>
      <p:pic>
        <p:nvPicPr>
          <p:cNvPr id="17" name="Picture 16">
            <a:extLst>
              <a:ext uri="{FF2B5EF4-FFF2-40B4-BE49-F238E27FC236}">
                <a16:creationId xmlns:a16="http://schemas.microsoft.com/office/drawing/2014/main" id="{EF006DFE-B6AF-33C4-761D-AB96F048E449}"/>
              </a:ext>
            </a:extLst>
          </p:cNvPr>
          <p:cNvPicPr>
            <a:picLocks noChangeAspect="1"/>
          </p:cNvPicPr>
          <p:nvPr/>
        </p:nvPicPr>
        <p:blipFill>
          <a:blip r:embed="rId3"/>
          <a:stretch>
            <a:fillRect/>
          </a:stretch>
        </p:blipFill>
        <p:spPr>
          <a:xfrm>
            <a:off x="635089" y="1175714"/>
            <a:ext cx="4224943" cy="1520979"/>
          </a:xfrm>
          <a:prstGeom prst="rect">
            <a:avLst/>
          </a:prstGeom>
        </p:spPr>
      </p:pic>
      <p:pic>
        <p:nvPicPr>
          <p:cNvPr id="21" name="Picture 20">
            <a:extLst>
              <a:ext uri="{FF2B5EF4-FFF2-40B4-BE49-F238E27FC236}">
                <a16:creationId xmlns:a16="http://schemas.microsoft.com/office/drawing/2014/main" id="{35739DB1-238A-4656-12AD-BC00BEEC83F0}"/>
              </a:ext>
            </a:extLst>
          </p:cNvPr>
          <p:cNvPicPr>
            <a:picLocks noChangeAspect="1"/>
          </p:cNvPicPr>
          <p:nvPr/>
        </p:nvPicPr>
        <p:blipFill>
          <a:blip r:embed="rId4"/>
          <a:stretch>
            <a:fillRect/>
          </a:stretch>
        </p:blipFill>
        <p:spPr>
          <a:xfrm>
            <a:off x="655378" y="4563908"/>
            <a:ext cx="2875518" cy="400050"/>
          </a:xfrm>
          <a:prstGeom prst="rect">
            <a:avLst/>
          </a:prstGeom>
        </p:spPr>
      </p:pic>
      <p:grpSp>
        <p:nvGrpSpPr>
          <p:cNvPr id="25" name="Group 24">
            <a:extLst>
              <a:ext uri="{FF2B5EF4-FFF2-40B4-BE49-F238E27FC236}">
                <a16:creationId xmlns:a16="http://schemas.microsoft.com/office/drawing/2014/main" id="{198F4EF8-88E5-A026-3DE4-C1CAA695A32F}"/>
              </a:ext>
            </a:extLst>
          </p:cNvPr>
          <p:cNvGrpSpPr/>
          <p:nvPr/>
        </p:nvGrpSpPr>
        <p:grpSpPr>
          <a:xfrm>
            <a:off x="5508104" y="527668"/>
            <a:ext cx="2716152" cy="646331"/>
            <a:chOff x="5312232" y="1749846"/>
            <a:chExt cx="2716152" cy="646331"/>
          </a:xfrm>
        </p:grpSpPr>
        <p:sp>
          <p:nvSpPr>
            <p:cNvPr id="16" name="TextBox 15">
              <a:extLst>
                <a:ext uri="{FF2B5EF4-FFF2-40B4-BE49-F238E27FC236}">
                  <a16:creationId xmlns:a16="http://schemas.microsoft.com/office/drawing/2014/main" id="{D0C8279A-F5C8-ECFC-9814-60381C095EB6}"/>
                </a:ext>
              </a:extLst>
            </p:cNvPr>
            <p:cNvSpPr txBox="1"/>
            <p:nvPr/>
          </p:nvSpPr>
          <p:spPr>
            <a:xfrm>
              <a:off x="5312232" y="1749846"/>
              <a:ext cx="2716152" cy="646331"/>
            </a:xfrm>
            <a:prstGeom prst="rect">
              <a:avLst/>
            </a:prstGeom>
            <a:noFill/>
          </p:spPr>
          <p:txBody>
            <a:bodyPr wrap="square" rtlCol="0">
              <a:spAutoFit/>
            </a:bodyPr>
            <a:lstStyle/>
            <a:p>
              <a:r>
                <a:rPr lang="en-US" sz="1200" dirty="0"/>
                <a:t>value=pop()         top=5   value=60</a:t>
              </a:r>
            </a:p>
            <a:p>
              <a:r>
                <a:rPr lang="en-US" sz="1200" dirty="0" err="1"/>
                <a:t>stackArray</a:t>
              </a:r>
              <a:r>
                <a:rPr lang="en-US" sz="1200" dirty="0"/>
                <a:t>[top--]        top=4</a:t>
              </a:r>
            </a:p>
            <a:p>
              <a:r>
                <a:rPr lang="en-US" sz="1200" dirty="0"/>
                <a:t>print 60</a:t>
              </a:r>
            </a:p>
          </p:txBody>
        </p:sp>
        <p:sp>
          <p:nvSpPr>
            <p:cNvPr id="18" name="Arrow: Right 17">
              <a:extLst>
                <a:ext uri="{FF2B5EF4-FFF2-40B4-BE49-F238E27FC236}">
                  <a16:creationId xmlns:a16="http://schemas.microsoft.com/office/drawing/2014/main" id="{E27C7C18-32F4-AC22-FE48-C4A3DD2345C2}"/>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1F0E5365-AFCF-E963-3862-E53D69B7F3BB}"/>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3BE25390-804B-B73D-26A2-3CD1F7C0616D}"/>
              </a:ext>
            </a:extLst>
          </p:cNvPr>
          <p:cNvSpPr txBox="1"/>
          <p:nvPr/>
        </p:nvSpPr>
        <p:spPr>
          <a:xfrm>
            <a:off x="495200" y="4209693"/>
            <a:ext cx="1518829" cy="307777"/>
          </a:xfrm>
          <a:prstGeom prst="rect">
            <a:avLst/>
          </a:prstGeom>
          <a:noFill/>
        </p:spPr>
        <p:txBody>
          <a:bodyPr wrap="square" rtlCol="0">
            <a:spAutoFit/>
          </a:bodyPr>
          <a:lstStyle/>
          <a:p>
            <a:r>
              <a:rPr lang="en-US" sz="1400" b="1" u="sng" dirty="0"/>
              <a:t>OUTPUT</a:t>
            </a:r>
          </a:p>
        </p:txBody>
      </p:sp>
      <p:grpSp>
        <p:nvGrpSpPr>
          <p:cNvPr id="27" name="Group 26">
            <a:extLst>
              <a:ext uri="{FF2B5EF4-FFF2-40B4-BE49-F238E27FC236}">
                <a16:creationId xmlns:a16="http://schemas.microsoft.com/office/drawing/2014/main" id="{AF6AB2A2-464A-1182-FA83-AFCC0B64F7FD}"/>
              </a:ext>
            </a:extLst>
          </p:cNvPr>
          <p:cNvGrpSpPr/>
          <p:nvPr/>
        </p:nvGrpSpPr>
        <p:grpSpPr>
          <a:xfrm>
            <a:off x="5128661" y="1418514"/>
            <a:ext cx="2716152" cy="646331"/>
            <a:chOff x="5312232" y="1749846"/>
            <a:chExt cx="2716152" cy="646331"/>
          </a:xfrm>
        </p:grpSpPr>
        <p:sp>
          <p:nvSpPr>
            <p:cNvPr id="28" name="TextBox 27">
              <a:extLst>
                <a:ext uri="{FF2B5EF4-FFF2-40B4-BE49-F238E27FC236}">
                  <a16:creationId xmlns:a16="http://schemas.microsoft.com/office/drawing/2014/main" id="{6A6D8157-BA0F-E357-3319-463F9153C7EF}"/>
                </a:ext>
              </a:extLst>
            </p:cNvPr>
            <p:cNvSpPr txBox="1"/>
            <p:nvPr/>
          </p:nvSpPr>
          <p:spPr>
            <a:xfrm>
              <a:off x="5312232" y="1749846"/>
              <a:ext cx="2716152" cy="646331"/>
            </a:xfrm>
            <a:prstGeom prst="rect">
              <a:avLst/>
            </a:prstGeom>
            <a:noFill/>
          </p:spPr>
          <p:txBody>
            <a:bodyPr wrap="square" rtlCol="0">
              <a:spAutoFit/>
            </a:bodyPr>
            <a:lstStyle/>
            <a:p>
              <a:r>
                <a:rPr lang="en-US" sz="1200" dirty="0"/>
                <a:t>value=pop()         top=4   value=50</a:t>
              </a:r>
            </a:p>
            <a:p>
              <a:r>
                <a:rPr lang="en-US" sz="1200" dirty="0" err="1"/>
                <a:t>stackArray</a:t>
              </a:r>
              <a:r>
                <a:rPr lang="en-US" sz="1200" dirty="0"/>
                <a:t>[top--]        top=3</a:t>
              </a:r>
            </a:p>
            <a:p>
              <a:r>
                <a:rPr lang="en-US" sz="1200" dirty="0"/>
                <a:t>print 50</a:t>
              </a:r>
            </a:p>
          </p:txBody>
        </p:sp>
        <p:sp>
          <p:nvSpPr>
            <p:cNvPr id="29" name="Arrow: Right 28">
              <a:extLst>
                <a:ext uri="{FF2B5EF4-FFF2-40B4-BE49-F238E27FC236}">
                  <a16:creationId xmlns:a16="http://schemas.microsoft.com/office/drawing/2014/main" id="{0C1E096A-655A-EF5C-8694-0BBD3DB47AAC}"/>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A683920C-8667-AF1B-149F-F8C78BB40519}"/>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2616C18E-3B91-B6FF-091F-F7E5DA6B67C6}"/>
              </a:ext>
            </a:extLst>
          </p:cNvPr>
          <p:cNvGrpSpPr/>
          <p:nvPr/>
        </p:nvGrpSpPr>
        <p:grpSpPr>
          <a:xfrm>
            <a:off x="5038132" y="1042256"/>
            <a:ext cx="4170856" cy="461665"/>
            <a:chOff x="5090432" y="2319084"/>
            <a:chExt cx="4170856" cy="461665"/>
          </a:xfrm>
        </p:grpSpPr>
        <p:sp>
          <p:nvSpPr>
            <p:cNvPr id="26" name="TextBox 25">
              <a:extLst>
                <a:ext uri="{FF2B5EF4-FFF2-40B4-BE49-F238E27FC236}">
                  <a16:creationId xmlns:a16="http://schemas.microsoft.com/office/drawing/2014/main" id="{75CF2E5C-862A-2759-DC5D-B8B82F6E7152}"/>
                </a:ext>
              </a:extLst>
            </p:cNvPr>
            <p:cNvSpPr txBox="1"/>
            <p:nvPr/>
          </p:nvSpPr>
          <p:spPr>
            <a:xfrm>
              <a:off x="5090432" y="2319084"/>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40" name="Arrow: Right 39">
              <a:extLst>
                <a:ext uri="{FF2B5EF4-FFF2-40B4-BE49-F238E27FC236}">
                  <a16:creationId xmlns:a16="http://schemas.microsoft.com/office/drawing/2014/main" id="{411DC7EF-5176-C89D-AA1D-9B551413387A}"/>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F3008986-7F88-CDC9-941C-9F0EB0528683}"/>
              </a:ext>
            </a:extLst>
          </p:cNvPr>
          <p:cNvGrpSpPr/>
          <p:nvPr/>
        </p:nvGrpSpPr>
        <p:grpSpPr>
          <a:xfrm>
            <a:off x="5143061" y="2320703"/>
            <a:ext cx="2716152" cy="646331"/>
            <a:chOff x="5312232" y="1749846"/>
            <a:chExt cx="2716152" cy="646331"/>
          </a:xfrm>
        </p:grpSpPr>
        <p:sp>
          <p:nvSpPr>
            <p:cNvPr id="43" name="TextBox 42">
              <a:extLst>
                <a:ext uri="{FF2B5EF4-FFF2-40B4-BE49-F238E27FC236}">
                  <a16:creationId xmlns:a16="http://schemas.microsoft.com/office/drawing/2014/main" id="{09837FBE-40C0-9314-3532-BC5EA1C8DE34}"/>
                </a:ext>
              </a:extLst>
            </p:cNvPr>
            <p:cNvSpPr txBox="1"/>
            <p:nvPr/>
          </p:nvSpPr>
          <p:spPr>
            <a:xfrm>
              <a:off x="5312232" y="1749846"/>
              <a:ext cx="2716152" cy="646331"/>
            </a:xfrm>
            <a:prstGeom prst="rect">
              <a:avLst/>
            </a:prstGeom>
            <a:noFill/>
          </p:spPr>
          <p:txBody>
            <a:bodyPr wrap="square" rtlCol="0">
              <a:spAutoFit/>
            </a:bodyPr>
            <a:lstStyle/>
            <a:p>
              <a:r>
                <a:rPr lang="en-US" sz="1200" dirty="0"/>
                <a:t>value=pop()         top=3   value=40</a:t>
              </a:r>
            </a:p>
            <a:p>
              <a:r>
                <a:rPr lang="en-US" sz="1200" dirty="0" err="1"/>
                <a:t>stackArray</a:t>
              </a:r>
              <a:r>
                <a:rPr lang="en-US" sz="1200" dirty="0"/>
                <a:t>[top--]        top=2</a:t>
              </a:r>
            </a:p>
            <a:p>
              <a:r>
                <a:rPr lang="en-US" sz="1200" dirty="0"/>
                <a:t>print 40</a:t>
              </a:r>
            </a:p>
          </p:txBody>
        </p:sp>
        <p:sp>
          <p:nvSpPr>
            <p:cNvPr id="44" name="Arrow: Right 43">
              <a:extLst>
                <a:ext uri="{FF2B5EF4-FFF2-40B4-BE49-F238E27FC236}">
                  <a16:creationId xmlns:a16="http://schemas.microsoft.com/office/drawing/2014/main" id="{F0BAE987-008A-071D-94E1-2E890B683D07}"/>
                </a:ext>
              </a:extLst>
            </p:cNvPr>
            <p:cNvSpPr/>
            <p:nvPr/>
          </p:nvSpPr>
          <p:spPr>
            <a:xfrm>
              <a:off x="6307604" y="18374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94B0711F-3EAA-4979-0587-DF1A908CF238}"/>
                </a:ext>
              </a:extLst>
            </p:cNvPr>
            <p:cNvSpPr/>
            <p:nvPr/>
          </p:nvSpPr>
          <p:spPr>
            <a:xfrm>
              <a:off x="6562296" y="20198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69475049-5971-8653-717F-F4703C536E86}"/>
              </a:ext>
            </a:extLst>
          </p:cNvPr>
          <p:cNvGrpSpPr/>
          <p:nvPr/>
        </p:nvGrpSpPr>
        <p:grpSpPr>
          <a:xfrm>
            <a:off x="5023533" y="1917018"/>
            <a:ext cx="4170856" cy="461665"/>
            <a:chOff x="5175432" y="2325983"/>
            <a:chExt cx="4170856" cy="461665"/>
          </a:xfrm>
        </p:grpSpPr>
        <p:sp>
          <p:nvSpPr>
            <p:cNvPr id="47" name="TextBox 46">
              <a:extLst>
                <a:ext uri="{FF2B5EF4-FFF2-40B4-BE49-F238E27FC236}">
                  <a16:creationId xmlns:a16="http://schemas.microsoft.com/office/drawing/2014/main" id="{28339ED5-7346-1B81-66B6-D8699FD98762}"/>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48" name="Arrow: Right 47">
              <a:extLst>
                <a:ext uri="{FF2B5EF4-FFF2-40B4-BE49-F238E27FC236}">
                  <a16:creationId xmlns:a16="http://schemas.microsoft.com/office/drawing/2014/main" id="{87A9F219-5EEA-346F-9A9D-CCC3A5F291DD}"/>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6A346B91-AA3B-78A3-D509-D93D566A170D}"/>
              </a:ext>
            </a:extLst>
          </p:cNvPr>
          <p:cNvGrpSpPr/>
          <p:nvPr/>
        </p:nvGrpSpPr>
        <p:grpSpPr>
          <a:xfrm>
            <a:off x="5135861" y="3147814"/>
            <a:ext cx="2716152" cy="646331"/>
            <a:chOff x="5312232" y="1670646"/>
            <a:chExt cx="2716152" cy="646331"/>
          </a:xfrm>
        </p:grpSpPr>
        <p:sp>
          <p:nvSpPr>
            <p:cNvPr id="51" name="TextBox 50">
              <a:extLst>
                <a:ext uri="{FF2B5EF4-FFF2-40B4-BE49-F238E27FC236}">
                  <a16:creationId xmlns:a16="http://schemas.microsoft.com/office/drawing/2014/main" id="{BF95129B-A148-8E2C-48D4-5F0D1AEF862D}"/>
                </a:ext>
              </a:extLst>
            </p:cNvPr>
            <p:cNvSpPr txBox="1"/>
            <p:nvPr/>
          </p:nvSpPr>
          <p:spPr>
            <a:xfrm>
              <a:off x="5312232" y="1670646"/>
              <a:ext cx="2716152" cy="646331"/>
            </a:xfrm>
            <a:prstGeom prst="rect">
              <a:avLst/>
            </a:prstGeom>
            <a:noFill/>
          </p:spPr>
          <p:txBody>
            <a:bodyPr wrap="square" rtlCol="0">
              <a:spAutoFit/>
            </a:bodyPr>
            <a:lstStyle/>
            <a:p>
              <a:r>
                <a:rPr lang="en-US" sz="1200" dirty="0"/>
                <a:t>value=pop()         top= 2  value=30</a:t>
              </a:r>
            </a:p>
            <a:p>
              <a:r>
                <a:rPr lang="en-US" sz="1200" dirty="0" err="1"/>
                <a:t>stackArray</a:t>
              </a:r>
              <a:r>
                <a:rPr lang="en-US" sz="1200" dirty="0"/>
                <a:t>[top--]        top=1</a:t>
              </a:r>
            </a:p>
            <a:p>
              <a:r>
                <a:rPr lang="en-US" sz="1200" dirty="0"/>
                <a:t>print 30</a:t>
              </a:r>
            </a:p>
          </p:txBody>
        </p:sp>
        <p:sp>
          <p:nvSpPr>
            <p:cNvPr id="52" name="Arrow: Right 51">
              <a:extLst>
                <a:ext uri="{FF2B5EF4-FFF2-40B4-BE49-F238E27FC236}">
                  <a16:creationId xmlns:a16="http://schemas.microsoft.com/office/drawing/2014/main" id="{80CFEFC3-CDE7-3AE4-B078-08FFDD69CF94}"/>
                </a:ext>
              </a:extLst>
            </p:cNvPr>
            <p:cNvSpPr/>
            <p:nvPr/>
          </p:nvSpPr>
          <p:spPr>
            <a:xfrm>
              <a:off x="6307604" y="17438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33ED3461-DAF7-E359-38E2-78AF6BE6A691}"/>
                </a:ext>
              </a:extLst>
            </p:cNvPr>
            <p:cNvSpPr/>
            <p:nvPr/>
          </p:nvSpPr>
          <p:spPr>
            <a:xfrm>
              <a:off x="6562296" y="19550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651D9B42-6FD4-E42B-4329-1A7D1B6F7AF5}"/>
              </a:ext>
            </a:extLst>
          </p:cNvPr>
          <p:cNvGrpSpPr/>
          <p:nvPr/>
        </p:nvGrpSpPr>
        <p:grpSpPr>
          <a:xfrm>
            <a:off x="5045332" y="2796324"/>
            <a:ext cx="4170856" cy="461665"/>
            <a:chOff x="5175432" y="2325983"/>
            <a:chExt cx="4170856" cy="461665"/>
          </a:xfrm>
        </p:grpSpPr>
        <p:sp>
          <p:nvSpPr>
            <p:cNvPr id="55" name="TextBox 54">
              <a:extLst>
                <a:ext uri="{FF2B5EF4-FFF2-40B4-BE49-F238E27FC236}">
                  <a16:creationId xmlns:a16="http://schemas.microsoft.com/office/drawing/2014/main" id="{2BF6DB2C-0CDA-F381-6417-E100C97756B6}"/>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56" name="Arrow: Right 55">
              <a:extLst>
                <a:ext uri="{FF2B5EF4-FFF2-40B4-BE49-F238E27FC236}">
                  <a16:creationId xmlns:a16="http://schemas.microsoft.com/office/drawing/2014/main" id="{3F2B9747-2CD2-776A-5F12-191F8A73F28F}"/>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CA8EF701-5331-A360-0C7D-4D8AD5F52E4F}"/>
              </a:ext>
            </a:extLst>
          </p:cNvPr>
          <p:cNvGrpSpPr/>
          <p:nvPr/>
        </p:nvGrpSpPr>
        <p:grpSpPr>
          <a:xfrm>
            <a:off x="5368087" y="119336"/>
            <a:ext cx="4170856" cy="461665"/>
            <a:chOff x="5090432" y="2319084"/>
            <a:chExt cx="4170856" cy="461665"/>
          </a:xfrm>
        </p:grpSpPr>
        <p:sp>
          <p:nvSpPr>
            <p:cNvPr id="37" name="TextBox 36">
              <a:extLst>
                <a:ext uri="{FF2B5EF4-FFF2-40B4-BE49-F238E27FC236}">
                  <a16:creationId xmlns:a16="http://schemas.microsoft.com/office/drawing/2014/main" id="{13197A1E-7EB4-24B7-3401-D10F4934012A}"/>
                </a:ext>
              </a:extLst>
            </p:cNvPr>
            <p:cNvSpPr txBox="1"/>
            <p:nvPr/>
          </p:nvSpPr>
          <p:spPr>
            <a:xfrm>
              <a:off x="5090432" y="2319084"/>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38" name="Arrow: Right 37">
              <a:extLst>
                <a:ext uri="{FF2B5EF4-FFF2-40B4-BE49-F238E27FC236}">
                  <a16:creationId xmlns:a16="http://schemas.microsoft.com/office/drawing/2014/main" id="{6CE0E98E-847E-1658-3279-EFA43526E79A}"/>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103772DE-2FAD-C5F6-986B-BF8EB3E4F1DE}"/>
              </a:ext>
            </a:extLst>
          </p:cNvPr>
          <p:cNvGrpSpPr/>
          <p:nvPr/>
        </p:nvGrpSpPr>
        <p:grpSpPr>
          <a:xfrm>
            <a:off x="5123098" y="4021399"/>
            <a:ext cx="2716152" cy="646331"/>
            <a:chOff x="5312232" y="1670646"/>
            <a:chExt cx="2716152" cy="646331"/>
          </a:xfrm>
        </p:grpSpPr>
        <p:sp>
          <p:nvSpPr>
            <p:cNvPr id="58" name="TextBox 57">
              <a:extLst>
                <a:ext uri="{FF2B5EF4-FFF2-40B4-BE49-F238E27FC236}">
                  <a16:creationId xmlns:a16="http://schemas.microsoft.com/office/drawing/2014/main" id="{C6CA862E-7521-351E-CF85-D08CECB1A2D2}"/>
                </a:ext>
              </a:extLst>
            </p:cNvPr>
            <p:cNvSpPr txBox="1"/>
            <p:nvPr/>
          </p:nvSpPr>
          <p:spPr>
            <a:xfrm>
              <a:off x="5312232" y="1670646"/>
              <a:ext cx="2716152" cy="646331"/>
            </a:xfrm>
            <a:prstGeom prst="rect">
              <a:avLst/>
            </a:prstGeom>
            <a:noFill/>
          </p:spPr>
          <p:txBody>
            <a:bodyPr wrap="square" rtlCol="0">
              <a:spAutoFit/>
            </a:bodyPr>
            <a:lstStyle/>
            <a:p>
              <a:r>
                <a:rPr lang="en-US" sz="1200" dirty="0"/>
                <a:t>value=pop()         top= 1  value=20</a:t>
              </a:r>
            </a:p>
            <a:p>
              <a:r>
                <a:rPr lang="en-US" sz="1200" dirty="0" err="1"/>
                <a:t>stackArray</a:t>
              </a:r>
              <a:r>
                <a:rPr lang="en-US" sz="1200" dirty="0"/>
                <a:t>[top--]        top=0</a:t>
              </a:r>
            </a:p>
            <a:p>
              <a:r>
                <a:rPr lang="en-US" sz="1200" dirty="0"/>
                <a:t>print 30</a:t>
              </a:r>
            </a:p>
          </p:txBody>
        </p:sp>
        <p:sp>
          <p:nvSpPr>
            <p:cNvPr id="59" name="Arrow: Right 58">
              <a:extLst>
                <a:ext uri="{FF2B5EF4-FFF2-40B4-BE49-F238E27FC236}">
                  <a16:creationId xmlns:a16="http://schemas.microsoft.com/office/drawing/2014/main" id="{E8643990-7BA6-B2E1-0B47-8610F34964DC}"/>
                </a:ext>
              </a:extLst>
            </p:cNvPr>
            <p:cNvSpPr/>
            <p:nvPr/>
          </p:nvSpPr>
          <p:spPr>
            <a:xfrm>
              <a:off x="6307604" y="17438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Arrow: Right 59">
              <a:extLst>
                <a:ext uri="{FF2B5EF4-FFF2-40B4-BE49-F238E27FC236}">
                  <a16:creationId xmlns:a16="http://schemas.microsoft.com/office/drawing/2014/main" id="{4FC42AFE-17B4-375B-F469-8998A90CE4FE}"/>
                </a:ext>
              </a:extLst>
            </p:cNvPr>
            <p:cNvSpPr/>
            <p:nvPr/>
          </p:nvSpPr>
          <p:spPr>
            <a:xfrm>
              <a:off x="6562296" y="19550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989192CB-410A-5CBD-3064-09563BF1BAFF}"/>
              </a:ext>
            </a:extLst>
          </p:cNvPr>
          <p:cNvGrpSpPr/>
          <p:nvPr/>
        </p:nvGrpSpPr>
        <p:grpSpPr>
          <a:xfrm>
            <a:off x="5032569" y="3669909"/>
            <a:ext cx="4170856" cy="461665"/>
            <a:chOff x="5175432" y="2325983"/>
            <a:chExt cx="4170856" cy="461665"/>
          </a:xfrm>
        </p:grpSpPr>
        <p:sp>
          <p:nvSpPr>
            <p:cNvPr id="62" name="TextBox 61">
              <a:extLst>
                <a:ext uri="{FF2B5EF4-FFF2-40B4-BE49-F238E27FC236}">
                  <a16:creationId xmlns:a16="http://schemas.microsoft.com/office/drawing/2014/main" id="{4343319D-B752-6AAA-3E52-E9A2C742D024}"/>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63" name="Arrow: Right 62">
              <a:extLst>
                <a:ext uri="{FF2B5EF4-FFF2-40B4-BE49-F238E27FC236}">
                  <a16:creationId xmlns:a16="http://schemas.microsoft.com/office/drawing/2014/main" id="{0E9A40A2-6D74-DE70-97CD-EA8C02FFDF13}"/>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99F7FE32-54D9-8CA7-F351-A48546504451}"/>
              </a:ext>
            </a:extLst>
          </p:cNvPr>
          <p:cNvGrpSpPr/>
          <p:nvPr/>
        </p:nvGrpSpPr>
        <p:grpSpPr>
          <a:xfrm>
            <a:off x="1598939" y="3064205"/>
            <a:ext cx="2716152" cy="646331"/>
            <a:chOff x="5312232" y="1670646"/>
            <a:chExt cx="2716152" cy="646331"/>
          </a:xfrm>
        </p:grpSpPr>
        <p:sp>
          <p:nvSpPr>
            <p:cNvPr id="65" name="TextBox 64">
              <a:extLst>
                <a:ext uri="{FF2B5EF4-FFF2-40B4-BE49-F238E27FC236}">
                  <a16:creationId xmlns:a16="http://schemas.microsoft.com/office/drawing/2014/main" id="{657A9856-ABB4-314D-FE51-59E1EE3F73EB}"/>
                </a:ext>
              </a:extLst>
            </p:cNvPr>
            <p:cNvSpPr txBox="1"/>
            <p:nvPr/>
          </p:nvSpPr>
          <p:spPr>
            <a:xfrm>
              <a:off x="5312232" y="1670646"/>
              <a:ext cx="2716152" cy="646331"/>
            </a:xfrm>
            <a:prstGeom prst="rect">
              <a:avLst/>
            </a:prstGeom>
            <a:noFill/>
          </p:spPr>
          <p:txBody>
            <a:bodyPr wrap="square" rtlCol="0">
              <a:spAutoFit/>
            </a:bodyPr>
            <a:lstStyle/>
            <a:p>
              <a:r>
                <a:rPr lang="en-US" sz="1200" dirty="0"/>
                <a:t>value=pop()         top= 0  value=10</a:t>
              </a:r>
            </a:p>
            <a:p>
              <a:r>
                <a:rPr lang="en-US" sz="1200" dirty="0" err="1"/>
                <a:t>stackArray</a:t>
              </a:r>
              <a:r>
                <a:rPr lang="en-US" sz="1200" dirty="0"/>
                <a:t>[top--]        top=-1</a:t>
              </a:r>
            </a:p>
            <a:p>
              <a:r>
                <a:rPr lang="en-US" sz="1200" dirty="0"/>
                <a:t>print 10</a:t>
              </a:r>
            </a:p>
          </p:txBody>
        </p:sp>
        <p:sp>
          <p:nvSpPr>
            <p:cNvPr id="66" name="Arrow: Right 65">
              <a:extLst>
                <a:ext uri="{FF2B5EF4-FFF2-40B4-BE49-F238E27FC236}">
                  <a16:creationId xmlns:a16="http://schemas.microsoft.com/office/drawing/2014/main" id="{C9C0DBB9-0CF7-82F7-1CF1-B6C051A4832A}"/>
                </a:ext>
              </a:extLst>
            </p:cNvPr>
            <p:cNvSpPr/>
            <p:nvPr/>
          </p:nvSpPr>
          <p:spPr>
            <a:xfrm>
              <a:off x="6307604" y="1743826"/>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Arrow: Right 66">
              <a:extLst>
                <a:ext uri="{FF2B5EF4-FFF2-40B4-BE49-F238E27FC236}">
                  <a16:creationId xmlns:a16="http://schemas.microsoft.com/office/drawing/2014/main" id="{FE9ACCEF-6EB2-DD6A-0FB6-44E1C13BB19A}"/>
                </a:ext>
              </a:extLst>
            </p:cNvPr>
            <p:cNvSpPr/>
            <p:nvPr/>
          </p:nvSpPr>
          <p:spPr>
            <a:xfrm>
              <a:off x="6562296" y="1955092"/>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9C0053D9-573B-42E8-AE3F-E864A72721FC}"/>
              </a:ext>
            </a:extLst>
          </p:cNvPr>
          <p:cNvGrpSpPr/>
          <p:nvPr/>
        </p:nvGrpSpPr>
        <p:grpSpPr>
          <a:xfrm>
            <a:off x="1508410" y="2712715"/>
            <a:ext cx="4170856" cy="461665"/>
            <a:chOff x="5175432" y="2325983"/>
            <a:chExt cx="4170856" cy="461665"/>
          </a:xfrm>
        </p:grpSpPr>
        <p:sp>
          <p:nvSpPr>
            <p:cNvPr id="69" name="TextBox 68">
              <a:extLst>
                <a:ext uri="{FF2B5EF4-FFF2-40B4-BE49-F238E27FC236}">
                  <a16:creationId xmlns:a16="http://schemas.microsoft.com/office/drawing/2014/main" id="{C927499C-BC7F-7A3A-6A45-2CE50E98D13F}"/>
                </a:ext>
              </a:extLst>
            </p:cNvPr>
            <p:cNvSpPr txBox="1"/>
            <p:nvPr/>
          </p:nvSpPr>
          <p:spPr>
            <a:xfrm>
              <a:off x="5175432" y="2325983"/>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T         </a:t>
              </a:r>
              <a:r>
                <a:rPr lang="en-US" sz="1200" dirty="0" err="1"/>
                <a:t>isEmpty</a:t>
              </a:r>
              <a:r>
                <a:rPr lang="en-US" sz="1200" dirty="0"/>
                <a:t>() (top==-1)? F! = T</a:t>
              </a:r>
            </a:p>
          </p:txBody>
        </p:sp>
        <p:sp>
          <p:nvSpPr>
            <p:cNvPr id="70" name="Arrow: Right 69">
              <a:extLst>
                <a:ext uri="{FF2B5EF4-FFF2-40B4-BE49-F238E27FC236}">
                  <a16:creationId xmlns:a16="http://schemas.microsoft.com/office/drawing/2014/main" id="{8DBA0FEE-6E0C-A096-5BC9-B1A8A9C3FE2E}"/>
                </a:ext>
              </a:extLst>
            </p:cNvPr>
            <p:cNvSpPr/>
            <p:nvPr/>
          </p:nvSpPr>
          <p:spPr>
            <a:xfrm>
              <a:off x="6252146" y="2601033"/>
              <a:ext cx="216024" cy="138247"/>
            </a:xfrm>
            <a:prstGeom prst="rightArrow">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TextBox 71">
            <a:extLst>
              <a:ext uri="{FF2B5EF4-FFF2-40B4-BE49-F238E27FC236}">
                <a16:creationId xmlns:a16="http://schemas.microsoft.com/office/drawing/2014/main" id="{FCAF9737-523F-D7CB-4C7B-18B92B6A6E25}"/>
              </a:ext>
            </a:extLst>
          </p:cNvPr>
          <p:cNvSpPr txBox="1"/>
          <p:nvPr/>
        </p:nvSpPr>
        <p:spPr>
          <a:xfrm>
            <a:off x="1497964" y="3680629"/>
            <a:ext cx="4170856" cy="461665"/>
          </a:xfrm>
          <a:prstGeom prst="rect">
            <a:avLst/>
          </a:prstGeom>
          <a:noFill/>
        </p:spPr>
        <p:txBody>
          <a:bodyPr wrap="square" rtlCol="0">
            <a:spAutoFit/>
          </a:bodyPr>
          <a:lstStyle/>
          <a:p>
            <a:r>
              <a:rPr lang="en-US" sz="1200" dirty="0"/>
              <a:t>--while--</a:t>
            </a:r>
          </a:p>
          <a:p>
            <a:r>
              <a:rPr lang="en-US" sz="1200" dirty="0"/>
              <a:t>!</a:t>
            </a:r>
            <a:r>
              <a:rPr lang="en-US" sz="1200" dirty="0" err="1"/>
              <a:t>isEmpty</a:t>
            </a:r>
            <a:r>
              <a:rPr lang="en-US" sz="1200" dirty="0"/>
              <a:t>()? F</a:t>
            </a:r>
          </a:p>
        </p:txBody>
      </p:sp>
    </p:spTree>
    <p:extLst>
      <p:ext uri="{BB962C8B-B14F-4D97-AF65-F5344CB8AC3E}">
        <p14:creationId xmlns:p14="http://schemas.microsoft.com/office/powerpoint/2010/main" val="285129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0"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13038" y="2772258"/>
            <a:ext cx="2329115"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2</a:t>
            </a:r>
            <a:endParaRPr lang="ko-KR" altLang="en-US" sz="1400" b="1" dirty="0">
              <a:solidFill>
                <a:schemeClr val="bg1"/>
              </a:solidFill>
              <a:cs typeface="Arial" pitchFamily="34" charset="0"/>
            </a:endParaRPr>
          </a:p>
        </p:txBody>
      </p:sp>
      <p:pic>
        <p:nvPicPr>
          <p:cNvPr id="7" name="Picture 6">
            <a:extLst>
              <a:ext uri="{FF2B5EF4-FFF2-40B4-BE49-F238E27FC236}">
                <a16:creationId xmlns:a16="http://schemas.microsoft.com/office/drawing/2014/main" id="{B1DF735B-4B9F-AB36-1840-DA5AFC407783}"/>
              </a:ext>
            </a:extLst>
          </p:cNvPr>
          <p:cNvPicPr>
            <a:picLocks noChangeAspect="1"/>
          </p:cNvPicPr>
          <p:nvPr/>
        </p:nvPicPr>
        <p:blipFill>
          <a:blip r:embed="rId3"/>
          <a:stretch>
            <a:fillRect/>
          </a:stretch>
        </p:blipFill>
        <p:spPr>
          <a:xfrm>
            <a:off x="827584" y="1111582"/>
            <a:ext cx="3464532" cy="2540288"/>
          </a:xfrm>
          <a:prstGeom prst="rect">
            <a:avLst/>
          </a:prstGeom>
        </p:spPr>
      </p:pic>
      <p:pic>
        <p:nvPicPr>
          <p:cNvPr id="9" name="Picture 8">
            <a:extLst>
              <a:ext uri="{FF2B5EF4-FFF2-40B4-BE49-F238E27FC236}">
                <a16:creationId xmlns:a16="http://schemas.microsoft.com/office/drawing/2014/main" id="{1E40ED5C-5574-DC3E-2343-5E351CD678C4}"/>
              </a:ext>
            </a:extLst>
          </p:cNvPr>
          <p:cNvPicPr>
            <a:picLocks noChangeAspect="1"/>
          </p:cNvPicPr>
          <p:nvPr/>
        </p:nvPicPr>
        <p:blipFill>
          <a:blip r:embed="rId4"/>
          <a:stretch>
            <a:fillRect/>
          </a:stretch>
        </p:blipFill>
        <p:spPr>
          <a:xfrm>
            <a:off x="988405" y="3657349"/>
            <a:ext cx="2363816" cy="798807"/>
          </a:xfrm>
          <a:prstGeom prst="rect">
            <a:avLst/>
          </a:prstGeom>
        </p:spPr>
      </p:pic>
    </p:spTree>
    <p:extLst>
      <p:ext uri="{BB962C8B-B14F-4D97-AF65-F5344CB8AC3E}">
        <p14:creationId xmlns:p14="http://schemas.microsoft.com/office/powerpoint/2010/main" val="2856605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4ACA3-FD49-725B-A7CA-196E59ED3586}"/>
              </a:ext>
            </a:extLst>
          </p:cNvPr>
          <p:cNvSpPr/>
          <p:nvPr/>
        </p:nvSpPr>
        <p:spPr>
          <a:xfrm>
            <a:off x="481201" y="4456156"/>
            <a:ext cx="1858551" cy="508858"/>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Stack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913038" y="2772258"/>
            <a:ext cx="2329115" cy="307777"/>
          </a:xfrm>
          <a:prstGeom prst="rect">
            <a:avLst/>
          </a:prstGeom>
          <a:noFill/>
        </p:spPr>
        <p:txBody>
          <a:bodyPr wrap="square" rtlCol="0">
            <a:spAutoFit/>
          </a:bodyPr>
          <a:lstStyle/>
          <a:p>
            <a:pPr algn="r"/>
            <a:r>
              <a:rPr lang="en-US" altLang="ko-KR" sz="1400" b="1" dirty="0">
                <a:solidFill>
                  <a:schemeClr val="bg1"/>
                </a:solidFill>
                <a:cs typeface="Arial" pitchFamily="34" charset="0"/>
              </a:rPr>
              <a:t>Stack Sample Program 2</a:t>
            </a:r>
            <a:endParaRPr lang="ko-KR" altLang="en-US" sz="1400" b="1" dirty="0">
              <a:solidFill>
                <a:schemeClr val="bg1"/>
              </a:solidFill>
              <a:cs typeface="Arial" pitchFamily="34" charset="0"/>
            </a:endParaRPr>
          </a:p>
        </p:txBody>
      </p:sp>
      <p:pic>
        <p:nvPicPr>
          <p:cNvPr id="8" name="Picture 7">
            <a:extLst>
              <a:ext uri="{FF2B5EF4-FFF2-40B4-BE49-F238E27FC236}">
                <a16:creationId xmlns:a16="http://schemas.microsoft.com/office/drawing/2014/main" id="{AD9CD2F0-3F2D-213B-60E4-B844C64477E8}"/>
              </a:ext>
            </a:extLst>
          </p:cNvPr>
          <p:cNvPicPr>
            <a:picLocks noChangeAspect="1"/>
          </p:cNvPicPr>
          <p:nvPr/>
        </p:nvPicPr>
        <p:blipFill>
          <a:blip r:embed="rId3"/>
          <a:stretch>
            <a:fillRect/>
          </a:stretch>
        </p:blipFill>
        <p:spPr>
          <a:xfrm>
            <a:off x="827584" y="1367328"/>
            <a:ext cx="3651473" cy="2257059"/>
          </a:xfrm>
          <a:prstGeom prst="rect">
            <a:avLst/>
          </a:prstGeom>
        </p:spPr>
      </p:pic>
      <p:pic>
        <p:nvPicPr>
          <p:cNvPr id="9" name="Picture 8">
            <a:extLst>
              <a:ext uri="{FF2B5EF4-FFF2-40B4-BE49-F238E27FC236}">
                <a16:creationId xmlns:a16="http://schemas.microsoft.com/office/drawing/2014/main" id="{8677018F-0FE1-BB78-A98A-EF87F359C779}"/>
              </a:ext>
            </a:extLst>
          </p:cNvPr>
          <p:cNvPicPr>
            <a:picLocks noChangeAspect="1"/>
          </p:cNvPicPr>
          <p:nvPr/>
        </p:nvPicPr>
        <p:blipFill>
          <a:blip r:embed="rId4"/>
          <a:stretch>
            <a:fillRect/>
          </a:stretch>
        </p:blipFill>
        <p:spPr>
          <a:xfrm>
            <a:off x="662053" y="4517470"/>
            <a:ext cx="1466850" cy="323850"/>
          </a:xfrm>
          <a:prstGeom prst="rect">
            <a:avLst/>
          </a:prstGeom>
        </p:spPr>
      </p:pic>
      <p:sp>
        <p:nvSpPr>
          <p:cNvPr id="15" name="TextBox 14">
            <a:extLst>
              <a:ext uri="{FF2B5EF4-FFF2-40B4-BE49-F238E27FC236}">
                <a16:creationId xmlns:a16="http://schemas.microsoft.com/office/drawing/2014/main" id="{6676628A-839B-82ED-A9E5-1C8AE53B15C1}"/>
              </a:ext>
            </a:extLst>
          </p:cNvPr>
          <p:cNvSpPr txBox="1"/>
          <p:nvPr/>
        </p:nvSpPr>
        <p:spPr>
          <a:xfrm>
            <a:off x="495200" y="4209693"/>
            <a:ext cx="1518829" cy="307777"/>
          </a:xfrm>
          <a:prstGeom prst="rect">
            <a:avLst/>
          </a:prstGeom>
          <a:noFill/>
        </p:spPr>
        <p:txBody>
          <a:bodyPr wrap="square" rtlCol="0">
            <a:spAutoFit/>
          </a:bodyPr>
          <a:lstStyle/>
          <a:p>
            <a:r>
              <a:rPr lang="en-US" sz="1400" b="1" u="sng" dirty="0"/>
              <a:t>OUTPUT</a:t>
            </a:r>
          </a:p>
        </p:txBody>
      </p:sp>
    </p:spTree>
    <p:extLst>
      <p:ext uri="{BB962C8B-B14F-4D97-AF65-F5344CB8AC3E}">
        <p14:creationId xmlns:p14="http://schemas.microsoft.com/office/powerpoint/2010/main" val="174393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QUESTIONS?</a:t>
            </a:r>
            <a:endParaRPr lang="ko-KR" altLang="en-US" sz="2400" cap="all" dirty="0">
              <a:latin typeface="Amasis MT Pro Black" panose="02040A04050005020304" pitchFamily="18" charset="0"/>
            </a:endParaRPr>
          </a:p>
        </p:txBody>
      </p:sp>
      <p:sp>
        <p:nvSpPr>
          <p:cNvPr id="3" name="Text Placeholder 2"/>
          <p:cNvSpPr>
            <a:spLocks noGrp="1"/>
          </p:cNvSpPr>
          <p:nvPr>
            <p:ph type="body" sz="quarter" idx="11"/>
          </p:nvPr>
        </p:nvSpPr>
        <p:spPr>
          <a:xfrm>
            <a:off x="18002" y="4273255"/>
            <a:ext cx="9144000" cy="288032"/>
          </a:xfrm>
        </p:spPr>
        <p:txBody>
          <a:bodyPr/>
          <a:lstStyle/>
          <a:p>
            <a:pPr lvl="0"/>
            <a:r>
              <a:rPr lang="en-US" altLang="ko-KR" sz="2000" dirty="0">
                <a:latin typeface="Amasis MT Pro Black" panose="02040A04050005020304" pitchFamily="18" charset="0"/>
              </a:rPr>
              <a:t>LESSON 3: </a:t>
            </a:r>
          </a:p>
          <a:p>
            <a:pPr lvl="0"/>
            <a:r>
              <a:rPr lang="en-US" altLang="ko-KR" sz="2000" cap="all" dirty="0">
                <a:latin typeface="Amasis MT Pro Black" panose="02040A04050005020304" pitchFamily="18" charset="0"/>
              </a:rPr>
              <a:t>Stack and queue</a:t>
            </a: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765835"/>
      </p:ext>
    </p:extLst>
  </p:cSld>
  <p:clrMapOvr>
    <a:masterClrMapping/>
  </p:clrMapOvr>
</p:sld>
</file>

<file path=ppt/theme/theme1.xml><?xml version="1.0" encoding="utf-8"?>
<a:theme xmlns:a="http://schemas.openxmlformats.org/drawingml/2006/main" name="Contents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5064</TotalTime>
  <Words>1068</Words>
  <Application>Microsoft Office PowerPoint</Application>
  <PresentationFormat>On-screen Show (16:9)</PresentationFormat>
  <Paragraphs>178</Paragraphs>
  <Slides>16</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Amasis MT Pro</vt:lpstr>
      <vt:lpstr>Amasis MT Pro Black</vt:lpstr>
      <vt:lpstr>Arial</vt:lpstr>
      <vt:lpstr>Bahnschrift Condensed</vt:lpstr>
      <vt:lpstr>Bernard MT Condensed</vt:lpstr>
      <vt:lpstr>Calibri</vt:lpstr>
      <vt:lpstr>Wingdings</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ORCULLO Lowell Jay C.</cp:lastModifiedBy>
  <cp:revision>767</cp:revision>
  <cp:lastPrinted>2022-09-20T03:04:11Z</cp:lastPrinted>
  <dcterms:created xsi:type="dcterms:W3CDTF">2016-12-05T23:26:54Z</dcterms:created>
  <dcterms:modified xsi:type="dcterms:W3CDTF">2025-10-28T04:35:51Z</dcterms:modified>
</cp:coreProperties>
</file>