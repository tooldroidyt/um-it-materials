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8"/>
  </p:notesMasterIdLst>
  <p:sldIdLst>
    <p:sldId id="256" r:id="rId2"/>
    <p:sldId id="257" r:id="rId3"/>
    <p:sldId id="258" r:id="rId4"/>
    <p:sldId id="260" r:id="rId5"/>
    <p:sldId id="261" r:id="rId6"/>
    <p:sldId id="263" r:id="rId7"/>
  </p:sldIdLst>
  <p:sldSz cx="9144000" cy="5143500" type="screen16x9"/>
  <p:notesSz cx="6858000" cy="9144000"/>
  <p:embeddedFontLst>
    <p:embeddedFont>
      <p:font typeface="Arvo" panose="020B0604020202020204" charset="0"/>
      <p:regular r:id="rId9"/>
      <p:bold r:id="rId10"/>
      <p:italic r:id="rId11"/>
      <p:boldItalic r:id="rId12"/>
    </p:embeddedFont>
    <p:embeddedFont>
      <p:font typeface="Roboto Condensed" panose="02000000000000000000" pitchFamily="2" charset="0"/>
      <p:regular r:id="rId13"/>
      <p:bold r:id="rId14"/>
    </p:embeddedFont>
    <p:embeddedFont>
      <p:font typeface="Roboto Condensed Light" panose="02000000000000000000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361D0E8-D997-425D-AB2C-E45440580EAB}">
  <a:tblStyle styleId="{E361D0E8-D997-425D-AB2C-E45440580EA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2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9213180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53984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name="adj" fmla="val 32425"/>
            </a:avLst>
          </a:prstGeom>
          <a:solidFill>
            <a:srgbClr val="2632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12" name="Google Shape;12;p2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4" name="Google Shape;14;p2"/>
          <p:cNvGrpSpPr/>
          <p:nvPr/>
        </p:nvGrpSpPr>
        <p:grpSpPr>
          <a:xfrm rot="10800000" flipH="1">
            <a:off x="1" y="1090763"/>
            <a:ext cx="8847502" cy="2961975"/>
            <a:chOff x="-8178042" y="-4493254"/>
            <a:chExt cx="19483598" cy="6522736"/>
          </a:xfrm>
        </p:grpSpPr>
        <p:sp>
          <p:nvSpPr>
            <p:cNvPr id="15" name="Google Shape;15;p2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7" name="Google Shape;17;p2"/>
          <p:cNvGrpSpPr/>
          <p:nvPr/>
        </p:nvGrpSpPr>
        <p:grpSpPr>
          <a:xfrm>
            <a:off x="3677236" y="4278349"/>
            <a:ext cx="5480829" cy="432996"/>
            <a:chOff x="5582265" y="4646738"/>
            <a:chExt cx="5480829" cy="432996"/>
          </a:xfrm>
        </p:grpSpPr>
        <p:sp>
          <p:nvSpPr>
            <p:cNvPr id="18" name="Google Shape;18;p2"/>
            <p:cNvSpPr/>
            <p:nvPr/>
          </p:nvSpPr>
          <p:spPr>
            <a:xfrm rot="10800000">
              <a:off x="5582265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" name="Google Shape;19;p2"/>
            <p:cNvGrpSpPr/>
            <p:nvPr/>
          </p:nvGrpSpPr>
          <p:grpSpPr>
            <a:xfrm flipH="1">
              <a:off x="5585232" y="4646738"/>
              <a:ext cx="5477861" cy="304551"/>
              <a:chOff x="-24158748" y="330075"/>
              <a:chExt cx="30568423" cy="1699506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-24158748" y="330081"/>
                <a:ext cx="289080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4710175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82;p6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83" name="Google Shape;83;p6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rgbClr val="263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84" name="Google Shape;84;p6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85" name="Google Shape;85;p6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6" name="Google Shape;86;p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87" name="Google Shape;87;p6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88" name="Google Shape;88;p6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9" name="Google Shape;89;p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90" name="Google Shape;90;p6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91" name="Google Shape;91;p6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2" name="Google Shape;92;p6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93" name="Google Shape;93;p6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6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" name="Google Shape;95;p6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96" name="Google Shape;96;p6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6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8" name="Google Shape;98;p6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6"/>
          <p:cNvSpPr txBox="1">
            <a:spLocks noGrp="1"/>
          </p:cNvSpPr>
          <p:nvPr>
            <p:ph type="body" idx="1"/>
          </p:nvPr>
        </p:nvSpPr>
        <p:spPr>
          <a:xfrm>
            <a:off x="814275" y="1537988"/>
            <a:ext cx="33783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100" name="Google Shape;100;p6"/>
          <p:cNvSpPr txBox="1">
            <a:spLocks noGrp="1"/>
          </p:cNvSpPr>
          <p:nvPr>
            <p:ph type="body" idx="2"/>
          </p:nvPr>
        </p:nvSpPr>
        <p:spPr>
          <a:xfrm>
            <a:off x="4396123" y="1537988"/>
            <a:ext cx="33783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101" name="Google Shape;101;p6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▰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lvl="2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lvl="3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lvl="4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lvl="5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lvl="6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lvl="7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lvl="8" indent="-381000">
              <a:spcBef>
                <a:spcPts val="1000"/>
              </a:spcBef>
              <a:spcAft>
                <a:spcPts val="100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>
            <a:spLocks noGrp="1"/>
          </p:cNvSpPr>
          <p:nvPr>
            <p:ph type="ctrTitle"/>
          </p:nvPr>
        </p:nvSpPr>
        <p:spPr>
          <a:xfrm>
            <a:off x="0" y="1107079"/>
            <a:ext cx="7511143" cy="29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  </a:t>
            </a:r>
            <a:r>
              <a:rPr lang="en" sz="4000" dirty="0">
                <a:solidFill>
                  <a:schemeClr val="bg1"/>
                </a:solidFill>
              </a:rPr>
              <a:t>IT8 </a:t>
            </a:r>
            <a:r>
              <a:rPr lang="en" sz="4400" dirty="0">
                <a:solidFill>
                  <a:schemeClr val="bg1"/>
                </a:solidFill>
              </a:rPr>
              <a:t>CALCULUS 2</a:t>
            </a:r>
            <a:br>
              <a:rPr lang="en" sz="4400" dirty="0">
                <a:solidFill>
                  <a:schemeClr val="bg1"/>
                </a:solidFill>
              </a:rPr>
            </a:br>
            <a:r>
              <a:rPr lang="en" sz="4400" dirty="0">
                <a:solidFill>
                  <a:schemeClr val="bg1"/>
                </a:solidFill>
              </a:rPr>
              <a:t>  </a:t>
            </a:r>
            <a:r>
              <a:rPr lang="en" sz="2800" dirty="0">
                <a:solidFill>
                  <a:srgbClr val="FFC000"/>
                </a:solidFill>
              </a:rPr>
              <a:t>LESSON 5</a:t>
            </a:r>
            <a:endParaRPr sz="2800" dirty="0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IT8 CALCULUS 2</a:t>
            </a:r>
            <a:br>
              <a:rPr lang="en-US" dirty="0"/>
            </a:br>
            <a:r>
              <a:rPr lang="en-US" dirty="0">
                <a:solidFill>
                  <a:srgbClr val="FFC000"/>
                </a:solidFill>
              </a:rPr>
              <a:t>Inverse Trigonometric Functions</a:t>
            </a: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/>
          </a:p>
        </p:txBody>
      </p:sp>
      <p:grpSp>
        <p:nvGrpSpPr>
          <p:cNvPr id="194" name="Google Shape;194;p12"/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69EBF784-992E-73BA-A265-004AF47EA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3892" y="1421740"/>
            <a:ext cx="3696216" cy="10574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5F4D2D-E5F6-F590-99C5-EBD7245C5B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3892" y="2495645"/>
            <a:ext cx="3515216" cy="11241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181961-F2C9-7037-0E1A-E59F750B0B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3892" y="3636235"/>
            <a:ext cx="4163006" cy="100026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D8DFB16-45C4-8D92-C28B-E7B9D8E13310}"/>
              </a:ext>
            </a:extLst>
          </p:cNvPr>
          <p:cNvSpPr txBox="1"/>
          <p:nvPr/>
        </p:nvSpPr>
        <p:spPr>
          <a:xfrm>
            <a:off x="1077951" y="1792176"/>
            <a:ext cx="7024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Arctan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88FE29-690F-33BD-C549-866D29A9D5AE}"/>
              </a:ext>
            </a:extLst>
          </p:cNvPr>
          <p:cNvSpPr txBox="1"/>
          <p:nvPr/>
        </p:nvSpPr>
        <p:spPr>
          <a:xfrm>
            <a:off x="1077951" y="2887327"/>
            <a:ext cx="683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Arcsin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6D26BB-ABF4-DA8A-0A7B-8519FC23EC83}"/>
              </a:ext>
            </a:extLst>
          </p:cNvPr>
          <p:cNvSpPr txBox="1"/>
          <p:nvPr/>
        </p:nvSpPr>
        <p:spPr>
          <a:xfrm>
            <a:off x="1077951" y="3915571"/>
            <a:ext cx="7328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Arcsec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00627-E62F-6503-38EE-549B9032F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IT8 CALCULUS 2</a:t>
            </a:r>
            <a:br>
              <a:rPr lang="en-US" dirty="0"/>
            </a:br>
            <a:r>
              <a:rPr lang="en-US" dirty="0">
                <a:solidFill>
                  <a:srgbClr val="FFC000"/>
                </a:solidFill>
              </a:rPr>
              <a:t>Inverse Trigonometric Functions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387D62-152E-5CCF-36E9-BB4ECD78A5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lang="e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B25685-C0E2-A56E-A93D-5D036B1311F0}"/>
              </a:ext>
            </a:extLst>
          </p:cNvPr>
          <p:cNvSpPr txBox="1"/>
          <p:nvPr/>
        </p:nvSpPr>
        <p:spPr>
          <a:xfrm>
            <a:off x="148682" y="1419922"/>
            <a:ext cx="8819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1FA1B8-B6B8-B4D6-4E91-A949A42AF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68226"/>
            <a:ext cx="1802484" cy="96896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3391348-5320-83ED-283E-ECAC6AE281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9463" y="1325097"/>
            <a:ext cx="3696216" cy="105742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6D70BA5-EBA8-6587-995D-E56E387BDE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76" y="2768915"/>
            <a:ext cx="2133898" cy="104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528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817AA-11E8-66A7-1E5E-FC9C874F7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228B9-FD14-EDE0-D0C9-44E1B7ACA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IT8 CALCULUS 2</a:t>
            </a:r>
            <a:br>
              <a:rPr lang="en-US" dirty="0"/>
            </a:br>
            <a:r>
              <a:rPr lang="en-US" dirty="0">
                <a:solidFill>
                  <a:srgbClr val="FFC000"/>
                </a:solidFill>
              </a:rPr>
              <a:t>Inverse Trigonometric Functions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3735D4-4C10-E9AB-CA32-A76FE7395C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lang="e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75142F-DA2B-12E3-DDD1-95EDDFC82AB6}"/>
              </a:ext>
            </a:extLst>
          </p:cNvPr>
          <p:cNvSpPr txBox="1"/>
          <p:nvPr/>
        </p:nvSpPr>
        <p:spPr>
          <a:xfrm>
            <a:off x="148682" y="1419922"/>
            <a:ext cx="8819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DBCE501-2237-4FDF-D7A7-AAC9F9C9F1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82" y="1782265"/>
            <a:ext cx="1635513" cy="68729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2BEBAED-8FDF-F4D5-4624-2C765A3E7D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0102" y="1302276"/>
            <a:ext cx="3515216" cy="11241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5E75CF-5151-5929-3682-22192D9E92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69" y="2571750"/>
            <a:ext cx="1943371" cy="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48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37D44-B511-CAF7-50D4-83C2FE6EB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41D24-4A33-71D0-BD28-17D96FDBE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IT8 CALCULUS 2</a:t>
            </a:r>
            <a:br>
              <a:rPr lang="en-US" dirty="0"/>
            </a:br>
            <a:r>
              <a:rPr lang="en-US" dirty="0">
                <a:solidFill>
                  <a:srgbClr val="FFC000"/>
                </a:solidFill>
              </a:rPr>
              <a:t>Inverse Trigonometric Functions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19F31B-876F-E990-80E9-41DAFBC8FA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lang="e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CB144E-DD08-3873-5DFB-27ADC4AA1480}"/>
              </a:ext>
            </a:extLst>
          </p:cNvPr>
          <p:cNvSpPr txBox="1"/>
          <p:nvPr/>
        </p:nvSpPr>
        <p:spPr>
          <a:xfrm>
            <a:off x="148682" y="1419922"/>
            <a:ext cx="8819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A0321E-9D78-BF11-EAB7-7EBD079AB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82" y="1785716"/>
            <a:ext cx="1806498" cy="78603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F855202-8184-A79F-0A5C-F519891786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0994" y="1419922"/>
            <a:ext cx="4163006" cy="10002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BDB4F6C-E2A6-C93F-9192-035C892953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722374"/>
            <a:ext cx="2305372" cy="952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704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86B9F-FB7F-6F06-46A0-973CDB561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D0CC7-BDD7-C9FA-0C48-301E144CC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IT8 CALCULUS 2</a:t>
            </a:r>
            <a:br>
              <a:rPr lang="en-US" dirty="0"/>
            </a:br>
            <a:r>
              <a:rPr lang="en-US" dirty="0">
                <a:solidFill>
                  <a:srgbClr val="FFC000"/>
                </a:solidFill>
              </a:rPr>
              <a:t>Inverse Trigonometric Functions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A032FA-3703-A07D-20EE-ABA1D88A3B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lang="e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4310B4E-91A1-69F7-0F41-CF8A5FA06E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81" y="1628017"/>
            <a:ext cx="1600423" cy="87642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7FFEDD4-77A6-ED9D-1F16-5BC2DF266E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148" y="2710508"/>
            <a:ext cx="1543265" cy="73352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7CD30D0-B1C5-3084-78F9-347F2E4801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5964" y="1628017"/>
            <a:ext cx="2067213" cy="93358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961B7B6-9238-5D97-61C1-C5E19617AF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568" y="3613981"/>
            <a:ext cx="1600423" cy="8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042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alerio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2671</TotalTime>
  <Words>54</Words>
  <Application>Microsoft Office PowerPoint</Application>
  <PresentationFormat>On-screen Show (16:9)</PresentationFormat>
  <Paragraphs>17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Roboto Condensed Light</vt:lpstr>
      <vt:lpstr>Arial</vt:lpstr>
      <vt:lpstr>Arvo</vt:lpstr>
      <vt:lpstr>Roboto Condensed</vt:lpstr>
      <vt:lpstr>Salerio template</vt:lpstr>
      <vt:lpstr>  IT8 CALCULUS 2   LESSON 5</vt:lpstr>
      <vt:lpstr>IT8 CALCULUS 2 Inverse Trigonometric Functions</vt:lpstr>
      <vt:lpstr>IT8 CALCULUS 2 Inverse Trigonometric Functions</vt:lpstr>
      <vt:lpstr>IT8 CALCULUS 2 Inverse Trigonometric Functions</vt:lpstr>
      <vt:lpstr>IT8 CALCULUS 2 Inverse Trigonometric Functions</vt:lpstr>
      <vt:lpstr>IT8 CALCULUS 2 Inverse Trigonometric Functions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EMBEDDED SYSTEM FOR EMPLOYEE LOGIN &amp; LOGOUT MANAGEMENT SYSTEM WITH RFID AND CHANGING THE PASSWORD USER MANUALLY Literature Review</dc:title>
  <dc:creator>ERAO</dc:creator>
  <cp:lastModifiedBy>Xian Rhel Cadiogan</cp:lastModifiedBy>
  <cp:revision>186</cp:revision>
  <dcterms:modified xsi:type="dcterms:W3CDTF">2026-03-03T08:54:59Z</dcterms:modified>
</cp:coreProperties>
</file>