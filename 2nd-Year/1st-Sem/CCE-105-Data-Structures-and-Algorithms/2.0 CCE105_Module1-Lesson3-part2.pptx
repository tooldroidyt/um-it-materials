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1"/>
    <p:sldMasterId id="2147483653" r:id="rId2"/>
  </p:sldMasterIdLst>
  <p:notesMasterIdLst>
    <p:notesMasterId r:id="rId25"/>
  </p:notesMasterIdLst>
  <p:sldIdLst>
    <p:sldId id="268" r:id="rId3"/>
    <p:sldId id="445" r:id="rId4"/>
    <p:sldId id="446" r:id="rId5"/>
    <p:sldId id="447" r:id="rId6"/>
    <p:sldId id="448" r:id="rId7"/>
    <p:sldId id="449" r:id="rId8"/>
    <p:sldId id="450" r:id="rId9"/>
    <p:sldId id="451" r:id="rId10"/>
    <p:sldId id="452" r:id="rId11"/>
    <p:sldId id="453" r:id="rId12"/>
    <p:sldId id="454" r:id="rId13"/>
    <p:sldId id="455" r:id="rId14"/>
    <p:sldId id="456" r:id="rId15"/>
    <p:sldId id="457" r:id="rId16"/>
    <p:sldId id="458" r:id="rId17"/>
    <p:sldId id="459" r:id="rId18"/>
    <p:sldId id="460" r:id="rId19"/>
    <p:sldId id="461" r:id="rId20"/>
    <p:sldId id="462" r:id="rId21"/>
    <p:sldId id="463" r:id="rId22"/>
    <p:sldId id="464" r:id="rId23"/>
    <p:sldId id="395" r:id="rId24"/>
  </p:sldIdLst>
  <p:sldSz cx="9144000" cy="5143500" type="screen16x9"/>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93">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2A40D"/>
    <a:srgbClr val="32AEB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926" autoAdjust="0"/>
    <p:restoredTop sz="95097" autoAdjust="0"/>
  </p:normalViewPr>
  <p:slideViewPr>
    <p:cSldViewPr>
      <p:cViewPr varScale="1">
        <p:scale>
          <a:sx n="112" d="100"/>
          <a:sy n="112" d="100"/>
        </p:scale>
        <p:origin x="686" y="72"/>
      </p:cViewPr>
      <p:guideLst>
        <p:guide orient="horz" pos="1393"/>
        <p:guide pos="2880"/>
      </p:guideLst>
    </p:cSldViewPr>
  </p:slideViewPr>
  <p:outlineViewPr>
    <p:cViewPr>
      <p:scale>
        <a:sx n="33" d="100"/>
        <a:sy n="33" d="100"/>
      </p:scale>
      <p:origin x="0" y="0"/>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1F006B-912C-44FB-AF90-1327324F3FDE}" type="datetimeFigureOut">
              <a:rPr lang="en-US" smtClean="0"/>
              <a:t>10/28/2025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7CCEC0F-9B09-4FF5-9CCF-F6E60A951A69}" type="slidenum">
              <a:rPr lang="en-US" smtClean="0"/>
              <a:t>‹#›</a:t>
            </a:fld>
            <a:endParaRPr lang="en-US"/>
          </a:p>
        </p:txBody>
      </p:sp>
    </p:spTree>
    <p:extLst>
      <p:ext uri="{BB962C8B-B14F-4D97-AF65-F5344CB8AC3E}">
        <p14:creationId xmlns:p14="http://schemas.microsoft.com/office/powerpoint/2010/main" val="9257417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7CCEC0F-9B09-4FF5-9CCF-F6E60A951A69}" type="slidenum">
              <a:rPr lang="en-US" smtClean="0"/>
              <a:t>3</a:t>
            </a:fld>
            <a:endParaRPr lang="en-US"/>
          </a:p>
        </p:txBody>
      </p:sp>
    </p:spTree>
    <p:extLst>
      <p:ext uri="{BB962C8B-B14F-4D97-AF65-F5344CB8AC3E}">
        <p14:creationId xmlns:p14="http://schemas.microsoft.com/office/powerpoint/2010/main" val="33121181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7CCEC0F-9B09-4FF5-9CCF-F6E60A951A69}" type="slidenum">
              <a:rPr lang="en-US" smtClean="0"/>
              <a:t>4</a:t>
            </a:fld>
            <a:endParaRPr lang="en-US"/>
          </a:p>
        </p:txBody>
      </p:sp>
    </p:spTree>
    <p:extLst>
      <p:ext uri="{BB962C8B-B14F-4D97-AF65-F5344CB8AC3E}">
        <p14:creationId xmlns:p14="http://schemas.microsoft.com/office/powerpoint/2010/main" val="30100141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7CCEC0F-9B09-4FF5-9CCF-F6E60A951A69}" type="slidenum">
              <a:rPr lang="en-US" smtClean="0"/>
              <a:t>5</a:t>
            </a:fld>
            <a:endParaRPr lang="en-US"/>
          </a:p>
        </p:txBody>
      </p:sp>
    </p:spTree>
    <p:extLst>
      <p:ext uri="{BB962C8B-B14F-4D97-AF65-F5344CB8AC3E}">
        <p14:creationId xmlns:p14="http://schemas.microsoft.com/office/powerpoint/2010/main" val="8422681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7CCEC0F-9B09-4FF5-9CCF-F6E60A951A69}" type="slidenum">
              <a:rPr lang="en-US" smtClean="0"/>
              <a:t>6</a:t>
            </a:fld>
            <a:endParaRPr lang="en-US"/>
          </a:p>
        </p:txBody>
      </p:sp>
    </p:spTree>
    <p:extLst>
      <p:ext uri="{BB962C8B-B14F-4D97-AF65-F5344CB8AC3E}">
        <p14:creationId xmlns:p14="http://schemas.microsoft.com/office/powerpoint/2010/main" val="9444181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7CCEC0F-9B09-4FF5-9CCF-F6E60A951A69}" type="slidenum">
              <a:rPr lang="en-US" smtClean="0"/>
              <a:t>7</a:t>
            </a:fld>
            <a:endParaRPr lang="en-US"/>
          </a:p>
        </p:txBody>
      </p:sp>
    </p:spTree>
    <p:extLst>
      <p:ext uri="{BB962C8B-B14F-4D97-AF65-F5344CB8AC3E}">
        <p14:creationId xmlns:p14="http://schemas.microsoft.com/office/powerpoint/2010/main" val="5913351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7CCEC0F-9B09-4FF5-9CCF-F6E60A951A69}" type="slidenum">
              <a:rPr lang="en-US" smtClean="0"/>
              <a:t>8</a:t>
            </a:fld>
            <a:endParaRPr lang="en-US"/>
          </a:p>
        </p:txBody>
      </p:sp>
    </p:spTree>
    <p:extLst>
      <p:ext uri="{BB962C8B-B14F-4D97-AF65-F5344CB8AC3E}">
        <p14:creationId xmlns:p14="http://schemas.microsoft.com/office/powerpoint/2010/main" val="16664540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7CCEC0F-9B09-4FF5-9CCF-F6E60A951A69}" type="slidenum">
              <a:rPr lang="en-US" smtClean="0"/>
              <a:t>9</a:t>
            </a:fld>
            <a:endParaRPr lang="en-US"/>
          </a:p>
        </p:txBody>
      </p:sp>
    </p:spTree>
    <p:extLst>
      <p:ext uri="{BB962C8B-B14F-4D97-AF65-F5344CB8AC3E}">
        <p14:creationId xmlns:p14="http://schemas.microsoft.com/office/powerpoint/2010/main" val="41017218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7CCEC0F-9B09-4FF5-9CCF-F6E60A951A69}" type="slidenum">
              <a:rPr lang="en-US" smtClean="0"/>
              <a:t>10</a:t>
            </a:fld>
            <a:endParaRPr lang="en-US"/>
          </a:p>
        </p:txBody>
      </p:sp>
    </p:spTree>
    <p:extLst>
      <p:ext uri="{BB962C8B-B14F-4D97-AF65-F5344CB8AC3E}">
        <p14:creationId xmlns:p14="http://schemas.microsoft.com/office/powerpoint/2010/main" val="29652264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7CCEC0F-9B09-4FF5-9CCF-F6E60A951A69}" type="slidenum">
              <a:rPr lang="en-US" smtClean="0"/>
              <a:t>11</a:t>
            </a:fld>
            <a:endParaRPr lang="en-US"/>
          </a:p>
        </p:txBody>
      </p:sp>
    </p:spTree>
    <p:extLst>
      <p:ext uri="{BB962C8B-B14F-4D97-AF65-F5344CB8AC3E}">
        <p14:creationId xmlns:p14="http://schemas.microsoft.com/office/powerpoint/2010/main" val="9626344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7CCEC0F-9B09-4FF5-9CCF-F6E60A951A69}" type="slidenum">
              <a:rPr lang="en-US" smtClean="0"/>
              <a:t>12</a:t>
            </a:fld>
            <a:endParaRPr lang="en-US"/>
          </a:p>
        </p:txBody>
      </p:sp>
    </p:spTree>
    <p:extLst>
      <p:ext uri="{BB962C8B-B14F-4D97-AF65-F5344CB8AC3E}">
        <p14:creationId xmlns:p14="http://schemas.microsoft.com/office/powerpoint/2010/main" val="20641946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7CCEC0F-9B09-4FF5-9CCF-F6E60A951A69}" type="slidenum">
              <a:rPr lang="en-US" smtClean="0"/>
              <a:t>13</a:t>
            </a:fld>
            <a:endParaRPr lang="en-US"/>
          </a:p>
        </p:txBody>
      </p:sp>
    </p:spTree>
    <p:extLst>
      <p:ext uri="{BB962C8B-B14F-4D97-AF65-F5344CB8AC3E}">
        <p14:creationId xmlns:p14="http://schemas.microsoft.com/office/powerpoint/2010/main" val="14831300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7CCEC0F-9B09-4FF5-9CCF-F6E60A951A69}" type="slidenum">
              <a:rPr lang="en-US" smtClean="0"/>
              <a:t>14</a:t>
            </a:fld>
            <a:endParaRPr lang="en-US"/>
          </a:p>
        </p:txBody>
      </p:sp>
    </p:spTree>
    <p:extLst>
      <p:ext uri="{BB962C8B-B14F-4D97-AF65-F5344CB8AC3E}">
        <p14:creationId xmlns:p14="http://schemas.microsoft.com/office/powerpoint/2010/main" val="40477632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7CCEC0F-9B09-4FF5-9CCF-F6E60A951A69}" type="slidenum">
              <a:rPr lang="en-US" smtClean="0"/>
              <a:t>15</a:t>
            </a:fld>
            <a:endParaRPr lang="en-US"/>
          </a:p>
        </p:txBody>
      </p:sp>
    </p:spTree>
    <p:extLst>
      <p:ext uri="{BB962C8B-B14F-4D97-AF65-F5344CB8AC3E}">
        <p14:creationId xmlns:p14="http://schemas.microsoft.com/office/powerpoint/2010/main" val="12259254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7CCEC0F-9B09-4FF5-9CCF-F6E60A951A69}" type="slidenum">
              <a:rPr lang="en-US" smtClean="0"/>
              <a:t>16</a:t>
            </a:fld>
            <a:endParaRPr lang="en-US"/>
          </a:p>
        </p:txBody>
      </p:sp>
    </p:spTree>
    <p:extLst>
      <p:ext uri="{BB962C8B-B14F-4D97-AF65-F5344CB8AC3E}">
        <p14:creationId xmlns:p14="http://schemas.microsoft.com/office/powerpoint/2010/main" val="12473522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7CCEC0F-9B09-4FF5-9CCF-F6E60A951A69}" type="slidenum">
              <a:rPr lang="en-US" smtClean="0"/>
              <a:t>17</a:t>
            </a:fld>
            <a:endParaRPr lang="en-US"/>
          </a:p>
        </p:txBody>
      </p:sp>
    </p:spTree>
    <p:extLst>
      <p:ext uri="{BB962C8B-B14F-4D97-AF65-F5344CB8AC3E}">
        <p14:creationId xmlns:p14="http://schemas.microsoft.com/office/powerpoint/2010/main" val="16500133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7CCEC0F-9B09-4FF5-9CCF-F6E60A951A69}" type="slidenum">
              <a:rPr lang="en-US" smtClean="0"/>
              <a:t>18</a:t>
            </a:fld>
            <a:endParaRPr lang="en-US"/>
          </a:p>
        </p:txBody>
      </p:sp>
    </p:spTree>
    <p:extLst>
      <p:ext uri="{BB962C8B-B14F-4D97-AF65-F5344CB8AC3E}">
        <p14:creationId xmlns:p14="http://schemas.microsoft.com/office/powerpoint/2010/main" val="147214874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7CCEC0F-9B09-4FF5-9CCF-F6E60A951A69}" type="slidenum">
              <a:rPr lang="en-US" smtClean="0"/>
              <a:t>19</a:t>
            </a:fld>
            <a:endParaRPr lang="en-US"/>
          </a:p>
        </p:txBody>
      </p:sp>
    </p:spTree>
    <p:extLst>
      <p:ext uri="{BB962C8B-B14F-4D97-AF65-F5344CB8AC3E}">
        <p14:creationId xmlns:p14="http://schemas.microsoft.com/office/powerpoint/2010/main" val="353519557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7CCEC0F-9B09-4FF5-9CCF-F6E60A951A69}" type="slidenum">
              <a:rPr lang="en-US" smtClean="0"/>
              <a:t>20</a:t>
            </a:fld>
            <a:endParaRPr lang="en-US"/>
          </a:p>
        </p:txBody>
      </p:sp>
    </p:spTree>
    <p:extLst>
      <p:ext uri="{BB962C8B-B14F-4D97-AF65-F5344CB8AC3E}">
        <p14:creationId xmlns:p14="http://schemas.microsoft.com/office/powerpoint/2010/main" val="221458055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7CCEC0F-9B09-4FF5-9CCF-F6E60A951A69}" type="slidenum">
              <a:rPr lang="en-US" smtClean="0"/>
              <a:t>21</a:t>
            </a:fld>
            <a:endParaRPr lang="en-US"/>
          </a:p>
        </p:txBody>
      </p:sp>
    </p:spTree>
    <p:extLst>
      <p:ext uri="{BB962C8B-B14F-4D97-AF65-F5344CB8AC3E}">
        <p14:creationId xmlns:p14="http://schemas.microsoft.com/office/powerpoint/2010/main" val="169141977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Agenda Layout">
    <p:spTree>
      <p:nvGrpSpPr>
        <p:cNvPr id="1" name=""/>
        <p:cNvGrpSpPr/>
        <p:nvPr/>
      </p:nvGrpSpPr>
      <p:grpSpPr>
        <a:xfrm>
          <a:off x="0" y="0"/>
          <a:ext cx="0" cy="0"/>
          <a:chOff x="0" y="0"/>
          <a:chExt cx="0" cy="0"/>
        </a:xfrm>
      </p:grpSpPr>
      <p:sp>
        <p:nvSpPr>
          <p:cNvPr id="6" name="Rectangle 5"/>
          <p:cNvSpPr/>
          <p:nvPr userDrawn="1"/>
        </p:nvSpPr>
        <p:spPr>
          <a:xfrm>
            <a:off x="-2604" y="0"/>
            <a:ext cx="1584176" cy="514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3074" name="Picture 2" descr="E:\002-KIMS BUSINESS\007-02-Fullslidesppt-Contents\20161228\02-edu\bulb-item2.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89484" y="938231"/>
            <a:ext cx="1584176" cy="3515958"/>
          </a:xfrm>
          <a:prstGeom prst="rect">
            <a:avLst/>
          </a:prstGeom>
          <a:noFill/>
          <a:extLst>
            <a:ext uri="{909E8E84-426E-40DD-AFC4-6F175D3DCCD1}">
              <a14:hiddenFill xmlns:a14="http://schemas.microsoft.com/office/drawing/2010/main">
                <a:solidFill>
                  <a:srgbClr val="FFFFFF"/>
                </a:solidFill>
              </a14:hiddenFill>
            </a:ext>
          </a:extLst>
        </p:spPr>
      </p:pic>
      <p:pic>
        <p:nvPicPr>
          <p:cNvPr id="3075" name="Picture 3" descr="E:\002-KIMS BUSINESS\007-02-Fullslidesppt-Contents\20161228\02-edu\bulb-item.png"/>
          <p:cNvPicPr>
            <a:picLocks noChangeAspect="1" noChangeArrowheads="1"/>
          </p:cNvPicPr>
          <p:nvPr userDrawn="1"/>
        </p:nvPicPr>
        <p:blipFill rotWithShape="1">
          <a:blip r:embed="rId3">
            <a:extLst>
              <a:ext uri="{28A0092B-C50C-407E-A947-70E740481C1C}">
                <a14:useLocalDpi xmlns:a14="http://schemas.microsoft.com/office/drawing/2010/main" val="0"/>
              </a:ext>
            </a:extLst>
          </a:blip>
          <a:srcRect r="50000"/>
          <a:stretch/>
        </p:blipFill>
        <p:spPr bwMode="auto">
          <a:xfrm>
            <a:off x="789484" y="938231"/>
            <a:ext cx="792088" cy="35159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57120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Agenda Layout">
    <p:spTree>
      <p:nvGrpSpPr>
        <p:cNvPr id="1" name=""/>
        <p:cNvGrpSpPr/>
        <p:nvPr/>
      </p:nvGrpSpPr>
      <p:grpSpPr>
        <a:xfrm>
          <a:off x="0" y="0"/>
          <a:ext cx="0" cy="0"/>
          <a:chOff x="0" y="0"/>
          <a:chExt cx="0" cy="0"/>
        </a:xfrm>
      </p:grpSpPr>
      <p:sp>
        <p:nvSpPr>
          <p:cNvPr id="6" name="Rectangle 5"/>
          <p:cNvSpPr/>
          <p:nvPr userDrawn="1"/>
        </p:nvSpPr>
        <p:spPr>
          <a:xfrm>
            <a:off x="-2604" y="0"/>
            <a:ext cx="1584176" cy="514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3074" name="Picture 2" descr="E:\002-KIMS BUSINESS\007-02-Fullslidesppt-Contents\20161228\02-edu\bulb-item2.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16735" y="2931790"/>
            <a:ext cx="945499" cy="20984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59988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Basic Layout">
    <p:spTree>
      <p:nvGrpSpPr>
        <p:cNvPr id="1" name=""/>
        <p:cNvGrpSpPr/>
        <p:nvPr/>
      </p:nvGrpSpPr>
      <p:grpSpPr>
        <a:xfrm>
          <a:off x="0" y="0"/>
          <a:ext cx="0" cy="0"/>
          <a:chOff x="0" y="0"/>
          <a:chExt cx="0" cy="0"/>
        </a:xfrm>
      </p:grpSpPr>
      <p:sp>
        <p:nvSpPr>
          <p:cNvPr id="2" name="Rectangle 1"/>
          <p:cNvSpPr/>
          <p:nvPr userDrawn="1"/>
        </p:nvSpPr>
        <p:spPr>
          <a:xfrm>
            <a:off x="0" y="3399842"/>
            <a:ext cx="9144000" cy="174365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10" name="Text Placeholder 9"/>
          <p:cNvSpPr>
            <a:spLocks noGrp="1"/>
          </p:cNvSpPr>
          <p:nvPr>
            <p:ph type="body" sz="quarter" idx="10" hasCustomPrompt="1"/>
          </p:nvPr>
        </p:nvSpPr>
        <p:spPr>
          <a:xfrm>
            <a:off x="0" y="123478"/>
            <a:ext cx="9144000" cy="576064"/>
          </a:xfrm>
          <a:prstGeom prst="rect">
            <a:avLst/>
          </a:prstGeom>
        </p:spPr>
        <p:txBody>
          <a:bodyPr anchor="ctr"/>
          <a:lstStyle>
            <a:lvl1pPr marL="0" indent="0" algn="ctr">
              <a:buNone/>
              <a:defRPr sz="36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699542"/>
            <a:ext cx="9144000" cy="288032"/>
          </a:xfrm>
          <a:prstGeom prst="rect">
            <a:avLst/>
          </a:prstGeom>
        </p:spPr>
        <p:txBody>
          <a:bodyPr anchor="ctr"/>
          <a:lstStyle>
            <a:lvl1pPr marL="0" indent="0" algn="ctr">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4" name="Oval 3"/>
          <p:cNvSpPr/>
          <p:nvPr userDrawn="1"/>
        </p:nvSpPr>
        <p:spPr>
          <a:xfrm>
            <a:off x="4043561" y="2859782"/>
            <a:ext cx="1080120" cy="1080120"/>
          </a:xfrm>
          <a:prstGeom prst="ellipse">
            <a:avLst/>
          </a:prstGeom>
          <a:solidFill>
            <a:schemeClr val="accent1"/>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5" name="Picture 2" descr="E:\002-KIMS BUSINESS\007-02-Fullslidesppt-Contents\20161228\02-edu\bulb-item.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408057" y="3010192"/>
            <a:ext cx="351128" cy="7793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68678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asic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23478"/>
            <a:ext cx="9144000" cy="576064"/>
          </a:xfrm>
          <a:prstGeom prst="rect">
            <a:avLst/>
          </a:prstGeom>
        </p:spPr>
        <p:txBody>
          <a:bodyPr anchor="ctr"/>
          <a:lstStyle>
            <a:lvl1pPr marL="0" indent="0" algn="ctr">
              <a:buNone/>
              <a:defRPr sz="36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699542"/>
            <a:ext cx="9144000" cy="288032"/>
          </a:xfrm>
          <a:prstGeom prst="rect">
            <a:avLst/>
          </a:prstGeom>
        </p:spPr>
        <p:txBody>
          <a:bodyPr anchor="ctr"/>
          <a:lstStyle>
            <a:lvl1pPr marL="0" indent="0" algn="ctr">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4" name="Rectangle 3"/>
          <p:cNvSpPr/>
          <p:nvPr userDrawn="1"/>
        </p:nvSpPr>
        <p:spPr>
          <a:xfrm>
            <a:off x="0" y="4963500"/>
            <a:ext cx="9144000" cy="18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Rectangle 4"/>
          <p:cNvSpPr/>
          <p:nvPr userDrawn="1"/>
        </p:nvSpPr>
        <p:spPr>
          <a:xfrm>
            <a:off x="0" y="0"/>
            <a:ext cx="9144000" cy="7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129044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Basic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23478"/>
            <a:ext cx="9144000" cy="576064"/>
          </a:xfrm>
          <a:prstGeom prst="rect">
            <a:avLst/>
          </a:prstGeom>
        </p:spPr>
        <p:txBody>
          <a:bodyPr anchor="ctr"/>
          <a:lstStyle>
            <a:lvl1pPr marL="0" indent="0" algn="ctr">
              <a:buNone/>
              <a:defRPr sz="36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699542"/>
            <a:ext cx="9144000" cy="288032"/>
          </a:xfrm>
          <a:prstGeom prst="rect">
            <a:avLst/>
          </a:prstGeom>
        </p:spPr>
        <p:txBody>
          <a:bodyPr anchor="ctr"/>
          <a:lstStyle>
            <a:lvl1pPr marL="0" indent="0" algn="ctr">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Tree>
    <p:extLst>
      <p:ext uri="{BB962C8B-B14F-4D97-AF65-F5344CB8AC3E}">
        <p14:creationId xmlns:p14="http://schemas.microsoft.com/office/powerpoint/2010/main" val="19608501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Images and Contents Layout">
    <p:bg>
      <p:bgPr>
        <a:solidFill>
          <a:schemeClr val="bg1"/>
        </a:solidFill>
        <a:effectLst/>
      </p:bgPr>
    </p:bg>
    <p:spTree>
      <p:nvGrpSpPr>
        <p:cNvPr id="1" name=""/>
        <p:cNvGrpSpPr/>
        <p:nvPr/>
      </p:nvGrpSpPr>
      <p:grpSpPr>
        <a:xfrm>
          <a:off x="0" y="0"/>
          <a:ext cx="0" cy="0"/>
          <a:chOff x="0" y="0"/>
          <a:chExt cx="0" cy="0"/>
        </a:xfrm>
      </p:grpSpPr>
      <p:sp>
        <p:nvSpPr>
          <p:cNvPr id="2" name="Rectangle 1"/>
          <p:cNvSpPr/>
          <p:nvPr userDrawn="1"/>
        </p:nvSpPr>
        <p:spPr>
          <a:xfrm>
            <a:off x="143508" y="92609"/>
            <a:ext cx="8856984" cy="49582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 Placeholder 9"/>
          <p:cNvSpPr>
            <a:spLocks noGrp="1"/>
          </p:cNvSpPr>
          <p:nvPr>
            <p:ph type="body" sz="quarter" idx="10" hasCustomPrompt="1"/>
          </p:nvPr>
        </p:nvSpPr>
        <p:spPr>
          <a:xfrm>
            <a:off x="0" y="181632"/>
            <a:ext cx="9144000" cy="576064"/>
          </a:xfrm>
          <a:prstGeom prst="rect">
            <a:avLst/>
          </a:prstGeom>
        </p:spPr>
        <p:txBody>
          <a:bodyPr anchor="ctr"/>
          <a:lstStyle>
            <a:lvl1pPr marL="0" indent="0" algn="ctr">
              <a:buNone/>
              <a:defRPr sz="3600" b="0" baseline="0">
                <a:solidFill>
                  <a:schemeClr val="bg1"/>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757696"/>
            <a:ext cx="9144000" cy="288032"/>
          </a:xfrm>
          <a:prstGeom prst="rect">
            <a:avLst/>
          </a:prstGeom>
        </p:spPr>
        <p:txBody>
          <a:bodyPr anchor="ctr"/>
          <a:lstStyle>
            <a:lvl1pPr marL="0" indent="0" algn="ctr">
              <a:buNone/>
              <a:defRPr sz="1400" b="0" baseline="0">
                <a:solidFill>
                  <a:schemeClr val="bg1"/>
                </a:solidFill>
                <a:latin typeface="+mn-lt"/>
                <a:cs typeface="Arial" pitchFamily="34" charset="0"/>
              </a:defRPr>
            </a:lvl1pPr>
          </a:lstStyle>
          <a:p>
            <a:pPr lvl="0"/>
            <a:r>
              <a:rPr lang="en-US" altLang="ko-KR" dirty="0"/>
              <a:t>Insert the title of your subtitle Here</a:t>
            </a:r>
          </a:p>
        </p:txBody>
      </p:sp>
      <p:sp>
        <p:nvSpPr>
          <p:cNvPr id="6" name="Picture Placeholder 2"/>
          <p:cNvSpPr>
            <a:spLocks noGrp="1"/>
          </p:cNvSpPr>
          <p:nvPr>
            <p:ph type="pic" idx="12" hasCustomPrompt="1"/>
          </p:nvPr>
        </p:nvSpPr>
        <p:spPr>
          <a:xfrm>
            <a:off x="0" y="1347774"/>
            <a:ext cx="2160240" cy="1872048"/>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7" name="Picture Placeholder 2"/>
          <p:cNvSpPr>
            <a:spLocks noGrp="1"/>
          </p:cNvSpPr>
          <p:nvPr>
            <p:ph type="pic" idx="13" hasCustomPrompt="1"/>
          </p:nvPr>
        </p:nvSpPr>
        <p:spPr>
          <a:xfrm>
            <a:off x="2327920" y="1347774"/>
            <a:ext cx="2160240" cy="1872048"/>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8" name="Picture Placeholder 2"/>
          <p:cNvSpPr>
            <a:spLocks noGrp="1"/>
          </p:cNvSpPr>
          <p:nvPr>
            <p:ph type="pic" idx="14" hasCustomPrompt="1"/>
          </p:nvPr>
        </p:nvSpPr>
        <p:spPr>
          <a:xfrm>
            <a:off x="4655840" y="1347774"/>
            <a:ext cx="2160240" cy="1872048"/>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9" name="Picture Placeholder 2"/>
          <p:cNvSpPr>
            <a:spLocks noGrp="1"/>
          </p:cNvSpPr>
          <p:nvPr>
            <p:ph type="pic" idx="15" hasCustomPrompt="1"/>
          </p:nvPr>
        </p:nvSpPr>
        <p:spPr>
          <a:xfrm>
            <a:off x="6983760" y="1347774"/>
            <a:ext cx="2160240" cy="1872048"/>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3" name="Rectangle 2"/>
          <p:cNvSpPr/>
          <p:nvPr userDrawn="1"/>
        </p:nvSpPr>
        <p:spPr>
          <a:xfrm>
            <a:off x="0" y="3219822"/>
            <a:ext cx="2160000" cy="15841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Rectangle 11"/>
          <p:cNvSpPr/>
          <p:nvPr userDrawn="1"/>
        </p:nvSpPr>
        <p:spPr>
          <a:xfrm>
            <a:off x="2328000" y="3219822"/>
            <a:ext cx="2160000" cy="15841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Rectangle 12"/>
          <p:cNvSpPr/>
          <p:nvPr userDrawn="1"/>
        </p:nvSpPr>
        <p:spPr>
          <a:xfrm>
            <a:off x="4656000" y="3219822"/>
            <a:ext cx="2160000" cy="15841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Rectangle 13"/>
          <p:cNvSpPr/>
          <p:nvPr userDrawn="1"/>
        </p:nvSpPr>
        <p:spPr>
          <a:xfrm>
            <a:off x="6984000" y="3219822"/>
            <a:ext cx="2160000" cy="15841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6159670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7" name="Rectangle 6"/>
          <p:cNvSpPr/>
          <p:nvPr userDrawn="1"/>
        </p:nvSpPr>
        <p:spPr>
          <a:xfrm>
            <a:off x="0" y="2932113"/>
            <a:ext cx="9144000" cy="22113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10" name="Text Placeholder 9"/>
          <p:cNvSpPr>
            <a:spLocks noGrp="1"/>
          </p:cNvSpPr>
          <p:nvPr>
            <p:ph type="body" sz="quarter" idx="10" hasCustomPrompt="1"/>
          </p:nvPr>
        </p:nvSpPr>
        <p:spPr>
          <a:xfrm>
            <a:off x="0" y="181632"/>
            <a:ext cx="9144000" cy="576064"/>
          </a:xfrm>
          <a:prstGeom prst="rect">
            <a:avLst/>
          </a:prstGeom>
        </p:spPr>
        <p:txBody>
          <a:bodyPr anchor="ctr"/>
          <a:lstStyle>
            <a:lvl1pPr marL="0" indent="0" algn="ctr">
              <a:buNone/>
              <a:defRPr sz="36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757696"/>
            <a:ext cx="9144000" cy="288032"/>
          </a:xfrm>
          <a:prstGeom prst="rect">
            <a:avLst/>
          </a:prstGeom>
        </p:spPr>
        <p:txBody>
          <a:bodyPr anchor="ctr"/>
          <a:lstStyle>
            <a:lvl1pPr marL="0" indent="0" algn="ctr">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3" descr="D:\Fullppt\005-PNG이미지\노트북.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555776" y="1131590"/>
            <a:ext cx="7230270" cy="3677432"/>
          </a:xfrm>
          <a:prstGeom prst="rect">
            <a:avLst/>
          </a:prstGeom>
          <a:noFill/>
          <a:extLst>
            <a:ext uri="{909E8E84-426E-40DD-AFC4-6F175D3DCCD1}">
              <a14:hiddenFill xmlns:a14="http://schemas.microsoft.com/office/drawing/2010/main">
                <a:solidFill>
                  <a:srgbClr val="FFFFFF"/>
                </a:solidFill>
              </a14:hiddenFill>
            </a:ext>
          </a:extLst>
        </p:spPr>
      </p:pic>
      <p:sp>
        <p:nvSpPr>
          <p:cNvPr id="6" name="Picture Placeholder 2"/>
          <p:cNvSpPr>
            <a:spLocks noGrp="1"/>
          </p:cNvSpPr>
          <p:nvPr>
            <p:ph type="pic" idx="1" hasCustomPrompt="1"/>
          </p:nvPr>
        </p:nvSpPr>
        <p:spPr>
          <a:xfrm>
            <a:off x="4513480" y="1626257"/>
            <a:ext cx="3465217" cy="2562605"/>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3" name="Rectangle 2"/>
          <p:cNvSpPr/>
          <p:nvPr userDrawn="1"/>
        </p:nvSpPr>
        <p:spPr>
          <a:xfrm>
            <a:off x="467544" y="3363838"/>
            <a:ext cx="3024336" cy="10081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3260588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81632"/>
            <a:ext cx="9144000" cy="576064"/>
          </a:xfrm>
          <a:prstGeom prst="rect">
            <a:avLst/>
          </a:prstGeom>
        </p:spPr>
        <p:txBody>
          <a:bodyPr anchor="ctr"/>
          <a:lstStyle>
            <a:lvl1pPr marL="0" indent="0" algn="ctr">
              <a:buNone/>
              <a:defRPr sz="36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757696"/>
            <a:ext cx="9144000" cy="288032"/>
          </a:xfrm>
          <a:prstGeom prst="rect">
            <a:avLst/>
          </a:prstGeom>
        </p:spPr>
        <p:txBody>
          <a:bodyPr anchor="ctr"/>
          <a:lstStyle>
            <a:lvl1pPr marL="0" indent="0" algn="ctr">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759754"/>
            <a:ext cx="9144000" cy="22113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pic>
        <p:nvPicPr>
          <p:cNvPr id="6" name="Picture 2" descr="D:\Fullppt\PNG이미지\핸드폰2.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023208" y="1042230"/>
            <a:ext cx="2869272" cy="3474631"/>
          </a:xfrm>
          <a:prstGeom prst="rect">
            <a:avLst/>
          </a:prstGeom>
          <a:noFill/>
          <a:extLst>
            <a:ext uri="{909E8E84-426E-40DD-AFC4-6F175D3DCCD1}">
              <a14:hiddenFill xmlns:a14="http://schemas.microsoft.com/office/drawing/2010/main">
                <a:solidFill>
                  <a:srgbClr val="FFFFFF"/>
                </a:solidFill>
              </a14:hiddenFill>
            </a:ext>
          </a:extLst>
        </p:spPr>
      </p:pic>
      <p:sp>
        <p:nvSpPr>
          <p:cNvPr id="7" name="Picture Placeholder 2"/>
          <p:cNvSpPr>
            <a:spLocks noGrp="1"/>
          </p:cNvSpPr>
          <p:nvPr>
            <p:ph type="pic" idx="1" hasCustomPrompt="1"/>
          </p:nvPr>
        </p:nvSpPr>
        <p:spPr>
          <a:xfrm>
            <a:off x="7380312" y="1175233"/>
            <a:ext cx="1008112" cy="2556104"/>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9" name="Picture Placeholder 2"/>
          <p:cNvSpPr>
            <a:spLocks noGrp="1"/>
          </p:cNvSpPr>
          <p:nvPr>
            <p:ph type="pic" idx="12" hasCustomPrompt="1"/>
          </p:nvPr>
        </p:nvSpPr>
        <p:spPr>
          <a:xfrm>
            <a:off x="5643269" y="1261134"/>
            <a:ext cx="1654766" cy="2556104"/>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7001373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5" name="Picture Placeholder 2"/>
          <p:cNvSpPr>
            <a:spLocks noGrp="1"/>
          </p:cNvSpPr>
          <p:nvPr>
            <p:ph type="pic" idx="1" hasCustomPrompt="1"/>
          </p:nvPr>
        </p:nvSpPr>
        <p:spPr>
          <a:xfrm>
            <a:off x="0" y="-1"/>
            <a:ext cx="3059832" cy="5143501"/>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2" name="Rectangle 1"/>
          <p:cNvSpPr/>
          <p:nvPr userDrawn="1"/>
        </p:nvSpPr>
        <p:spPr>
          <a:xfrm>
            <a:off x="4860032" y="0"/>
            <a:ext cx="36000" cy="514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Rectangle 2"/>
          <p:cNvSpPr/>
          <p:nvPr userDrawn="1"/>
        </p:nvSpPr>
        <p:spPr>
          <a:xfrm>
            <a:off x="4896032" y="1311750"/>
            <a:ext cx="180000" cy="252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934402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_Images and Contents Layout">
    <p:bg>
      <p:bgPr>
        <a:solidFill>
          <a:schemeClr val="accent1"/>
        </a:solidFill>
        <a:effectLst/>
      </p:bgPr>
    </p:bg>
    <p:spTree>
      <p:nvGrpSpPr>
        <p:cNvPr id="1" name=""/>
        <p:cNvGrpSpPr/>
        <p:nvPr/>
      </p:nvGrpSpPr>
      <p:grpSpPr>
        <a:xfrm>
          <a:off x="0" y="0"/>
          <a:ext cx="0" cy="0"/>
          <a:chOff x="0" y="0"/>
          <a:chExt cx="0" cy="0"/>
        </a:xfrm>
      </p:grpSpPr>
      <p:sp>
        <p:nvSpPr>
          <p:cNvPr id="5" name="Picture Placeholder 2"/>
          <p:cNvSpPr>
            <a:spLocks noGrp="1"/>
          </p:cNvSpPr>
          <p:nvPr>
            <p:ph type="pic" idx="1" hasCustomPrompt="1"/>
          </p:nvPr>
        </p:nvSpPr>
        <p:spPr>
          <a:xfrm>
            <a:off x="0" y="-1"/>
            <a:ext cx="9144000" cy="3076575"/>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33950635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6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3131840" y="181632"/>
            <a:ext cx="6012160" cy="576064"/>
          </a:xfrm>
          <a:prstGeom prst="rect">
            <a:avLst/>
          </a:prstGeom>
        </p:spPr>
        <p:txBody>
          <a:bodyPr anchor="ctr"/>
          <a:lstStyle>
            <a:lvl1pPr marL="0" indent="0" algn="l">
              <a:buNone/>
              <a:defRPr sz="36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3131840" y="757696"/>
            <a:ext cx="6012160" cy="288032"/>
          </a:xfrm>
          <a:prstGeom prst="rect">
            <a:avLst/>
          </a:prstGeom>
        </p:spPr>
        <p:txBody>
          <a:bodyPr anchor="ctr"/>
          <a:lstStyle>
            <a:lvl1pPr marL="0" indent="0" algn="l">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Picture Placeholder 2"/>
          <p:cNvSpPr>
            <a:spLocks noGrp="1"/>
          </p:cNvSpPr>
          <p:nvPr>
            <p:ph type="pic" idx="1" hasCustomPrompt="1"/>
          </p:nvPr>
        </p:nvSpPr>
        <p:spPr>
          <a:xfrm>
            <a:off x="0" y="-1"/>
            <a:ext cx="3059832" cy="5143501"/>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6" name="Picture Placeholder 2"/>
          <p:cNvSpPr>
            <a:spLocks noGrp="1"/>
          </p:cNvSpPr>
          <p:nvPr>
            <p:ph type="pic" idx="12" hasCustomPrompt="1"/>
          </p:nvPr>
        </p:nvSpPr>
        <p:spPr>
          <a:xfrm>
            <a:off x="3146470" y="1131590"/>
            <a:ext cx="3059832" cy="401191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29888771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5" name="Rectangle 4"/>
          <p:cNvSpPr/>
          <p:nvPr userDrawn="1"/>
        </p:nvSpPr>
        <p:spPr>
          <a:xfrm>
            <a:off x="0" y="411510"/>
            <a:ext cx="6444208" cy="43204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6" name="Picture Placeholder 2"/>
          <p:cNvSpPr>
            <a:spLocks noGrp="1"/>
          </p:cNvSpPr>
          <p:nvPr>
            <p:ph type="pic" idx="1" hasCustomPrompt="1"/>
          </p:nvPr>
        </p:nvSpPr>
        <p:spPr>
          <a:xfrm>
            <a:off x="135622" y="195487"/>
            <a:ext cx="1944216" cy="4752526"/>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7" name="Picture Placeholder 2"/>
          <p:cNvSpPr>
            <a:spLocks noGrp="1"/>
          </p:cNvSpPr>
          <p:nvPr>
            <p:ph type="pic" idx="10" hasCustomPrompt="1"/>
          </p:nvPr>
        </p:nvSpPr>
        <p:spPr>
          <a:xfrm>
            <a:off x="2223854" y="195487"/>
            <a:ext cx="1944216" cy="4752526"/>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312086" y="195487"/>
            <a:ext cx="1944216" cy="4752526"/>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17421378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7_Images and Contents Layout">
    <p:bg>
      <p:bgPr>
        <a:solidFill>
          <a:schemeClr val="accent1"/>
        </a:solidFill>
        <a:effectLst/>
      </p:bgPr>
    </p:bg>
    <p:spTree>
      <p:nvGrpSpPr>
        <p:cNvPr id="1" name=""/>
        <p:cNvGrpSpPr/>
        <p:nvPr/>
      </p:nvGrpSpPr>
      <p:grpSpPr>
        <a:xfrm>
          <a:off x="0" y="0"/>
          <a:ext cx="0" cy="0"/>
          <a:chOff x="0" y="0"/>
          <a:chExt cx="0" cy="0"/>
        </a:xfrm>
      </p:grpSpPr>
      <p:sp>
        <p:nvSpPr>
          <p:cNvPr id="5" name="Picture Placeholder 2"/>
          <p:cNvSpPr>
            <a:spLocks noGrp="1"/>
          </p:cNvSpPr>
          <p:nvPr>
            <p:ph type="pic" idx="1" hasCustomPrompt="1"/>
          </p:nvPr>
        </p:nvSpPr>
        <p:spPr>
          <a:xfrm>
            <a:off x="6444208" y="267494"/>
            <a:ext cx="2160000" cy="216000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6" name="Picture Placeholder 2"/>
          <p:cNvSpPr>
            <a:spLocks noGrp="1"/>
          </p:cNvSpPr>
          <p:nvPr>
            <p:ph type="pic" idx="10" hasCustomPrompt="1"/>
          </p:nvPr>
        </p:nvSpPr>
        <p:spPr>
          <a:xfrm>
            <a:off x="6444208" y="2715766"/>
            <a:ext cx="2160000" cy="216000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7" name="Picture Placeholder 2"/>
          <p:cNvSpPr>
            <a:spLocks noGrp="1"/>
          </p:cNvSpPr>
          <p:nvPr>
            <p:ph type="pic" idx="11" hasCustomPrompt="1"/>
          </p:nvPr>
        </p:nvSpPr>
        <p:spPr>
          <a:xfrm>
            <a:off x="3986213" y="267494"/>
            <a:ext cx="2160000" cy="216000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8" name="Picture Placeholder 2"/>
          <p:cNvSpPr>
            <a:spLocks noGrp="1"/>
          </p:cNvSpPr>
          <p:nvPr>
            <p:ph type="pic" idx="12" hasCustomPrompt="1"/>
          </p:nvPr>
        </p:nvSpPr>
        <p:spPr>
          <a:xfrm>
            <a:off x="3986213" y="2715766"/>
            <a:ext cx="2160000" cy="216000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12093977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395536" y="3291830"/>
            <a:ext cx="8748464" cy="576064"/>
          </a:xfrm>
          <a:prstGeom prst="rect">
            <a:avLst/>
          </a:prstGeom>
        </p:spPr>
        <p:txBody>
          <a:bodyPr anchor="ctr"/>
          <a:lstStyle>
            <a:lvl1pPr marL="0" indent="0" algn="l">
              <a:buNone/>
              <a:defRPr sz="36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395536" y="3867894"/>
            <a:ext cx="8748464" cy="288032"/>
          </a:xfrm>
          <a:prstGeom prst="rect">
            <a:avLst/>
          </a:prstGeom>
        </p:spPr>
        <p:txBody>
          <a:bodyPr anchor="ctr"/>
          <a:lstStyle>
            <a:lvl1pPr marL="0" indent="0" algn="l">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4963500"/>
            <a:ext cx="9144000" cy="18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Rectangle 5"/>
          <p:cNvSpPr/>
          <p:nvPr userDrawn="1"/>
        </p:nvSpPr>
        <p:spPr>
          <a:xfrm>
            <a:off x="0" y="0"/>
            <a:ext cx="9144000" cy="7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Picture Placeholder 2"/>
          <p:cNvSpPr>
            <a:spLocks noGrp="1"/>
          </p:cNvSpPr>
          <p:nvPr>
            <p:ph type="pic" idx="12" hasCustomPrompt="1"/>
          </p:nvPr>
        </p:nvSpPr>
        <p:spPr>
          <a:xfrm>
            <a:off x="467544" y="339502"/>
            <a:ext cx="3312128" cy="2808072"/>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8" name="Picture Placeholder 2"/>
          <p:cNvSpPr>
            <a:spLocks noGrp="1"/>
          </p:cNvSpPr>
          <p:nvPr>
            <p:ph type="pic" idx="13" hasCustomPrompt="1"/>
          </p:nvPr>
        </p:nvSpPr>
        <p:spPr>
          <a:xfrm>
            <a:off x="3995936" y="339502"/>
            <a:ext cx="4680520" cy="133200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9" name="Picture Placeholder 2"/>
          <p:cNvSpPr>
            <a:spLocks noGrp="1"/>
          </p:cNvSpPr>
          <p:nvPr>
            <p:ph type="pic" idx="14" hasCustomPrompt="1"/>
          </p:nvPr>
        </p:nvSpPr>
        <p:spPr>
          <a:xfrm>
            <a:off x="3995936" y="1815574"/>
            <a:ext cx="1440000" cy="133200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12" name="Picture Placeholder 2"/>
          <p:cNvSpPr>
            <a:spLocks noGrp="1"/>
          </p:cNvSpPr>
          <p:nvPr>
            <p:ph type="pic" idx="15" hasCustomPrompt="1"/>
          </p:nvPr>
        </p:nvSpPr>
        <p:spPr>
          <a:xfrm>
            <a:off x="5616196" y="1815574"/>
            <a:ext cx="1440000" cy="133200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13" name="Picture Placeholder 2"/>
          <p:cNvSpPr>
            <a:spLocks noGrp="1"/>
          </p:cNvSpPr>
          <p:nvPr>
            <p:ph type="pic" idx="16" hasCustomPrompt="1"/>
          </p:nvPr>
        </p:nvSpPr>
        <p:spPr>
          <a:xfrm>
            <a:off x="7236456" y="1815574"/>
            <a:ext cx="1440000" cy="133200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36524261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hapes sets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242646" y="92609"/>
            <a:ext cx="8679898" cy="543185"/>
          </a:xfrm>
          <a:prstGeom prst="rect">
            <a:avLst/>
          </a:prstGeom>
        </p:spPr>
        <p:txBody>
          <a:bodyPr anchor="ctr"/>
          <a:lstStyle>
            <a:lvl1pPr marL="0" indent="0" algn="ctr">
              <a:buNone/>
              <a:defRPr sz="4050" b="0" baseline="0">
                <a:solidFill>
                  <a:schemeClr val="tx1">
                    <a:lumMod val="85000"/>
                    <a:lumOff val="15000"/>
                  </a:schemeClr>
                </a:solidFill>
                <a:latin typeface="+mj-lt"/>
                <a:cs typeface="Arial" pitchFamily="34" charset="0"/>
              </a:defRPr>
            </a:lvl1pPr>
          </a:lstStyle>
          <a:p>
            <a:r>
              <a:rPr lang="en-US" altLang="ko-KR" dirty="0"/>
              <a:t>Fully Editable Shapes</a:t>
            </a:r>
          </a:p>
        </p:txBody>
      </p:sp>
    </p:spTree>
    <p:extLst>
      <p:ext uri="{BB962C8B-B14F-4D97-AF65-F5344CB8AC3E}">
        <p14:creationId xmlns:p14="http://schemas.microsoft.com/office/powerpoint/2010/main" val="31069092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23478"/>
            <a:ext cx="9144000" cy="576064"/>
          </a:xfrm>
          <a:prstGeom prst="rect">
            <a:avLst/>
          </a:prstGeom>
        </p:spPr>
        <p:txBody>
          <a:bodyPr anchor="ctr"/>
          <a:lstStyle>
            <a:lvl1pPr marL="0" indent="0" algn="ctr">
              <a:buNone/>
              <a:defRPr sz="3600" b="0" baseline="0">
                <a:solidFill>
                  <a:schemeClr val="tx1">
                    <a:lumMod val="75000"/>
                    <a:lumOff val="25000"/>
                  </a:schemeClr>
                </a:solidFill>
                <a:latin typeface="+mj-lt"/>
                <a:cs typeface="Arial" pitchFamily="34" charset="0"/>
              </a:defRPr>
            </a:lvl1pPr>
          </a:lstStyle>
          <a:p>
            <a:pPr lvl="0"/>
            <a:r>
              <a:rPr lang="en-US" altLang="ko-KR" dirty="0"/>
              <a:t>ICON SETS LAYOUT</a:t>
            </a:r>
          </a:p>
        </p:txBody>
      </p:sp>
      <p:sp>
        <p:nvSpPr>
          <p:cNvPr id="11" name="Rounded Rectangle 10"/>
          <p:cNvSpPr/>
          <p:nvPr userDrawn="1"/>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7" name="Rounded Rectangle 16"/>
          <p:cNvSpPr/>
          <p:nvPr userDrawn="1"/>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bg1"/>
              </a:solidFill>
            </a:endParaRPr>
          </a:p>
        </p:txBody>
      </p:sp>
      <p:sp>
        <p:nvSpPr>
          <p:cNvPr id="18" name="Half Frame 17"/>
          <p:cNvSpPr/>
          <p:nvPr userDrawn="1"/>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Tree>
    <p:extLst>
      <p:ext uri="{BB962C8B-B14F-4D97-AF65-F5344CB8AC3E}">
        <p14:creationId xmlns:p14="http://schemas.microsoft.com/office/powerpoint/2010/main" val="7381822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ection Break Layout">
    <p:spTree>
      <p:nvGrpSpPr>
        <p:cNvPr id="1" name=""/>
        <p:cNvGrpSpPr/>
        <p:nvPr/>
      </p:nvGrpSpPr>
      <p:grpSpPr>
        <a:xfrm>
          <a:off x="0" y="0"/>
          <a:ext cx="0" cy="0"/>
          <a:chOff x="0" y="0"/>
          <a:chExt cx="0" cy="0"/>
        </a:xfrm>
      </p:grpSpPr>
      <p:sp>
        <p:nvSpPr>
          <p:cNvPr id="3" name="Rectangle 2"/>
          <p:cNvSpPr/>
          <p:nvPr userDrawn="1"/>
        </p:nvSpPr>
        <p:spPr>
          <a:xfrm>
            <a:off x="0" y="2571750"/>
            <a:ext cx="9144000" cy="257175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Rectangle 1"/>
          <p:cNvSpPr/>
          <p:nvPr userDrawn="1"/>
        </p:nvSpPr>
        <p:spPr>
          <a:xfrm>
            <a:off x="2116108" y="843558"/>
            <a:ext cx="4896544" cy="34563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5" name="Rectangle 4"/>
          <p:cNvSpPr/>
          <p:nvPr userDrawn="1"/>
        </p:nvSpPr>
        <p:spPr>
          <a:xfrm>
            <a:off x="2116108" y="0"/>
            <a:ext cx="4896544" cy="19548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Rectangle 5"/>
          <p:cNvSpPr/>
          <p:nvPr userDrawn="1"/>
        </p:nvSpPr>
        <p:spPr>
          <a:xfrm>
            <a:off x="2116108" y="4948014"/>
            <a:ext cx="4896544" cy="19548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 Placeholder 9"/>
          <p:cNvSpPr>
            <a:spLocks noGrp="1"/>
          </p:cNvSpPr>
          <p:nvPr>
            <p:ph type="body" sz="quarter" idx="10" hasCustomPrompt="1"/>
          </p:nvPr>
        </p:nvSpPr>
        <p:spPr>
          <a:xfrm>
            <a:off x="2116108" y="3049518"/>
            <a:ext cx="4896544" cy="576064"/>
          </a:xfrm>
          <a:prstGeom prst="rect">
            <a:avLst/>
          </a:prstGeom>
        </p:spPr>
        <p:txBody>
          <a:bodyPr anchor="ctr"/>
          <a:lstStyle>
            <a:lvl1pPr marL="0" indent="0" algn="ctr">
              <a:buNone/>
              <a:defRPr sz="3600" b="0" baseline="0">
                <a:solidFill>
                  <a:schemeClr val="bg1"/>
                </a:solidFill>
                <a:latin typeface="+mj-lt"/>
                <a:cs typeface="Arial" pitchFamily="34" charset="0"/>
              </a:defRPr>
            </a:lvl1pPr>
          </a:lstStyle>
          <a:p>
            <a:pPr lvl="0"/>
            <a:r>
              <a:rPr lang="en-US" altLang="ko-KR" dirty="0"/>
              <a:t>SECTION BREAK</a:t>
            </a:r>
          </a:p>
        </p:txBody>
      </p:sp>
      <p:sp>
        <p:nvSpPr>
          <p:cNvPr id="11" name="Text Placeholder 9"/>
          <p:cNvSpPr>
            <a:spLocks noGrp="1"/>
          </p:cNvSpPr>
          <p:nvPr>
            <p:ph type="body" sz="quarter" idx="11" hasCustomPrompt="1"/>
          </p:nvPr>
        </p:nvSpPr>
        <p:spPr>
          <a:xfrm>
            <a:off x="2116108" y="3625582"/>
            <a:ext cx="4896544" cy="288032"/>
          </a:xfrm>
          <a:prstGeom prst="rect">
            <a:avLst/>
          </a:prstGeom>
        </p:spPr>
        <p:txBody>
          <a:bodyPr anchor="ctr"/>
          <a:lstStyle>
            <a:lvl1pPr marL="0" indent="0" algn="ctr">
              <a:buNone/>
              <a:defRPr sz="1400" b="0" baseline="0">
                <a:solidFill>
                  <a:schemeClr val="bg1"/>
                </a:solidFill>
                <a:latin typeface="+mn-lt"/>
                <a:cs typeface="Arial" pitchFamily="34" charset="0"/>
              </a:defRPr>
            </a:lvl1pPr>
          </a:lstStyle>
          <a:p>
            <a:pPr lvl="0"/>
            <a:r>
              <a:rPr lang="en-US" altLang="ko-KR" dirty="0"/>
              <a:t>Insert the title of your subtitle Here</a:t>
            </a:r>
          </a:p>
        </p:txBody>
      </p:sp>
      <p:pic>
        <p:nvPicPr>
          <p:cNvPr id="2050" name="Picture 2" descr="E:\002-KIMS BUSINESS\007-02-Fullslidesppt-Contents\20161228\02-edu\bulb-item.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flipH="1">
            <a:off x="4155985" y="1156325"/>
            <a:ext cx="816788" cy="18128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82354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7555548"/>
      </p:ext>
    </p:extLst>
  </p:cSld>
  <p:clrMap bg1="lt1" tx1="dk1" bg2="lt2" tx2="dk2" accent1="accent1" accent2="accent2" accent3="accent3" accent4="accent4" accent5="accent5" accent6="accent6" hlink="hlink" folHlink="folHlink"/>
  <p:sldLayoutIdLst>
    <p:sldLayoutId id="2147483659" r:id="rId1"/>
    <p:sldLayoutId id="2147483672" r:id="rId2"/>
    <p:sldLayoutId id="2147483670" r:id="rId3"/>
    <p:sldLayoutId id="2147483652" r:id="rId4"/>
    <p:sldLayoutId id="2147483671" r:id="rId5"/>
    <p:sldLayoutId id="2147483655" r:id="rId6"/>
    <p:sldLayoutId id="2147483662" r:id="rId7"/>
    <p:sldLayoutId id="2147483663" r:id="rId8"/>
    <p:sldLayoutId id="2147483665" r:id="rId9"/>
    <p:sldLayoutId id="2147483666" r:id="rId10"/>
    <p:sldLayoutId id="2147483667" r:id="rId11"/>
    <p:sldLayoutId id="2147483664" r:id="rId12"/>
    <p:sldLayoutId id="2147483668" r:id="rId13"/>
    <p:sldLayoutId id="2147483669" r:id="rId14"/>
    <p:sldLayoutId id="2147483673" r:id="rId15"/>
    <p:sldLayoutId id="2147483656" r:id="rId16"/>
  </p:sldLayoutIdLst>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54710703"/>
      </p:ext>
    </p:extLst>
  </p:cSld>
  <p:clrMap bg1="lt1" tx1="dk1" bg2="lt2" tx2="dk2" accent1="accent1" accent2="accent2" accent3="accent3" accent4="accent4" accent5="accent5" accent6="accent6" hlink="hlink" folHlink="folHlink"/>
  <p:sldLayoutIdLst>
    <p:sldLayoutId id="2147483654" r:id="rId1"/>
  </p:sldLayoutIdLst>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9.xml"/><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9.xml"/><Relationship Id="rId1" Type="http://schemas.openxmlformats.org/officeDocument/2006/relationships/slideLayout" Target="../slideLayouts/slideLayout9.xml"/><Relationship Id="rId4" Type="http://schemas.openxmlformats.org/officeDocument/2006/relationships/image" Target="../media/image2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251520" y="1860566"/>
            <a:ext cx="9144000" cy="576064"/>
          </a:xfrm>
        </p:spPr>
        <p:txBody>
          <a:bodyPr/>
          <a:lstStyle/>
          <a:p>
            <a:r>
              <a:rPr lang="en-US" altLang="ko-KR" sz="2400" dirty="0">
                <a:latin typeface="Amasis MT Pro Black" panose="02040A04050005020304" pitchFamily="18" charset="0"/>
              </a:rPr>
              <a:t>IC 217 – </a:t>
            </a:r>
            <a:r>
              <a:rPr lang="en-US" altLang="ko-KR" sz="2400" cap="all" dirty="0">
                <a:latin typeface="Amasis MT Pro Black" panose="02040A04050005020304" pitchFamily="18" charset="0"/>
              </a:rPr>
              <a:t>DATA STRUCTURES</a:t>
            </a:r>
            <a:endParaRPr lang="ko-KR" altLang="en-US" sz="2400" cap="all" dirty="0">
              <a:latin typeface="Amasis MT Pro Black" panose="02040A04050005020304" pitchFamily="18" charset="0"/>
            </a:endParaRPr>
          </a:p>
        </p:txBody>
      </p:sp>
      <p:sp>
        <p:nvSpPr>
          <p:cNvPr id="3" name="Text Placeholder 2"/>
          <p:cNvSpPr>
            <a:spLocks noGrp="1"/>
          </p:cNvSpPr>
          <p:nvPr>
            <p:ph type="body" sz="quarter" idx="11"/>
          </p:nvPr>
        </p:nvSpPr>
        <p:spPr>
          <a:xfrm>
            <a:off x="18002" y="4273255"/>
            <a:ext cx="9144000" cy="288032"/>
          </a:xfrm>
        </p:spPr>
        <p:txBody>
          <a:bodyPr/>
          <a:lstStyle/>
          <a:p>
            <a:pPr lvl="0"/>
            <a:r>
              <a:rPr lang="en-US" altLang="ko-KR" sz="2000" dirty="0">
                <a:latin typeface="Amasis MT Pro Black" panose="02040A04050005020304" pitchFamily="18" charset="0"/>
              </a:rPr>
              <a:t>LESSON 3: </a:t>
            </a:r>
          </a:p>
          <a:p>
            <a:pPr lvl="0"/>
            <a:r>
              <a:rPr lang="en-US" altLang="ko-KR" sz="2000" cap="all" dirty="0">
                <a:latin typeface="Amasis MT Pro Black" panose="02040A04050005020304" pitchFamily="18" charset="0"/>
              </a:rPr>
              <a:t>Stack and queue</a:t>
            </a:r>
          </a:p>
        </p:txBody>
      </p:sp>
      <p:sp>
        <p:nvSpPr>
          <p:cNvPr id="10" name="Oval 9">
            <a:extLst>
              <a:ext uri="{FF2B5EF4-FFF2-40B4-BE49-F238E27FC236}">
                <a16:creationId xmlns:a16="http://schemas.microsoft.com/office/drawing/2014/main" id="{3BAFCD98-4634-6187-74E3-2E1A6D436DAD}"/>
              </a:ext>
            </a:extLst>
          </p:cNvPr>
          <p:cNvSpPr/>
          <p:nvPr/>
        </p:nvSpPr>
        <p:spPr>
          <a:xfrm>
            <a:off x="4067944" y="2859782"/>
            <a:ext cx="1044116" cy="990321"/>
          </a:xfrm>
          <a:prstGeom prst="ellipse">
            <a:avLst/>
          </a:prstGeom>
          <a:solidFill>
            <a:srgbClr val="32AE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FE3D5CD3-999F-13F3-0563-FD348E22FC52}"/>
              </a:ext>
            </a:extLst>
          </p:cNvPr>
          <p:cNvPicPr>
            <a:picLocks noChangeAspect="1"/>
          </p:cNvPicPr>
          <p:nvPr/>
        </p:nvPicPr>
        <p:blipFill>
          <a:blip r:embed="rId2"/>
          <a:stretch>
            <a:fillRect/>
          </a:stretch>
        </p:blipFill>
        <p:spPr>
          <a:xfrm>
            <a:off x="3347864" y="397064"/>
            <a:ext cx="2831299" cy="1452092"/>
          </a:xfrm>
          <a:prstGeom prst="rect">
            <a:avLst/>
          </a:prstGeom>
        </p:spPr>
      </p:pic>
    </p:spTree>
    <p:extLst>
      <p:ext uri="{BB962C8B-B14F-4D97-AF65-F5344CB8AC3E}">
        <p14:creationId xmlns:p14="http://schemas.microsoft.com/office/powerpoint/2010/main" val="17667286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251520" y="1860566"/>
            <a:ext cx="9144000" cy="576064"/>
          </a:xfrm>
        </p:spPr>
        <p:txBody>
          <a:bodyPr/>
          <a:lstStyle/>
          <a:p>
            <a:r>
              <a:rPr lang="en-US" altLang="ko-KR" sz="2400" dirty="0">
                <a:latin typeface="Amasis MT Pro Black" panose="02040A04050005020304" pitchFamily="18" charset="0"/>
              </a:rPr>
              <a:t>QUEUE DATA STRUCTURES</a:t>
            </a:r>
            <a:endParaRPr lang="ko-KR" altLang="en-US" sz="2400" cap="all" dirty="0">
              <a:latin typeface="Amasis MT Pro Black" panose="02040A04050005020304" pitchFamily="18" charset="0"/>
            </a:endParaRPr>
          </a:p>
        </p:txBody>
      </p:sp>
      <p:sp>
        <p:nvSpPr>
          <p:cNvPr id="10" name="Oval 9">
            <a:extLst>
              <a:ext uri="{FF2B5EF4-FFF2-40B4-BE49-F238E27FC236}">
                <a16:creationId xmlns:a16="http://schemas.microsoft.com/office/drawing/2014/main" id="{3BAFCD98-4634-6187-74E3-2E1A6D436DAD}"/>
              </a:ext>
            </a:extLst>
          </p:cNvPr>
          <p:cNvSpPr/>
          <p:nvPr/>
        </p:nvSpPr>
        <p:spPr>
          <a:xfrm>
            <a:off x="4067944" y="2859782"/>
            <a:ext cx="1044116" cy="990321"/>
          </a:xfrm>
          <a:prstGeom prst="ellipse">
            <a:avLst/>
          </a:prstGeom>
          <a:solidFill>
            <a:srgbClr val="32AE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03278B31-8862-BC82-6C8E-201CA16B7576}"/>
              </a:ext>
            </a:extLst>
          </p:cNvPr>
          <p:cNvPicPr>
            <a:picLocks noChangeAspect="1"/>
          </p:cNvPicPr>
          <p:nvPr/>
        </p:nvPicPr>
        <p:blipFill>
          <a:blip r:embed="rId2"/>
          <a:stretch>
            <a:fillRect/>
          </a:stretch>
        </p:blipFill>
        <p:spPr>
          <a:xfrm>
            <a:off x="3347864" y="397064"/>
            <a:ext cx="2831299" cy="1452092"/>
          </a:xfrm>
          <a:prstGeom prst="rect">
            <a:avLst/>
          </a:prstGeom>
        </p:spPr>
      </p:pic>
    </p:spTree>
    <p:extLst>
      <p:ext uri="{BB962C8B-B14F-4D97-AF65-F5344CB8AC3E}">
        <p14:creationId xmlns:p14="http://schemas.microsoft.com/office/powerpoint/2010/main" val="42691647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53E599C5-0C27-E126-C76B-1BEEB1626206}"/>
              </a:ext>
            </a:extLst>
          </p:cNvPr>
          <p:cNvGrpSpPr/>
          <p:nvPr/>
        </p:nvGrpSpPr>
        <p:grpSpPr>
          <a:xfrm>
            <a:off x="-19020" y="-20538"/>
            <a:ext cx="9163020" cy="936104"/>
            <a:chOff x="-19020" y="-20538"/>
            <a:chExt cx="9163020" cy="936104"/>
          </a:xfrm>
        </p:grpSpPr>
        <p:sp>
          <p:nvSpPr>
            <p:cNvPr id="4" name="Rectangle 3">
              <a:extLst>
                <a:ext uri="{FF2B5EF4-FFF2-40B4-BE49-F238E27FC236}">
                  <a16:creationId xmlns:a16="http://schemas.microsoft.com/office/drawing/2014/main" id="{A9C749E3-D170-886D-88F6-3C0CD0221805}"/>
                </a:ext>
              </a:extLst>
            </p:cNvPr>
            <p:cNvSpPr/>
            <p:nvPr/>
          </p:nvSpPr>
          <p:spPr>
            <a:xfrm>
              <a:off x="323528" y="555526"/>
              <a:ext cx="4392488" cy="35427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Text Placeholder 1">
              <a:extLst>
                <a:ext uri="{FF2B5EF4-FFF2-40B4-BE49-F238E27FC236}">
                  <a16:creationId xmlns:a16="http://schemas.microsoft.com/office/drawing/2014/main" id="{B605D9F3-346E-D7EE-6943-4C10C489A502}"/>
                </a:ext>
              </a:extLst>
            </p:cNvPr>
            <p:cNvSpPr txBox="1">
              <a:spLocks/>
            </p:cNvSpPr>
            <p:nvPr/>
          </p:nvSpPr>
          <p:spPr>
            <a:xfrm>
              <a:off x="0" y="-20538"/>
              <a:ext cx="9144000" cy="576064"/>
            </a:xfrm>
            <a:prstGeom prst="rect">
              <a:avLst/>
            </a:prstGeom>
          </p:spPr>
          <p:txBody>
            <a:bodyP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l">
                <a:buNone/>
              </a:pPr>
              <a:r>
                <a:rPr lang="en-US" altLang="ko-KR" sz="3600" u="sng" dirty="0">
                  <a:solidFill>
                    <a:schemeClr val="tx1">
                      <a:lumMod val="85000"/>
                      <a:lumOff val="15000"/>
                    </a:schemeClr>
                  </a:solidFill>
                  <a:latin typeface="Bernard MT Condensed" panose="02050806060905020404" pitchFamily="18" charset="0"/>
                </a:rPr>
                <a:t>Data Structures and Algorithm</a:t>
              </a:r>
              <a:endParaRPr lang="ko-KR" altLang="en-US" sz="3600" dirty="0">
                <a:solidFill>
                  <a:schemeClr val="tx1">
                    <a:lumMod val="85000"/>
                    <a:lumOff val="15000"/>
                  </a:schemeClr>
                </a:solidFill>
              </a:endParaRPr>
            </a:p>
          </p:txBody>
        </p:sp>
        <p:sp>
          <p:nvSpPr>
            <p:cNvPr id="9" name="Rectangle 8">
              <a:extLst>
                <a:ext uri="{FF2B5EF4-FFF2-40B4-BE49-F238E27FC236}">
                  <a16:creationId xmlns:a16="http://schemas.microsoft.com/office/drawing/2014/main" id="{461C215D-280C-A890-20D5-AF03A9129545}"/>
                </a:ext>
              </a:extLst>
            </p:cNvPr>
            <p:cNvSpPr/>
            <p:nvPr/>
          </p:nvSpPr>
          <p:spPr>
            <a:xfrm>
              <a:off x="-19020" y="561294"/>
              <a:ext cx="323528" cy="354272"/>
            </a:xfrm>
            <a:prstGeom prst="rect">
              <a:avLst/>
            </a:prstGeom>
            <a:solidFill>
              <a:schemeClr val="accent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13" name="TextBox 12">
              <a:extLst>
                <a:ext uri="{FF2B5EF4-FFF2-40B4-BE49-F238E27FC236}">
                  <a16:creationId xmlns:a16="http://schemas.microsoft.com/office/drawing/2014/main" id="{3CD51E76-8B1C-40D9-2466-A55B9232C508}"/>
                </a:ext>
              </a:extLst>
            </p:cNvPr>
            <p:cNvSpPr txBox="1"/>
            <p:nvPr/>
          </p:nvSpPr>
          <p:spPr>
            <a:xfrm>
              <a:off x="251520" y="541432"/>
              <a:ext cx="3318043" cy="369332"/>
            </a:xfrm>
            <a:prstGeom prst="rect">
              <a:avLst/>
            </a:prstGeom>
            <a:noFill/>
          </p:spPr>
          <p:txBody>
            <a:bodyPr wrap="square">
              <a:spAutoFit/>
            </a:bodyPr>
            <a:lstStyle/>
            <a:p>
              <a:pPr algn="l"/>
              <a:r>
                <a:rPr lang="en-PH" sz="1800" b="1" dirty="0">
                  <a:solidFill>
                    <a:schemeClr val="bg1"/>
                  </a:solidFill>
                  <a:latin typeface="Bahnschrift Condensed" panose="020B0502040204020203" pitchFamily="34" charset="0"/>
                </a:rPr>
                <a:t>QUEUE</a:t>
              </a:r>
            </a:p>
          </p:txBody>
        </p:sp>
      </p:grpSp>
      <p:sp>
        <p:nvSpPr>
          <p:cNvPr id="14" name="TextBox 13">
            <a:extLst>
              <a:ext uri="{FF2B5EF4-FFF2-40B4-BE49-F238E27FC236}">
                <a16:creationId xmlns:a16="http://schemas.microsoft.com/office/drawing/2014/main" id="{78874DB7-A89A-88AB-6627-0D483BD02C50}"/>
              </a:ext>
            </a:extLst>
          </p:cNvPr>
          <p:cNvSpPr txBox="1"/>
          <p:nvPr/>
        </p:nvSpPr>
        <p:spPr>
          <a:xfrm>
            <a:off x="2339752" y="1472734"/>
            <a:ext cx="6491792" cy="1384995"/>
          </a:xfrm>
          <a:prstGeom prst="rect">
            <a:avLst/>
          </a:prstGeom>
          <a:noFill/>
        </p:spPr>
        <p:txBody>
          <a:bodyPr wrap="square" rtlCol="0">
            <a:spAutoFit/>
          </a:bodyPr>
          <a:lstStyle/>
          <a:p>
            <a:pPr marL="742950" lvl="1" indent="-285750">
              <a:buFont typeface="Wingdings" panose="05000000000000000000" pitchFamily="2" charset="2"/>
              <a:buChar char="§"/>
            </a:pPr>
            <a:r>
              <a:rPr lang="en-US" altLang="ko-KR" sz="1400" dirty="0">
                <a:solidFill>
                  <a:schemeClr val="tx1">
                    <a:lumMod val="75000"/>
                    <a:lumOff val="25000"/>
                  </a:schemeClr>
                </a:solidFill>
                <a:cs typeface="Arial" pitchFamily="34" charset="0"/>
              </a:rPr>
              <a:t>The word </a:t>
            </a:r>
            <a:r>
              <a:rPr lang="en-US" altLang="ko-KR" sz="1400" b="1" dirty="0">
                <a:solidFill>
                  <a:schemeClr val="tx1">
                    <a:lumMod val="75000"/>
                    <a:lumOff val="25000"/>
                  </a:schemeClr>
                </a:solidFill>
                <a:cs typeface="Arial" pitchFamily="34" charset="0"/>
              </a:rPr>
              <a:t>queue</a:t>
            </a:r>
            <a:r>
              <a:rPr lang="en-US" altLang="ko-KR" sz="1400" dirty="0">
                <a:solidFill>
                  <a:schemeClr val="tx1">
                    <a:lumMod val="75000"/>
                    <a:lumOff val="25000"/>
                  </a:schemeClr>
                </a:solidFill>
                <a:cs typeface="Arial" pitchFamily="34" charset="0"/>
              </a:rPr>
              <a:t> is British for line (</a:t>
            </a:r>
            <a:r>
              <a:rPr lang="en-US" altLang="ko-KR" sz="1400" b="1" dirty="0">
                <a:solidFill>
                  <a:schemeClr val="tx1">
                    <a:lumMod val="75000"/>
                    <a:lumOff val="25000"/>
                  </a:schemeClr>
                </a:solidFill>
                <a:cs typeface="Arial" pitchFamily="34" charset="0"/>
              </a:rPr>
              <a:t>the kind you wait in</a:t>
            </a:r>
            <a:r>
              <a:rPr lang="en-US" altLang="ko-KR" sz="1400" dirty="0">
                <a:solidFill>
                  <a:schemeClr val="tx1">
                    <a:lumMod val="75000"/>
                    <a:lumOff val="25000"/>
                  </a:schemeClr>
                </a:solidFill>
                <a:cs typeface="Arial" pitchFamily="34" charset="0"/>
              </a:rPr>
              <a:t>). </a:t>
            </a:r>
          </a:p>
          <a:p>
            <a:pPr marL="742950" lvl="1" indent="-285750">
              <a:buFont typeface="Wingdings" panose="05000000000000000000" pitchFamily="2" charset="2"/>
              <a:buChar char="§"/>
            </a:pPr>
            <a:r>
              <a:rPr lang="en-US" altLang="ko-KR" sz="1400" dirty="0">
                <a:solidFill>
                  <a:schemeClr val="tx1">
                    <a:lumMod val="75000"/>
                    <a:lumOff val="25000"/>
                  </a:schemeClr>
                </a:solidFill>
                <a:cs typeface="Arial" pitchFamily="34" charset="0"/>
              </a:rPr>
              <a:t>In Britain, to “</a:t>
            </a:r>
            <a:r>
              <a:rPr lang="en-US" altLang="ko-KR" sz="1400" b="1" dirty="0">
                <a:solidFill>
                  <a:schemeClr val="tx1">
                    <a:lumMod val="75000"/>
                    <a:lumOff val="25000"/>
                  </a:schemeClr>
                </a:solidFill>
                <a:cs typeface="Arial" pitchFamily="34" charset="0"/>
              </a:rPr>
              <a:t>queue up</a:t>
            </a:r>
            <a:r>
              <a:rPr lang="en-US" altLang="ko-KR" sz="1400" dirty="0">
                <a:solidFill>
                  <a:schemeClr val="tx1">
                    <a:lumMod val="75000"/>
                    <a:lumOff val="25000"/>
                  </a:schemeClr>
                </a:solidFill>
                <a:cs typeface="Arial" pitchFamily="34" charset="0"/>
              </a:rPr>
              <a:t>” means to </a:t>
            </a:r>
            <a:r>
              <a:rPr lang="en-US" altLang="ko-KR" sz="1400" b="1" dirty="0">
                <a:solidFill>
                  <a:schemeClr val="tx1">
                    <a:lumMod val="75000"/>
                    <a:lumOff val="25000"/>
                  </a:schemeClr>
                </a:solidFill>
                <a:cs typeface="Arial" pitchFamily="34" charset="0"/>
              </a:rPr>
              <a:t>get in line</a:t>
            </a:r>
            <a:r>
              <a:rPr lang="en-US" altLang="ko-KR" sz="1400" dirty="0">
                <a:solidFill>
                  <a:schemeClr val="tx1">
                    <a:lumMod val="75000"/>
                    <a:lumOff val="25000"/>
                  </a:schemeClr>
                </a:solidFill>
                <a:cs typeface="Arial" pitchFamily="34" charset="0"/>
              </a:rPr>
              <a:t>. </a:t>
            </a:r>
          </a:p>
          <a:p>
            <a:pPr marL="742950" lvl="1" indent="-285750">
              <a:buFont typeface="Wingdings" panose="05000000000000000000" pitchFamily="2" charset="2"/>
              <a:buChar char="§"/>
            </a:pPr>
            <a:r>
              <a:rPr lang="en-US" altLang="ko-KR" sz="1400" dirty="0">
                <a:solidFill>
                  <a:schemeClr val="tx1">
                    <a:lumMod val="75000"/>
                    <a:lumOff val="25000"/>
                  </a:schemeClr>
                </a:solidFill>
                <a:cs typeface="Arial" pitchFamily="34" charset="0"/>
              </a:rPr>
              <a:t>In computer science a </a:t>
            </a:r>
            <a:r>
              <a:rPr lang="en-US" altLang="ko-KR" sz="1400" b="1" dirty="0">
                <a:solidFill>
                  <a:schemeClr val="tx1">
                    <a:lumMod val="75000"/>
                    <a:lumOff val="25000"/>
                  </a:schemeClr>
                </a:solidFill>
                <a:cs typeface="Arial" pitchFamily="34" charset="0"/>
              </a:rPr>
              <a:t>queue</a:t>
            </a:r>
            <a:r>
              <a:rPr lang="en-US" altLang="ko-KR" sz="1400" dirty="0">
                <a:solidFill>
                  <a:schemeClr val="tx1">
                    <a:lumMod val="75000"/>
                    <a:lumOff val="25000"/>
                  </a:schemeClr>
                </a:solidFill>
                <a:cs typeface="Arial" pitchFamily="34" charset="0"/>
              </a:rPr>
              <a:t> is a data structure that is somewhat like a stack, except that in a queue the first item inserted is the first to be removed (</a:t>
            </a:r>
            <a:r>
              <a:rPr lang="en-US" altLang="ko-KR" sz="1400" b="1" dirty="0">
                <a:solidFill>
                  <a:schemeClr val="tx1">
                    <a:lumMod val="75000"/>
                    <a:lumOff val="25000"/>
                  </a:schemeClr>
                </a:solidFill>
                <a:cs typeface="Arial" pitchFamily="34" charset="0"/>
              </a:rPr>
              <a:t>First-In-First-Out, FIFO</a:t>
            </a:r>
            <a:r>
              <a:rPr lang="en-US" altLang="ko-KR" sz="1400" dirty="0">
                <a:solidFill>
                  <a:schemeClr val="tx1">
                    <a:lumMod val="75000"/>
                    <a:lumOff val="25000"/>
                  </a:schemeClr>
                </a:solidFill>
                <a:cs typeface="Arial" pitchFamily="34" charset="0"/>
              </a:rPr>
              <a:t>), while in a stack, as we’ve seen, the last item inserted is the first to be removed (LIFO). </a:t>
            </a:r>
          </a:p>
        </p:txBody>
      </p:sp>
    </p:spTree>
    <p:extLst>
      <p:ext uri="{BB962C8B-B14F-4D97-AF65-F5344CB8AC3E}">
        <p14:creationId xmlns:p14="http://schemas.microsoft.com/office/powerpoint/2010/main" val="25363107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53E599C5-0C27-E126-C76B-1BEEB1626206}"/>
              </a:ext>
            </a:extLst>
          </p:cNvPr>
          <p:cNvGrpSpPr/>
          <p:nvPr/>
        </p:nvGrpSpPr>
        <p:grpSpPr>
          <a:xfrm>
            <a:off x="-19020" y="-20538"/>
            <a:ext cx="9163020" cy="936104"/>
            <a:chOff x="-19020" y="-20538"/>
            <a:chExt cx="9163020" cy="936104"/>
          </a:xfrm>
        </p:grpSpPr>
        <p:sp>
          <p:nvSpPr>
            <p:cNvPr id="4" name="Rectangle 3">
              <a:extLst>
                <a:ext uri="{FF2B5EF4-FFF2-40B4-BE49-F238E27FC236}">
                  <a16:creationId xmlns:a16="http://schemas.microsoft.com/office/drawing/2014/main" id="{A9C749E3-D170-886D-88F6-3C0CD0221805}"/>
                </a:ext>
              </a:extLst>
            </p:cNvPr>
            <p:cNvSpPr/>
            <p:nvPr/>
          </p:nvSpPr>
          <p:spPr>
            <a:xfrm>
              <a:off x="323528" y="555526"/>
              <a:ext cx="4392488" cy="35427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Text Placeholder 1">
              <a:extLst>
                <a:ext uri="{FF2B5EF4-FFF2-40B4-BE49-F238E27FC236}">
                  <a16:creationId xmlns:a16="http://schemas.microsoft.com/office/drawing/2014/main" id="{B605D9F3-346E-D7EE-6943-4C10C489A502}"/>
                </a:ext>
              </a:extLst>
            </p:cNvPr>
            <p:cNvSpPr txBox="1">
              <a:spLocks/>
            </p:cNvSpPr>
            <p:nvPr/>
          </p:nvSpPr>
          <p:spPr>
            <a:xfrm>
              <a:off x="0" y="-20538"/>
              <a:ext cx="9144000" cy="576064"/>
            </a:xfrm>
            <a:prstGeom prst="rect">
              <a:avLst/>
            </a:prstGeom>
          </p:spPr>
          <p:txBody>
            <a:bodyP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l">
                <a:buNone/>
              </a:pPr>
              <a:r>
                <a:rPr lang="en-US" altLang="ko-KR" sz="3600" u="sng" dirty="0">
                  <a:solidFill>
                    <a:schemeClr val="tx1">
                      <a:lumMod val="85000"/>
                      <a:lumOff val="15000"/>
                    </a:schemeClr>
                  </a:solidFill>
                  <a:latin typeface="Bernard MT Condensed" panose="02050806060905020404" pitchFamily="18" charset="0"/>
                </a:rPr>
                <a:t>Data Structures and Algorithm</a:t>
              </a:r>
              <a:endParaRPr lang="ko-KR" altLang="en-US" sz="3600" dirty="0">
                <a:solidFill>
                  <a:schemeClr val="tx1">
                    <a:lumMod val="85000"/>
                    <a:lumOff val="15000"/>
                  </a:schemeClr>
                </a:solidFill>
              </a:endParaRPr>
            </a:p>
          </p:txBody>
        </p:sp>
        <p:sp>
          <p:nvSpPr>
            <p:cNvPr id="9" name="Rectangle 8">
              <a:extLst>
                <a:ext uri="{FF2B5EF4-FFF2-40B4-BE49-F238E27FC236}">
                  <a16:creationId xmlns:a16="http://schemas.microsoft.com/office/drawing/2014/main" id="{461C215D-280C-A890-20D5-AF03A9129545}"/>
                </a:ext>
              </a:extLst>
            </p:cNvPr>
            <p:cNvSpPr/>
            <p:nvPr/>
          </p:nvSpPr>
          <p:spPr>
            <a:xfrm>
              <a:off x="-19020" y="561294"/>
              <a:ext cx="323528" cy="354272"/>
            </a:xfrm>
            <a:prstGeom prst="rect">
              <a:avLst/>
            </a:prstGeom>
            <a:solidFill>
              <a:schemeClr val="accent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13" name="TextBox 12">
              <a:extLst>
                <a:ext uri="{FF2B5EF4-FFF2-40B4-BE49-F238E27FC236}">
                  <a16:creationId xmlns:a16="http://schemas.microsoft.com/office/drawing/2014/main" id="{3CD51E76-8B1C-40D9-2466-A55B9232C508}"/>
                </a:ext>
              </a:extLst>
            </p:cNvPr>
            <p:cNvSpPr txBox="1"/>
            <p:nvPr/>
          </p:nvSpPr>
          <p:spPr>
            <a:xfrm>
              <a:off x="251520" y="541432"/>
              <a:ext cx="3318043" cy="369332"/>
            </a:xfrm>
            <a:prstGeom prst="rect">
              <a:avLst/>
            </a:prstGeom>
            <a:noFill/>
          </p:spPr>
          <p:txBody>
            <a:bodyPr wrap="square">
              <a:spAutoFit/>
            </a:bodyPr>
            <a:lstStyle/>
            <a:p>
              <a:pPr algn="l"/>
              <a:r>
                <a:rPr lang="en-PH" sz="1800" b="1" dirty="0">
                  <a:solidFill>
                    <a:schemeClr val="bg1"/>
                  </a:solidFill>
                  <a:latin typeface="Bahnschrift Condensed" panose="020B0502040204020203" pitchFamily="34" charset="0"/>
                </a:rPr>
                <a:t>QUEUE</a:t>
              </a:r>
            </a:p>
          </p:txBody>
        </p:sp>
      </p:grpSp>
      <p:sp>
        <p:nvSpPr>
          <p:cNvPr id="14" name="TextBox 13">
            <a:extLst>
              <a:ext uri="{FF2B5EF4-FFF2-40B4-BE49-F238E27FC236}">
                <a16:creationId xmlns:a16="http://schemas.microsoft.com/office/drawing/2014/main" id="{78874DB7-A89A-88AB-6627-0D483BD02C50}"/>
              </a:ext>
            </a:extLst>
          </p:cNvPr>
          <p:cNvSpPr txBox="1"/>
          <p:nvPr/>
        </p:nvSpPr>
        <p:spPr>
          <a:xfrm>
            <a:off x="2339752" y="1472734"/>
            <a:ext cx="6491792" cy="1169551"/>
          </a:xfrm>
          <a:prstGeom prst="rect">
            <a:avLst/>
          </a:prstGeom>
          <a:noFill/>
        </p:spPr>
        <p:txBody>
          <a:bodyPr wrap="square" rtlCol="0">
            <a:spAutoFit/>
          </a:bodyPr>
          <a:lstStyle/>
          <a:p>
            <a:pPr marL="742950" lvl="1" indent="-285750">
              <a:buFont typeface="Wingdings" panose="05000000000000000000" pitchFamily="2" charset="2"/>
              <a:buChar char="§"/>
            </a:pPr>
            <a:r>
              <a:rPr lang="en-US" altLang="ko-KR" sz="1400" dirty="0">
                <a:solidFill>
                  <a:schemeClr val="tx1">
                    <a:lumMod val="75000"/>
                    <a:lumOff val="25000"/>
                  </a:schemeClr>
                </a:solidFill>
                <a:cs typeface="Arial" pitchFamily="34" charset="0"/>
              </a:rPr>
              <a:t>A queue works like the line at the movies:</a:t>
            </a:r>
          </a:p>
          <a:p>
            <a:pPr marL="742950" lvl="1" indent="-285750">
              <a:buFont typeface="Wingdings" panose="05000000000000000000" pitchFamily="2" charset="2"/>
              <a:buChar char="§"/>
            </a:pPr>
            <a:r>
              <a:rPr lang="en-US" altLang="ko-KR" sz="1400" dirty="0">
                <a:solidFill>
                  <a:schemeClr val="tx1">
                    <a:lumMod val="75000"/>
                    <a:lumOff val="25000"/>
                  </a:schemeClr>
                </a:solidFill>
                <a:cs typeface="Arial" pitchFamily="34" charset="0"/>
              </a:rPr>
              <a:t>The first person to join the rear of the line is the first person to reach the front of the line and buy a ticket. The last person to line up is the last person to buy a ticket (or—if the show is sold out—to fail to buy a ticket).</a:t>
            </a:r>
          </a:p>
        </p:txBody>
      </p:sp>
    </p:spTree>
    <p:extLst>
      <p:ext uri="{BB962C8B-B14F-4D97-AF65-F5344CB8AC3E}">
        <p14:creationId xmlns:p14="http://schemas.microsoft.com/office/powerpoint/2010/main" val="3075099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53E599C5-0C27-E126-C76B-1BEEB1626206}"/>
              </a:ext>
            </a:extLst>
          </p:cNvPr>
          <p:cNvGrpSpPr/>
          <p:nvPr/>
        </p:nvGrpSpPr>
        <p:grpSpPr>
          <a:xfrm>
            <a:off x="-19020" y="-20538"/>
            <a:ext cx="9163020" cy="936104"/>
            <a:chOff x="-19020" y="-20538"/>
            <a:chExt cx="9163020" cy="936104"/>
          </a:xfrm>
        </p:grpSpPr>
        <p:sp>
          <p:nvSpPr>
            <p:cNvPr id="4" name="Rectangle 3">
              <a:extLst>
                <a:ext uri="{FF2B5EF4-FFF2-40B4-BE49-F238E27FC236}">
                  <a16:creationId xmlns:a16="http://schemas.microsoft.com/office/drawing/2014/main" id="{A9C749E3-D170-886D-88F6-3C0CD0221805}"/>
                </a:ext>
              </a:extLst>
            </p:cNvPr>
            <p:cNvSpPr/>
            <p:nvPr/>
          </p:nvSpPr>
          <p:spPr>
            <a:xfrm>
              <a:off x="323528" y="555526"/>
              <a:ext cx="4392488" cy="35427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Text Placeholder 1">
              <a:extLst>
                <a:ext uri="{FF2B5EF4-FFF2-40B4-BE49-F238E27FC236}">
                  <a16:creationId xmlns:a16="http://schemas.microsoft.com/office/drawing/2014/main" id="{B605D9F3-346E-D7EE-6943-4C10C489A502}"/>
                </a:ext>
              </a:extLst>
            </p:cNvPr>
            <p:cNvSpPr txBox="1">
              <a:spLocks/>
            </p:cNvSpPr>
            <p:nvPr/>
          </p:nvSpPr>
          <p:spPr>
            <a:xfrm>
              <a:off x="0" y="-20538"/>
              <a:ext cx="9144000" cy="576064"/>
            </a:xfrm>
            <a:prstGeom prst="rect">
              <a:avLst/>
            </a:prstGeom>
          </p:spPr>
          <p:txBody>
            <a:bodyP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l">
                <a:buNone/>
              </a:pPr>
              <a:r>
                <a:rPr lang="en-US" altLang="ko-KR" sz="3600" u="sng" dirty="0">
                  <a:solidFill>
                    <a:schemeClr val="tx1">
                      <a:lumMod val="85000"/>
                      <a:lumOff val="15000"/>
                    </a:schemeClr>
                  </a:solidFill>
                  <a:latin typeface="Bernard MT Condensed" panose="02050806060905020404" pitchFamily="18" charset="0"/>
                </a:rPr>
                <a:t>Data Structures and Algorithm</a:t>
              </a:r>
              <a:endParaRPr lang="ko-KR" altLang="en-US" sz="3600" dirty="0">
                <a:solidFill>
                  <a:schemeClr val="tx1">
                    <a:lumMod val="85000"/>
                    <a:lumOff val="15000"/>
                  </a:schemeClr>
                </a:solidFill>
              </a:endParaRPr>
            </a:p>
          </p:txBody>
        </p:sp>
        <p:sp>
          <p:nvSpPr>
            <p:cNvPr id="9" name="Rectangle 8">
              <a:extLst>
                <a:ext uri="{FF2B5EF4-FFF2-40B4-BE49-F238E27FC236}">
                  <a16:creationId xmlns:a16="http://schemas.microsoft.com/office/drawing/2014/main" id="{461C215D-280C-A890-20D5-AF03A9129545}"/>
                </a:ext>
              </a:extLst>
            </p:cNvPr>
            <p:cNvSpPr/>
            <p:nvPr/>
          </p:nvSpPr>
          <p:spPr>
            <a:xfrm>
              <a:off x="-19020" y="561294"/>
              <a:ext cx="323528" cy="354272"/>
            </a:xfrm>
            <a:prstGeom prst="rect">
              <a:avLst/>
            </a:prstGeom>
            <a:solidFill>
              <a:schemeClr val="accent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13" name="TextBox 12">
              <a:extLst>
                <a:ext uri="{FF2B5EF4-FFF2-40B4-BE49-F238E27FC236}">
                  <a16:creationId xmlns:a16="http://schemas.microsoft.com/office/drawing/2014/main" id="{3CD51E76-8B1C-40D9-2466-A55B9232C508}"/>
                </a:ext>
              </a:extLst>
            </p:cNvPr>
            <p:cNvSpPr txBox="1"/>
            <p:nvPr/>
          </p:nvSpPr>
          <p:spPr>
            <a:xfrm>
              <a:off x="251520" y="541432"/>
              <a:ext cx="3318043" cy="369332"/>
            </a:xfrm>
            <a:prstGeom prst="rect">
              <a:avLst/>
            </a:prstGeom>
            <a:noFill/>
          </p:spPr>
          <p:txBody>
            <a:bodyPr wrap="square">
              <a:spAutoFit/>
            </a:bodyPr>
            <a:lstStyle/>
            <a:p>
              <a:pPr algn="l"/>
              <a:r>
                <a:rPr lang="en-PH" sz="1800" b="1" dirty="0">
                  <a:solidFill>
                    <a:schemeClr val="bg1"/>
                  </a:solidFill>
                  <a:latin typeface="Bahnschrift Condensed" panose="020B0502040204020203" pitchFamily="34" charset="0"/>
                </a:rPr>
                <a:t>QUEUE</a:t>
              </a:r>
            </a:p>
          </p:txBody>
        </p:sp>
      </p:grpSp>
      <p:pic>
        <p:nvPicPr>
          <p:cNvPr id="2" name="Picture 1">
            <a:extLst>
              <a:ext uri="{FF2B5EF4-FFF2-40B4-BE49-F238E27FC236}">
                <a16:creationId xmlns:a16="http://schemas.microsoft.com/office/drawing/2014/main" id="{8FF048C9-E6A6-8F3D-6DC4-38AE5E345B0D}"/>
              </a:ext>
            </a:extLst>
          </p:cNvPr>
          <p:cNvPicPr>
            <a:picLocks noChangeAspect="1"/>
          </p:cNvPicPr>
          <p:nvPr/>
        </p:nvPicPr>
        <p:blipFill>
          <a:blip r:embed="rId3"/>
          <a:stretch>
            <a:fillRect/>
          </a:stretch>
        </p:blipFill>
        <p:spPr>
          <a:xfrm>
            <a:off x="2633459" y="1472734"/>
            <a:ext cx="5472608" cy="2531383"/>
          </a:xfrm>
          <a:prstGeom prst="rect">
            <a:avLst/>
          </a:prstGeom>
        </p:spPr>
      </p:pic>
    </p:spTree>
    <p:extLst>
      <p:ext uri="{BB962C8B-B14F-4D97-AF65-F5344CB8AC3E}">
        <p14:creationId xmlns:p14="http://schemas.microsoft.com/office/powerpoint/2010/main" val="39712696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53E599C5-0C27-E126-C76B-1BEEB1626206}"/>
              </a:ext>
            </a:extLst>
          </p:cNvPr>
          <p:cNvGrpSpPr/>
          <p:nvPr/>
        </p:nvGrpSpPr>
        <p:grpSpPr>
          <a:xfrm>
            <a:off x="-19020" y="-20538"/>
            <a:ext cx="9163020" cy="936104"/>
            <a:chOff x="-19020" y="-20538"/>
            <a:chExt cx="9163020" cy="936104"/>
          </a:xfrm>
        </p:grpSpPr>
        <p:sp>
          <p:nvSpPr>
            <p:cNvPr id="4" name="Rectangle 3">
              <a:extLst>
                <a:ext uri="{FF2B5EF4-FFF2-40B4-BE49-F238E27FC236}">
                  <a16:creationId xmlns:a16="http://schemas.microsoft.com/office/drawing/2014/main" id="{A9C749E3-D170-886D-88F6-3C0CD0221805}"/>
                </a:ext>
              </a:extLst>
            </p:cNvPr>
            <p:cNvSpPr/>
            <p:nvPr/>
          </p:nvSpPr>
          <p:spPr>
            <a:xfrm>
              <a:off x="323528" y="555526"/>
              <a:ext cx="4392488" cy="35427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Text Placeholder 1">
              <a:extLst>
                <a:ext uri="{FF2B5EF4-FFF2-40B4-BE49-F238E27FC236}">
                  <a16:creationId xmlns:a16="http://schemas.microsoft.com/office/drawing/2014/main" id="{B605D9F3-346E-D7EE-6943-4C10C489A502}"/>
                </a:ext>
              </a:extLst>
            </p:cNvPr>
            <p:cNvSpPr txBox="1">
              <a:spLocks/>
            </p:cNvSpPr>
            <p:nvPr/>
          </p:nvSpPr>
          <p:spPr>
            <a:xfrm>
              <a:off x="0" y="-20538"/>
              <a:ext cx="9144000" cy="576064"/>
            </a:xfrm>
            <a:prstGeom prst="rect">
              <a:avLst/>
            </a:prstGeom>
          </p:spPr>
          <p:txBody>
            <a:bodyP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l">
                <a:buNone/>
              </a:pPr>
              <a:r>
                <a:rPr lang="en-US" altLang="ko-KR" sz="3600" u="sng" dirty="0">
                  <a:solidFill>
                    <a:schemeClr val="tx1">
                      <a:lumMod val="85000"/>
                      <a:lumOff val="15000"/>
                    </a:schemeClr>
                  </a:solidFill>
                  <a:latin typeface="Bernard MT Condensed" panose="02050806060905020404" pitchFamily="18" charset="0"/>
                </a:rPr>
                <a:t>Data Structures and Algorithm</a:t>
              </a:r>
              <a:endParaRPr lang="ko-KR" altLang="en-US" sz="3600" dirty="0">
                <a:solidFill>
                  <a:schemeClr val="tx1">
                    <a:lumMod val="85000"/>
                    <a:lumOff val="15000"/>
                  </a:schemeClr>
                </a:solidFill>
              </a:endParaRPr>
            </a:p>
          </p:txBody>
        </p:sp>
        <p:sp>
          <p:nvSpPr>
            <p:cNvPr id="9" name="Rectangle 8">
              <a:extLst>
                <a:ext uri="{FF2B5EF4-FFF2-40B4-BE49-F238E27FC236}">
                  <a16:creationId xmlns:a16="http://schemas.microsoft.com/office/drawing/2014/main" id="{461C215D-280C-A890-20D5-AF03A9129545}"/>
                </a:ext>
              </a:extLst>
            </p:cNvPr>
            <p:cNvSpPr/>
            <p:nvPr/>
          </p:nvSpPr>
          <p:spPr>
            <a:xfrm>
              <a:off x="-19020" y="561294"/>
              <a:ext cx="323528" cy="354272"/>
            </a:xfrm>
            <a:prstGeom prst="rect">
              <a:avLst/>
            </a:prstGeom>
            <a:solidFill>
              <a:schemeClr val="accent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13" name="TextBox 12">
              <a:extLst>
                <a:ext uri="{FF2B5EF4-FFF2-40B4-BE49-F238E27FC236}">
                  <a16:creationId xmlns:a16="http://schemas.microsoft.com/office/drawing/2014/main" id="{3CD51E76-8B1C-40D9-2466-A55B9232C508}"/>
                </a:ext>
              </a:extLst>
            </p:cNvPr>
            <p:cNvSpPr txBox="1"/>
            <p:nvPr/>
          </p:nvSpPr>
          <p:spPr>
            <a:xfrm>
              <a:off x="251520" y="541432"/>
              <a:ext cx="3318043" cy="369332"/>
            </a:xfrm>
            <a:prstGeom prst="rect">
              <a:avLst/>
            </a:prstGeom>
            <a:noFill/>
          </p:spPr>
          <p:txBody>
            <a:bodyPr wrap="square">
              <a:spAutoFit/>
            </a:bodyPr>
            <a:lstStyle/>
            <a:p>
              <a:pPr algn="l"/>
              <a:r>
                <a:rPr lang="en-PH" sz="1800" b="1" dirty="0">
                  <a:solidFill>
                    <a:schemeClr val="bg1"/>
                  </a:solidFill>
                  <a:latin typeface="Bahnschrift Condensed" panose="020B0502040204020203" pitchFamily="34" charset="0"/>
                </a:rPr>
                <a:t>QUEUE</a:t>
              </a:r>
            </a:p>
          </p:txBody>
        </p:sp>
      </p:grpSp>
      <p:sp>
        <p:nvSpPr>
          <p:cNvPr id="14" name="TextBox 13">
            <a:extLst>
              <a:ext uri="{FF2B5EF4-FFF2-40B4-BE49-F238E27FC236}">
                <a16:creationId xmlns:a16="http://schemas.microsoft.com/office/drawing/2014/main" id="{78874DB7-A89A-88AB-6627-0D483BD02C50}"/>
              </a:ext>
            </a:extLst>
          </p:cNvPr>
          <p:cNvSpPr txBox="1"/>
          <p:nvPr/>
        </p:nvSpPr>
        <p:spPr>
          <a:xfrm>
            <a:off x="2339752" y="1472734"/>
            <a:ext cx="6491792" cy="738664"/>
          </a:xfrm>
          <a:prstGeom prst="rect">
            <a:avLst/>
          </a:prstGeom>
          <a:noFill/>
        </p:spPr>
        <p:txBody>
          <a:bodyPr wrap="square" rtlCol="0">
            <a:spAutoFit/>
          </a:bodyPr>
          <a:lstStyle/>
          <a:p>
            <a:pPr marL="742950" lvl="1" indent="-285750">
              <a:buFont typeface="Wingdings" panose="05000000000000000000" pitchFamily="2" charset="2"/>
              <a:buChar char="§"/>
            </a:pPr>
            <a:r>
              <a:rPr lang="en-US" altLang="ko-KR" sz="1400" dirty="0">
                <a:solidFill>
                  <a:schemeClr val="tx1">
                    <a:lumMod val="75000"/>
                    <a:lumOff val="25000"/>
                  </a:schemeClr>
                </a:solidFill>
                <a:cs typeface="Arial" pitchFamily="34" charset="0"/>
              </a:rPr>
              <a:t>Data structure in which the elements are added at one end, called the </a:t>
            </a:r>
            <a:r>
              <a:rPr lang="en-US" altLang="ko-KR" sz="1400" b="1" dirty="0">
                <a:solidFill>
                  <a:schemeClr val="tx1">
                    <a:lumMod val="75000"/>
                    <a:lumOff val="25000"/>
                  </a:schemeClr>
                </a:solidFill>
                <a:cs typeface="Arial" pitchFamily="34" charset="0"/>
              </a:rPr>
              <a:t>rear</a:t>
            </a:r>
            <a:r>
              <a:rPr lang="en-US" altLang="ko-KR" sz="1400" dirty="0">
                <a:solidFill>
                  <a:schemeClr val="tx1">
                    <a:lumMod val="75000"/>
                    <a:lumOff val="25000"/>
                  </a:schemeClr>
                </a:solidFill>
                <a:cs typeface="Arial" pitchFamily="34" charset="0"/>
              </a:rPr>
              <a:t>, and deleted from the other end, called the </a:t>
            </a:r>
            <a:r>
              <a:rPr lang="en-US" altLang="ko-KR" sz="1400" b="1" dirty="0">
                <a:solidFill>
                  <a:schemeClr val="tx1">
                    <a:lumMod val="75000"/>
                    <a:lumOff val="25000"/>
                  </a:schemeClr>
                </a:solidFill>
                <a:cs typeface="Arial" pitchFamily="34" charset="0"/>
              </a:rPr>
              <a:t>front</a:t>
            </a:r>
            <a:r>
              <a:rPr lang="en-US" altLang="ko-KR" sz="1400" dirty="0">
                <a:solidFill>
                  <a:schemeClr val="tx1">
                    <a:lumMod val="75000"/>
                    <a:lumOff val="25000"/>
                  </a:schemeClr>
                </a:solidFill>
                <a:cs typeface="Arial" pitchFamily="34" charset="0"/>
              </a:rPr>
              <a:t>. </a:t>
            </a:r>
          </a:p>
          <a:p>
            <a:pPr marL="742950" lvl="1" indent="-285750">
              <a:buFont typeface="Wingdings" panose="05000000000000000000" pitchFamily="2" charset="2"/>
              <a:buChar char="§"/>
            </a:pPr>
            <a:r>
              <a:rPr lang="en-US" altLang="ko-KR" sz="1400" dirty="0">
                <a:solidFill>
                  <a:schemeClr val="tx1">
                    <a:lumMod val="75000"/>
                    <a:lumOff val="25000"/>
                  </a:schemeClr>
                </a:solidFill>
                <a:cs typeface="Arial" pitchFamily="34" charset="0"/>
              </a:rPr>
              <a:t>As in a stack, the middle elements of the queue are inaccessible.</a:t>
            </a:r>
          </a:p>
        </p:txBody>
      </p:sp>
    </p:spTree>
    <p:extLst>
      <p:ext uri="{BB962C8B-B14F-4D97-AF65-F5344CB8AC3E}">
        <p14:creationId xmlns:p14="http://schemas.microsoft.com/office/powerpoint/2010/main" val="29196020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53E599C5-0C27-E126-C76B-1BEEB1626206}"/>
              </a:ext>
            </a:extLst>
          </p:cNvPr>
          <p:cNvGrpSpPr/>
          <p:nvPr/>
        </p:nvGrpSpPr>
        <p:grpSpPr>
          <a:xfrm>
            <a:off x="-19020" y="-20538"/>
            <a:ext cx="9163020" cy="936104"/>
            <a:chOff x="-19020" y="-20538"/>
            <a:chExt cx="9163020" cy="936104"/>
          </a:xfrm>
        </p:grpSpPr>
        <p:sp>
          <p:nvSpPr>
            <p:cNvPr id="4" name="Rectangle 3">
              <a:extLst>
                <a:ext uri="{FF2B5EF4-FFF2-40B4-BE49-F238E27FC236}">
                  <a16:creationId xmlns:a16="http://schemas.microsoft.com/office/drawing/2014/main" id="{A9C749E3-D170-886D-88F6-3C0CD0221805}"/>
                </a:ext>
              </a:extLst>
            </p:cNvPr>
            <p:cNvSpPr/>
            <p:nvPr/>
          </p:nvSpPr>
          <p:spPr>
            <a:xfrm>
              <a:off x="323528" y="555526"/>
              <a:ext cx="4392488" cy="35427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Text Placeholder 1">
              <a:extLst>
                <a:ext uri="{FF2B5EF4-FFF2-40B4-BE49-F238E27FC236}">
                  <a16:creationId xmlns:a16="http://schemas.microsoft.com/office/drawing/2014/main" id="{B605D9F3-346E-D7EE-6943-4C10C489A502}"/>
                </a:ext>
              </a:extLst>
            </p:cNvPr>
            <p:cNvSpPr txBox="1">
              <a:spLocks/>
            </p:cNvSpPr>
            <p:nvPr/>
          </p:nvSpPr>
          <p:spPr>
            <a:xfrm>
              <a:off x="0" y="-20538"/>
              <a:ext cx="9144000" cy="576064"/>
            </a:xfrm>
            <a:prstGeom prst="rect">
              <a:avLst/>
            </a:prstGeom>
          </p:spPr>
          <p:txBody>
            <a:bodyP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l">
                <a:buNone/>
              </a:pPr>
              <a:r>
                <a:rPr lang="en-US" altLang="ko-KR" sz="3600" u="sng" dirty="0">
                  <a:solidFill>
                    <a:schemeClr val="tx1">
                      <a:lumMod val="85000"/>
                      <a:lumOff val="15000"/>
                    </a:schemeClr>
                  </a:solidFill>
                  <a:latin typeface="Bernard MT Condensed" panose="02050806060905020404" pitchFamily="18" charset="0"/>
                </a:rPr>
                <a:t>Data Structures and Algorithm</a:t>
              </a:r>
              <a:endParaRPr lang="ko-KR" altLang="en-US" sz="3600" dirty="0">
                <a:solidFill>
                  <a:schemeClr val="tx1">
                    <a:lumMod val="85000"/>
                    <a:lumOff val="15000"/>
                  </a:schemeClr>
                </a:solidFill>
              </a:endParaRPr>
            </a:p>
          </p:txBody>
        </p:sp>
        <p:sp>
          <p:nvSpPr>
            <p:cNvPr id="9" name="Rectangle 8">
              <a:extLst>
                <a:ext uri="{FF2B5EF4-FFF2-40B4-BE49-F238E27FC236}">
                  <a16:creationId xmlns:a16="http://schemas.microsoft.com/office/drawing/2014/main" id="{461C215D-280C-A890-20D5-AF03A9129545}"/>
                </a:ext>
              </a:extLst>
            </p:cNvPr>
            <p:cNvSpPr/>
            <p:nvPr/>
          </p:nvSpPr>
          <p:spPr>
            <a:xfrm>
              <a:off x="-19020" y="561294"/>
              <a:ext cx="323528" cy="354272"/>
            </a:xfrm>
            <a:prstGeom prst="rect">
              <a:avLst/>
            </a:prstGeom>
            <a:solidFill>
              <a:schemeClr val="accent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13" name="TextBox 12">
              <a:extLst>
                <a:ext uri="{FF2B5EF4-FFF2-40B4-BE49-F238E27FC236}">
                  <a16:creationId xmlns:a16="http://schemas.microsoft.com/office/drawing/2014/main" id="{3CD51E76-8B1C-40D9-2466-A55B9232C508}"/>
                </a:ext>
              </a:extLst>
            </p:cNvPr>
            <p:cNvSpPr txBox="1"/>
            <p:nvPr/>
          </p:nvSpPr>
          <p:spPr>
            <a:xfrm>
              <a:off x="251520" y="541432"/>
              <a:ext cx="3318043" cy="369332"/>
            </a:xfrm>
            <a:prstGeom prst="rect">
              <a:avLst/>
            </a:prstGeom>
            <a:noFill/>
          </p:spPr>
          <p:txBody>
            <a:bodyPr wrap="square">
              <a:spAutoFit/>
            </a:bodyPr>
            <a:lstStyle/>
            <a:p>
              <a:pPr algn="l"/>
              <a:r>
                <a:rPr lang="en-PH" sz="1800" b="1" dirty="0">
                  <a:solidFill>
                    <a:schemeClr val="bg1"/>
                  </a:solidFill>
                  <a:latin typeface="Bahnschrift Condensed" panose="020B0502040204020203" pitchFamily="34" charset="0"/>
                </a:rPr>
                <a:t>QUEUE</a:t>
              </a:r>
            </a:p>
          </p:txBody>
        </p:sp>
      </p:grpSp>
      <p:sp>
        <p:nvSpPr>
          <p:cNvPr id="14" name="TextBox 13">
            <a:extLst>
              <a:ext uri="{FF2B5EF4-FFF2-40B4-BE49-F238E27FC236}">
                <a16:creationId xmlns:a16="http://schemas.microsoft.com/office/drawing/2014/main" id="{78874DB7-A89A-88AB-6627-0D483BD02C50}"/>
              </a:ext>
            </a:extLst>
          </p:cNvPr>
          <p:cNvSpPr txBox="1"/>
          <p:nvPr/>
        </p:nvSpPr>
        <p:spPr>
          <a:xfrm>
            <a:off x="2339752" y="1472734"/>
            <a:ext cx="6491792" cy="523220"/>
          </a:xfrm>
          <a:prstGeom prst="rect">
            <a:avLst/>
          </a:prstGeom>
          <a:noFill/>
        </p:spPr>
        <p:txBody>
          <a:bodyPr wrap="square" rtlCol="0">
            <a:spAutoFit/>
          </a:bodyPr>
          <a:lstStyle/>
          <a:p>
            <a:pPr marL="742950" lvl="1" indent="-285750">
              <a:buFont typeface="Wingdings" panose="05000000000000000000" pitchFamily="2" charset="2"/>
              <a:buChar char="§"/>
            </a:pPr>
            <a:r>
              <a:rPr lang="en-US" altLang="ko-KR" sz="1400" dirty="0">
                <a:solidFill>
                  <a:schemeClr val="tx1">
                    <a:lumMod val="75000"/>
                    <a:lumOff val="25000"/>
                  </a:schemeClr>
                </a:solidFill>
                <a:cs typeface="Arial" pitchFamily="34" charset="0"/>
              </a:rPr>
              <a:t>An insertion to a queue is done via </a:t>
            </a:r>
            <a:r>
              <a:rPr lang="en-US" altLang="ko-KR" sz="1400" b="1" dirty="0">
                <a:solidFill>
                  <a:schemeClr val="tx1">
                    <a:lumMod val="75000"/>
                    <a:lumOff val="25000"/>
                  </a:schemeClr>
                </a:solidFill>
                <a:cs typeface="Arial" pitchFamily="34" charset="0"/>
              </a:rPr>
              <a:t>enqueue</a:t>
            </a:r>
            <a:r>
              <a:rPr lang="en-US" altLang="ko-KR" sz="1400" dirty="0">
                <a:solidFill>
                  <a:schemeClr val="tx1">
                    <a:lumMod val="75000"/>
                    <a:lumOff val="25000"/>
                  </a:schemeClr>
                </a:solidFill>
                <a:cs typeface="Arial" pitchFamily="34" charset="0"/>
              </a:rPr>
              <a:t> operation, </a:t>
            </a:r>
          </a:p>
          <a:p>
            <a:pPr marL="742950" lvl="1" indent="-285750">
              <a:buFont typeface="Wingdings" panose="05000000000000000000" pitchFamily="2" charset="2"/>
              <a:buChar char="§"/>
            </a:pPr>
            <a:r>
              <a:rPr lang="en-US" altLang="ko-KR" sz="1400" dirty="0">
                <a:solidFill>
                  <a:schemeClr val="tx1">
                    <a:lumMod val="75000"/>
                    <a:lumOff val="25000"/>
                  </a:schemeClr>
                </a:solidFill>
                <a:cs typeface="Arial" pitchFamily="34" charset="0"/>
              </a:rPr>
              <a:t>Which always inserts the new element at the rear.</a:t>
            </a:r>
          </a:p>
        </p:txBody>
      </p:sp>
      <p:pic>
        <p:nvPicPr>
          <p:cNvPr id="2" name="Picture 1">
            <a:extLst>
              <a:ext uri="{FF2B5EF4-FFF2-40B4-BE49-F238E27FC236}">
                <a16:creationId xmlns:a16="http://schemas.microsoft.com/office/drawing/2014/main" id="{25ED9641-DFB7-3B7C-F540-9243E6B65355}"/>
              </a:ext>
            </a:extLst>
          </p:cNvPr>
          <p:cNvPicPr>
            <a:picLocks noChangeAspect="1"/>
          </p:cNvPicPr>
          <p:nvPr/>
        </p:nvPicPr>
        <p:blipFill>
          <a:blip r:embed="rId3"/>
          <a:stretch>
            <a:fillRect/>
          </a:stretch>
        </p:blipFill>
        <p:spPr>
          <a:xfrm>
            <a:off x="3598715" y="2211710"/>
            <a:ext cx="4824536" cy="2775015"/>
          </a:xfrm>
          <a:prstGeom prst="rect">
            <a:avLst/>
          </a:prstGeom>
        </p:spPr>
      </p:pic>
    </p:spTree>
    <p:extLst>
      <p:ext uri="{BB962C8B-B14F-4D97-AF65-F5344CB8AC3E}">
        <p14:creationId xmlns:p14="http://schemas.microsoft.com/office/powerpoint/2010/main" val="855042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53E599C5-0C27-E126-C76B-1BEEB1626206}"/>
              </a:ext>
            </a:extLst>
          </p:cNvPr>
          <p:cNvGrpSpPr/>
          <p:nvPr/>
        </p:nvGrpSpPr>
        <p:grpSpPr>
          <a:xfrm>
            <a:off x="-19020" y="-20538"/>
            <a:ext cx="9163020" cy="936104"/>
            <a:chOff x="-19020" y="-20538"/>
            <a:chExt cx="9163020" cy="936104"/>
          </a:xfrm>
        </p:grpSpPr>
        <p:sp>
          <p:nvSpPr>
            <p:cNvPr id="4" name="Rectangle 3">
              <a:extLst>
                <a:ext uri="{FF2B5EF4-FFF2-40B4-BE49-F238E27FC236}">
                  <a16:creationId xmlns:a16="http://schemas.microsoft.com/office/drawing/2014/main" id="{A9C749E3-D170-886D-88F6-3C0CD0221805}"/>
                </a:ext>
              </a:extLst>
            </p:cNvPr>
            <p:cNvSpPr/>
            <p:nvPr/>
          </p:nvSpPr>
          <p:spPr>
            <a:xfrm>
              <a:off x="323528" y="555526"/>
              <a:ext cx="4392488" cy="35427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Text Placeholder 1">
              <a:extLst>
                <a:ext uri="{FF2B5EF4-FFF2-40B4-BE49-F238E27FC236}">
                  <a16:creationId xmlns:a16="http://schemas.microsoft.com/office/drawing/2014/main" id="{B605D9F3-346E-D7EE-6943-4C10C489A502}"/>
                </a:ext>
              </a:extLst>
            </p:cNvPr>
            <p:cNvSpPr txBox="1">
              <a:spLocks/>
            </p:cNvSpPr>
            <p:nvPr/>
          </p:nvSpPr>
          <p:spPr>
            <a:xfrm>
              <a:off x="0" y="-20538"/>
              <a:ext cx="9144000" cy="576064"/>
            </a:xfrm>
            <a:prstGeom prst="rect">
              <a:avLst/>
            </a:prstGeom>
          </p:spPr>
          <p:txBody>
            <a:bodyP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l">
                <a:buNone/>
              </a:pPr>
              <a:r>
                <a:rPr lang="en-US" altLang="ko-KR" sz="3600" u="sng" dirty="0">
                  <a:solidFill>
                    <a:schemeClr val="tx1">
                      <a:lumMod val="85000"/>
                      <a:lumOff val="15000"/>
                    </a:schemeClr>
                  </a:solidFill>
                  <a:latin typeface="Bernard MT Condensed" panose="02050806060905020404" pitchFamily="18" charset="0"/>
                </a:rPr>
                <a:t>Data Structures and Algorithm</a:t>
              </a:r>
              <a:endParaRPr lang="ko-KR" altLang="en-US" sz="3600" dirty="0">
                <a:solidFill>
                  <a:schemeClr val="tx1">
                    <a:lumMod val="85000"/>
                    <a:lumOff val="15000"/>
                  </a:schemeClr>
                </a:solidFill>
              </a:endParaRPr>
            </a:p>
          </p:txBody>
        </p:sp>
        <p:sp>
          <p:nvSpPr>
            <p:cNvPr id="9" name="Rectangle 8">
              <a:extLst>
                <a:ext uri="{FF2B5EF4-FFF2-40B4-BE49-F238E27FC236}">
                  <a16:creationId xmlns:a16="http://schemas.microsoft.com/office/drawing/2014/main" id="{461C215D-280C-A890-20D5-AF03A9129545}"/>
                </a:ext>
              </a:extLst>
            </p:cNvPr>
            <p:cNvSpPr/>
            <p:nvPr/>
          </p:nvSpPr>
          <p:spPr>
            <a:xfrm>
              <a:off x="-19020" y="561294"/>
              <a:ext cx="323528" cy="354272"/>
            </a:xfrm>
            <a:prstGeom prst="rect">
              <a:avLst/>
            </a:prstGeom>
            <a:solidFill>
              <a:schemeClr val="accent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13" name="TextBox 12">
              <a:extLst>
                <a:ext uri="{FF2B5EF4-FFF2-40B4-BE49-F238E27FC236}">
                  <a16:creationId xmlns:a16="http://schemas.microsoft.com/office/drawing/2014/main" id="{3CD51E76-8B1C-40D9-2466-A55B9232C508}"/>
                </a:ext>
              </a:extLst>
            </p:cNvPr>
            <p:cNvSpPr txBox="1"/>
            <p:nvPr/>
          </p:nvSpPr>
          <p:spPr>
            <a:xfrm>
              <a:off x="251520" y="541432"/>
              <a:ext cx="3318043" cy="369332"/>
            </a:xfrm>
            <a:prstGeom prst="rect">
              <a:avLst/>
            </a:prstGeom>
            <a:noFill/>
          </p:spPr>
          <p:txBody>
            <a:bodyPr wrap="square">
              <a:spAutoFit/>
            </a:bodyPr>
            <a:lstStyle/>
            <a:p>
              <a:pPr algn="l"/>
              <a:r>
                <a:rPr lang="en-PH" sz="1800" b="1" dirty="0">
                  <a:solidFill>
                    <a:schemeClr val="bg1"/>
                  </a:solidFill>
                  <a:latin typeface="Bahnschrift Condensed" panose="020B0502040204020203" pitchFamily="34" charset="0"/>
                </a:rPr>
                <a:t>QUEUE</a:t>
              </a:r>
            </a:p>
          </p:txBody>
        </p:sp>
      </p:grpSp>
      <p:sp>
        <p:nvSpPr>
          <p:cNvPr id="14" name="TextBox 13">
            <a:extLst>
              <a:ext uri="{FF2B5EF4-FFF2-40B4-BE49-F238E27FC236}">
                <a16:creationId xmlns:a16="http://schemas.microsoft.com/office/drawing/2014/main" id="{78874DB7-A89A-88AB-6627-0D483BD02C50}"/>
              </a:ext>
            </a:extLst>
          </p:cNvPr>
          <p:cNvSpPr txBox="1"/>
          <p:nvPr/>
        </p:nvSpPr>
        <p:spPr>
          <a:xfrm>
            <a:off x="2339752" y="1472734"/>
            <a:ext cx="6491792" cy="523220"/>
          </a:xfrm>
          <a:prstGeom prst="rect">
            <a:avLst/>
          </a:prstGeom>
          <a:noFill/>
        </p:spPr>
        <p:txBody>
          <a:bodyPr wrap="square" rtlCol="0">
            <a:spAutoFit/>
          </a:bodyPr>
          <a:lstStyle/>
          <a:p>
            <a:pPr marL="742950" lvl="1" indent="-285750">
              <a:buFont typeface="Wingdings" panose="05000000000000000000" pitchFamily="2" charset="2"/>
              <a:buChar char="§"/>
            </a:pPr>
            <a:r>
              <a:rPr lang="en-US" altLang="ko-KR" sz="1400" dirty="0">
                <a:solidFill>
                  <a:schemeClr val="tx1">
                    <a:lumMod val="75000"/>
                    <a:lumOff val="25000"/>
                  </a:schemeClr>
                </a:solidFill>
                <a:cs typeface="Arial" pitchFamily="34" charset="0"/>
              </a:rPr>
              <a:t>A deletion is done via a </a:t>
            </a:r>
            <a:r>
              <a:rPr lang="en-US" altLang="ko-KR" sz="1400" b="1" dirty="0">
                <a:solidFill>
                  <a:schemeClr val="tx1">
                    <a:lumMod val="75000"/>
                    <a:lumOff val="25000"/>
                  </a:schemeClr>
                </a:solidFill>
                <a:cs typeface="Arial" pitchFamily="34" charset="0"/>
              </a:rPr>
              <a:t>dequeue </a:t>
            </a:r>
            <a:r>
              <a:rPr lang="en-US" altLang="ko-KR" sz="1400" dirty="0">
                <a:solidFill>
                  <a:schemeClr val="tx1">
                    <a:lumMod val="75000"/>
                    <a:lumOff val="25000"/>
                  </a:schemeClr>
                </a:solidFill>
                <a:cs typeface="Arial" pitchFamily="34" charset="0"/>
              </a:rPr>
              <a:t>operation,</a:t>
            </a:r>
          </a:p>
          <a:p>
            <a:pPr marL="742950" lvl="1" indent="-285750">
              <a:buFont typeface="Wingdings" panose="05000000000000000000" pitchFamily="2" charset="2"/>
              <a:buChar char="§"/>
            </a:pPr>
            <a:r>
              <a:rPr lang="en-US" altLang="ko-KR" sz="1400" dirty="0">
                <a:solidFill>
                  <a:schemeClr val="tx1">
                    <a:lumMod val="75000"/>
                    <a:lumOff val="25000"/>
                  </a:schemeClr>
                </a:solidFill>
                <a:cs typeface="Arial" pitchFamily="34" charset="0"/>
              </a:rPr>
              <a:t>Which always removes the element from the front of the queue.</a:t>
            </a:r>
          </a:p>
        </p:txBody>
      </p:sp>
      <p:pic>
        <p:nvPicPr>
          <p:cNvPr id="3" name="Picture 2">
            <a:extLst>
              <a:ext uri="{FF2B5EF4-FFF2-40B4-BE49-F238E27FC236}">
                <a16:creationId xmlns:a16="http://schemas.microsoft.com/office/drawing/2014/main" id="{8A9ABCCA-5C03-0BA4-1920-2EF0C7F2DD55}"/>
              </a:ext>
            </a:extLst>
          </p:cNvPr>
          <p:cNvPicPr>
            <a:picLocks noChangeAspect="1"/>
          </p:cNvPicPr>
          <p:nvPr/>
        </p:nvPicPr>
        <p:blipFill>
          <a:blip r:embed="rId3"/>
          <a:stretch>
            <a:fillRect/>
          </a:stretch>
        </p:blipFill>
        <p:spPr>
          <a:xfrm>
            <a:off x="3779912" y="2211710"/>
            <a:ext cx="4536504" cy="2264634"/>
          </a:xfrm>
          <a:prstGeom prst="rect">
            <a:avLst/>
          </a:prstGeom>
        </p:spPr>
      </p:pic>
    </p:spTree>
    <p:extLst>
      <p:ext uri="{BB962C8B-B14F-4D97-AF65-F5344CB8AC3E}">
        <p14:creationId xmlns:p14="http://schemas.microsoft.com/office/powerpoint/2010/main" val="29026107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53E599C5-0C27-E126-C76B-1BEEB1626206}"/>
              </a:ext>
            </a:extLst>
          </p:cNvPr>
          <p:cNvGrpSpPr/>
          <p:nvPr/>
        </p:nvGrpSpPr>
        <p:grpSpPr>
          <a:xfrm>
            <a:off x="-19020" y="-20538"/>
            <a:ext cx="9163020" cy="936104"/>
            <a:chOff x="-19020" y="-20538"/>
            <a:chExt cx="9163020" cy="936104"/>
          </a:xfrm>
        </p:grpSpPr>
        <p:sp>
          <p:nvSpPr>
            <p:cNvPr id="4" name="Rectangle 3">
              <a:extLst>
                <a:ext uri="{FF2B5EF4-FFF2-40B4-BE49-F238E27FC236}">
                  <a16:creationId xmlns:a16="http://schemas.microsoft.com/office/drawing/2014/main" id="{A9C749E3-D170-886D-88F6-3C0CD0221805}"/>
                </a:ext>
              </a:extLst>
            </p:cNvPr>
            <p:cNvSpPr/>
            <p:nvPr/>
          </p:nvSpPr>
          <p:spPr>
            <a:xfrm>
              <a:off x="323528" y="555526"/>
              <a:ext cx="4392488" cy="35427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Text Placeholder 1">
              <a:extLst>
                <a:ext uri="{FF2B5EF4-FFF2-40B4-BE49-F238E27FC236}">
                  <a16:creationId xmlns:a16="http://schemas.microsoft.com/office/drawing/2014/main" id="{B605D9F3-346E-D7EE-6943-4C10C489A502}"/>
                </a:ext>
              </a:extLst>
            </p:cNvPr>
            <p:cNvSpPr txBox="1">
              <a:spLocks/>
            </p:cNvSpPr>
            <p:nvPr/>
          </p:nvSpPr>
          <p:spPr>
            <a:xfrm>
              <a:off x="0" y="-20538"/>
              <a:ext cx="9144000" cy="576064"/>
            </a:xfrm>
            <a:prstGeom prst="rect">
              <a:avLst/>
            </a:prstGeom>
          </p:spPr>
          <p:txBody>
            <a:bodyP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l">
                <a:buNone/>
              </a:pPr>
              <a:r>
                <a:rPr lang="en-US" altLang="ko-KR" sz="3600" u="sng" dirty="0">
                  <a:solidFill>
                    <a:schemeClr val="tx1">
                      <a:lumMod val="85000"/>
                      <a:lumOff val="15000"/>
                    </a:schemeClr>
                  </a:solidFill>
                  <a:latin typeface="Bernard MT Condensed" panose="02050806060905020404" pitchFamily="18" charset="0"/>
                </a:rPr>
                <a:t>Data Structures and Algorithm</a:t>
              </a:r>
              <a:endParaRPr lang="ko-KR" altLang="en-US" sz="3600" dirty="0">
                <a:solidFill>
                  <a:schemeClr val="tx1">
                    <a:lumMod val="85000"/>
                    <a:lumOff val="15000"/>
                  </a:schemeClr>
                </a:solidFill>
              </a:endParaRPr>
            </a:p>
          </p:txBody>
        </p:sp>
        <p:sp>
          <p:nvSpPr>
            <p:cNvPr id="9" name="Rectangle 8">
              <a:extLst>
                <a:ext uri="{FF2B5EF4-FFF2-40B4-BE49-F238E27FC236}">
                  <a16:creationId xmlns:a16="http://schemas.microsoft.com/office/drawing/2014/main" id="{461C215D-280C-A890-20D5-AF03A9129545}"/>
                </a:ext>
              </a:extLst>
            </p:cNvPr>
            <p:cNvSpPr/>
            <p:nvPr/>
          </p:nvSpPr>
          <p:spPr>
            <a:xfrm>
              <a:off x="-19020" y="561294"/>
              <a:ext cx="323528" cy="354272"/>
            </a:xfrm>
            <a:prstGeom prst="rect">
              <a:avLst/>
            </a:prstGeom>
            <a:solidFill>
              <a:schemeClr val="accent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13" name="TextBox 12">
              <a:extLst>
                <a:ext uri="{FF2B5EF4-FFF2-40B4-BE49-F238E27FC236}">
                  <a16:creationId xmlns:a16="http://schemas.microsoft.com/office/drawing/2014/main" id="{3CD51E76-8B1C-40D9-2466-A55B9232C508}"/>
                </a:ext>
              </a:extLst>
            </p:cNvPr>
            <p:cNvSpPr txBox="1"/>
            <p:nvPr/>
          </p:nvSpPr>
          <p:spPr>
            <a:xfrm>
              <a:off x="251520" y="541432"/>
              <a:ext cx="3318043" cy="369332"/>
            </a:xfrm>
            <a:prstGeom prst="rect">
              <a:avLst/>
            </a:prstGeom>
            <a:noFill/>
          </p:spPr>
          <p:txBody>
            <a:bodyPr wrap="square">
              <a:spAutoFit/>
            </a:bodyPr>
            <a:lstStyle/>
            <a:p>
              <a:pPr algn="l"/>
              <a:r>
                <a:rPr lang="en-PH" sz="1800" b="1" dirty="0">
                  <a:solidFill>
                    <a:schemeClr val="bg1"/>
                  </a:solidFill>
                  <a:latin typeface="Bahnschrift Condensed" panose="020B0502040204020203" pitchFamily="34" charset="0"/>
                </a:rPr>
                <a:t>CIRCULAR QUEUE</a:t>
              </a:r>
            </a:p>
          </p:txBody>
        </p:sp>
      </p:grpSp>
      <p:pic>
        <p:nvPicPr>
          <p:cNvPr id="2" name="Picture 1">
            <a:extLst>
              <a:ext uri="{FF2B5EF4-FFF2-40B4-BE49-F238E27FC236}">
                <a16:creationId xmlns:a16="http://schemas.microsoft.com/office/drawing/2014/main" id="{B88BBEBD-9FD7-72C4-9737-3275F17BA74F}"/>
              </a:ext>
            </a:extLst>
          </p:cNvPr>
          <p:cNvPicPr>
            <a:picLocks noChangeAspect="1"/>
          </p:cNvPicPr>
          <p:nvPr/>
        </p:nvPicPr>
        <p:blipFill>
          <a:blip r:embed="rId3"/>
          <a:stretch>
            <a:fillRect/>
          </a:stretch>
        </p:blipFill>
        <p:spPr>
          <a:xfrm>
            <a:off x="3584195" y="1230194"/>
            <a:ext cx="3318043" cy="3357780"/>
          </a:xfrm>
          <a:prstGeom prst="rect">
            <a:avLst/>
          </a:prstGeom>
        </p:spPr>
      </p:pic>
    </p:spTree>
    <p:extLst>
      <p:ext uri="{BB962C8B-B14F-4D97-AF65-F5344CB8AC3E}">
        <p14:creationId xmlns:p14="http://schemas.microsoft.com/office/powerpoint/2010/main" val="15301299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53E599C5-0C27-E126-C76B-1BEEB1626206}"/>
              </a:ext>
            </a:extLst>
          </p:cNvPr>
          <p:cNvGrpSpPr/>
          <p:nvPr/>
        </p:nvGrpSpPr>
        <p:grpSpPr>
          <a:xfrm>
            <a:off x="-19020" y="-20538"/>
            <a:ext cx="9163020" cy="936104"/>
            <a:chOff x="-19020" y="-20538"/>
            <a:chExt cx="9163020" cy="936104"/>
          </a:xfrm>
        </p:grpSpPr>
        <p:sp>
          <p:nvSpPr>
            <p:cNvPr id="4" name="Rectangle 3">
              <a:extLst>
                <a:ext uri="{FF2B5EF4-FFF2-40B4-BE49-F238E27FC236}">
                  <a16:creationId xmlns:a16="http://schemas.microsoft.com/office/drawing/2014/main" id="{A9C749E3-D170-886D-88F6-3C0CD0221805}"/>
                </a:ext>
              </a:extLst>
            </p:cNvPr>
            <p:cNvSpPr/>
            <p:nvPr/>
          </p:nvSpPr>
          <p:spPr>
            <a:xfrm>
              <a:off x="323528" y="555526"/>
              <a:ext cx="4392488" cy="35427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Text Placeholder 1">
              <a:extLst>
                <a:ext uri="{FF2B5EF4-FFF2-40B4-BE49-F238E27FC236}">
                  <a16:creationId xmlns:a16="http://schemas.microsoft.com/office/drawing/2014/main" id="{B605D9F3-346E-D7EE-6943-4C10C489A502}"/>
                </a:ext>
              </a:extLst>
            </p:cNvPr>
            <p:cNvSpPr txBox="1">
              <a:spLocks/>
            </p:cNvSpPr>
            <p:nvPr/>
          </p:nvSpPr>
          <p:spPr>
            <a:xfrm>
              <a:off x="0" y="-20538"/>
              <a:ext cx="9144000" cy="576064"/>
            </a:xfrm>
            <a:prstGeom prst="rect">
              <a:avLst/>
            </a:prstGeom>
          </p:spPr>
          <p:txBody>
            <a:bodyP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l">
                <a:buNone/>
              </a:pPr>
              <a:r>
                <a:rPr lang="en-US" altLang="ko-KR" sz="3600" u="sng" dirty="0">
                  <a:solidFill>
                    <a:schemeClr val="tx1">
                      <a:lumMod val="85000"/>
                      <a:lumOff val="15000"/>
                    </a:schemeClr>
                  </a:solidFill>
                  <a:latin typeface="Bernard MT Condensed" panose="02050806060905020404" pitchFamily="18" charset="0"/>
                </a:rPr>
                <a:t>Data Structures and Algorithm</a:t>
              </a:r>
              <a:endParaRPr lang="ko-KR" altLang="en-US" sz="3600" dirty="0">
                <a:solidFill>
                  <a:schemeClr val="tx1">
                    <a:lumMod val="85000"/>
                    <a:lumOff val="15000"/>
                  </a:schemeClr>
                </a:solidFill>
              </a:endParaRPr>
            </a:p>
          </p:txBody>
        </p:sp>
        <p:sp>
          <p:nvSpPr>
            <p:cNvPr id="9" name="Rectangle 8">
              <a:extLst>
                <a:ext uri="{FF2B5EF4-FFF2-40B4-BE49-F238E27FC236}">
                  <a16:creationId xmlns:a16="http://schemas.microsoft.com/office/drawing/2014/main" id="{461C215D-280C-A890-20D5-AF03A9129545}"/>
                </a:ext>
              </a:extLst>
            </p:cNvPr>
            <p:cNvSpPr/>
            <p:nvPr/>
          </p:nvSpPr>
          <p:spPr>
            <a:xfrm>
              <a:off x="-19020" y="561294"/>
              <a:ext cx="323528" cy="354272"/>
            </a:xfrm>
            <a:prstGeom prst="rect">
              <a:avLst/>
            </a:prstGeom>
            <a:solidFill>
              <a:schemeClr val="accent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13" name="TextBox 12">
              <a:extLst>
                <a:ext uri="{FF2B5EF4-FFF2-40B4-BE49-F238E27FC236}">
                  <a16:creationId xmlns:a16="http://schemas.microsoft.com/office/drawing/2014/main" id="{3CD51E76-8B1C-40D9-2466-A55B9232C508}"/>
                </a:ext>
              </a:extLst>
            </p:cNvPr>
            <p:cNvSpPr txBox="1"/>
            <p:nvPr/>
          </p:nvSpPr>
          <p:spPr>
            <a:xfrm>
              <a:off x="251520" y="541432"/>
              <a:ext cx="3318043" cy="369332"/>
            </a:xfrm>
            <a:prstGeom prst="rect">
              <a:avLst/>
            </a:prstGeom>
            <a:noFill/>
          </p:spPr>
          <p:txBody>
            <a:bodyPr wrap="square">
              <a:spAutoFit/>
            </a:bodyPr>
            <a:lstStyle/>
            <a:p>
              <a:pPr algn="l"/>
              <a:r>
                <a:rPr lang="en-PH" sz="1800" b="1" dirty="0">
                  <a:solidFill>
                    <a:schemeClr val="bg1"/>
                  </a:solidFill>
                  <a:latin typeface="Bahnschrift Condensed" panose="020B0502040204020203" pitchFamily="34" charset="0"/>
                </a:rPr>
                <a:t>CIRCULAR QUEUE</a:t>
              </a:r>
            </a:p>
          </p:txBody>
        </p:sp>
      </p:grpSp>
      <p:sp>
        <p:nvSpPr>
          <p:cNvPr id="14" name="TextBox 13">
            <a:extLst>
              <a:ext uri="{FF2B5EF4-FFF2-40B4-BE49-F238E27FC236}">
                <a16:creationId xmlns:a16="http://schemas.microsoft.com/office/drawing/2014/main" id="{78874DB7-A89A-88AB-6627-0D483BD02C50}"/>
              </a:ext>
            </a:extLst>
          </p:cNvPr>
          <p:cNvSpPr txBox="1"/>
          <p:nvPr/>
        </p:nvSpPr>
        <p:spPr>
          <a:xfrm>
            <a:off x="2339752" y="1472734"/>
            <a:ext cx="6491792" cy="954107"/>
          </a:xfrm>
          <a:prstGeom prst="rect">
            <a:avLst/>
          </a:prstGeom>
          <a:noFill/>
        </p:spPr>
        <p:txBody>
          <a:bodyPr wrap="square" rtlCol="0">
            <a:spAutoFit/>
          </a:bodyPr>
          <a:lstStyle/>
          <a:p>
            <a:pPr marL="742950" lvl="1" indent="-285750" algn="just">
              <a:buFont typeface="Wingdings" panose="05000000000000000000" pitchFamily="2" charset="2"/>
              <a:buChar char="§"/>
            </a:pPr>
            <a:r>
              <a:rPr lang="en-US" altLang="ko-KR" sz="1400" dirty="0">
                <a:solidFill>
                  <a:schemeClr val="tx1">
                    <a:lumMod val="75000"/>
                    <a:lumOff val="25000"/>
                  </a:schemeClr>
                </a:solidFill>
                <a:cs typeface="Arial" pitchFamily="34" charset="0"/>
              </a:rPr>
              <a:t>To avoid the problem of not being able to insert more items into the queue even when it’s not full, the </a:t>
            </a:r>
            <a:r>
              <a:rPr lang="en-US" altLang="ko-KR" sz="1400" b="1" dirty="0">
                <a:solidFill>
                  <a:schemeClr val="tx1">
                    <a:lumMod val="75000"/>
                    <a:lumOff val="25000"/>
                  </a:schemeClr>
                </a:solidFill>
                <a:cs typeface="Arial" pitchFamily="34" charset="0"/>
              </a:rPr>
              <a:t>Front and Rear arrows wrap around </a:t>
            </a:r>
            <a:r>
              <a:rPr lang="en-US" altLang="ko-KR" sz="1400" dirty="0">
                <a:solidFill>
                  <a:schemeClr val="tx1">
                    <a:lumMod val="75000"/>
                    <a:lumOff val="25000"/>
                  </a:schemeClr>
                </a:solidFill>
                <a:cs typeface="Arial" pitchFamily="34" charset="0"/>
              </a:rPr>
              <a:t>to the beginning of the array. The result is a </a:t>
            </a:r>
            <a:r>
              <a:rPr lang="en-US" altLang="ko-KR" sz="1400" b="1" dirty="0">
                <a:solidFill>
                  <a:schemeClr val="tx1">
                    <a:lumMod val="75000"/>
                    <a:lumOff val="25000"/>
                  </a:schemeClr>
                </a:solidFill>
                <a:cs typeface="Arial" pitchFamily="34" charset="0"/>
              </a:rPr>
              <a:t>circular queue (</a:t>
            </a:r>
            <a:r>
              <a:rPr lang="en-US" altLang="ko-KR" sz="1400" dirty="0">
                <a:solidFill>
                  <a:schemeClr val="tx1">
                    <a:lumMod val="75000"/>
                    <a:lumOff val="25000"/>
                  </a:schemeClr>
                </a:solidFill>
                <a:cs typeface="Arial" pitchFamily="34" charset="0"/>
              </a:rPr>
              <a:t>sometimes called a </a:t>
            </a:r>
            <a:r>
              <a:rPr lang="en-US" altLang="ko-KR" sz="1400" b="1" dirty="0">
                <a:solidFill>
                  <a:schemeClr val="tx1">
                    <a:lumMod val="75000"/>
                    <a:lumOff val="25000"/>
                  </a:schemeClr>
                </a:solidFill>
                <a:cs typeface="Arial" pitchFamily="34" charset="0"/>
              </a:rPr>
              <a:t>ring buffer</a:t>
            </a:r>
            <a:r>
              <a:rPr lang="en-US" altLang="ko-KR" sz="1400" dirty="0">
                <a:solidFill>
                  <a:schemeClr val="tx1">
                    <a:lumMod val="75000"/>
                    <a:lumOff val="25000"/>
                  </a:schemeClr>
                </a:solidFill>
                <a:cs typeface="Arial" pitchFamily="34" charset="0"/>
              </a:rPr>
              <a:t>).</a:t>
            </a:r>
          </a:p>
        </p:txBody>
      </p:sp>
    </p:spTree>
    <p:extLst>
      <p:ext uri="{BB962C8B-B14F-4D97-AF65-F5344CB8AC3E}">
        <p14:creationId xmlns:p14="http://schemas.microsoft.com/office/powerpoint/2010/main" val="16503795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9"/>
          <p:cNvSpPr/>
          <p:nvPr/>
        </p:nvSpPr>
        <p:spPr>
          <a:xfrm>
            <a:off x="3850130" y="555526"/>
            <a:ext cx="284243" cy="266077"/>
          </a:xfrm>
          <a:custGeom>
            <a:avLst/>
            <a:gdLst>
              <a:gd name="connsiteX0" fmla="*/ 833935 w 3239999"/>
              <a:gd name="connsiteY0" fmla="*/ 22 h 3032924"/>
              <a:gd name="connsiteX1" fmla="*/ 1576606 w 3239999"/>
              <a:gd name="connsiteY1" fmla="*/ 402054 h 3032924"/>
              <a:gd name="connsiteX2" fmla="*/ 1576606 w 3239999"/>
              <a:gd name="connsiteY2" fmla="*/ 430441 h 3032924"/>
              <a:gd name="connsiteX3" fmla="*/ 1576606 w 3239999"/>
              <a:gd name="connsiteY3" fmla="*/ 526981 h 3032924"/>
              <a:gd name="connsiteX4" fmla="*/ 1576606 w 3239999"/>
              <a:gd name="connsiteY4" fmla="*/ 2765302 h 3032924"/>
              <a:gd name="connsiteX5" fmla="*/ 378630 w 3239999"/>
              <a:gd name="connsiteY5" fmla="*/ 2472117 h 3032924"/>
              <a:gd name="connsiteX6" fmla="*/ 384918 w 3239999"/>
              <a:gd name="connsiteY6" fmla="*/ 526981 h 3032924"/>
              <a:gd name="connsiteX7" fmla="*/ 239143 w 3239999"/>
              <a:gd name="connsiteY7" fmla="*/ 526981 h 3032924"/>
              <a:gd name="connsiteX8" fmla="*/ 239143 w 3239999"/>
              <a:gd name="connsiteY8" fmla="*/ 2776423 h 3032924"/>
              <a:gd name="connsiteX9" fmla="*/ 1576606 w 3239999"/>
              <a:gd name="connsiteY9" fmla="*/ 2776423 h 3032924"/>
              <a:gd name="connsiteX10" fmla="*/ 1576606 w 3239999"/>
              <a:gd name="connsiteY10" fmla="*/ 2778202 h 3032924"/>
              <a:gd name="connsiteX11" fmla="*/ 1663394 w 3239999"/>
              <a:gd name="connsiteY11" fmla="*/ 2778202 h 3032924"/>
              <a:gd name="connsiteX12" fmla="*/ 1663394 w 3239999"/>
              <a:gd name="connsiteY12" fmla="*/ 2776423 h 3032924"/>
              <a:gd name="connsiteX13" fmla="*/ 3000856 w 3239999"/>
              <a:gd name="connsiteY13" fmla="*/ 2776423 h 3032924"/>
              <a:gd name="connsiteX14" fmla="*/ 3000856 w 3239999"/>
              <a:gd name="connsiteY14" fmla="*/ 526981 h 3032924"/>
              <a:gd name="connsiteX15" fmla="*/ 2855082 w 3239999"/>
              <a:gd name="connsiteY15" fmla="*/ 526981 h 3032924"/>
              <a:gd name="connsiteX16" fmla="*/ 2861369 w 3239999"/>
              <a:gd name="connsiteY16" fmla="*/ 2472117 h 3032924"/>
              <a:gd name="connsiteX17" fmla="*/ 1663394 w 3239999"/>
              <a:gd name="connsiteY17" fmla="*/ 2765302 h 3032924"/>
              <a:gd name="connsiteX18" fmla="*/ 1663394 w 3239999"/>
              <a:gd name="connsiteY18" fmla="*/ 526981 h 3032924"/>
              <a:gd name="connsiteX19" fmla="*/ 1663394 w 3239999"/>
              <a:gd name="connsiteY19" fmla="*/ 430441 h 3032924"/>
              <a:gd name="connsiteX20" fmla="*/ 1663394 w 3239999"/>
              <a:gd name="connsiteY20" fmla="*/ 402054 h 3032924"/>
              <a:gd name="connsiteX21" fmla="*/ 2406065 w 3239999"/>
              <a:gd name="connsiteY21" fmla="*/ 22 h 3032924"/>
              <a:gd name="connsiteX22" fmla="*/ 2853673 w 3239999"/>
              <a:gd name="connsiteY22" fmla="*/ 91100 h 3032924"/>
              <a:gd name="connsiteX23" fmla="*/ 2854770 w 3239999"/>
              <a:gd name="connsiteY23" fmla="*/ 430441 h 3032924"/>
              <a:gd name="connsiteX24" fmla="*/ 3120669 w 3239999"/>
              <a:gd name="connsiteY24" fmla="*/ 428517 h 3032924"/>
              <a:gd name="connsiteX25" fmla="*/ 3120669 w 3239999"/>
              <a:gd name="connsiteY25" fmla="*/ 738345 h 3032924"/>
              <a:gd name="connsiteX26" fmla="*/ 3239999 w 3239999"/>
              <a:gd name="connsiteY26" fmla="*/ 738345 h 3032924"/>
              <a:gd name="connsiteX27" fmla="*/ 3239999 w 3239999"/>
              <a:gd name="connsiteY27" fmla="*/ 3032924 h 3032924"/>
              <a:gd name="connsiteX28" fmla="*/ 0 w 3239999"/>
              <a:gd name="connsiteY28" fmla="*/ 3032924 h 3032924"/>
              <a:gd name="connsiteX29" fmla="*/ 0 w 3239999"/>
              <a:gd name="connsiteY29" fmla="*/ 738345 h 3032924"/>
              <a:gd name="connsiteX30" fmla="*/ 102477 w 3239999"/>
              <a:gd name="connsiteY30" fmla="*/ 738345 h 3032924"/>
              <a:gd name="connsiteX31" fmla="*/ 102477 w 3239999"/>
              <a:gd name="connsiteY31" fmla="*/ 428517 h 3032924"/>
              <a:gd name="connsiteX32" fmla="*/ 385229 w 3239999"/>
              <a:gd name="connsiteY32" fmla="*/ 430441 h 3032924"/>
              <a:gd name="connsiteX33" fmla="*/ 386326 w 3239999"/>
              <a:gd name="connsiteY33" fmla="*/ 91100 h 3032924"/>
              <a:gd name="connsiteX34" fmla="*/ 833935 w 3239999"/>
              <a:gd name="connsiteY34" fmla="*/ 22 h 3032924"/>
              <a:gd name="connsiteX0" fmla="*/ 833935 w 3239999"/>
              <a:gd name="connsiteY0" fmla="*/ 22 h 3032924"/>
              <a:gd name="connsiteX1" fmla="*/ 1576606 w 3239999"/>
              <a:gd name="connsiteY1" fmla="*/ 402054 h 3032924"/>
              <a:gd name="connsiteX2" fmla="*/ 1576606 w 3239999"/>
              <a:gd name="connsiteY2" fmla="*/ 430441 h 3032924"/>
              <a:gd name="connsiteX3" fmla="*/ 1576606 w 3239999"/>
              <a:gd name="connsiteY3" fmla="*/ 526981 h 3032924"/>
              <a:gd name="connsiteX4" fmla="*/ 1576606 w 3239999"/>
              <a:gd name="connsiteY4" fmla="*/ 2765302 h 3032924"/>
              <a:gd name="connsiteX5" fmla="*/ 378630 w 3239999"/>
              <a:gd name="connsiteY5" fmla="*/ 2472117 h 3032924"/>
              <a:gd name="connsiteX6" fmla="*/ 384918 w 3239999"/>
              <a:gd name="connsiteY6" fmla="*/ 526981 h 3032924"/>
              <a:gd name="connsiteX7" fmla="*/ 239143 w 3239999"/>
              <a:gd name="connsiteY7" fmla="*/ 526981 h 3032924"/>
              <a:gd name="connsiteX8" fmla="*/ 239143 w 3239999"/>
              <a:gd name="connsiteY8" fmla="*/ 2776423 h 3032924"/>
              <a:gd name="connsiteX9" fmla="*/ 1576606 w 3239999"/>
              <a:gd name="connsiteY9" fmla="*/ 2776423 h 3032924"/>
              <a:gd name="connsiteX10" fmla="*/ 1576606 w 3239999"/>
              <a:gd name="connsiteY10" fmla="*/ 2778202 h 3032924"/>
              <a:gd name="connsiteX11" fmla="*/ 1663394 w 3239999"/>
              <a:gd name="connsiteY11" fmla="*/ 2778202 h 3032924"/>
              <a:gd name="connsiteX12" fmla="*/ 1663394 w 3239999"/>
              <a:gd name="connsiteY12" fmla="*/ 2776423 h 3032924"/>
              <a:gd name="connsiteX13" fmla="*/ 3000856 w 3239999"/>
              <a:gd name="connsiteY13" fmla="*/ 2776423 h 3032924"/>
              <a:gd name="connsiteX14" fmla="*/ 3000856 w 3239999"/>
              <a:gd name="connsiteY14" fmla="*/ 526981 h 3032924"/>
              <a:gd name="connsiteX15" fmla="*/ 2855082 w 3239999"/>
              <a:gd name="connsiteY15" fmla="*/ 526981 h 3032924"/>
              <a:gd name="connsiteX16" fmla="*/ 2861369 w 3239999"/>
              <a:gd name="connsiteY16" fmla="*/ 2472117 h 3032924"/>
              <a:gd name="connsiteX17" fmla="*/ 1663394 w 3239999"/>
              <a:gd name="connsiteY17" fmla="*/ 2765302 h 3032924"/>
              <a:gd name="connsiteX18" fmla="*/ 1663394 w 3239999"/>
              <a:gd name="connsiteY18" fmla="*/ 526981 h 3032924"/>
              <a:gd name="connsiteX19" fmla="*/ 1663394 w 3239999"/>
              <a:gd name="connsiteY19" fmla="*/ 430441 h 3032924"/>
              <a:gd name="connsiteX20" fmla="*/ 1663394 w 3239999"/>
              <a:gd name="connsiteY20" fmla="*/ 402054 h 3032924"/>
              <a:gd name="connsiteX21" fmla="*/ 2406065 w 3239999"/>
              <a:gd name="connsiteY21" fmla="*/ 22 h 3032924"/>
              <a:gd name="connsiteX22" fmla="*/ 2853673 w 3239999"/>
              <a:gd name="connsiteY22" fmla="*/ 91100 h 3032924"/>
              <a:gd name="connsiteX23" fmla="*/ 2854770 w 3239999"/>
              <a:gd name="connsiteY23" fmla="*/ 430441 h 3032924"/>
              <a:gd name="connsiteX24" fmla="*/ 3120669 w 3239999"/>
              <a:gd name="connsiteY24" fmla="*/ 428517 h 3032924"/>
              <a:gd name="connsiteX25" fmla="*/ 3120669 w 3239999"/>
              <a:gd name="connsiteY25" fmla="*/ 738345 h 3032924"/>
              <a:gd name="connsiteX26" fmla="*/ 3239999 w 3239999"/>
              <a:gd name="connsiteY26" fmla="*/ 738345 h 3032924"/>
              <a:gd name="connsiteX27" fmla="*/ 3239999 w 3239999"/>
              <a:gd name="connsiteY27" fmla="*/ 3032924 h 3032924"/>
              <a:gd name="connsiteX28" fmla="*/ 0 w 3239999"/>
              <a:gd name="connsiteY28" fmla="*/ 3032924 h 3032924"/>
              <a:gd name="connsiteX29" fmla="*/ 0 w 3239999"/>
              <a:gd name="connsiteY29" fmla="*/ 738345 h 3032924"/>
              <a:gd name="connsiteX30" fmla="*/ 102477 w 3239999"/>
              <a:gd name="connsiteY30" fmla="*/ 738345 h 3032924"/>
              <a:gd name="connsiteX31" fmla="*/ 102477 w 3239999"/>
              <a:gd name="connsiteY31" fmla="*/ 428517 h 3032924"/>
              <a:gd name="connsiteX32" fmla="*/ 385229 w 3239999"/>
              <a:gd name="connsiteY32" fmla="*/ 430441 h 3032924"/>
              <a:gd name="connsiteX33" fmla="*/ 386326 w 3239999"/>
              <a:gd name="connsiteY33" fmla="*/ 91100 h 3032924"/>
              <a:gd name="connsiteX34" fmla="*/ 833935 w 3239999"/>
              <a:gd name="connsiteY34" fmla="*/ 22 h 3032924"/>
              <a:gd name="connsiteX0" fmla="*/ 833935 w 3239999"/>
              <a:gd name="connsiteY0" fmla="*/ 22 h 3032924"/>
              <a:gd name="connsiteX1" fmla="*/ 1576606 w 3239999"/>
              <a:gd name="connsiteY1" fmla="*/ 402054 h 3032924"/>
              <a:gd name="connsiteX2" fmla="*/ 1576606 w 3239999"/>
              <a:gd name="connsiteY2" fmla="*/ 430441 h 3032924"/>
              <a:gd name="connsiteX3" fmla="*/ 1576606 w 3239999"/>
              <a:gd name="connsiteY3" fmla="*/ 526981 h 3032924"/>
              <a:gd name="connsiteX4" fmla="*/ 1576606 w 3239999"/>
              <a:gd name="connsiteY4" fmla="*/ 2765302 h 3032924"/>
              <a:gd name="connsiteX5" fmla="*/ 378630 w 3239999"/>
              <a:gd name="connsiteY5" fmla="*/ 2472117 h 3032924"/>
              <a:gd name="connsiteX6" fmla="*/ 384918 w 3239999"/>
              <a:gd name="connsiteY6" fmla="*/ 526981 h 3032924"/>
              <a:gd name="connsiteX7" fmla="*/ 239143 w 3239999"/>
              <a:gd name="connsiteY7" fmla="*/ 526981 h 3032924"/>
              <a:gd name="connsiteX8" fmla="*/ 239143 w 3239999"/>
              <a:gd name="connsiteY8" fmla="*/ 2776423 h 3032924"/>
              <a:gd name="connsiteX9" fmla="*/ 1576606 w 3239999"/>
              <a:gd name="connsiteY9" fmla="*/ 2776423 h 3032924"/>
              <a:gd name="connsiteX10" fmla="*/ 1576606 w 3239999"/>
              <a:gd name="connsiteY10" fmla="*/ 2778202 h 3032924"/>
              <a:gd name="connsiteX11" fmla="*/ 1663394 w 3239999"/>
              <a:gd name="connsiteY11" fmla="*/ 2778202 h 3032924"/>
              <a:gd name="connsiteX12" fmla="*/ 1663394 w 3239999"/>
              <a:gd name="connsiteY12" fmla="*/ 2776423 h 3032924"/>
              <a:gd name="connsiteX13" fmla="*/ 3000856 w 3239999"/>
              <a:gd name="connsiteY13" fmla="*/ 2776423 h 3032924"/>
              <a:gd name="connsiteX14" fmla="*/ 3000856 w 3239999"/>
              <a:gd name="connsiteY14" fmla="*/ 526981 h 3032924"/>
              <a:gd name="connsiteX15" fmla="*/ 2855082 w 3239999"/>
              <a:gd name="connsiteY15" fmla="*/ 526981 h 3032924"/>
              <a:gd name="connsiteX16" fmla="*/ 2861369 w 3239999"/>
              <a:gd name="connsiteY16" fmla="*/ 2472117 h 3032924"/>
              <a:gd name="connsiteX17" fmla="*/ 1663394 w 3239999"/>
              <a:gd name="connsiteY17" fmla="*/ 2765302 h 3032924"/>
              <a:gd name="connsiteX18" fmla="*/ 1663394 w 3239999"/>
              <a:gd name="connsiteY18" fmla="*/ 526981 h 3032924"/>
              <a:gd name="connsiteX19" fmla="*/ 1663394 w 3239999"/>
              <a:gd name="connsiteY19" fmla="*/ 430441 h 3032924"/>
              <a:gd name="connsiteX20" fmla="*/ 1663394 w 3239999"/>
              <a:gd name="connsiteY20" fmla="*/ 402054 h 3032924"/>
              <a:gd name="connsiteX21" fmla="*/ 2406065 w 3239999"/>
              <a:gd name="connsiteY21" fmla="*/ 22 h 3032924"/>
              <a:gd name="connsiteX22" fmla="*/ 2853673 w 3239999"/>
              <a:gd name="connsiteY22" fmla="*/ 91100 h 3032924"/>
              <a:gd name="connsiteX23" fmla="*/ 2854770 w 3239999"/>
              <a:gd name="connsiteY23" fmla="*/ 430441 h 3032924"/>
              <a:gd name="connsiteX24" fmla="*/ 3120669 w 3239999"/>
              <a:gd name="connsiteY24" fmla="*/ 428517 h 3032924"/>
              <a:gd name="connsiteX25" fmla="*/ 3120669 w 3239999"/>
              <a:gd name="connsiteY25" fmla="*/ 738345 h 3032924"/>
              <a:gd name="connsiteX26" fmla="*/ 3239999 w 3239999"/>
              <a:gd name="connsiteY26" fmla="*/ 738345 h 3032924"/>
              <a:gd name="connsiteX27" fmla="*/ 3239999 w 3239999"/>
              <a:gd name="connsiteY27" fmla="*/ 3032924 h 3032924"/>
              <a:gd name="connsiteX28" fmla="*/ 0 w 3239999"/>
              <a:gd name="connsiteY28" fmla="*/ 3032924 h 3032924"/>
              <a:gd name="connsiteX29" fmla="*/ 0 w 3239999"/>
              <a:gd name="connsiteY29" fmla="*/ 738345 h 3032924"/>
              <a:gd name="connsiteX30" fmla="*/ 102477 w 3239999"/>
              <a:gd name="connsiteY30" fmla="*/ 738345 h 3032924"/>
              <a:gd name="connsiteX31" fmla="*/ 102477 w 3239999"/>
              <a:gd name="connsiteY31" fmla="*/ 428517 h 3032924"/>
              <a:gd name="connsiteX32" fmla="*/ 385229 w 3239999"/>
              <a:gd name="connsiteY32" fmla="*/ 430441 h 3032924"/>
              <a:gd name="connsiteX33" fmla="*/ 386326 w 3239999"/>
              <a:gd name="connsiteY33" fmla="*/ 91100 h 3032924"/>
              <a:gd name="connsiteX34" fmla="*/ 833935 w 3239999"/>
              <a:gd name="connsiteY34" fmla="*/ 2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29618 w 3239999"/>
              <a:gd name="connsiteY32" fmla="*/ 2690698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2991331 w 3239999"/>
              <a:gd name="connsiteY3" fmla="*/ 2709748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29618 w 3239999"/>
              <a:gd name="connsiteY32" fmla="*/ 2690698 h 3032924"/>
              <a:gd name="connsiteX33" fmla="*/ 1576606 w 3239999"/>
              <a:gd name="connsiteY33" fmla="*/ 2776423 h 30329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239999" h="3032924">
                <a:moveTo>
                  <a:pt x="1576606" y="2778202"/>
                </a:moveTo>
                <a:cubicBezTo>
                  <a:pt x="1576606" y="2778795"/>
                  <a:pt x="1663394" y="2792670"/>
                  <a:pt x="1663394" y="2778202"/>
                </a:cubicBezTo>
                <a:lnTo>
                  <a:pt x="1663394" y="2776423"/>
                </a:lnTo>
                <a:cubicBezTo>
                  <a:pt x="2185083" y="2605634"/>
                  <a:pt x="2444552" y="2500589"/>
                  <a:pt x="2991331" y="2709748"/>
                </a:cubicBezTo>
                <a:lnTo>
                  <a:pt x="3000856" y="526981"/>
                </a:lnTo>
                <a:lnTo>
                  <a:pt x="2855082" y="526981"/>
                </a:lnTo>
                <a:cubicBezTo>
                  <a:pt x="2857178" y="1175360"/>
                  <a:pt x="2859273" y="1823738"/>
                  <a:pt x="2861369" y="2472117"/>
                </a:cubicBezTo>
                <a:cubicBezTo>
                  <a:pt x="2483869" y="2318121"/>
                  <a:pt x="2052449" y="2439541"/>
                  <a:pt x="1663394" y="2765302"/>
                </a:cubicBezTo>
                <a:lnTo>
                  <a:pt x="1663394" y="526981"/>
                </a:lnTo>
                <a:lnTo>
                  <a:pt x="1663394" y="430441"/>
                </a:lnTo>
                <a:lnTo>
                  <a:pt x="1663394" y="402054"/>
                </a:lnTo>
                <a:cubicBezTo>
                  <a:pt x="1896442" y="149589"/>
                  <a:pt x="2115835" y="2106"/>
                  <a:pt x="2406065" y="22"/>
                </a:cubicBezTo>
                <a:cubicBezTo>
                  <a:pt x="2537987" y="-925"/>
                  <a:pt x="2684544" y="28169"/>
                  <a:pt x="2853673" y="91100"/>
                </a:cubicBezTo>
                <a:cubicBezTo>
                  <a:pt x="2854039" y="204214"/>
                  <a:pt x="2854404" y="317327"/>
                  <a:pt x="2854770" y="430441"/>
                </a:cubicBezTo>
                <a:lnTo>
                  <a:pt x="3120669" y="428517"/>
                </a:lnTo>
                <a:lnTo>
                  <a:pt x="3120669" y="738345"/>
                </a:lnTo>
                <a:lnTo>
                  <a:pt x="3239999" y="738345"/>
                </a:lnTo>
                <a:lnTo>
                  <a:pt x="3239999" y="3032924"/>
                </a:lnTo>
                <a:lnTo>
                  <a:pt x="0" y="3032924"/>
                </a:lnTo>
                <a:lnTo>
                  <a:pt x="0" y="738345"/>
                </a:lnTo>
                <a:lnTo>
                  <a:pt x="102477" y="738345"/>
                </a:lnTo>
                <a:lnTo>
                  <a:pt x="102477" y="428517"/>
                </a:lnTo>
                <a:lnTo>
                  <a:pt x="385229" y="430441"/>
                </a:lnTo>
                <a:cubicBezTo>
                  <a:pt x="385595" y="317327"/>
                  <a:pt x="385960" y="204214"/>
                  <a:pt x="386326" y="91100"/>
                </a:cubicBezTo>
                <a:cubicBezTo>
                  <a:pt x="555455" y="28169"/>
                  <a:pt x="702013" y="-925"/>
                  <a:pt x="833935" y="22"/>
                </a:cubicBezTo>
                <a:cubicBezTo>
                  <a:pt x="1124164" y="2106"/>
                  <a:pt x="1343558" y="149589"/>
                  <a:pt x="1576606" y="402054"/>
                </a:cubicBezTo>
                <a:lnTo>
                  <a:pt x="1576606" y="430441"/>
                </a:lnTo>
                <a:lnTo>
                  <a:pt x="1576606" y="526981"/>
                </a:lnTo>
                <a:lnTo>
                  <a:pt x="1576606" y="2765302"/>
                </a:lnTo>
                <a:cubicBezTo>
                  <a:pt x="1187550" y="2439541"/>
                  <a:pt x="756130" y="2318121"/>
                  <a:pt x="378630" y="2472117"/>
                </a:cubicBezTo>
                <a:lnTo>
                  <a:pt x="384918" y="526981"/>
                </a:lnTo>
                <a:lnTo>
                  <a:pt x="239143" y="526981"/>
                </a:lnTo>
                <a:lnTo>
                  <a:pt x="229618" y="2690698"/>
                </a:lnTo>
                <a:cubicBezTo>
                  <a:pt x="773243" y="2466244"/>
                  <a:pt x="1081748" y="2626096"/>
                  <a:pt x="1576606" y="2776423"/>
                </a:cubicBezTo>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2" name="Group 1">
            <a:extLst>
              <a:ext uri="{FF2B5EF4-FFF2-40B4-BE49-F238E27FC236}">
                <a16:creationId xmlns:a16="http://schemas.microsoft.com/office/drawing/2014/main" id="{4BDD5789-0FC2-A211-C866-20489F9CEB17}"/>
              </a:ext>
            </a:extLst>
          </p:cNvPr>
          <p:cNvGrpSpPr/>
          <p:nvPr/>
        </p:nvGrpSpPr>
        <p:grpSpPr>
          <a:xfrm>
            <a:off x="-19020" y="-20538"/>
            <a:ext cx="9163020" cy="936104"/>
            <a:chOff x="-19020" y="-20538"/>
            <a:chExt cx="9163020" cy="936104"/>
          </a:xfrm>
        </p:grpSpPr>
        <p:sp>
          <p:nvSpPr>
            <p:cNvPr id="3" name="Rectangle 2">
              <a:extLst>
                <a:ext uri="{FF2B5EF4-FFF2-40B4-BE49-F238E27FC236}">
                  <a16:creationId xmlns:a16="http://schemas.microsoft.com/office/drawing/2014/main" id="{9228616E-49BE-53F6-A4F4-39F669C017D9}"/>
                </a:ext>
              </a:extLst>
            </p:cNvPr>
            <p:cNvSpPr/>
            <p:nvPr/>
          </p:nvSpPr>
          <p:spPr>
            <a:xfrm>
              <a:off x="323528" y="555526"/>
              <a:ext cx="4392488" cy="35427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Text Placeholder 1">
              <a:extLst>
                <a:ext uri="{FF2B5EF4-FFF2-40B4-BE49-F238E27FC236}">
                  <a16:creationId xmlns:a16="http://schemas.microsoft.com/office/drawing/2014/main" id="{114B336E-9551-1FF3-22E4-6B1A647EA075}"/>
                </a:ext>
              </a:extLst>
            </p:cNvPr>
            <p:cNvSpPr txBox="1">
              <a:spLocks/>
            </p:cNvSpPr>
            <p:nvPr/>
          </p:nvSpPr>
          <p:spPr>
            <a:xfrm>
              <a:off x="0" y="-20538"/>
              <a:ext cx="9144000" cy="576064"/>
            </a:xfrm>
            <a:prstGeom prst="rect">
              <a:avLst/>
            </a:prstGeom>
          </p:spPr>
          <p:txBody>
            <a:bodyP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l">
                <a:buNone/>
              </a:pPr>
              <a:r>
                <a:rPr lang="en-US" altLang="ko-KR" sz="3600" u="sng" dirty="0">
                  <a:solidFill>
                    <a:schemeClr val="tx1">
                      <a:lumMod val="85000"/>
                      <a:lumOff val="15000"/>
                    </a:schemeClr>
                  </a:solidFill>
                  <a:latin typeface="Bernard MT Condensed" panose="02050806060905020404" pitchFamily="18" charset="0"/>
                </a:rPr>
                <a:t>Data Structures and Algorithm</a:t>
              </a:r>
              <a:endParaRPr lang="ko-KR" altLang="en-US" sz="3600" dirty="0">
                <a:solidFill>
                  <a:schemeClr val="tx1">
                    <a:lumMod val="85000"/>
                    <a:lumOff val="15000"/>
                  </a:schemeClr>
                </a:solidFill>
              </a:endParaRPr>
            </a:p>
          </p:txBody>
        </p:sp>
        <p:sp>
          <p:nvSpPr>
            <p:cNvPr id="5" name="Rectangle 4">
              <a:extLst>
                <a:ext uri="{FF2B5EF4-FFF2-40B4-BE49-F238E27FC236}">
                  <a16:creationId xmlns:a16="http://schemas.microsoft.com/office/drawing/2014/main" id="{37861175-A3CF-DF17-D4CC-16F0E1AE1B6D}"/>
                </a:ext>
              </a:extLst>
            </p:cNvPr>
            <p:cNvSpPr/>
            <p:nvPr/>
          </p:nvSpPr>
          <p:spPr>
            <a:xfrm>
              <a:off x="-19020" y="561294"/>
              <a:ext cx="323528" cy="354272"/>
            </a:xfrm>
            <a:prstGeom prst="rect">
              <a:avLst/>
            </a:prstGeom>
            <a:solidFill>
              <a:schemeClr val="accent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10" name="TextBox 9">
              <a:extLst>
                <a:ext uri="{FF2B5EF4-FFF2-40B4-BE49-F238E27FC236}">
                  <a16:creationId xmlns:a16="http://schemas.microsoft.com/office/drawing/2014/main" id="{61A5072A-A623-A618-3FF8-078385A1BE21}"/>
                </a:ext>
              </a:extLst>
            </p:cNvPr>
            <p:cNvSpPr txBox="1"/>
            <p:nvPr/>
          </p:nvSpPr>
          <p:spPr>
            <a:xfrm>
              <a:off x="251520" y="541432"/>
              <a:ext cx="3318043" cy="369332"/>
            </a:xfrm>
            <a:prstGeom prst="rect">
              <a:avLst/>
            </a:prstGeom>
            <a:noFill/>
          </p:spPr>
          <p:txBody>
            <a:bodyPr wrap="square">
              <a:spAutoFit/>
            </a:bodyPr>
            <a:lstStyle/>
            <a:p>
              <a:pPr algn="l"/>
              <a:r>
                <a:rPr lang="en-PH" b="1" dirty="0">
                  <a:solidFill>
                    <a:schemeClr val="bg1"/>
                  </a:solidFill>
                  <a:latin typeface="Bahnschrift Condensed" panose="020B0502040204020203" pitchFamily="34" charset="0"/>
                </a:rPr>
                <a:t>Queue</a:t>
              </a:r>
              <a:r>
                <a:rPr lang="en-PH" sz="1800" b="1" dirty="0">
                  <a:solidFill>
                    <a:schemeClr val="bg1"/>
                  </a:solidFill>
                  <a:latin typeface="Bahnschrift Condensed" panose="020B0502040204020203" pitchFamily="34" charset="0"/>
                </a:rPr>
                <a:t> Sample Program</a:t>
              </a:r>
            </a:p>
          </p:txBody>
        </p:sp>
      </p:grpSp>
      <p:sp>
        <p:nvSpPr>
          <p:cNvPr id="12" name="Trapezoid 11">
            <a:extLst>
              <a:ext uri="{FF2B5EF4-FFF2-40B4-BE49-F238E27FC236}">
                <a16:creationId xmlns:a16="http://schemas.microsoft.com/office/drawing/2014/main" id="{63CBDAA3-C325-5697-BE7A-E200B08B58E6}"/>
              </a:ext>
            </a:extLst>
          </p:cNvPr>
          <p:cNvSpPr/>
          <p:nvPr/>
        </p:nvSpPr>
        <p:spPr>
          <a:xfrm rot="16200000">
            <a:off x="-30979" y="2028234"/>
            <a:ext cx="2736052" cy="1518828"/>
          </a:xfrm>
          <a:prstGeom prst="trapezoid">
            <a:avLst>
              <a:gd name="adj" fmla="val 72234"/>
            </a:avLst>
          </a:prstGeom>
          <a:gradFill>
            <a:gsLst>
              <a:gs pos="0">
                <a:schemeClr val="accent1">
                  <a:lumMod val="50000"/>
                  <a:lumOff val="50000"/>
                </a:schemeClr>
              </a:gs>
              <a:gs pos="50000">
                <a:schemeClr val="accent1">
                  <a:lumMod val="40000"/>
                  <a:lumOff val="60000"/>
                </a:schemeClr>
              </a:gs>
              <a:gs pos="100000">
                <a:schemeClr val="bg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Rounded Rectangle 8">
            <a:extLst>
              <a:ext uri="{FF2B5EF4-FFF2-40B4-BE49-F238E27FC236}">
                <a16:creationId xmlns:a16="http://schemas.microsoft.com/office/drawing/2014/main" id="{3CACDB5A-EA47-EB4D-8803-5B35F4F1BBD9}"/>
              </a:ext>
            </a:extLst>
          </p:cNvPr>
          <p:cNvSpPr/>
          <p:nvPr/>
        </p:nvSpPr>
        <p:spPr>
          <a:xfrm>
            <a:off x="16756" y="1396139"/>
            <a:ext cx="540000" cy="3060017"/>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TextBox 13">
            <a:extLst>
              <a:ext uri="{FF2B5EF4-FFF2-40B4-BE49-F238E27FC236}">
                <a16:creationId xmlns:a16="http://schemas.microsoft.com/office/drawing/2014/main" id="{240668EC-7241-D038-426E-C2F10EEC2B66}"/>
              </a:ext>
            </a:extLst>
          </p:cNvPr>
          <p:cNvSpPr txBox="1"/>
          <p:nvPr/>
        </p:nvSpPr>
        <p:spPr>
          <a:xfrm rot="16200000">
            <a:off x="-899140" y="2800845"/>
            <a:ext cx="2371794" cy="307777"/>
          </a:xfrm>
          <a:prstGeom prst="rect">
            <a:avLst/>
          </a:prstGeom>
          <a:noFill/>
        </p:spPr>
        <p:txBody>
          <a:bodyPr wrap="square" rtlCol="0">
            <a:spAutoFit/>
          </a:bodyPr>
          <a:lstStyle/>
          <a:p>
            <a:pPr algn="r"/>
            <a:r>
              <a:rPr lang="en-US" altLang="ko-KR" sz="1400" b="1" dirty="0">
                <a:solidFill>
                  <a:schemeClr val="bg1"/>
                </a:solidFill>
                <a:cs typeface="Arial" pitchFamily="34" charset="0"/>
              </a:rPr>
              <a:t>Queue Sample Program</a:t>
            </a:r>
            <a:endParaRPr lang="ko-KR" altLang="en-US" sz="1400" b="1" dirty="0">
              <a:solidFill>
                <a:schemeClr val="bg1"/>
              </a:solidFill>
              <a:cs typeface="Arial" pitchFamily="34" charset="0"/>
            </a:endParaRPr>
          </a:p>
        </p:txBody>
      </p:sp>
      <p:pic>
        <p:nvPicPr>
          <p:cNvPr id="9" name="Picture 8">
            <a:extLst>
              <a:ext uri="{FF2B5EF4-FFF2-40B4-BE49-F238E27FC236}">
                <a16:creationId xmlns:a16="http://schemas.microsoft.com/office/drawing/2014/main" id="{4BA44F0B-C8AF-FB91-5BA6-27C02863C083}"/>
              </a:ext>
            </a:extLst>
          </p:cNvPr>
          <p:cNvPicPr>
            <a:picLocks noChangeAspect="1"/>
          </p:cNvPicPr>
          <p:nvPr/>
        </p:nvPicPr>
        <p:blipFill>
          <a:blip r:embed="rId3"/>
          <a:stretch>
            <a:fillRect/>
          </a:stretch>
        </p:blipFill>
        <p:spPr>
          <a:xfrm>
            <a:off x="781822" y="1427181"/>
            <a:ext cx="3210429" cy="2310185"/>
          </a:xfrm>
          <a:prstGeom prst="rect">
            <a:avLst/>
          </a:prstGeom>
        </p:spPr>
      </p:pic>
    </p:spTree>
    <p:extLst>
      <p:ext uri="{BB962C8B-B14F-4D97-AF65-F5344CB8AC3E}">
        <p14:creationId xmlns:p14="http://schemas.microsoft.com/office/powerpoint/2010/main" val="5360650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9"/>
          <p:cNvSpPr/>
          <p:nvPr/>
        </p:nvSpPr>
        <p:spPr>
          <a:xfrm>
            <a:off x="3850130" y="555526"/>
            <a:ext cx="284243" cy="266077"/>
          </a:xfrm>
          <a:custGeom>
            <a:avLst/>
            <a:gdLst>
              <a:gd name="connsiteX0" fmla="*/ 833935 w 3239999"/>
              <a:gd name="connsiteY0" fmla="*/ 22 h 3032924"/>
              <a:gd name="connsiteX1" fmla="*/ 1576606 w 3239999"/>
              <a:gd name="connsiteY1" fmla="*/ 402054 h 3032924"/>
              <a:gd name="connsiteX2" fmla="*/ 1576606 w 3239999"/>
              <a:gd name="connsiteY2" fmla="*/ 430441 h 3032924"/>
              <a:gd name="connsiteX3" fmla="*/ 1576606 w 3239999"/>
              <a:gd name="connsiteY3" fmla="*/ 526981 h 3032924"/>
              <a:gd name="connsiteX4" fmla="*/ 1576606 w 3239999"/>
              <a:gd name="connsiteY4" fmla="*/ 2765302 h 3032924"/>
              <a:gd name="connsiteX5" fmla="*/ 378630 w 3239999"/>
              <a:gd name="connsiteY5" fmla="*/ 2472117 h 3032924"/>
              <a:gd name="connsiteX6" fmla="*/ 384918 w 3239999"/>
              <a:gd name="connsiteY6" fmla="*/ 526981 h 3032924"/>
              <a:gd name="connsiteX7" fmla="*/ 239143 w 3239999"/>
              <a:gd name="connsiteY7" fmla="*/ 526981 h 3032924"/>
              <a:gd name="connsiteX8" fmla="*/ 239143 w 3239999"/>
              <a:gd name="connsiteY8" fmla="*/ 2776423 h 3032924"/>
              <a:gd name="connsiteX9" fmla="*/ 1576606 w 3239999"/>
              <a:gd name="connsiteY9" fmla="*/ 2776423 h 3032924"/>
              <a:gd name="connsiteX10" fmla="*/ 1576606 w 3239999"/>
              <a:gd name="connsiteY10" fmla="*/ 2778202 h 3032924"/>
              <a:gd name="connsiteX11" fmla="*/ 1663394 w 3239999"/>
              <a:gd name="connsiteY11" fmla="*/ 2778202 h 3032924"/>
              <a:gd name="connsiteX12" fmla="*/ 1663394 w 3239999"/>
              <a:gd name="connsiteY12" fmla="*/ 2776423 h 3032924"/>
              <a:gd name="connsiteX13" fmla="*/ 3000856 w 3239999"/>
              <a:gd name="connsiteY13" fmla="*/ 2776423 h 3032924"/>
              <a:gd name="connsiteX14" fmla="*/ 3000856 w 3239999"/>
              <a:gd name="connsiteY14" fmla="*/ 526981 h 3032924"/>
              <a:gd name="connsiteX15" fmla="*/ 2855082 w 3239999"/>
              <a:gd name="connsiteY15" fmla="*/ 526981 h 3032924"/>
              <a:gd name="connsiteX16" fmla="*/ 2861369 w 3239999"/>
              <a:gd name="connsiteY16" fmla="*/ 2472117 h 3032924"/>
              <a:gd name="connsiteX17" fmla="*/ 1663394 w 3239999"/>
              <a:gd name="connsiteY17" fmla="*/ 2765302 h 3032924"/>
              <a:gd name="connsiteX18" fmla="*/ 1663394 w 3239999"/>
              <a:gd name="connsiteY18" fmla="*/ 526981 h 3032924"/>
              <a:gd name="connsiteX19" fmla="*/ 1663394 w 3239999"/>
              <a:gd name="connsiteY19" fmla="*/ 430441 h 3032924"/>
              <a:gd name="connsiteX20" fmla="*/ 1663394 w 3239999"/>
              <a:gd name="connsiteY20" fmla="*/ 402054 h 3032924"/>
              <a:gd name="connsiteX21" fmla="*/ 2406065 w 3239999"/>
              <a:gd name="connsiteY21" fmla="*/ 22 h 3032924"/>
              <a:gd name="connsiteX22" fmla="*/ 2853673 w 3239999"/>
              <a:gd name="connsiteY22" fmla="*/ 91100 h 3032924"/>
              <a:gd name="connsiteX23" fmla="*/ 2854770 w 3239999"/>
              <a:gd name="connsiteY23" fmla="*/ 430441 h 3032924"/>
              <a:gd name="connsiteX24" fmla="*/ 3120669 w 3239999"/>
              <a:gd name="connsiteY24" fmla="*/ 428517 h 3032924"/>
              <a:gd name="connsiteX25" fmla="*/ 3120669 w 3239999"/>
              <a:gd name="connsiteY25" fmla="*/ 738345 h 3032924"/>
              <a:gd name="connsiteX26" fmla="*/ 3239999 w 3239999"/>
              <a:gd name="connsiteY26" fmla="*/ 738345 h 3032924"/>
              <a:gd name="connsiteX27" fmla="*/ 3239999 w 3239999"/>
              <a:gd name="connsiteY27" fmla="*/ 3032924 h 3032924"/>
              <a:gd name="connsiteX28" fmla="*/ 0 w 3239999"/>
              <a:gd name="connsiteY28" fmla="*/ 3032924 h 3032924"/>
              <a:gd name="connsiteX29" fmla="*/ 0 w 3239999"/>
              <a:gd name="connsiteY29" fmla="*/ 738345 h 3032924"/>
              <a:gd name="connsiteX30" fmla="*/ 102477 w 3239999"/>
              <a:gd name="connsiteY30" fmla="*/ 738345 h 3032924"/>
              <a:gd name="connsiteX31" fmla="*/ 102477 w 3239999"/>
              <a:gd name="connsiteY31" fmla="*/ 428517 h 3032924"/>
              <a:gd name="connsiteX32" fmla="*/ 385229 w 3239999"/>
              <a:gd name="connsiteY32" fmla="*/ 430441 h 3032924"/>
              <a:gd name="connsiteX33" fmla="*/ 386326 w 3239999"/>
              <a:gd name="connsiteY33" fmla="*/ 91100 h 3032924"/>
              <a:gd name="connsiteX34" fmla="*/ 833935 w 3239999"/>
              <a:gd name="connsiteY34" fmla="*/ 22 h 3032924"/>
              <a:gd name="connsiteX0" fmla="*/ 833935 w 3239999"/>
              <a:gd name="connsiteY0" fmla="*/ 22 h 3032924"/>
              <a:gd name="connsiteX1" fmla="*/ 1576606 w 3239999"/>
              <a:gd name="connsiteY1" fmla="*/ 402054 h 3032924"/>
              <a:gd name="connsiteX2" fmla="*/ 1576606 w 3239999"/>
              <a:gd name="connsiteY2" fmla="*/ 430441 h 3032924"/>
              <a:gd name="connsiteX3" fmla="*/ 1576606 w 3239999"/>
              <a:gd name="connsiteY3" fmla="*/ 526981 h 3032924"/>
              <a:gd name="connsiteX4" fmla="*/ 1576606 w 3239999"/>
              <a:gd name="connsiteY4" fmla="*/ 2765302 h 3032924"/>
              <a:gd name="connsiteX5" fmla="*/ 378630 w 3239999"/>
              <a:gd name="connsiteY5" fmla="*/ 2472117 h 3032924"/>
              <a:gd name="connsiteX6" fmla="*/ 384918 w 3239999"/>
              <a:gd name="connsiteY6" fmla="*/ 526981 h 3032924"/>
              <a:gd name="connsiteX7" fmla="*/ 239143 w 3239999"/>
              <a:gd name="connsiteY7" fmla="*/ 526981 h 3032924"/>
              <a:gd name="connsiteX8" fmla="*/ 239143 w 3239999"/>
              <a:gd name="connsiteY8" fmla="*/ 2776423 h 3032924"/>
              <a:gd name="connsiteX9" fmla="*/ 1576606 w 3239999"/>
              <a:gd name="connsiteY9" fmla="*/ 2776423 h 3032924"/>
              <a:gd name="connsiteX10" fmla="*/ 1576606 w 3239999"/>
              <a:gd name="connsiteY10" fmla="*/ 2778202 h 3032924"/>
              <a:gd name="connsiteX11" fmla="*/ 1663394 w 3239999"/>
              <a:gd name="connsiteY11" fmla="*/ 2778202 h 3032924"/>
              <a:gd name="connsiteX12" fmla="*/ 1663394 w 3239999"/>
              <a:gd name="connsiteY12" fmla="*/ 2776423 h 3032924"/>
              <a:gd name="connsiteX13" fmla="*/ 3000856 w 3239999"/>
              <a:gd name="connsiteY13" fmla="*/ 2776423 h 3032924"/>
              <a:gd name="connsiteX14" fmla="*/ 3000856 w 3239999"/>
              <a:gd name="connsiteY14" fmla="*/ 526981 h 3032924"/>
              <a:gd name="connsiteX15" fmla="*/ 2855082 w 3239999"/>
              <a:gd name="connsiteY15" fmla="*/ 526981 h 3032924"/>
              <a:gd name="connsiteX16" fmla="*/ 2861369 w 3239999"/>
              <a:gd name="connsiteY16" fmla="*/ 2472117 h 3032924"/>
              <a:gd name="connsiteX17" fmla="*/ 1663394 w 3239999"/>
              <a:gd name="connsiteY17" fmla="*/ 2765302 h 3032924"/>
              <a:gd name="connsiteX18" fmla="*/ 1663394 w 3239999"/>
              <a:gd name="connsiteY18" fmla="*/ 526981 h 3032924"/>
              <a:gd name="connsiteX19" fmla="*/ 1663394 w 3239999"/>
              <a:gd name="connsiteY19" fmla="*/ 430441 h 3032924"/>
              <a:gd name="connsiteX20" fmla="*/ 1663394 w 3239999"/>
              <a:gd name="connsiteY20" fmla="*/ 402054 h 3032924"/>
              <a:gd name="connsiteX21" fmla="*/ 2406065 w 3239999"/>
              <a:gd name="connsiteY21" fmla="*/ 22 h 3032924"/>
              <a:gd name="connsiteX22" fmla="*/ 2853673 w 3239999"/>
              <a:gd name="connsiteY22" fmla="*/ 91100 h 3032924"/>
              <a:gd name="connsiteX23" fmla="*/ 2854770 w 3239999"/>
              <a:gd name="connsiteY23" fmla="*/ 430441 h 3032924"/>
              <a:gd name="connsiteX24" fmla="*/ 3120669 w 3239999"/>
              <a:gd name="connsiteY24" fmla="*/ 428517 h 3032924"/>
              <a:gd name="connsiteX25" fmla="*/ 3120669 w 3239999"/>
              <a:gd name="connsiteY25" fmla="*/ 738345 h 3032924"/>
              <a:gd name="connsiteX26" fmla="*/ 3239999 w 3239999"/>
              <a:gd name="connsiteY26" fmla="*/ 738345 h 3032924"/>
              <a:gd name="connsiteX27" fmla="*/ 3239999 w 3239999"/>
              <a:gd name="connsiteY27" fmla="*/ 3032924 h 3032924"/>
              <a:gd name="connsiteX28" fmla="*/ 0 w 3239999"/>
              <a:gd name="connsiteY28" fmla="*/ 3032924 h 3032924"/>
              <a:gd name="connsiteX29" fmla="*/ 0 w 3239999"/>
              <a:gd name="connsiteY29" fmla="*/ 738345 h 3032924"/>
              <a:gd name="connsiteX30" fmla="*/ 102477 w 3239999"/>
              <a:gd name="connsiteY30" fmla="*/ 738345 h 3032924"/>
              <a:gd name="connsiteX31" fmla="*/ 102477 w 3239999"/>
              <a:gd name="connsiteY31" fmla="*/ 428517 h 3032924"/>
              <a:gd name="connsiteX32" fmla="*/ 385229 w 3239999"/>
              <a:gd name="connsiteY32" fmla="*/ 430441 h 3032924"/>
              <a:gd name="connsiteX33" fmla="*/ 386326 w 3239999"/>
              <a:gd name="connsiteY33" fmla="*/ 91100 h 3032924"/>
              <a:gd name="connsiteX34" fmla="*/ 833935 w 3239999"/>
              <a:gd name="connsiteY34" fmla="*/ 22 h 3032924"/>
              <a:gd name="connsiteX0" fmla="*/ 833935 w 3239999"/>
              <a:gd name="connsiteY0" fmla="*/ 22 h 3032924"/>
              <a:gd name="connsiteX1" fmla="*/ 1576606 w 3239999"/>
              <a:gd name="connsiteY1" fmla="*/ 402054 h 3032924"/>
              <a:gd name="connsiteX2" fmla="*/ 1576606 w 3239999"/>
              <a:gd name="connsiteY2" fmla="*/ 430441 h 3032924"/>
              <a:gd name="connsiteX3" fmla="*/ 1576606 w 3239999"/>
              <a:gd name="connsiteY3" fmla="*/ 526981 h 3032924"/>
              <a:gd name="connsiteX4" fmla="*/ 1576606 w 3239999"/>
              <a:gd name="connsiteY4" fmla="*/ 2765302 h 3032924"/>
              <a:gd name="connsiteX5" fmla="*/ 378630 w 3239999"/>
              <a:gd name="connsiteY5" fmla="*/ 2472117 h 3032924"/>
              <a:gd name="connsiteX6" fmla="*/ 384918 w 3239999"/>
              <a:gd name="connsiteY6" fmla="*/ 526981 h 3032924"/>
              <a:gd name="connsiteX7" fmla="*/ 239143 w 3239999"/>
              <a:gd name="connsiteY7" fmla="*/ 526981 h 3032924"/>
              <a:gd name="connsiteX8" fmla="*/ 239143 w 3239999"/>
              <a:gd name="connsiteY8" fmla="*/ 2776423 h 3032924"/>
              <a:gd name="connsiteX9" fmla="*/ 1576606 w 3239999"/>
              <a:gd name="connsiteY9" fmla="*/ 2776423 h 3032924"/>
              <a:gd name="connsiteX10" fmla="*/ 1576606 w 3239999"/>
              <a:gd name="connsiteY10" fmla="*/ 2778202 h 3032924"/>
              <a:gd name="connsiteX11" fmla="*/ 1663394 w 3239999"/>
              <a:gd name="connsiteY11" fmla="*/ 2778202 h 3032924"/>
              <a:gd name="connsiteX12" fmla="*/ 1663394 w 3239999"/>
              <a:gd name="connsiteY12" fmla="*/ 2776423 h 3032924"/>
              <a:gd name="connsiteX13" fmla="*/ 3000856 w 3239999"/>
              <a:gd name="connsiteY13" fmla="*/ 2776423 h 3032924"/>
              <a:gd name="connsiteX14" fmla="*/ 3000856 w 3239999"/>
              <a:gd name="connsiteY14" fmla="*/ 526981 h 3032924"/>
              <a:gd name="connsiteX15" fmla="*/ 2855082 w 3239999"/>
              <a:gd name="connsiteY15" fmla="*/ 526981 h 3032924"/>
              <a:gd name="connsiteX16" fmla="*/ 2861369 w 3239999"/>
              <a:gd name="connsiteY16" fmla="*/ 2472117 h 3032924"/>
              <a:gd name="connsiteX17" fmla="*/ 1663394 w 3239999"/>
              <a:gd name="connsiteY17" fmla="*/ 2765302 h 3032924"/>
              <a:gd name="connsiteX18" fmla="*/ 1663394 w 3239999"/>
              <a:gd name="connsiteY18" fmla="*/ 526981 h 3032924"/>
              <a:gd name="connsiteX19" fmla="*/ 1663394 w 3239999"/>
              <a:gd name="connsiteY19" fmla="*/ 430441 h 3032924"/>
              <a:gd name="connsiteX20" fmla="*/ 1663394 w 3239999"/>
              <a:gd name="connsiteY20" fmla="*/ 402054 h 3032924"/>
              <a:gd name="connsiteX21" fmla="*/ 2406065 w 3239999"/>
              <a:gd name="connsiteY21" fmla="*/ 22 h 3032924"/>
              <a:gd name="connsiteX22" fmla="*/ 2853673 w 3239999"/>
              <a:gd name="connsiteY22" fmla="*/ 91100 h 3032924"/>
              <a:gd name="connsiteX23" fmla="*/ 2854770 w 3239999"/>
              <a:gd name="connsiteY23" fmla="*/ 430441 h 3032924"/>
              <a:gd name="connsiteX24" fmla="*/ 3120669 w 3239999"/>
              <a:gd name="connsiteY24" fmla="*/ 428517 h 3032924"/>
              <a:gd name="connsiteX25" fmla="*/ 3120669 w 3239999"/>
              <a:gd name="connsiteY25" fmla="*/ 738345 h 3032924"/>
              <a:gd name="connsiteX26" fmla="*/ 3239999 w 3239999"/>
              <a:gd name="connsiteY26" fmla="*/ 738345 h 3032924"/>
              <a:gd name="connsiteX27" fmla="*/ 3239999 w 3239999"/>
              <a:gd name="connsiteY27" fmla="*/ 3032924 h 3032924"/>
              <a:gd name="connsiteX28" fmla="*/ 0 w 3239999"/>
              <a:gd name="connsiteY28" fmla="*/ 3032924 h 3032924"/>
              <a:gd name="connsiteX29" fmla="*/ 0 w 3239999"/>
              <a:gd name="connsiteY29" fmla="*/ 738345 h 3032924"/>
              <a:gd name="connsiteX30" fmla="*/ 102477 w 3239999"/>
              <a:gd name="connsiteY30" fmla="*/ 738345 h 3032924"/>
              <a:gd name="connsiteX31" fmla="*/ 102477 w 3239999"/>
              <a:gd name="connsiteY31" fmla="*/ 428517 h 3032924"/>
              <a:gd name="connsiteX32" fmla="*/ 385229 w 3239999"/>
              <a:gd name="connsiteY32" fmla="*/ 430441 h 3032924"/>
              <a:gd name="connsiteX33" fmla="*/ 386326 w 3239999"/>
              <a:gd name="connsiteY33" fmla="*/ 91100 h 3032924"/>
              <a:gd name="connsiteX34" fmla="*/ 833935 w 3239999"/>
              <a:gd name="connsiteY34" fmla="*/ 2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29618 w 3239999"/>
              <a:gd name="connsiteY32" fmla="*/ 2690698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2991331 w 3239999"/>
              <a:gd name="connsiteY3" fmla="*/ 2709748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29618 w 3239999"/>
              <a:gd name="connsiteY32" fmla="*/ 2690698 h 3032924"/>
              <a:gd name="connsiteX33" fmla="*/ 1576606 w 3239999"/>
              <a:gd name="connsiteY33" fmla="*/ 2776423 h 30329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239999" h="3032924">
                <a:moveTo>
                  <a:pt x="1576606" y="2778202"/>
                </a:moveTo>
                <a:cubicBezTo>
                  <a:pt x="1576606" y="2778795"/>
                  <a:pt x="1663394" y="2792670"/>
                  <a:pt x="1663394" y="2778202"/>
                </a:cubicBezTo>
                <a:lnTo>
                  <a:pt x="1663394" y="2776423"/>
                </a:lnTo>
                <a:cubicBezTo>
                  <a:pt x="2185083" y="2605634"/>
                  <a:pt x="2444552" y="2500589"/>
                  <a:pt x="2991331" y="2709748"/>
                </a:cubicBezTo>
                <a:lnTo>
                  <a:pt x="3000856" y="526981"/>
                </a:lnTo>
                <a:lnTo>
                  <a:pt x="2855082" y="526981"/>
                </a:lnTo>
                <a:cubicBezTo>
                  <a:pt x="2857178" y="1175360"/>
                  <a:pt x="2859273" y="1823738"/>
                  <a:pt x="2861369" y="2472117"/>
                </a:cubicBezTo>
                <a:cubicBezTo>
                  <a:pt x="2483869" y="2318121"/>
                  <a:pt x="2052449" y="2439541"/>
                  <a:pt x="1663394" y="2765302"/>
                </a:cubicBezTo>
                <a:lnTo>
                  <a:pt x="1663394" y="526981"/>
                </a:lnTo>
                <a:lnTo>
                  <a:pt x="1663394" y="430441"/>
                </a:lnTo>
                <a:lnTo>
                  <a:pt x="1663394" y="402054"/>
                </a:lnTo>
                <a:cubicBezTo>
                  <a:pt x="1896442" y="149589"/>
                  <a:pt x="2115835" y="2106"/>
                  <a:pt x="2406065" y="22"/>
                </a:cubicBezTo>
                <a:cubicBezTo>
                  <a:pt x="2537987" y="-925"/>
                  <a:pt x="2684544" y="28169"/>
                  <a:pt x="2853673" y="91100"/>
                </a:cubicBezTo>
                <a:cubicBezTo>
                  <a:pt x="2854039" y="204214"/>
                  <a:pt x="2854404" y="317327"/>
                  <a:pt x="2854770" y="430441"/>
                </a:cubicBezTo>
                <a:lnTo>
                  <a:pt x="3120669" y="428517"/>
                </a:lnTo>
                <a:lnTo>
                  <a:pt x="3120669" y="738345"/>
                </a:lnTo>
                <a:lnTo>
                  <a:pt x="3239999" y="738345"/>
                </a:lnTo>
                <a:lnTo>
                  <a:pt x="3239999" y="3032924"/>
                </a:lnTo>
                <a:lnTo>
                  <a:pt x="0" y="3032924"/>
                </a:lnTo>
                <a:lnTo>
                  <a:pt x="0" y="738345"/>
                </a:lnTo>
                <a:lnTo>
                  <a:pt x="102477" y="738345"/>
                </a:lnTo>
                <a:lnTo>
                  <a:pt x="102477" y="428517"/>
                </a:lnTo>
                <a:lnTo>
                  <a:pt x="385229" y="430441"/>
                </a:lnTo>
                <a:cubicBezTo>
                  <a:pt x="385595" y="317327"/>
                  <a:pt x="385960" y="204214"/>
                  <a:pt x="386326" y="91100"/>
                </a:cubicBezTo>
                <a:cubicBezTo>
                  <a:pt x="555455" y="28169"/>
                  <a:pt x="702013" y="-925"/>
                  <a:pt x="833935" y="22"/>
                </a:cubicBezTo>
                <a:cubicBezTo>
                  <a:pt x="1124164" y="2106"/>
                  <a:pt x="1343558" y="149589"/>
                  <a:pt x="1576606" y="402054"/>
                </a:cubicBezTo>
                <a:lnTo>
                  <a:pt x="1576606" y="430441"/>
                </a:lnTo>
                <a:lnTo>
                  <a:pt x="1576606" y="526981"/>
                </a:lnTo>
                <a:lnTo>
                  <a:pt x="1576606" y="2765302"/>
                </a:lnTo>
                <a:cubicBezTo>
                  <a:pt x="1187550" y="2439541"/>
                  <a:pt x="756130" y="2318121"/>
                  <a:pt x="378630" y="2472117"/>
                </a:cubicBezTo>
                <a:lnTo>
                  <a:pt x="384918" y="526981"/>
                </a:lnTo>
                <a:lnTo>
                  <a:pt x="239143" y="526981"/>
                </a:lnTo>
                <a:lnTo>
                  <a:pt x="229618" y="2690698"/>
                </a:lnTo>
                <a:cubicBezTo>
                  <a:pt x="773243" y="2466244"/>
                  <a:pt x="1081748" y="2626096"/>
                  <a:pt x="1576606" y="2776423"/>
                </a:cubicBezTo>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2" name="Group 1">
            <a:extLst>
              <a:ext uri="{FF2B5EF4-FFF2-40B4-BE49-F238E27FC236}">
                <a16:creationId xmlns:a16="http://schemas.microsoft.com/office/drawing/2014/main" id="{4BDD5789-0FC2-A211-C866-20489F9CEB17}"/>
              </a:ext>
            </a:extLst>
          </p:cNvPr>
          <p:cNvGrpSpPr/>
          <p:nvPr/>
        </p:nvGrpSpPr>
        <p:grpSpPr>
          <a:xfrm>
            <a:off x="-19020" y="-20538"/>
            <a:ext cx="9163020" cy="936104"/>
            <a:chOff x="-19020" y="-20538"/>
            <a:chExt cx="9163020" cy="936104"/>
          </a:xfrm>
        </p:grpSpPr>
        <p:sp>
          <p:nvSpPr>
            <p:cNvPr id="3" name="Rectangle 2">
              <a:extLst>
                <a:ext uri="{FF2B5EF4-FFF2-40B4-BE49-F238E27FC236}">
                  <a16:creationId xmlns:a16="http://schemas.microsoft.com/office/drawing/2014/main" id="{9228616E-49BE-53F6-A4F4-39F669C017D9}"/>
                </a:ext>
              </a:extLst>
            </p:cNvPr>
            <p:cNvSpPr/>
            <p:nvPr/>
          </p:nvSpPr>
          <p:spPr>
            <a:xfrm>
              <a:off x="323528" y="555526"/>
              <a:ext cx="4392488" cy="35427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Text Placeholder 1">
              <a:extLst>
                <a:ext uri="{FF2B5EF4-FFF2-40B4-BE49-F238E27FC236}">
                  <a16:creationId xmlns:a16="http://schemas.microsoft.com/office/drawing/2014/main" id="{114B336E-9551-1FF3-22E4-6B1A647EA075}"/>
                </a:ext>
              </a:extLst>
            </p:cNvPr>
            <p:cNvSpPr txBox="1">
              <a:spLocks/>
            </p:cNvSpPr>
            <p:nvPr/>
          </p:nvSpPr>
          <p:spPr>
            <a:xfrm>
              <a:off x="0" y="-20538"/>
              <a:ext cx="9144000" cy="576064"/>
            </a:xfrm>
            <a:prstGeom prst="rect">
              <a:avLst/>
            </a:prstGeom>
          </p:spPr>
          <p:txBody>
            <a:bodyP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l">
                <a:buNone/>
              </a:pPr>
              <a:r>
                <a:rPr lang="en-US" altLang="ko-KR" sz="3600" u="sng" dirty="0">
                  <a:solidFill>
                    <a:schemeClr val="tx1">
                      <a:lumMod val="85000"/>
                      <a:lumOff val="15000"/>
                    </a:schemeClr>
                  </a:solidFill>
                  <a:latin typeface="Bernard MT Condensed" panose="02050806060905020404" pitchFamily="18" charset="0"/>
                </a:rPr>
                <a:t>Data Structures and Algorithm</a:t>
              </a:r>
              <a:endParaRPr lang="ko-KR" altLang="en-US" sz="3600" dirty="0">
                <a:solidFill>
                  <a:schemeClr val="tx1">
                    <a:lumMod val="85000"/>
                    <a:lumOff val="15000"/>
                  </a:schemeClr>
                </a:solidFill>
              </a:endParaRPr>
            </a:p>
          </p:txBody>
        </p:sp>
        <p:sp>
          <p:nvSpPr>
            <p:cNvPr id="5" name="Rectangle 4">
              <a:extLst>
                <a:ext uri="{FF2B5EF4-FFF2-40B4-BE49-F238E27FC236}">
                  <a16:creationId xmlns:a16="http://schemas.microsoft.com/office/drawing/2014/main" id="{37861175-A3CF-DF17-D4CC-16F0E1AE1B6D}"/>
                </a:ext>
              </a:extLst>
            </p:cNvPr>
            <p:cNvSpPr/>
            <p:nvPr/>
          </p:nvSpPr>
          <p:spPr>
            <a:xfrm>
              <a:off x="-19020" y="561294"/>
              <a:ext cx="323528" cy="354272"/>
            </a:xfrm>
            <a:prstGeom prst="rect">
              <a:avLst/>
            </a:prstGeom>
            <a:solidFill>
              <a:schemeClr val="accent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10" name="TextBox 9">
              <a:extLst>
                <a:ext uri="{FF2B5EF4-FFF2-40B4-BE49-F238E27FC236}">
                  <a16:creationId xmlns:a16="http://schemas.microsoft.com/office/drawing/2014/main" id="{61A5072A-A623-A618-3FF8-078385A1BE21}"/>
                </a:ext>
              </a:extLst>
            </p:cNvPr>
            <p:cNvSpPr txBox="1"/>
            <p:nvPr/>
          </p:nvSpPr>
          <p:spPr>
            <a:xfrm>
              <a:off x="251520" y="541432"/>
              <a:ext cx="3318043" cy="369332"/>
            </a:xfrm>
            <a:prstGeom prst="rect">
              <a:avLst/>
            </a:prstGeom>
            <a:noFill/>
          </p:spPr>
          <p:txBody>
            <a:bodyPr wrap="square">
              <a:spAutoFit/>
            </a:bodyPr>
            <a:lstStyle/>
            <a:p>
              <a:pPr algn="l"/>
              <a:r>
                <a:rPr lang="en-PH" b="1" dirty="0">
                  <a:solidFill>
                    <a:schemeClr val="bg1"/>
                  </a:solidFill>
                  <a:latin typeface="Bahnschrift Condensed" panose="020B0502040204020203" pitchFamily="34" charset="0"/>
                </a:rPr>
                <a:t>Queue</a:t>
              </a:r>
              <a:r>
                <a:rPr lang="en-PH" sz="1800" b="1" dirty="0">
                  <a:solidFill>
                    <a:schemeClr val="bg1"/>
                  </a:solidFill>
                  <a:latin typeface="Bahnschrift Condensed" panose="020B0502040204020203" pitchFamily="34" charset="0"/>
                </a:rPr>
                <a:t> Sample Program</a:t>
              </a:r>
            </a:p>
          </p:txBody>
        </p:sp>
      </p:grpSp>
      <p:sp>
        <p:nvSpPr>
          <p:cNvPr id="12" name="Trapezoid 11">
            <a:extLst>
              <a:ext uri="{FF2B5EF4-FFF2-40B4-BE49-F238E27FC236}">
                <a16:creationId xmlns:a16="http://schemas.microsoft.com/office/drawing/2014/main" id="{63CBDAA3-C325-5697-BE7A-E200B08B58E6}"/>
              </a:ext>
            </a:extLst>
          </p:cNvPr>
          <p:cNvSpPr/>
          <p:nvPr/>
        </p:nvSpPr>
        <p:spPr>
          <a:xfrm rot="16200000">
            <a:off x="-30979" y="2028234"/>
            <a:ext cx="2736052" cy="1518828"/>
          </a:xfrm>
          <a:prstGeom prst="trapezoid">
            <a:avLst>
              <a:gd name="adj" fmla="val 72234"/>
            </a:avLst>
          </a:prstGeom>
          <a:gradFill>
            <a:gsLst>
              <a:gs pos="0">
                <a:schemeClr val="accent1">
                  <a:lumMod val="50000"/>
                  <a:lumOff val="50000"/>
                </a:schemeClr>
              </a:gs>
              <a:gs pos="50000">
                <a:schemeClr val="accent1">
                  <a:lumMod val="40000"/>
                  <a:lumOff val="60000"/>
                </a:schemeClr>
              </a:gs>
              <a:gs pos="100000">
                <a:schemeClr val="bg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Rounded Rectangle 8">
            <a:extLst>
              <a:ext uri="{FF2B5EF4-FFF2-40B4-BE49-F238E27FC236}">
                <a16:creationId xmlns:a16="http://schemas.microsoft.com/office/drawing/2014/main" id="{3CACDB5A-EA47-EB4D-8803-5B35F4F1BBD9}"/>
              </a:ext>
            </a:extLst>
          </p:cNvPr>
          <p:cNvSpPr/>
          <p:nvPr/>
        </p:nvSpPr>
        <p:spPr>
          <a:xfrm>
            <a:off x="16756" y="1396139"/>
            <a:ext cx="540000" cy="3060017"/>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TextBox 13">
            <a:extLst>
              <a:ext uri="{FF2B5EF4-FFF2-40B4-BE49-F238E27FC236}">
                <a16:creationId xmlns:a16="http://schemas.microsoft.com/office/drawing/2014/main" id="{240668EC-7241-D038-426E-C2F10EEC2B66}"/>
              </a:ext>
            </a:extLst>
          </p:cNvPr>
          <p:cNvSpPr txBox="1"/>
          <p:nvPr/>
        </p:nvSpPr>
        <p:spPr>
          <a:xfrm rot="16200000">
            <a:off x="-899140" y="2800845"/>
            <a:ext cx="2371794" cy="307777"/>
          </a:xfrm>
          <a:prstGeom prst="rect">
            <a:avLst/>
          </a:prstGeom>
          <a:noFill/>
        </p:spPr>
        <p:txBody>
          <a:bodyPr wrap="square" rtlCol="0">
            <a:spAutoFit/>
          </a:bodyPr>
          <a:lstStyle/>
          <a:p>
            <a:pPr algn="r"/>
            <a:r>
              <a:rPr lang="en-US" altLang="ko-KR" sz="1400" b="1" dirty="0">
                <a:solidFill>
                  <a:schemeClr val="bg1"/>
                </a:solidFill>
                <a:cs typeface="Arial" pitchFamily="34" charset="0"/>
              </a:rPr>
              <a:t>Queue Sample Program</a:t>
            </a:r>
            <a:endParaRPr lang="ko-KR" altLang="en-US" sz="1400" b="1" dirty="0">
              <a:solidFill>
                <a:schemeClr val="bg1"/>
              </a:solidFill>
              <a:cs typeface="Arial" pitchFamily="34" charset="0"/>
            </a:endParaRPr>
          </a:p>
        </p:txBody>
      </p:sp>
      <p:pic>
        <p:nvPicPr>
          <p:cNvPr id="9" name="Picture 8">
            <a:extLst>
              <a:ext uri="{FF2B5EF4-FFF2-40B4-BE49-F238E27FC236}">
                <a16:creationId xmlns:a16="http://schemas.microsoft.com/office/drawing/2014/main" id="{4296DA15-EF40-76AC-77E4-CEEFCB2B4DEA}"/>
              </a:ext>
            </a:extLst>
          </p:cNvPr>
          <p:cNvPicPr>
            <a:picLocks noChangeAspect="1"/>
          </p:cNvPicPr>
          <p:nvPr/>
        </p:nvPicPr>
        <p:blipFill>
          <a:blip r:embed="rId3"/>
          <a:stretch>
            <a:fillRect/>
          </a:stretch>
        </p:blipFill>
        <p:spPr>
          <a:xfrm>
            <a:off x="583197" y="1361441"/>
            <a:ext cx="4392488" cy="1790471"/>
          </a:xfrm>
          <a:prstGeom prst="rect">
            <a:avLst/>
          </a:prstGeom>
        </p:spPr>
      </p:pic>
      <p:sp>
        <p:nvSpPr>
          <p:cNvPr id="7" name="TextBox 6">
            <a:extLst>
              <a:ext uri="{FF2B5EF4-FFF2-40B4-BE49-F238E27FC236}">
                <a16:creationId xmlns:a16="http://schemas.microsoft.com/office/drawing/2014/main" id="{1E2E5C1D-767C-8AAC-BF5B-5C9716FA9A23}"/>
              </a:ext>
            </a:extLst>
          </p:cNvPr>
          <p:cNvSpPr txBox="1"/>
          <p:nvPr/>
        </p:nvSpPr>
        <p:spPr>
          <a:xfrm>
            <a:off x="5596798" y="264395"/>
            <a:ext cx="3187922" cy="461665"/>
          </a:xfrm>
          <a:prstGeom prst="rect">
            <a:avLst/>
          </a:prstGeom>
          <a:noFill/>
        </p:spPr>
        <p:txBody>
          <a:bodyPr wrap="square" rtlCol="0">
            <a:spAutoFit/>
          </a:bodyPr>
          <a:lstStyle/>
          <a:p>
            <a:r>
              <a:rPr lang="en-US" sz="1200" dirty="0" err="1"/>
              <a:t>maxSize</a:t>
            </a:r>
            <a:r>
              <a:rPr lang="en-US" sz="1200" dirty="0"/>
              <a:t>=5; front =0; rear=-1; </a:t>
            </a:r>
            <a:r>
              <a:rPr lang="en-US" sz="1200" dirty="0" err="1"/>
              <a:t>nItems</a:t>
            </a:r>
            <a:r>
              <a:rPr lang="en-US" sz="1200" dirty="0"/>
              <a:t>=0 </a:t>
            </a:r>
          </a:p>
          <a:p>
            <a:endParaRPr lang="en-US" sz="1200" dirty="0"/>
          </a:p>
        </p:txBody>
      </p:sp>
      <p:sp>
        <p:nvSpPr>
          <p:cNvPr id="8" name="TextBox 7">
            <a:extLst>
              <a:ext uri="{FF2B5EF4-FFF2-40B4-BE49-F238E27FC236}">
                <a16:creationId xmlns:a16="http://schemas.microsoft.com/office/drawing/2014/main" id="{63BD5B20-772A-E7F4-7FF4-4B10128F52A8}"/>
              </a:ext>
            </a:extLst>
          </p:cNvPr>
          <p:cNvSpPr txBox="1"/>
          <p:nvPr/>
        </p:nvSpPr>
        <p:spPr>
          <a:xfrm>
            <a:off x="5076056" y="633856"/>
            <a:ext cx="1872208" cy="830997"/>
          </a:xfrm>
          <a:prstGeom prst="rect">
            <a:avLst/>
          </a:prstGeom>
          <a:noFill/>
        </p:spPr>
        <p:txBody>
          <a:bodyPr wrap="square" rtlCol="0">
            <a:spAutoFit/>
          </a:bodyPr>
          <a:lstStyle/>
          <a:p>
            <a:r>
              <a:rPr lang="en-US" sz="1200" b="1" dirty="0"/>
              <a:t>insert(10)</a:t>
            </a:r>
          </a:p>
          <a:p>
            <a:r>
              <a:rPr lang="en-US" sz="1200" dirty="0"/>
              <a:t>-1 ==4? F</a:t>
            </a:r>
          </a:p>
          <a:p>
            <a:r>
              <a:rPr lang="en-US" sz="1200" dirty="0" err="1"/>
              <a:t>queArray</a:t>
            </a:r>
            <a:r>
              <a:rPr lang="en-US" sz="1200" dirty="0"/>
              <a:t>[0]=10   rear=0</a:t>
            </a:r>
          </a:p>
          <a:p>
            <a:r>
              <a:rPr lang="en-US" sz="1200" dirty="0" err="1"/>
              <a:t>nItems</a:t>
            </a:r>
            <a:r>
              <a:rPr lang="en-US" sz="1200" dirty="0"/>
              <a:t>=1</a:t>
            </a:r>
          </a:p>
        </p:txBody>
      </p:sp>
      <p:sp>
        <p:nvSpPr>
          <p:cNvPr id="11" name="TextBox 10">
            <a:extLst>
              <a:ext uri="{FF2B5EF4-FFF2-40B4-BE49-F238E27FC236}">
                <a16:creationId xmlns:a16="http://schemas.microsoft.com/office/drawing/2014/main" id="{8ADCFBF4-8E15-4553-B13D-320E81814B85}"/>
              </a:ext>
            </a:extLst>
          </p:cNvPr>
          <p:cNvSpPr txBox="1"/>
          <p:nvPr/>
        </p:nvSpPr>
        <p:spPr>
          <a:xfrm>
            <a:off x="5132918" y="1457550"/>
            <a:ext cx="1872208" cy="830997"/>
          </a:xfrm>
          <a:prstGeom prst="rect">
            <a:avLst/>
          </a:prstGeom>
          <a:noFill/>
        </p:spPr>
        <p:txBody>
          <a:bodyPr wrap="square" rtlCol="0">
            <a:spAutoFit/>
          </a:bodyPr>
          <a:lstStyle/>
          <a:p>
            <a:r>
              <a:rPr lang="en-US" sz="1200" b="1" dirty="0"/>
              <a:t>insert(20)</a:t>
            </a:r>
          </a:p>
          <a:p>
            <a:r>
              <a:rPr lang="en-US" sz="1200" dirty="0"/>
              <a:t>0 ==4? F</a:t>
            </a:r>
          </a:p>
          <a:p>
            <a:r>
              <a:rPr lang="en-US" sz="1200" dirty="0" err="1"/>
              <a:t>queArray</a:t>
            </a:r>
            <a:r>
              <a:rPr lang="en-US" sz="1200" dirty="0"/>
              <a:t>[1]=20   rear=1</a:t>
            </a:r>
          </a:p>
          <a:p>
            <a:r>
              <a:rPr lang="en-US" sz="1200" dirty="0" err="1"/>
              <a:t>nItems</a:t>
            </a:r>
            <a:r>
              <a:rPr lang="en-US" sz="1200" dirty="0"/>
              <a:t>=2</a:t>
            </a:r>
          </a:p>
        </p:txBody>
      </p:sp>
      <p:sp>
        <p:nvSpPr>
          <p:cNvPr id="15" name="Rectangle 14">
            <a:extLst>
              <a:ext uri="{FF2B5EF4-FFF2-40B4-BE49-F238E27FC236}">
                <a16:creationId xmlns:a16="http://schemas.microsoft.com/office/drawing/2014/main" id="{71ADF3A0-892F-CC83-DB85-45CA50D82E1A}"/>
              </a:ext>
            </a:extLst>
          </p:cNvPr>
          <p:cNvSpPr/>
          <p:nvPr/>
        </p:nvSpPr>
        <p:spPr>
          <a:xfrm>
            <a:off x="3682090" y="3114224"/>
            <a:ext cx="540000" cy="1868110"/>
          </a:xfrm>
          <a:prstGeom prst="rect">
            <a:avLst/>
          </a:prstGeom>
          <a:solidFill>
            <a:srgbClr val="32AE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4D118049-645B-BBEC-9687-8B856ABBCF47}"/>
              </a:ext>
            </a:extLst>
          </p:cNvPr>
          <p:cNvSpPr txBox="1"/>
          <p:nvPr/>
        </p:nvSpPr>
        <p:spPr>
          <a:xfrm>
            <a:off x="3364252" y="3161279"/>
            <a:ext cx="466386" cy="276999"/>
          </a:xfrm>
          <a:prstGeom prst="rect">
            <a:avLst/>
          </a:prstGeom>
          <a:noFill/>
          <a:ln>
            <a:noFill/>
          </a:ln>
        </p:spPr>
        <p:txBody>
          <a:bodyPr wrap="square" rtlCol="0">
            <a:spAutoFit/>
          </a:bodyPr>
          <a:lstStyle/>
          <a:p>
            <a:r>
              <a:rPr lang="en-US" sz="1200" dirty="0"/>
              <a:t>[0]</a:t>
            </a:r>
          </a:p>
        </p:txBody>
      </p:sp>
      <p:sp>
        <p:nvSpPr>
          <p:cNvPr id="17" name="TextBox 16">
            <a:extLst>
              <a:ext uri="{FF2B5EF4-FFF2-40B4-BE49-F238E27FC236}">
                <a16:creationId xmlns:a16="http://schemas.microsoft.com/office/drawing/2014/main" id="{8C535044-782C-1AD8-FA20-2C5083ADCBD8}"/>
              </a:ext>
            </a:extLst>
          </p:cNvPr>
          <p:cNvSpPr txBox="1"/>
          <p:nvPr/>
        </p:nvSpPr>
        <p:spPr>
          <a:xfrm>
            <a:off x="3707904" y="3151912"/>
            <a:ext cx="426469" cy="307777"/>
          </a:xfrm>
          <a:prstGeom prst="rect">
            <a:avLst/>
          </a:prstGeom>
          <a:noFill/>
        </p:spPr>
        <p:txBody>
          <a:bodyPr wrap="square" rtlCol="0">
            <a:spAutoFit/>
          </a:bodyPr>
          <a:lstStyle/>
          <a:p>
            <a:r>
              <a:rPr lang="en-US" sz="1400" b="1" dirty="0">
                <a:solidFill>
                  <a:schemeClr val="bg1"/>
                </a:solidFill>
              </a:rPr>
              <a:t>10</a:t>
            </a:r>
          </a:p>
        </p:txBody>
      </p:sp>
      <p:sp>
        <p:nvSpPr>
          <p:cNvPr id="18" name="TextBox 17">
            <a:extLst>
              <a:ext uri="{FF2B5EF4-FFF2-40B4-BE49-F238E27FC236}">
                <a16:creationId xmlns:a16="http://schemas.microsoft.com/office/drawing/2014/main" id="{2EE2D34C-1289-F3C2-C583-B876818ADC28}"/>
              </a:ext>
            </a:extLst>
          </p:cNvPr>
          <p:cNvSpPr txBox="1"/>
          <p:nvPr/>
        </p:nvSpPr>
        <p:spPr>
          <a:xfrm>
            <a:off x="4247904" y="3147814"/>
            <a:ext cx="674008" cy="276999"/>
          </a:xfrm>
          <a:prstGeom prst="rect">
            <a:avLst/>
          </a:prstGeom>
          <a:noFill/>
          <a:ln>
            <a:noFill/>
          </a:ln>
        </p:spPr>
        <p:txBody>
          <a:bodyPr wrap="square" rtlCol="0">
            <a:spAutoFit/>
          </a:bodyPr>
          <a:lstStyle/>
          <a:p>
            <a:r>
              <a:rPr lang="en-US" sz="1200" dirty="0"/>
              <a:t>front</a:t>
            </a:r>
          </a:p>
        </p:txBody>
      </p:sp>
      <p:sp>
        <p:nvSpPr>
          <p:cNvPr id="19" name="TextBox 18">
            <a:extLst>
              <a:ext uri="{FF2B5EF4-FFF2-40B4-BE49-F238E27FC236}">
                <a16:creationId xmlns:a16="http://schemas.microsoft.com/office/drawing/2014/main" id="{3D34313E-A358-95C7-4E1E-CD4AED68E07A}"/>
              </a:ext>
            </a:extLst>
          </p:cNvPr>
          <p:cNvSpPr txBox="1"/>
          <p:nvPr/>
        </p:nvSpPr>
        <p:spPr>
          <a:xfrm>
            <a:off x="3355154" y="3434555"/>
            <a:ext cx="466386" cy="276999"/>
          </a:xfrm>
          <a:prstGeom prst="rect">
            <a:avLst/>
          </a:prstGeom>
          <a:noFill/>
          <a:ln>
            <a:noFill/>
          </a:ln>
        </p:spPr>
        <p:txBody>
          <a:bodyPr wrap="square" rtlCol="0">
            <a:spAutoFit/>
          </a:bodyPr>
          <a:lstStyle/>
          <a:p>
            <a:r>
              <a:rPr lang="en-US" sz="1200" dirty="0"/>
              <a:t>[1]</a:t>
            </a:r>
          </a:p>
        </p:txBody>
      </p:sp>
      <p:sp>
        <p:nvSpPr>
          <p:cNvPr id="20" name="TextBox 19">
            <a:extLst>
              <a:ext uri="{FF2B5EF4-FFF2-40B4-BE49-F238E27FC236}">
                <a16:creationId xmlns:a16="http://schemas.microsoft.com/office/drawing/2014/main" id="{6A1D9EAE-0B30-67D4-4F39-53F283A171D1}"/>
              </a:ext>
            </a:extLst>
          </p:cNvPr>
          <p:cNvSpPr txBox="1"/>
          <p:nvPr/>
        </p:nvSpPr>
        <p:spPr>
          <a:xfrm>
            <a:off x="3705381" y="3428911"/>
            <a:ext cx="426469" cy="307777"/>
          </a:xfrm>
          <a:prstGeom prst="rect">
            <a:avLst/>
          </a:prstGeom>
          <a:noFill/>
        </p:spPr>
        <p:txBody>
          <a:bodyPr wrap="square" rtlCol="0">
            <a:spAutoFit/>
          </a:bodyPr>
          <a:lstStyle/>
          <a:p>
            <a:r>
              <a:rPr lang="en-US" sz="1400" b="1" dirty="0">
                <a:solidFill>
                  <a:schemeClr val="bg1"/>
                </a:solidFill>
              </a:rPr>
              <a:t>20</a:t>
            </a:r>
          </a:p>
        </p:txBody>
      </p:sp>
      <p:sp>
        <p:nvSpPr>
          <p:cNvPr id="21" name="TextBox 20">
            <a:extLst>
              <a:ext uri="{FF2B5EF4-FFF2-40B4-BE49-F238E27FC236}">
                <a16:creationId xmlns:a16="http://schemas.microsoft.com/office/drawing/2014/main" id="{456023AE-1C2E-60FF-BC5B-89BCDCB3DCF2}"/>
              </a:ext>
            </a:extLst>
          </p:cNvPr>
          <p:cNvSpPr txBox="1"/>
          <p:nvPr/>
        </p:nvSpPr>
        <p:spPr>
          <a:xfrm>
            <a:off x="5132918" y="2389263"/>
            <a:ext cx="1872208" cy="830997"/>
          </a:xfrm>
          <a:prstGeom prst="rect">
            <a:avLst/>
          </a:prstGeom>
          <a:noFill/>
        </p:spPr>
        <p:txBody>
          <a:bodyPr wrap="square" rtlCol="0">
            <a:spAutoFit/>
          </a:bodyPr>
          <a:lstStyle/>
          <a:p>
            <a:r>
              <a:rPr lang="en-US" sz="1200" b="1" dirty="0"/>
              <a:t>insert(30)</a:t>
            </a:r>
          </a:p>
          <a:p>
            <a:r>
              <a:rPr lang="en-US" sz="1200" dirty="0"/>
              <a:t>1 ==4? F</a:t>
            </a:r>
          </a:p>
          <a:p>
            <a:r>
              <a:rPr lang="en-US" sz="1200" dirty="0" err="1"/>
              <a:t>queArray</a:t>
            </a:r>
            <a:r>
              <a:rPr lang="en-US" sz="1200" dirty="0"/>
              <a:t>[2]=30   rear=2</a:t>
            </a:r>
          </a:p>
          <a:p>
            <a:r>
              <a:rPr lang="en-US" sz="1200" dirty="0" err="1"/>
              <a:t>nItems</a:t>
            </a:r>
            <a:r>
              <a:rPr lang="en-US" sz="1200" dirty="0"/>
              <a:t>=3</a:t>
            </a:r>
          </a:p>
        </p:txBody>
      </p:sp>
      <p:sp>
        <p:nvSpPr>
          <p:cNvPr id="22" name="TextBox 21">
            <a:extLst>
              <a:ext uri="{FF2B5EF4-FFF2-40B4-BE49-F238E27FC236}">
                <a16:creationId xmlns:a16="http://schemas.microsoft.com/office/drawing/2014/main" id="{75123B6F-34F3-0017-9307-16054380CC41}"/>
              </a:ext>
            </a:extLst>
          </p:cNvPr>
          <p:cNvSpPr txBox="1"/>
          <p:nvPr/>
        </p:nvSpPr>
        <p:spPr>
          <a:xfrm>
            <a:off x="3348378" y="3743960"/>
            <a:ext cx="466386" cy="276999"/>
          </a:xfrm>
          <a:prstGeom prst="rect">
            <a:avLst/>
          </a:prstGeom>
          <a:noFill/>
          <a:ln>
            <a:noFill/>
          </a:ln>
        </p:spPr>
        <p:txBody>
          <a:bodyPr wrap="square" rtlCol="0">
            <a:spAutoFit/>
          </a:bodyPr>
          <a:lstStyle/>
          <a:p>
            <a:r>
              <a:rPr lang="en-US" sz="1200" dirty="0"/>
              <a:t>[2]</a:t>
            </a:r>
          </a:p>
        </p:txBody>
      </p:sp>
      <p:sp>
        <p:nvSpPr>
          <p:cNvPr id="23" name="TextBox 22">
            <a:extLst>
              <a:ext uri="{FF2B5EF4-FFF2-40B4-BE49-F238E27FC236}">
                <a16:creationId xmlns:a16="http://schemas.microsoft.com/office/drawing/2014/main" id="{A377A68B-729F-342C-1E31-34D5060A5358}"/>
              </a:ext>
            </a:extLst>
          </p:cNvPr>
          <p:cNvSpPr txBox="1"/>
          <p:nvPr/>
        </p:nvSpPr>
        <p:spPr>
          <a:xfrm>
            <a:off x="3705381" y="3721296"/>
            <a:ext cx="426469" cy="307777"/>
          </a:xfrm>
          <a:prstGeom prst="rect">
            <a:avLst/>
          </a:prstGeom>
          <a:noFill/>
        </p:spPr>
        <p:txBody>
          <a:bodyPr wrap="square" rtlCol="0">
            <a:spAutoFit/>
          </a:bodyPr>
          <a:lstStyle/>
          <a:p>
            <a:r>
              <a:rPr lang="en-US" sz="1400" b="1" dirty="0">
                <a:solidFill>
                  <a:schemeClr val="bg1"/>
                </a:solidFill>
              </a:rPr>
              <a:t>30</a:t>
            </a:r>
          </a:p>
        </p:txBody>
      </p:sp>
      <p:sp>
        <p:nvSpPr>
          <p:cNvPr id="24" name="TextBox 23">
            <a:extLst>
              <a:ext uri="{FF2B5EF4-FFF2-40B4-BE49-F238E27FC236}">
                <a16:creationId xmlns:a16="http://schemas.microsoft.com/office/drawing/2014/main" id="{8B15CCB9-D767-F544-D821-FE756952D28A}"/>
              </a:ext>
            </a:extLst>
          </p:cNvPr>
          <p:cNvSpPr txBox="1"/>
          <p:nvPr/>
        </p:nvSpPr>
        <p:spPr>
          <a:xfrm>
            <a:off x="5132918" y="3307666"/>
            <a:ext cx="1872208" cy="830997"/>
          </a:xfrm>
          <a:prstGeom prst="rect">
            <a:avLst/>
          </a:prstGeom>
          <a:noFill/>
        </p:spPr>
        <p:txBody>
          <a:bodyPr wrap="square" rtlCol="0">
            <a:spAutoFit/>
          </a:bodyPr>
          <a:lstStyle/>
          <a:p>
            <a:r>
              <a:rPr lang="en-US" sz="1200" b="1" dirty="0"/>
              <a:t>insert(40)</a:t>
            </a:r>
          </a:p>
          <a:p>
            <a:r>
              <a:rPr lang="en-US" sz="1200" dirty="0"/>
              <a:t>2 ==4? F</a:t>
            </a:r>
          </a:p>
          <a:p>
            <a:r>
              <a:rPr lang="en-US" sz="1200" dirty="0" err="1"/>
              <a:t>queArray</a:t>
            </a:r>
            <a:r>
              <a:rPr lang="en-US" sz="1200" dirty="0"/>
              <a:t>[3]=40   rear=3</a:t>
            </a:r>
          </a:p>
          <a:p>
            <a:r>
              <a:rPr lang="en-US" sz="1200" dirty="0" err="1"/>
              <a:t>nItems</a:t>
            </a:r>
            <a:r>
              <a:rPr lang="en-US" sz="1200" dirty="0"/>
              <a:t>=4</a:t>
            </a:r>
          </a:p>
        </p:txBody>
      </p:sp>
      <p:sp>
        <p:nvSpPr>
          <p:cNvPr id="25" name="TextBox 24">
            <a:extLst>
              <a:ext uri="{FF2B5EF4-FFF2-40B4-BE49-F238E27FC236}">
                <a16:creationId xmlns:a16="http://schemas.microsoft.com/office/drawing/2014/main" id="{77D4E6FA-7BE4-47C4-9CF3-283845CD159C}"/>
              </a:ext>
            </a:extLst>
          </p:cNvPr>
          <p:cNvSpPr txBox="1"/>
          <p:nvPr/>
        </p:nvSpPr>
        <p:spPr>
          <a:xfrm>
            <a:off x="3354877" y="4035618"/>
            <a:ext cx="466386" cy="276999"/>
          </a:xfrm>
          <a:prstGeom prst="rect">
            <a:avLst/>
          </a:prstGeom>
          <a:noFill/>
          <a:ln>
            <a:noFill/>
          </a:ln>
        </p:spPr>
        <p:txBody>
          <a:bodyPr wrap="square" rtlCol="0">
            <a:spAutoFit/>
          </a:bodyPr>
          <a:lstStyle/>
          <a:p>
            <a:r>
              <a:rPr lang="en-US" sz="1200" dirty="0"/>
              <a:t>[3]</a:t>
            </a:r>
          </a:p>
        </p:txBody>
      </p:sp>
      <p:sp>
        <p:nvSpPr>
          <p:cNvPr id="26" name="TextBox 25">
            <a:extLst>
              <a:ext uri="{FF2B5EF4-FFF2-40B4-BE49-F238E27FC236}">
                <a16:creationId xmlns:a16="http://schemas.microsoft.com/office/drawing/2014/main" id="{DACE6A17-5C02-C7EE-223A-5DDAB9F4720B}"/>
              </a:ext>
            </a:extLst>
          </p:cNvPr>
          <p:cNvSpPr txBox="1"/>
          <p:nvPr/>
        </p:nvSpPr>
        <p:spPr>
          <a:xfrm>
            <a:off x="3707904" y="4036345"/>
            <a:ext cx="426469" cy="307777"/>
          </a:xfrm>
          <a:prstGeom prst="rect">
            <a:avLst/>
          </a:prstGeom>
          <a:noFill/>
        </p:spPr>
        <p:txBody>
          <a:bodyPr wrap="square" rtlCol="0">
            <a:spAutoFit/>
          </a:bodyPr>
          <a:lstStyle/>
          <a:p>
            <a:r>
              <a:rPr lang="en-US" sz="1400" b="1" dirty="0">
                <a:solidFill>
                  <a:schemeClr val="bg1"/>
                </a:solidFill>
              </a:rPr>
              <a:t>40</a:t>
            </a:r>
          </a:p>
        </p:txBody>
      </p:sp>
      <p:sp>
        <p:nvSpPr>
          <p:cNvPr id="27" name="TextBox 26">
            <a:extLst>
              <a:ext uri="{FF2B5EF4-FFF2-40B4-BE49-F238E27FC236}">
                <a16:creationId xmlns:a16="http://schemas.microsoft.com/office/drawing/2014/main" id="{6F988A91-1E51-40D4-2192-01FD1A238F7D}"/>
              </a:ext>
            </a:extLst>
          </p:cNvPr>
          <p:cNvSpPr txBox="1"/>
          <p:nvPr/>
        </p:nvSpPr>
        <p:spPr>
          <a:xfrm>
            <a:off x="4239537" y="4076550"/>
            <a:ext cx="674008" cy="276999"/>
          </a:xfrm>
          <a:prstGeom prst="rect">
            <a:avLst/>
          </a:prstGeom>
          <a:noFill/>
          <a:ln>
            <a:noFill/>
          </a:ln>
        </p:spPr>
        <p:txBody>
          <a:bodyPr wrap="square" rtlCol="0">
            <a:spAutoFit/>
          </a:bodyPr>
          <a:lstStyle/>
          <a:p>
            <a:r>
              <a:rPr lang="en-US" sz="1200" dirty="0"/>
              <a:t>rear</a:t>
            </a:r>
          </a:p>
        </p:txBody>
      </p:sp>
      <p:sp>
        <p:nvSpPr>
          <p:cNvPr id="28" name="TextBox 27">
            <a:extLst>
              <a:ext uri="{FF2B5EF4-FFF2-40B4-BE49-F238E27FC236}">
                <a16:creationId xmlns:a16="http://schemas.microsoft.com/office/drawing/2014/main" id="{E81DC793-2CCD-718E-D54D-19C41510CC3E}"/>
              </a:ext>
            </a:extLst>
          </p:cNvPr>
          <p:cNvSpPr txBox="1"/>
          <p:nvPr/>
        </p:nvSpPr>
        <p:spPr>
          <a:xfrm>
            <a:off x="7138924" y="1445670"/>
            <a:ext cx="1872208" cy="1015663"/>
          </a:xfrm>
          <a:prstGeom prst="rect">
            <a:avLst/>
          </a:prstGeom>
          <a:noFill/>
        </p:spPr>
        <p:txBody>
          <a:bodyPr wrap="square" rtlCol="0">
            <a:spAutoFit/>
          </a:bodyPr>
          <a:lstStyle/>
          <a:p>
            <a:r>
              <a:rPr lang="en-US" sz="1200" b="1" dirty="0"/>
              <a:t>remove()	</a:t>
            </a:r>
          </a:p>
          <a:p>
            <a:r>
              <a:rPr lang="en-US" sz="1200" dirty="0"/>
              <a:t>temp=</a:t>
            </a:r>
            <a:r>
              <a:rPr lang="en-US" sz="1200" dirty="0" err="1"/>
              <a:t>queArray</a:t>
            </a:r>
            <a:r>
              <a:rPr lang="en-US" sz="1200" dirty="0"/>
              <a:t>[0]   </a:t>
            </a:r>
            <a:r>
              <a:rPr lang="en-US" sz="1200" b="1" dirty="0"/>
              <a:t>10</a:t>
            </a:r>
          </a:p>
          <a:p>
            <a:r>
              <a:rPr lang="en-US" sz="1200" dirty="0"/>
              <a:t> 1==5?  F</a:t>
            </a:r>
          </a:p>
          <a:p>
            <a:r>
              <a:rPr lang="en-US" sz="1200" dirty="0"/>
              <a:t> </a:t>
            </a:r>
            <a:r>
              <a:rPr lang="en-US" sz="1200" dirty="0" err="1"/>
              <a:t>nItems</a:t>
            </a:r>
            <a:r>
              <a:rPr lang="en-US" sz="1200" dirty="0"/>
              <a:t>=3</a:t>
            </a:r>
          </a:p>
          <a:p>
            <a:r>
              <a:rPr lang="en-US" sz="1200" dirty="0"/>
              <a:t> return 10</a:t>
            </a:r>
          </a:p>
        </p:txBody>
      </p:sp>
      <p:sp>
        <p:nvSpPr>
          <p:cNvPr id="33" name="TextBox 32">
            <a:extLst>
              <a:ext uri="{FF2B5EF4-FFF2-40B4-BE49-F238E27FC236}">
                <a16:creationId xmlns:a16="http://schemas.microsoft.com/office/drawing/2014/main" id="{7D5E3D22-3577-A101-EAA1-DDBEEBAD8C3A}"/>
              </a:ext>
            </a:extLst>
          </p:cNvPr>
          <p:cNvSpPr txBox="1"/>
          <p:nvPr/>
        </p:nvSpPr>
        <p:spPr>
          <a:xfrm>
            <a:off x="7138924" y="2571750"/>
            <a:ext cx="1872208" cy="1015663"/>
          </a:xfrm>
          <a:prstGeom prst="rect">
            <a:avLst/>
          </a:prstGeom>
          <a:noFill/>
        </p:spPr>
        <p:txBody>
          <a:bodyPr wrap="square" rtlCol="0">
            <a:spAutoFit/>
          </a:bodyPr>
          <a:lstStyle/>
          <a:p>
            <a:r>
              <a:rPr lang="en-US" sz="1200" b="1" dirty="0"/>
              <a:t>remove()</a:t>
            </a:r>
          </a:p>
          <a:p>
            <a:r>
              <a:rPr lang="en-US" sz="1200" dirty="0"/>
              <a:t>temp=</a:t>
            </a:r>
            <a:r>
              <a:rPr lang="en-US" sz="1200" dirty="0" err="1"/>
              <a:t>queArray</a:t>
            </a:r>
            <a:r>
              <a:rPr lang="en-US" sz="1200" dirty="0"/>
              <a:t>[1]   </a:t>
            </a:r>
            <a:r>
              <a:rPr lang="en-US" sz="1200" b="1" dirty="0"/>
              <a:t>20</a:t>
            </a:r>
          </a:p>
          <a:p>
            <a:r>
              <a:rPr lang="en-US" sz="1200" dirty="0"/>
              <a:t> 2==5?  F</a:t>
            </a:r>
          </a:p>
          <a:p>
            <a:r>
              <a:rPr lang="en-US" sz="1200" dirty="0"/>
              <a:t> </a:t>
            </a:r>
            <a:r>
              <a:rPr lang="en-US" sz="1200" dirty="0" err="1"/>
              <a:t>nItems</a:t>
            </a:r>
            <a:r>
              <a:rPr lang="en-US" sz="1200" dirty="0"/>
              <a:t>=2</a:t>
            </a:r>
          </a:p>
          <a:p>
            <a:r>
              <a:rPr lang="en-US" sz="1200" dirty="0"/>
              <a:t> return 20</a:t>
            </a:r>
          </a:p>
        </p:txBody>
      </p:sp>
      <p:sp>
        <p:nvSpPr>
          <p:cNvPr id="35" name="TextBox 34">
            <a:extLst>
              <a:ext uri="{FF2B5EF4-FFF2-40B4-BE49-F238E27FC236}">
                <a16:creationId xmlns:a16="http://schemas.microsoft.com/office/drawing/2014/main" id="{DBAA4E99-5687-2691-67F2-705E264D3466}"/>
              </a:ext>
            </a:extLst>
          </p:cNvPr>
          <p:cNvSpPr txBox="1"/>
          <p:nvPr/>
        </p:nvSpPr>
        <p:spPr>
          <a:xfrm>
            <a:off x="7092280" y="3667737"/>
            <a:ext cx="1872208" cy="1015663"/>
          </a:xfrm>
          <a:prstGeom prst="rect">
            <a:avLst/>
          </a:prstGeom>
          <a:noFill/>
        </p:spPr>
        <p:txBody>
          <a:bodyPr wrap="square" rtlCol="0">
            <a:spAutoFit/>
          </a:bodyPr>
          <a:lstStyle/>
          <a:p>
            <a:r>
              <a:rPr lang="en-US" sz="1200" b="1" dirty="0"/>
              <a:t>remove()</a:t>
            </a:r>
          </a:p>
          <a:p>
            <a:r>
              <a:rPr lang="en-US" sz="1200" dirty="0"/>
              <a:t>temp=</a:t>
            </a:r>
            <a:r>
              <a:rPr lang="en-US" sz="1200" dirty="0" err="1"/>
              <a:t>queArray</a:t>
            </a:r>
            <a:r>
              <a:rPr lang="en-US" sz="1200" dirty="0"/>
              <a:t>[2]   </a:t>
            </a:r>
            <a:r>
              <a:rPr lang="en-US" sz="1200" b="1" dirty="0"/>
              <a:t>30</a:t>
            </a:r>
          </a:p>
          <a:p>
            <a:r>
              <a:rPr lang="en-US" sz="1200" dirty="0"/>
              <a:t> 3==5?  F</a:t>
            </a:r>
          </a:p>
          <a:p>
            <a:r>
              <a:rPr lang="en-US" sz="1200" dirty="0"/>
              <a:t> </a:t>
            </a:r>
            <a:r>
              <a:rPr lang="en-US" sz="1200" dirty="0" err="1"/>
              <a:t>nItems</a:t>
            </a:r>
            <a:r>
              <a:rPr lang="en-US" sz="1200" dirty="0"/>
              <a:t>=1</a:t>
            </a:r>
          </a:p>
          <a:p>
            <a:r>
              <a:rPr lang="en-US" sz="1200" dirty="0"/>
              <a:t> return 30</a:t>
            </a:r>
          </a:p>
        </p:txBody>
      </p:sp>
      <p:sp>
        <p:nvSpPr>
          <p:cNvPr id="37" name="Rectangle 36">
            <a:extLst>
              <a:ext uri="{FF2B5EF4-FFF2-40B4-BE49-F238E27FC236}">
                <a16:creationId xmlns:a16="http://schemas.microsoft.com/office/drawing/2014/main" id="{CD395FF0-2828-F03B-93EF-82936EB5D163}"/>
              </a:ext>
            </a:extLst>
          </p:cNvPr>
          <p:cNvSpPr/>
          <p:nvPr/>
        </p:nvSpPr>
        <p:spPr>
          <a:xfrm>
            <a:off x="5114583" y="614685"/>
            <a:ext cx="3788815" cy="40687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396D94D8-0F90-B864-194C-DA1DCDC1127A}"/>
              </a:ext>
            </a:extLst>
          </p:cNvPr>
          <p:cNvSpPr txBox="1"/>
          <p:nvPr/>
        </p:nvSpPr>
        <p:spPr>
          <a:xfrm>
            <a:off x="5209854" y="789509"/>
            <a:ext cx="1872208" cy="830997"/>
          </a:xfrm>
          <a:prstGeom prst="rect">
            <a:avLst/>
          </a:prstGeom>
          <a:noFill/>
        </p:spPr>
        <p:txBody>
          <a:bodyPr wrap="square" rtlCol="0">
            <a:spAutoFit/>
          </a:bodyPr>
          <a:lstStyle/>
          <a:p>
            <a:r>
              <a:rPr lang="en-US" sz="1200" b="1" dirty="0"/>
              <a:t>insert(50)</a:t>
            </a:r>
          </a:p>
          <a:p>
            <a:r>
              <a:rPr lang="en-US" sz="1200" dirty="0"/>
              <a:t> 3==4? F</a:t>
            </a:r>
          </a:p>
          <a:p>
            <a:r>
              <a:rPr lang="en-US" sz="1200" dirty="0" err="1"/>
              <a:t>queArray</a:t>
            </a:r>
            <a:r>
              <a:rPr lang="en-US" sz="1200" dirty="0"/>
              <a:t>[4]=50   rear=4</a:t>
            </a:r>
          </a:p>
          <a:p>
            <a:r>
              <a:rPr lang="en-US" sz="1200" dirty="0" err="1"/>
              <a:t>nItems</a:t>
            </a:r>
            <a:r>
              <a:rPr lang="en-US" sz="1200" dirty="0"/>
              <a:t>=2</a:t>
            </a:r>
          </a:p>
        </p:txBody>
      </p:sp>
      <p:sp>
        <p:nvSpPr>
          <p:cNvPr id="41" name="TextBox 40">
            <a:extLst>
              <a:ext uri="{FF2B5EF4-FFF2-40B4-BE49-F238E27FC236}">
                <a16:creationId xmlns:a16="http://schemas.microsoft.com/office/drawing/2014/main" id="{9E5F07CD-48D3-D306-23E6-0F14A494D3F4}"/>
              </a:ext>
            </a:extLst>
          </p:cNvPr>
          <p:cNvSpPr txBox="1"/>
          <p:nvPr/>
        </p:nvSpPr>
        <p:spPr>
          <a:xfrm>
            <a:off x="3364252" y="4310975"/>
            <a:ext cx="466386" cy="276999"/>
          </a:xfrm>
          <a:prstGeom prst="rect">
            <a:avLst/>
          </a:prstGeom>
          <a:noFill/>
          <a:ln>
            <a:noFill/>
          </a:ln>
        </p:spPr>
        <p:txBody>
          <a:bodyPr wrap="square" rtlCol="0">
            <a:spAutoFit/>
          </a:bodyPr>
          <a:lstStyle/>
          <a:p>
            <a:r>
              <a:rPr lang="en-US" sz="1200" dirty="0"/>
              <a:t>[4]</a:t>
            </a:r>
          </a:p>
        </p:txBody>
      </p:sp>
      <p:sp>
        <p:nvSpPr>
          <p:cNvPr id="42" name="TextBox 41">
            <a:extLst>
              <a:ext uri="{FF2B5EF4-FFF2-40B4-BE49-F238E27FC236}">
                <a16:creationId xmlns:a16="http://schemas.microsoft.com/office/drawing/2014/main" id="{B6AEEE21-8729-45D0-3DF5-ECDF9348D0CA}"/>
              </a:ext>
            </a:extLst>
          </p:cNvPr>
          <p:cNvSpPr txBox="1"/>
          <p:nvPr/>
        </p:nvSpPr>
        <p:spPr>
          <a:xfrm>
            <a:off x="3693804" y="4312617"/>
            <a:ext cx="426469" cy="307777"/>
          </a:xfrm>
          <a:prstGeom prst="rect">
            <a:avLst/>
          </a:prstGeom>
          <a:noFill/>
        </p:spPr>
        <p:txBody>
          <a:bodyPr wrap="square" rtlCol="0">
            <a:spAutoFit/>
          </a:bodyPr>
          <a:lstStyle/>
          <a:p>
            <a:r>
              <a:rPr lang="en-US" sz="1400" b="1" dirty="0">
                <a:solidFill>
                  <a:schemeClr val="bg1"/>
                </a:solidFill>
              </a:rPr>
              <a:t>50</a:t>
            </a:r>
          </a:p>
        </p:txBody>
      </p:sp>
      <p:sp>
        <p:nvSpPr>
          <p:cNvPr id="43" name="TextBox 42">
            <a:extLst>
              <a:ext uri="{FF2B5EF4-FFF2-40B4-BE49-F238E27FC236}">
                <a16:creationId xmlns:a16="http://schemas.microsoft.com/office/drawing/2014/main" id="{06620F37-C978-C4F6-8C31-EBB0D858B71A}"/>
              </a:ext>
            </a:extLst>
          </p:cNvPr>
          <p:cNvSpPr txBox="1"/>
          <p:nvPr/>
        </p:nvSpPr>
        <p:spPr>
          <a:xfrm>
            <a:off x="5199608" y="1707912"/>
            <a:ext cx="1872208" cy="1015663"/>
          </a:xfrm>
          <a:prstGeom prst="rect">
            <a:avLst/>
          </a:prstGeom>
          <a:noFill/>
        </p:spPr>
        <p:txBody>
          <a:bodyPr wrap="square" rtlCol="0">
            <a:spAutoFit/>
          </a:bodyPr>
          <a:lstStyle/>
          <a:p>
            <a:r>
              <a:rPr lang="en-US" sz="1200" b="1" dirty="0"/>
              <a:t>insert(60)</a:t>
            </a:r>
          </a:p>
          <a:p>
            <a:r>
              <a:rPr lang="en-US" sz="1200" dirty="0"/>
              <a:t> 4==4? T</a:t>
            </a:r>
          </a:p>
          <a:p>
            <a:r>
              <a:rPr lang="en-US" sz="1200" dirty="0"/>
              <a:t> rear=-1</a:t>
            </a:r>
          </a:p>
          <a:p>
            <a:r>
              <a:rPr lang="en-US" sz="1200" dirty="0" err="1"/>
              <a:t>queArray</a:t>
            </a:r>
            <a:r>
              <a:rPr lang="en-US" sz="1200" dirty="0"/>
              <a:t>[0]=60   rear=0</a:t>
            </a:r>
          </a:p>
          <a:p>
            <a:r>
              <a:rPr lang="en-US" sz="1200" dirty="0" err="1"/>
              <a:t>nItems</a:t>
            </a:r>
            <a:r>
              <a:rPr lang="en-US" sz="1200" dirty="0"/>
              <a:t>=3</a:t>
            </a:r>
          </a:p>
        </p:txBody>
      </p:sp>
      <p:sp>
        <p:nvSpPr>
          <p:cNvPr id="54" name="Rectangle 53">
            <a:extLst>
              <a:ext uri="{FF2B5EF4-FFF2-40B4-BE49-F238E27FC236}">
                <a16:creationId xmlns:a16="http://schemas.microsoft.com/office/drawing/2014/main" id="{466DC2D3-2A36-4278-56A0-7B0D67C89A0A}"/>
              </a:ext>
            </a:extLst>
          </p:cNvPr>
          <p:cNvSpPr/>
          <p:nvPr/>
        </p:nvSpPr>
        <p:spPr>
          <a:xfrm>
            <a:off x="3750446" y="3211662"/>
            <a:ext cx="414892" cy="176231"/>
          </a:xfrm>
          <a:prstGeom prst="rect">
            <a:avLst/>
          </a:prstGeom>
          <a:solidFill>
            <a:srgbClr val="32AE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9DDD35E8-776D-566E-B5D8-A80CA8BBAE6D}"/>
              </a:ext>
            </a:extLst>
          </p:cNvPr>
          <p:cNvSpPr/>
          <p:nvPr/>
        </p:nvSpPr>
        <p:spPr>
          <a:xfrm>
            <a:off x="4289198" y="3159198"/>
            <a:ext cx="413521" cy="27535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TextBox 55">
            <a:extLst>
              <a:ext uri="{FF2B5EF4-FFF2-40B4-BE49-F238E27FC236}">
                <a16:creationId xmlns:a16="http://schemas.microsoft.com/office/drawing/2014/main" id="{C9CAE4AE-4462-F991-0B2F-93854D3F807F}"/>
              </a:ext>
            </a:extLst>
          </p:cNvPr>
          <p:cNvSpPr txBox="1"/>
          <p:nvPr/>
        </p:nvSpPr>
        <p:spPr>
          <a:xfrm>
            <a:off x="4239537" y="3424813"/>
            <a:ext cx="674008" cy="276999"/>
          </a:xfrm>
          <a:prstGeom prst="rect">
            <a:avLst/>
          </a:prstGeom>
          <a:noFill/>
          <a:ln>
            <a:noFill/>
          </a:ln>
        </p:spPr>
        <p:txBody>
          <a:bodyPr wrap="square" rtlCol="0">
            <a:spAutoFit/>
          </a:bodyPr>
          <a:lstStyle/>
          <a:p>
            <a:r>
              <a:rPr lang="en-US" sz="1200" dirty="0"/>
              <a:t>front</a:t>
            </a:r>
          </a:p>
        </p:txBody>
      </p:sp>
      <p:sp>
        <p:nvSpPr>
          <p:cNvPr id="57" name="Rectangle 56">
            <a:extLst>
              <a:ext uri="{FF2B5EF4-FFF2-40B4-BE49-F238E27FC236}">
                <a16:creationId xmlns:a16="http://schemas.microsoft.com/office/drawing/2014/main" id="{AD3E86C0-6AEF-56C4-F97C-B010EA8962E8}"/>
              </a:ext>
            </a:extLst>
          </p:cNvPr>
          <p:cNvSpPr/>
          <p:nvPr/>
        </p:nvSpPr>
        <p:spPr>
          <a:xfrm>
            <a:off x="3709152" y="3479211"/>
            <a:ext cx="414892" cy="176231"/>
          </a:xfrm>
          <a:prstGeom prst="rect">
            <a:avLst/>
          </a:prstGeom>
          <a:solidFill>
            <a:srgbClr val="32AE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C03FE336-CEA2-2CA0-CEAB-6211779356E0}"/>
              </a:ext>
            </a:extLst>
          </p:cNvPr>
          <p:cNvSpPr/>
          <p:nvPr/>
        </p:nvSpPr>
        <p:spPr>
          <a:xfrm>
            <a:off x="4247904" y="3426747"/>
            <a:ext cx="413521" cy="27535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TextBox 58">
            <a:extLst>
              <a:ext uri="{FF2B5EF4-FFF2-40B4-BE49-F238E27FC236}">
                <a16:creationId xmlns:a16="http://schemas.microsoft.com/office/drawing/2014/main" id="{EE53FA12-9A6B-ECB8-DC8B-DD17329203A5}"/>
              </a:ext>
            </a:extLst>
          </p:cNvPr>
          <p:cNvSpPr txBox="1"/>
          <p:nvPr/>
        </p:nvSpPr>
        <p:spPr>
          <a:xfrm>
            <a:off x="4198243" y="3692362"/>
            <a:ext cx="674008" cy="276999"/>
          </a:xfrm>
          <a:prstGeom prst="rect">
            <a:avLst/>
          </a:prstGeom>
          <a:noFill/>
          <a:ln>
            <a:noFill/>
          </a:ln>
        </p:spPr>
        <p:txBody>
          <a:bodyPr wrap="square" rtlCol="0">
            <a:spAutoFit/>
          </a:bodyPr>
          <a:lstStyle/>
          <a:p>
            <a:r>
              <a:rPr lang="en-US" sz="1200" dirty="0"/>
              <a:t>front</a:t>
            </a:r>
          </a:p>
        </p:txBody>
      </p:sp>
      <p:sp>
        <p:nvSpPr>
          <p:cNvPr id="63" name="Rectangle 62">
            <a:extLst>
              <a:ext uri="{FF2B5EF4-FFF2-40B4-BE49-F238E27FC236}">
                <a16:creationId xmlns:a16="http://schemas.microsoft.com/office/drawing/2014/main" id="{0952ED03-F966-4834-63F2-BCF16EF12C63}"/>
              </a:ext>
            </a:extLst>
          </p:cNvPr>
          <p:cNvSpPr/>
          <p:nvPr/>
        </p:nvSpPr>
        <p:spPr>
          <a:xfrm>
            <a:off x="3721865" y="3783540"/>
            <a:ext cx="414892" cy="176231"/>
          </a:xfrm>
          <a:prstGeom prst="rect">
            <a:avLst/>
          </a:prstGeom>
          <a:solidFill>
            <a:srgbClr val="32AE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63">
            <a:extLst>
              <a:ext uri="{FF2B5EF4-FFF2-40B4-BE49-F238E27FC236}">
                <a16:creationId xmlns:a16="http://schemas.microsoft.com/office/drawing/2014/main" id="{BB3AA288-7A68-337B-D592-27EF28F27283}"/>
              </a:ext>
            </a:extLst>
          </p:cNvPr>
          <p:cNvSpPr/>
          <p:nvPr/>
        </p:nvSpPr>
        <p:spPr>
          <a:xfrm>
            <a:off x="4260617" y="3731076"/>
            <a:ext cx="413521" cy="27535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TextBox 64">
            <a:extLst>
              <a:ext uri="{FF2B5EF4-FFF2-40B4-BE49-F238E27FC236}">
                <a16:creationId xmlns:a16="http://schemas.microsoft.com/office/drawing/2014/main" id="{A1815638-CF3D-108F-0D17-B8D4F2CA5B3D}"/>
              </a:ext>
            </a:extLst>
          </p:cNvPr>
          <p:cNvSpPr txBox="1"/>
          <p:nvPr/>
        </p:nvSpPr>
        <p:spPr>
          <a:xfrm>
            <a:off x="4661424" y="4087569"/>
            <a:ext cx="548429" cy="276999"/>
          </a:xfrm>
          <a:prstGeom prst="rect">
            <a:avLst/>
          </a:prstGeom>
          <a:solidFill>
            <a:srgbClr val="32AEB8"/>
          </a:solidFill>
          <a:ln>
            <a:noFill/>
          </a:ln>
        </p:spPr>
        <p:txBody>
          <a:bodyPr wrap="square" rtlCol="0">
            <a:spAutoFit/>
          </a:bodyPr>
          <a:lstStyle/>
          <a:p>
            <a:r>
              <a:rPr lang="en-US" sz="1200" b="1" dirty="0">
                <a:solidFill>
                  <a:schemeClr val="bg1"/>
                </a:solidFill>
              </a:rPr>
              <a:t>front</a:t>
            </a:r>
          </a:p>
        </p:txBody>
      </p:sp>
      <p:sp>
        <p:nvSpPr>
          <p:cNvPr id="66" name="Rectangle 65">
            <a:extLst>
              <a:ext uri="{FF2B5EF4-FFF2-40B4-BE49-F238E27FC236}">
                <a16:creationId xmlns:a16="http://schemas.microsoft.com/office/drawing/2014/main" id="{09806C8D-DCB4-5392-A1AE-7D43FBCD3694}"/>
              </a:ext>
            </a:extLst>
          </p:cNvPr>
          <p:cNvSpPr/>
          <p:nvPr/>
        </p:nvSpPr>
        <p:spPr>
          <a:xfrm>
            <a:off x="4247904" y="4028686"/>
            <a:ext cx="413521" cy="27535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TextBox 66">
            <a:extLst>
              <a:ext uri="{FF2B5EF4-FFF2-40B4-BE49-F238E27FC236}">
                <a16:creationId xmlns:a16="http://schemas.microsoft.com/office/drawing/2014/main" id="{9F0B1CE5-3517-EF4F-8B30-E33CF5DF6E4E}"/>
              </a:ext>
            </a:extLst>
          </p:cNvPr>
          <p:cNvSpPr txBox="1"/>
          <p:nvPr/>
        </p:nvSpPr>
        <p:spPr>
          <a:xfrm>
            <a:off x="4247904" y="4325427"/>
            <a:ext cx="674008" cy="276999"/>
          </a:xfrm>
          <a:prstGeom prst="rect">
            <a:avLst/>
          </a:prstGeom>
          <a:noFill/>
          <a:ln>
            <a:noFill/>
          </a:ln>
        </p:spPr>
        <p:txBody>
          <a:bodyPr wrap="square" rtlCol="0">
            <a:spAutoFit/>
          </a:bodyPr>
          <a:lstStyle/>
          <a:p>
            <a:r>
              <a:rPr lang="en-US" sz="1200" dirty="0"/>
              <a:t>rear</a:t>
            </a:r>
          </a:p>
        </p:txBody>
      </p:sp>
      <p:sp>
        <p:nvSpPr>
          <p:cNvPr id="72" name="TextBox 71">
            <a:extLst>
              <a:ext uri="{FF2B5EF4-FFF2-40B4-BE49-F238E27FC236}">
                <a16:creationId xmlns:a16="http://schemas.microsoft.com/office/drawing/2014/main" id="{BD2435CD-28BA-A576-E485-95D9DE11BCD3}"/>
              </a:ext>
            </a:extLst>
          </p:cNvPr>
          <p:cNvSpPr txBox="1"/>
          <p:nvPr/>
        </p:nvSpPr>
        <p:spPr>
          <a:xfrm>
            <a:off x="3695459" y="3109332"/>
            <a:ext cx="426469" cy="307777"/>
          </a:xfrm>
          <a:prstGeom prst="rect">
            <a:avLst/>
          </a:prstGeom>
          <a:noFill/>
        </p:spPr>
        <p:txBody>
          <a:bodyPr wrap="square" rtlCol="0">
            <a:spAutoFit/>
          </a:bodyPr>
          <a:lstStyle/>
          <a:p>
            <a:r>
              <a:rPr lang="en-US" sz="1400" b="1" dirty="0">
                <a:solidFill>
                  <a:schemeClr val="bg1"/>
                </a:solidFill>
              </a:rPr>
              <a:t>60</a:t>
            </a:r>
          </a:p>
        </p:txBody>
      </p:sp>
      <p:sp>
        <p:nvSpPr>
          <p:cNvPr id="73" name="Rectangle 72">
            <a:extLst>
              <a:ext uri="{FF2B5EF4-FFF2-40B4-BE49-F238E27FC236}">
                <a16:creationId xmlns:a16="http://schemas.microsoft.com/office/drawing/2014/main" id="{59D1F409-F3A3-EE01-504F-7249D69F0C20}"/>
              </a:ext>
            </a:extLst>
          </p:cNvPr>
          <p:cNvSpPr/>
          <p:nvPr/>
        </p:nvSpPr>
        <p:spPr>
          <a:xfrm>
            <a:off x="4253693" y="4313427"/>
            <a:ext cx="413521" cy="27535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TextBox 73">
            <a:extLst>
              <a:ext uri="{FF2B5EF4-FFF2-40B4-BE49-F238E27FC236}">
                <a16:creationId xmlns:a16="http://schemas.microsoft.com/office/drawing/2014/main" id="{938B0FD9-51E1-37D1-B400-22684414AE35}"/>
              </a:ext>
            </a:extLst>
          </p:cNvPr>
          <p:cNvSpPr txBox="1"/>
          <p:nvPr/>
        </p:nvSpPr>
        <p:spPr>
          <a:xfrm>
            <a:off x="4254721" y="3107205"/>
            <a:ext cx="674008" cy="276999"/>
          </a:xfrm>
          <a:prstGeom prst="rect">
            <a:avLst/>
          </a:prstGeom>
          <a:noFill/>
          <a:ln>
            <a:noFill/>
          </a:ln>
        </p:spPr>
        <p:txBody>
          <a:bodyPr wrap="square" rtlCol="0">
            <a:spAutoFit/>
          </a:bodyPr>
          <a:lstStyle/>
          <a:p>
            <a:r>
              <a:rPr lang="en-US" sz="1200" dirty="0"/>
              <a:t>rear</a:t>
            </a:r>
          </a:p>
        </p:txBody>
      </p:sp>
      <p:sp>
        <p:nvSpPr>
          <p:cNvPr id="77" name="TextBox 76">
            <a:extLst>
              <a:ext uri="{FF2B5EF4-FFF2-40B4-BE49-F238E27FC236}">
                <a16:creationId xmlns:a16="http://schemas.microsoft.com/office/drawing/2014/main" id="{9EB1C2A5-8AEE-E475-E702-D3005E2E3B1B}"/>
              </a:ext>
            </a:extLst>
          </p:cNvPr>
          <p:cNvSpPr txBox="1"/>
          <p:nvPr/>
        </p:nvSpPr>
        <p:spPr>
          <a:xfrm>
            <a:off x="5191203" y="2749207"/>
            <a:ext cx="1872208" cy="1015663"/>
          </a:xfrm>
          <a:prstGeom prst="rect">
            <a:avLst/>
          </a:prstGeom>
          <a:noFill/>
        </p:spPr>
        <p:txBody>
          <a:bodyPr wrap="square" rtlCol="0">
            <a:spAutoFit/>
          </a:bodyPr>
          <a:lstStyle/>
          <a:p>
            <a:r>
              <a:rPr lang="en-US" sz="1200" b="1" dirty="0"/>
              <a:t>insert(70)</a:t>
            </a:r>
          </a:p>
          <a:p>
            <a:r>
              <a:rPr lang="en-US" sz="1200" dirty="0"/>
              <a:t> 0==4? F</a:t>
            </a:r>
          </a:p>
          <a:p>
            <a:r>
              <a:rPr lang="en-US" sz="1200" dirty="0"/>
              <a:t> rear=-1</a:t>
            </a:r>
          </a:p>
          <a:p>
            <a:r>
              <a:rPr lang="en-US" sz="1200" dirty="0" err="1"/>
              <a:t>queArray</a:t>
            </a:r>
            <a:r>
              <a:rPr lang="en-US" sz="1200" dirty="0"/>
              <a:t>[1]=70   rear=1</a:t>
            </a:r>
          </a:p>
          <a:p>
            <a:r>
              <a:rPr lang="en-US" sz="1200" dirty="0" err="1"/>
              <a:t>nItems</a:t>
            </a:r>
            <a:r>
              <a:rPr lang="en-US" sz="1200" dirty="0"/>
              <a:t>=4</a:t>
            </a:r>
          </a:p>
        </p:txBody>
      </p:sp>
      <p:sp>
        <p:nvSpPr>
          <p:cNvPr id="78" name="TextBox 77">
            <a:extLst>
              <a:ext uri="{FF2B5EF4-FFF2-40B4-BE49-F238E27FC236}">
                <a16:creationId xmlns:a16="http://schemas.microsoft.com/office/drawing/2014/main" id="{C3F78CB9-2748-DEF8-415D-C2AA75FEECD3}"/>
              </a:ext>
            </a:extLst>
          </p:cNvPr>
          <p:cNvSpPr txBox="1"/>
          <p:nvPr/>
        </p:nvSpPr>
        <p:spPr>
          <a:xfrm>
            <a:off x="3707856" y="3439447"/>
            <a:ext cx="426469" cy="307777"/>
          </a:xfrm>
          <a:prstGeom prst="rect">
            <a:avLst/>
          </a:prstGeom>
          <a:noFill/>
        </p:spPr>
        <p:txBody>
          <a:bodyPr wrap="square" rtlCol="0">
            <a:spAutoFit/>
          </a:bodyPr>
          <a:lstStyle/>
          <a:p>
            <a:r>
              <a:rPr lang="en-US" sz="1400" b="1" dirty="0">
                <a:solidFill>
                  <a:schemeClr val="bg1"/>
                </a:solidFill>
              </a:rPr>
              <a:t>70</a:t>
            </a:r>
          </a:p>
        </p:txBody>
      </p:sp>
      <p:sp>
        <p:nvSpPr>
          <p:cNvPr id="79" name="Rectangle 78">
            <a:extLst>
              <a:ext uri="{FF2B5EF4-FFF2-40B4-BE49-F238E27FC236}">
                <a16:creationId xmlns:a16="http://schemas.microsoft.com/office/drawing/2014/main" id="{B7D5B038-6605-EF7A-B3E1-319735DA3EED}"/>
              </a:ext>
            </a:extLst>
          </p:cNvPr>
          <p:cNvSpPr/>
          <p:nvPr/>
        </p:nvSpPr>
        <p:spPr>
          <a:xfrm>
            <a:off x="4267723" y="3145206"/>
            <a:ext cx="413521" cy="27535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TextBox 79">
            <a:extLst>
              <a:ext uri="{FF2B5EF4-FFF2-40B4-BE49-F238E27FC236}">
                <a16:creationId xmlns:a16="http://schemas.microsoft.com/office/drawing/2014/main" id="{C8B40698-737A-5E64-AA09-98E9E40776AD}"/>
              </a:ext>
            </a:extLst>
          </p:cNvPr>
          <p:cNvSpPr txBox="1"/>
          <p:nvPr/>
        </p:nvSpPr>
        <p:spPr>
          <a:xfrm>
            <a:off x="4267118" y="3437320"/>
            <a:ext cx="674008" cy="276999"/>
          </a:xfrm>
          <a:prstGeom prst="rect">
            <a:avLst/>
          </a:prstGeom>
          <a:noFill/>
          <a:ln>
            <a:noFill/>
          </a:ln>
        </p:spPr>
        <p:txBody>
          <a:bodyPr wrap="square" rtlCol="0">
            <a:spAutoFit/>
          </a:bodyPr>
          <a:lstStyle/>
          <a:p>
            <a:r>
              <a:rPr lang="en-US" sz="1200" dirty="0"/>
              <a:t>rear</a:t>
            </a:r>
          </a:p>
        </p:txBody>
      </p:sp>
      <p:sp>
        <p:nvSpPr>
          <p:cNvPr id="81" name="TextBox 80">
            <a:extLst>
              <a:ext uri="{FF2B5EF4-FFF2-40B4-BE49-F238E27FC236}">
                <a16:creationId xmlns:a16="http://schemas.microsoft.com/office/drawing/2014/main" id="{E0F98CA8-7DE7-1882-76D8-7E6E068DA0AB}"/>
              </a:ext>
            </a:extLst>
          </p:cNvPr>
          <p:cNvSpPr txBox="1"/>
          <p:nvPr/>
        </p:nvSpPr>
        <p:spPr>
          <a:xfrm>
            <a:off x="5191203" y="3836290"/>
            <a:ext cx="1872208" cy="1015663"/>
          </a:xfrm>
          <a:prstGeom prst="rect">
            <a:avLst/>
          </a:prstGeom>
          <a:noFill/>
        </p:spPr>
        <p:txBody>
          <a:bodyPr wrap="square" rtlCol="0">
            <a:spAutoFit/>
          </a:bodyPr>
          <a:lstStyle/>
          <a:p>
            <a:r>
              <a:rPr lang="en-US" sz="1200" b="1" dirty="0"/>
              <a:t>insert(80)</a:t>
            </a:r>
          </a:p>
          <a:p>
            <a:r>
              <a:rPr lang="en-US" sz="1200" dirty="0"/>
              <a:t> 1==4? F</a:t>
            </a:r>
          </a:p>
          <a:p>
            <a:r>
              <a:rPr lang="en-US" sz="1200" dirty="0"/>
              <a:t> rear=-1</a:t>
            </a:r>
          </a:p>
          <a:p>
            <a:r>
              <a:rPr lang="en-US" sz="1200" dirty="0" err="1"/>
              <a:t>queArray</a:t>
            </a:r>
            <a:r>
              <a:rPr lang="en-US" sz="1200" dirty="0"/>
              <a:t>[2]=80   rear=2</a:t>
            </a:r>
          </a:p>
          <a:p>
            <a:r>
              <a:rPr lang="en-US" sz="1200" dirty="0" err="1"/>
              <a:t>nItems</a:t>
            </a:r>
            <a:r>
              <a:rPr lang="en-US" sz="1200" dirty="0"/>
              <a:t>=5</a:t>
            </a:r>
          </a:p>
        </p:txBody>
      </p:sp>
      <p:sp>
        <p:nvSpPr>
          <p:cNvPr id="82" name="TextBox 81">
            <a:extLst>
              <a:ext uri="{FF2B5EF4-FFF2-40B4-BE49-F238E27FC236}">
                <a16:creationId xmlns:a16="http://schemas.microsoft.com/office/drawing/2014/main" id="{20788671-FEDD-BB44-4ECB-055E95DA12CF}"/>
              </a:ext>
            </a:extLst>
          </p:cNvPr>
          <p:cNvSpPr txBox="1"/>
          <p:nvPr/>
        </p:nvSpPr>
        <p:spPr>
          <a:xfrm>
            <a:off x="3713501" y="3725112"/>
            <a:ext cx="426469" cy="307777"/>
          </a:xfrm>
          <a:prstGeom prst="rect">
            <a:avLst/>
          </a:prstGeom>
          <a:noFill/>
        </p:spPr>
        <p:txBody>
          <a:bodyPr wrap="square" rtlCol="0">
            <a:spAutoFit/>
          </a:bodyPr>
          <a:lstStyle/>
          <a:p>
            <a:r>
              <a:rPr lang="en-US" sz="1400" b="1" dirty="0">
                <a:solidFill>
                  <a:schemeClr val="bg1"/>
                </a:solidFill>
              </a:rPr>
              <a:t>80</a:t>
            </a:r>
          </a:p>
        </p:txBody>
      </p:sp>
      <p:sp>
        <p:nvSpPr>
          <p:cNvPr id="83" name="Rectangle 82">
            <a:extLst>
              <a:ext uri="{FF2B5EF4-FFF2-40B4-BE49-F238E27FC236}">
                <a16:creationId xmlns:a16="http://schemas.microsoft.com/office/drawing/2014/main" id="{F9543E2F-A8A7-703D-7FD7-FB30B7E1F06B}"/>
              </a:ext>
            </a:extLst>
          </p:cNvPr>
          <p:cNvSpPr/>
          <p:nvPr/>
        </p:nvSpPr>
        <p:spPr>
          <a:xfrm>
            <a:off x="4273368" y="3430871"/>
            <a:ext cx="413521" cy="27535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TextBox 83">
            <a:extLst>
              <a:ext uri="{FF2B5EF4-FFF2-40B4-BE49-F238E27FC236}">
                <a16:creationId xmlns:a16="http://schemas.microsoft.com/office/drawing/2014/main" id="{D05F183C-A69A-4789-13CB-1E8B51AC605C}"/>
              </a:ext>
            </a:extLst>
          </p:cNvPr>
          <p:cNvSpPr txBox="1"/>
          <p:nvPr/>
        </p:nvSpPr>
        <p:spPr>
          <a:xfrm>
            <a:off x="4272763" y="3722985"/>
            <a:ext cx="674008" cy="276999"/>
          </a:xfrm>
          <a:prstGeom prst="rect">
            <a:avLst/>
          </a:prstGeom>
          <a:noFill/>
          <a:ln>
            <a:noFill/>
          </a:ln>
        </p:spPr>
        <p:txBody>
          <a:bodyPr wrap="square" rtlCol="0">
            <a:spAutoFit/>
          </a:bodyPr>
          <a:lstStyle/>
          <a:p>
            <a:r>
              <a:rPr lang="en-US" sz="1200" dirty="0"/>
              <a:t>rear</a:t>
            </a:r>
          </a:p>
        </p:txBody>
      </p:sp>
    </p:spTree>
    <p:extLst>
      <p:ext uri="{BB962C8B-B14F-4D97-AF65-F5344CB8AC3E}">
        <p14:creationId xmlns:p14="http://schemas.microsoft.com/office/powerpoint/2010/main" val="29395414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5"/>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6"/>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7"/>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8"/>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56"/>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54"/>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55"/>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33"/>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59"/>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57"/>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58"/>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35"/>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65"/>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63"/>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64"/>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37"/>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38"/>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67"/>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66"/>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41"/>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42"/>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grpId="0" nodeType="clickEffect">
                                  <p:stCondLst>
                                    <p:cond delay="0"/>
                                  </p:stCondLst>
                                  <p:childTnLst>
                                    <p:set>
                                      <p:cBhvr>
                                        <p:cTn id="112" dur="1" fill="hold">
                                          <p:stCondLst>
                                            <p:cond delay="0"/>
                                          </p:stCondLst>
                                        </p:cTn>
                                        <p:tgtEl>
                                          <p:spTgt spid="43"/>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grpId="0" nodeType="clickEffect">
                                  <p:stCondLst>
                                    <p:cond delay="0"/>
                                  </p:stCondLst>
                                  <p:childTnLst>
                                    <p:set>
                                      <p:cBhvr>
                                        <p:cTn id="116" dur="1" fill="hold">
                                          <p:stCondLst>
                                            <p:cond delay="0"/>
                                          </p:stCondLst>
                                        </p:cTn>
                                        <p:tgtEl>
                                          <p:spTgt spid="74"/>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72"/>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73"/>
                                        </p:tgtEl>
                                        <p:attrNameLst>
                                          <p:attrName>style.visibility</p:attrName>
                                        </p:attrNameLst>
                                      </p:cBhvr>
                                      <p:to>
                                        <p:strVal val="visible"/>
                                      </p:to>
                                    </p:set>
                                  </p:childTnLst>
                                </p:cTn>
                              </p:par>
                            </p:childTnLst>
                          </p:cTn>
                        </p:par>
                      </p:childTnLst>
                    </p:cTn>
                  </p:par>
                  <p:par>
                    <p:cTn id="121" fill="hold">
                      <p:stCondLst>
                        <p:cond delay="indefinite"/>
                      </p:stCondLst>
                      <p:childTnLst>
                        <p:par>
                          <p:cTn id="122" fill="hold">
                            <p:stCondLst>
                              <p:cond delay="0"/>
                            </p:stCondLst>
                            <p:childTnLst>
                              <p:par>
                                <p:cTn id="123" presetID="1" presetClass="entr" presetSubtype="0" fill="hold" grpId="0" nodeType="clickEffect">
                                  <p:stCondLst>
                                    <p:cond delay="0"/>
                                  </p:stCondLst>
                                  <p:childTnLst>
                                    <p:set>
                                      <p:cBhvr>
                                        <p:cTn id="124" dur="1" fill="hold">
                                          <p:stCondLst>
                                            <p:cond delay="0"/>
                                          </p:stCondLst>
                                        </p:cTn>
                                        <p:tgtEl>
                                          <p:spTgt spid="77"/>
                                        </p:tgtEl>
                                        <p:attrNameLst>
                                          <p:attrName>style.visibility</p:attrName>
                                        </p:attrNameLst>
                                      </p:cBhvr>
                                      <p:to>
                                        <p:strVal val="visible"/>
                                      </p:to>
                                    </p:set>
                                  </p:childTnLst>
                                </p:cTn>
                              </p:par>
                            </p:childTnLst>
                          </p:cTn>
                        </p:par>
                      </p:childTnLst>
                    </p:cTn>
                  </p:par>
                  <p:par>
                    <p:cTn id="125" fill="hold">
                      <p:stCondLst>
                        <p:cond delay="indefinite"/>
                      </p:stCondLst>
                      <p:childTnLst>
                        <p:par>
                          <p:cTn id="126" fill="hold">
                            <p:stCondLst>
                              <p:cond delay="0"/>
                            </p:stCondLst>
                            <p:childTnLst>
                              <p:par>
                                <p:cTn id="127" presetID="1" presetClass="entr" presetSubtype="0" fill="hold" grpId="0" nodeType="clickEffect">
                                  <p:stCondLst>
                                    <p:cond delay="0"/>
                                  </p:stCondLst>
                                  <p:childTnLst>
                                    <p:set>
                                      <p:cBhvr>
                                        <p:cTn id="128" dur="1" fill="hold">
                                          <p:stCondLst>
                                            <p:cond delay="0"/>
                                          </p:stCondLst>
                                        </p:cTn>
                                        <p:tgtEl>
                                          <p:spTgt spid="78"/>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80"/>
                                        </p:tgtEl>
                                        <p:attrNameLst>
                                          <p:attrName>style.visibility</p:attrName>
                                        </p:attrNameLst>
                                      </p:cBhvr>
                                      <p:to>
                                        <p:strVal val="visible"/>
                                      </p:to>
                                    </p:set>
                                  </p:childTnLst>
                                </p:cTn>
                              </p:par>
                              <p:par>
                                <p:cTn id="131" presetID="1" presetClass="entr" presetSubtype="0" fill="hold" grpId="0" nodeType="withEffect">
                                  <p:stCondLst>
                                    <p:cond delay="0"/>
                                  </p:stCondLst>
                                  <p:childTnLst>
                                    <p:set>
                                      <p:cBhvr>
                                        <p:cTn id="132" dur="1" fill="hold">
                                          <p:stCondLst>
                                            <p:cond delay="0"/>
                                          </p:stCondLst>
                                        </p:cTn>
                                        <p:tgtEl>
                                          <p:spTgt spid="79"/>
                                        </p:tgtEl>
                                        <p:attrNameLst>
                                          <p:attrName>style.visibility</p:attrName>
                                        </p:attrNameLst>
                                      </p:cBhvr>
                                      <p:to>
                                        <p:strVal val="visible"/>
                                      </p:to>
                                    </p:set>
                                  </p:childTnLst>
                                </p:cTn>
                              </p:par>
                            </p:childTnLst>
                          </p:cTn>
                        </p:par>
                      </p:childTnLst>
                    </p:cTn>
                  </p:par>
                  <p:par>
                    <p:cTn id="133" fill="hold">
                      <p:stCondLst>
                        <p:cond delay="indefinite"/>
                      </p:stCondLst>
                      <p:childTnLst>
                        <p:par>
                          <p:cTn id="134" fill="hold">
                            <p:stCondLst>
                              <p:cond delay="0"/>
                            </p:stCondLst>
                            <p:childTnLst>
                              <p:par>
                                <p:cTn id="135" presetID="1" presetClass="entr" presetSubtype="0" fill="hold" grpId="0" nodeType="clickEffect">
                                  <p:stCondLst>
                                    <p:cond delay="0"/>
                                  </p:stCondLst>
                                  <p:childTnLst>
                                    <p:set>
                                      <p:cBhvr>
                                        <p:cTn id="136" dur="1" fill="hold">
                                          <p:stCondLst>
                                            <p:cond delay="0"/>
                                          </p:stCondLst>
                                        </p:cTn>
                                        <p:tgtEl>
                                          <p:spTgt spid="81"/>
                                        </p:tgtEl>
                                        <p:attrNameLst>
                                          <p:attrName>style.visibility</p:attrName>
                                        </p:attrNameLst>
                                      </p:cBhvr>
                                      <p:to>
                                        <p:strVal val="visible"/>
                                      </p:to>
                                    </p:set>
                                  </p:childTnLst>
                                </p:cTn>
                              </p:par>
                            </p:childTnLst>
                          </p:cTn>
                        </p:par>
                      </p:childTnLst>
                    </p:cTn>
                  </p:par>
                  <p:par>
                    <p:cTn id="137" fill="hold">
                      <p:stCondLst>
                        <p:cond delay="indefinite"/>
                      </p:stCondLst>
                      <p:childTnLst>
                        <p:par>
                          <p:cTn id="138" fill="hold">
                            <p:stCondLst>
                              <p:cond delay="0"/>
                            </p:stCondLst>
                            <p:childTnLst>
                              <p:par>
                                <p:cTn id="139" presetID="1" presetClass="entr" presetSubtype="0" fill="hold" grpId="0" nodeType="clickEffect">
                                  <p:stCondLst>
                                    <p:cond delay="0"/>
                                  </p:stCondLst>
                                  <p:childTnLst>
                                    <p:set>
                                      <p:cBhvr>
                                        <p:cTn id="140" dur="1" fill="hold">
                                          <p:stCondLst>
                                            <p:cond delay="0"/>
                                          </p:stCondLst>
                                        </p:cTn>
                                        <p:tgtEl>
                                          <p:spTgt spid="82"/>
                                        </p:tgtEl>
                                        <p:attrNameLst>
                                          <p:attrName>style.visibility</p:attrName>
                                        </p:attrNameLst>
                                      </p:cBhvr>
                                      <p:to>
                                        <p:strVal val="visible"/>
                                      </p:to>
                                    </p:set>
                                  </p:childTnLst>
                                </p:cTn>
                              </p:par>
                              <p:par>
                                <p:cTn id="141" presetID="1" presetClass="entr" presetSubtype="0" fill="hold" grpId="0" nodeType="withEffect">
                                  <p:stCondLst>
                                    <p:cond delay="0"/>
                                  </p:stCondLst>
                                  <p:childTnLst>
                                    <p:set>
                                      <p:cBhvr>
                                        <p:cTn id="142" dur="1" fill="hold">
                                          <p:stCondLst>
                                            <p:cond delay="0"/>
                                          </p:stCondLst>
                                        </p:cTn>
                                        <p:tgtEl>
                                          <p:spTgt spid="84"/>
                                        </p:tgtEl>
                                        <p:attrNameLst>
                                          <p:attrName>style.visibility</p:attrName>
                                        </p:attrNameLst>
                                      </p:cBhvr>
                                      <p:to>
                                        <p:strVal val="visible"/>
                                      </p:to>
                                    </p:set>
                                  </p:childTnLst>
                                </p:cTn>
                              </p:par>
                              <p:par>
                                <p:cTn id="143" presetID="1" presetClass="entr" presetSubtype="0" fill="hold" grpId="0" nodeType="withEffect">
                                  <p:stCondLst>
                                    <p:cond delay="0"/>
                                  </p:stCondLst>
                                  <p:childTnLst>
                                    <p:set>
                                      <p:cBhvr>
                                        <p:cTn id="144" dur="1" fill="hold">
                                          <p:stCondLst>
                                            <p:cond delay="0"/>
                                          </p:stCondLst>
                                        </p:cTn>
                                        <p:tgtEl>
                                          <p:spTgt spid="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1" grpId="0"/>
      <p:bldP spid="15" grpId="0" animBg="1"/>
      <p:bldP spid="16" grpId="0"/>
      <p:bldP spid="17" grpId="0"/>
      <p:bldP spid="18" grpId="0"/>
      <p:bldP spid="19" grpId="0"/>
      <p:bldP spid="20" grpId="0"/>
      <p:bldP spid="21" grpId="0"/>
      <p:bldP spid="22" grpId="0"/>
      <p:bldP spid="23" grpId="0"/>
      <p:bldP spid="24" grpId="0"/>
      <p:bldP spid="25" grpId="0"/>
      <p:bldP spid="26" grpId="0"/>
      <p:bldP spid="27" grpId="0"/>
      <p:bldP spid="28" grpId="0"/>
      <p:bldP spid="33" grpId="0"/>
      <p:bldP spid="35" grpId="0"/>
      <p:bldP spid="37" grpId="0" animBg="1"/>
      <p:bldP spid="38" grpId="0"/>
      <p:bldP spid="41" grpId="0"/>
      <p:bldP spid="42" grpId="0"/>
      <p:bldP spid="43" grpId="0"/>
      <p:bldP spid="54" grpId="0" animBg="1"/>
      <p:bldP spid="55" grpId="0" animBg="1"/>
      <p:bldP spid="56" grpId="0"/>
      <p:bldP spid="57" grpId="0" animBg="1"/>
      <p:bldP spid="58" grpId="0" animBg="1"/>
      <p:bldP spid="59" grpId="0"/>
      <p:bldP spid="63" grpId="0" animBg="1"/>
      <p:bldP spid="64" grpId="0" animBg="1"/>
      <p:bldP spid="65" grpId="0" animBg="1"/>
      <p:bldP spid="66" grpId="0" animBg="1"/>
      <p:bldP spid="67" grpId="0"/>
      <p:bldP spid="72" grpId="0"/>
      <p:bldP spid="73" grpId="0" animBg="1"/>
      <p:bldP spid="74" grpId="0"/>
      <p:bldP spid="77" grpId="0"/>
      <p:bldP spid="78" grpId="0"/>
      <p:bldP spid="79" grpId="0" animBg="1"/>
      <p:bldP spid="80" grpId="0"/>
      <p:bldP spid="81" grpId="0"/>
      <p:bldP spid="82" grpId="0"/>
      <p:bldP spid="83" grpId="0" animBg="1"/>
      <p:bldP spid="8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9"/>
          <p:cNvSpPr/>
          <p:nvPr/>
        </p:nvSpPr>
        <p:spPr>
          <a:xfrm>
            <a:off x="3850130" y="555526"/>
            <a:ext cx="284243" cy="266077"/>
          </a:xfrm>
          <a:custGeom>
            <a:avLst/>
            <a:gdLst>
              <a:gd name="connsiteX0" fmla="*/ 833935 w 3239999"/>
              <a:gd name="connsiteY0" fmla="*/ 22 h 3032924"/>
              <a:gd name="connsiteX1" fmla="*/ 1576606 w 3239999"/>
              <a:gd name="connsiteY1" fmla="*/ 402054 h 3032924"/>
              <a:gd name="connsiteX2" fmla="*/ 1576606 w 3239999"/>
              <a:gd name="connsiteY2" fmla="*/ 430441 h 3032924"/>
              <a:gd name="connsiteX3" fmla="*/ 1576606 w 3239999"/>
              <a:gd name="connsiteY3" fmla="*/ 526981 h 3032924"/>
              <a:gd name="connsiteX4" fmla="*/ 1576606 w 3239999"/>
              <a:gd name="connsiteY4" fmla="*/ 2765302 h 3032924"/>
              <a:gd name="connsiteX5" fmla="*/ 378630 w 3239999"/>
              <a:gd name="connsiteY5" fmla="*/ 2472117 h 3032924"/>
              <a:gd name="connsiteX6" fmla="*/ 384918 w 3239999"/>
              <a:gd name="connsiteY6" fmla="*/ 526981 h 3032924"/>
              <a:gd name="connsiteX7" fmla="*/ 239143 w 3239999"/>
              <a:gd name="connsiteY7" fmla="*/ 526981 h 3032924"/>
              <a:gd name="connsiteX8" fmla="*/ 239143 w 3239999"/>
              <a:gd name="connsiteY8" fmla="*/ 2776423 h 3032924"/>
              <a:gd name="connsiteX9" fmla="*/ 1576606 w 3239999"/>
              <a:gd name="connsiteY9" fmla="*/ 2776423 h 3032924"/>
              <a:gd name="connsiteX10" fmla="*/ 1576606 w 3239999"/>
              <a:gd name="connsiteY10" fmla="*/ 2778202 h 3032924"/>
              <a:gd name="connsiteX11" fmla="*/ 1663394 w 3239999"/>
              <a:gd name="connsiteY11" fmla="*/ 2778202 h 3032924"/>
              <a:gd name="connsiteX12" fmla="*/ 1663394 w 3239999"/>
              <a:gd name="connsiteY12" fmla="*/ 2776423 h 3032924"/>
              <a:gd name="connsiteX13" fmla="*/ 3000856 w 3239999"/>
              <a:gd name="connsiteY13" fmla="*/ 2776423 h 3032924"/>
              <a:gd name="connsiteX14" fmla="*/ 3000856 w 3239999"/>
              <a:gd name="connsiteY14" fmla="*/ 526981 h 3032924"/>
              <a:gd name="connsiteX15" fmla="*/ 2855082 w 3239999"/>
              <a:gd name="connsiteY15" fmla="*/ 526981 h 3032924"/>
              <a:gd name="connsiteX16" fmla="*/ 2861369 w 3239999"/>
              <a:gd name="connsiteY16" fmla="*/ 2472117 h 3032924"/>
              <a:gd name="connsiteX17" fmla="*/ 1663394 w 3239999"/>
              <a:gd name="connsiteY17" fmla="*/ 2765302 h 3032924"/>
              <a:gd name="connsiteX18" fmla="*/ 1663394 w 3239999"/>
              <a:gd name="connsiteY18" fmla="*/ 526981 h 3032924"/>
              <a:gd name="connsiteX19" fmla="*/ 1663394 w 3239999"/>
              <a:gd name="connsiteY19" fmla="*/ 430441 h 3032924"/>
              <a:gd name="connsiteX20" fmla="*/ 1663394 w 3239999"/>
              <a:gd name="connsiteY20" fmla="*/ 402054 h 3032924"/>
              <a:gd name="connsiteX21" fmla="*/ 2406065 w 3239999"/>
              <a:gd name="connsiteY21" fmla="*/ 22 h 3032924"/>
              <a:gd name="connsiteX22" fmla="*/ 2853673 w 3239999"/>
              <a:gd name="connsiteY22" fmla="*/ 91100 h 3032924"/>
              <a:gd name="connsiteX23" fmla="*/ 2854770 w 3239999"/>
              <a:gd name="connsiteY23" fmla="*/ 430441 h 3032924"/>
              <a:gd name="connsiteX24" fmla="*/ 3120669 w 3239999"/>
              <a:gd name="connsiteY24" fmla="*/ 428517 h 3032924"/>
              <a:gd name="connsiteX25" fmla="*/ 3120669 w 3239999"/>
              <a:gd name="connsiteY25" fmla="*/ 738345 h 3032924"/>
              <a:gd name="connsiteX26" fmla="*/ 3239999 w 3239999"/>
              <a:gd name="connsiteY26" fmla="*/ 738345 h 3032924"/>
              <a:gd name="connsiteX27" fmla="*/ 3239999 w 3239999"/>
              <a:gd name="connsiteY27" fmla="*/ 3032924 h 3032924"/>
              <a:gd name="connsiteX28" fmla="*/ 0 w 3239999"/>
              <a:gd name="connsiteY28" fmla="*/ 3032924 h 3032924"/>
              <a:gd name="connsiteX29" fmla="*/ 0 w 3239999"/>
              <a:gd name="connsiteY29" fmla="*/ 738345 h 3032924"/>
              <a:gd name="connsiteX30" fmla="*/ 102477 w 3239999"/>
              <a:gd name="connsiteY30" fmla="*/ 738345 h 3032924"/>
              <a:gd name="connsiteX31" fmla="*/ 102477 w 3239999"/>
              <a:gd name="connsiteY31" fmla="*/ 428517 h 3032924"/>
              <a:gd name="connsiteX32" fmla="*/ 385229 w 3239999"/>
              <a:gd name="connsiteY32" fmla="*/ 430441 h 3032924"/>
              <a:gd name="connsiteX33" fmla="*/ 386326 w 3239999"/>
              <a:gd name="connsiteY33" fmla="*/ 91100 h 3032924"/>
              <a:gd name="connsiteX34" fmla="*/ 833935 w 3239999"/>
              <a:gd name="connsiteY34" fmla="*/ 22 h 3032924"/>
              <a:gd name="connsiteX0" fmla="*/ 833935 w 3239999"/>
              <a:gd name="connsiteY0" fmla="*/ 22 h 3032924"/>
              <a:gd name="connsiteX1" fmla="*/ 1576606 w 3239999"/>
              <a:gd name="connsiteY1" fmla="*/ 402054 h 3032924"/>
              <a:gd name="connsiteX2" fmla="*/ 1576606 w 3239999"/>
              <a:gd name="connsiteY2" fmla="*/ 430441 h 3032924"/>
              <a:gd name="connsiteX3" fmla="*/ 1576606 w 3239999"/>
              <a:gd name="connsiteY3" fmla="*/ 526981 h 3032924"/>
              <a:gd name="connsiteX4" fmla="*/ 1576606 w 3239999"/>
              <a:gd name="connsiteY4" fmla="*/ 2765302 h 3032924"/>
              <a:gd name="connsiteX5" fmla="*/ 378630 w 3239999"/>
              <a:gd name="connsiteY5" fmla="*/ 2472117 h 3032924"/>
              <a:gd name="connsiteX6" fmla="*/ 384918 w 3239999"/>
              <a:gd name="connsiteY6" fmla="*/ 526981 h 3032924"/>
              <a:gd name="connsiteX7" fmla="*/ 239143 w 3239999"/>
              <a:gd name="connsiteY7" fmla="*/ 526981 h 3032924"/>
              <a:gd name="connsiteX8" fmla="*/ 239143 w 3239999"/>
              <a:gd name="connsiteY8" fmla="*/ 2776423 h 3032924"/>
              <a:gd name="connsiteX9" fmla="*/ 1576606 w 3239999"/>
              <a:gd name="connsiteY9" fmla="*/ 2776423 h 3032924"/>
              <a:gd name="connsiteX10" fmla="*/ 1576606 w 3239999"/>
              <a:gd name="connsiteY10" fmla="*/ 2778202 h 3032924"/>
              <a:gd name="connsiteX11" fmla="*/ 1663394 w 3239999"/>
              <a:gd name="connsiteY11" fmla="*/ 2778202 h 3032924"/>
              <a:gd name="connsiteX12" fmla="*/ 1663394 w 3239999"/>
              <a:gd name="connsiteY12" fmla="*/ 2776423 h 3032924"/>
              <a:gd name="connsiteX13" fmla="*/ 3000856 w 3239999"/>
              <a:gd name="connsiteY13" fmla="*/ 2776423 h 3032924"/>
              <a:gd name="connsiteX14" fmla="*/ 3000856 w 3239999"/>
              <a:gd name="connsiteY14" fmla="*/ 526981 h 3032924"/>
              <a:gd name="connsiteX15" fmla="*/ 2855082 w 3239999"/>
              <a:gd name="connsiteY15" fmla="*/ 526981 h 3032924"/>
              <a:gd name="connsiteX16" fmla="*/ 2861369 w 3239999"/>
              <a:gd name="connsiteY16" fmla="*/ 2472117 h 3032924"/>
              <a:gd name="connsiteX17" fmla="*/ 1663394 w 3239999"/>
              <a:gd name="connsiteY17" fmla="*/ 2765302 h 3032924"/>
              <a:gd name="connsiteX18" fmla="*/ 1663394 w 3239999"/>
              <a:gd name="connsiteY18" fmla="*/ 526981 h 3032924"/>
              <a:gd name="connsiteX19" fmla="*/ 1663394 w 3239999"/>
              <a:gd name="connsiteY19" fmla="*/ 430441 h 3032924"/>
              <a:gd name="connsiteX20" fmla="*/ 1663394 w 3239999"/>
              <a:gd name="connsiteY20" fmla="*/ 402054 h 3032924"/>
              <a:gd name="connsiteX21" fmla="*/ 2406065 w 3239999"/>
              <a:gd name="connsiteY21" fmla="*/ 22 h 3032924"/>
              <a:gd name="connsiteX22" fmla="*/ 2853673 w 3239999"/>
              <a:gd name="connsiteY22" fmla="*/ 91100 h 3032924"/>
              <a:gd name="connsiteX23" fmla="*/ 2854770 w 3239999"/>
              <a:gd name="connsiteY23" fmla="*/ 430441 h 3032924"/>
              <a:gd name="connsiteX24" fmla="*/ 3120669 w 3239999"/>
              <a:gd name="connsiteY24" fmla="*/ 428517 h 3032924"/>
              <a:gd name="connsiteX25" fmla="*/ 3120669 w 3239999"/>
              <a:gd name="connsiteY25" fmla="*/ 738345 h 3032924"/>
              <a:gd name="connsiteX26" fmla="*/ 3239999 w 3239999"/>
              <a:gd name="connsiteY26" fmla="*/ 738345 h 3032924"/>
              <a:gd name="connsiteX27" fmla="*/ 3239999 w 3239999"/>
              <a:gd name="connsiteY27" fmla="*/ 3032924 h 3032924"/>
              <a:gd name="connsiteX28" fmla="*/ 0 w 3239999"/>
              <a:gd name="connsiteY28" fmla="*/ 3032924 h 3032924"/>
              <a:gd name="connsiteX29" fmla="*/ 0 w 3239999"/>
              <a:gd name="connsiteY29" fmla="*/ 738345 h 3032924"/>
              <a:gd name="connsiteX30" fmla="*/ 102477 w 3239999"/>
              <a:gd name="connsiteY30" fmla="*/ 738345 h 3032924"/>
              <a:gd name="connsiteX31" fmla="*/ 102477 w 3239999"/>
              <a:gd name="connsiteY31" fmla="*/ 428517 h 3032924"/>
              <a:gd name="connsiteX32" fmla="*/ 385229 w 3239999"/>
              <a:gd name="connsiteY32" fmla="*/ 430441 h 3032924"/>
              <a:gd name="connsiteX33" fmla="*/ 386326 w 3239999"/>
              <a:gd name="connsiteY33" fmla="*/ 91100 h 3032924"/>
              <a:gd name="connsiteX34" fmla="*/ 833935 w 3239999"/>
              <a:gd name="connsiteY34" fmla="*/ 22 h 3032924"/>
              <a:gd name="connsiteX0" fmla="*/ 833935 w 3239999"/>
              <a:gd name="connsiteY0" fmla="*/ 22 h 3032924"/>
              <a:gd name="connsiteX1" fmla="*/ 1576606 w 3239999"/>
              <a:gd name="connsiteY1" fmla="*/ 402054 h 3032924"/>
              <a:gd name="connsiteX2" fmla="*/ 1576606 w 3239999"/>
              <a:gd name="connsiteY2" fmla="*/ 430441 h 3032924"/>
              <a:gd name="connsiteX3" fmla="*/ 1576606 w 3239999"/>
              <a:gd name="connsiteY3" fmla="*/ 526981 h 3032924"/>
              <a:gd name="connsiteX4" fmla="*/ 1576606 w 3239999"/>
              <a:gd name="connsiteY4" fmla="*/ 2765302 h 3032924"/>
              <a:gd name="connsiteX5" fmla="*/ 378630 w 3239999"/>
              <a:gd name="connsiteY5" fmla="*/ 2472117 h 3032924"/>
              <a:gd name="connsiteX6" fmla="*/ 384918 w 3239999"/>
              <a:gd name="connsiteY6" fmla="*/ 526981 h 3032924"/>
              <a:gd name="connsiteX7" fmla="*/ 239143 w 3239999"/>
              <a:gd name="connsiteY7" fmla="*/ 526981 h 3032924"/>
              <a:gd name="connsiteX8" fmla="*/ 239143 w 3239999"/>
              <a:gd name="connsiteY8" fmla="*/ 2776423 h 3032924"/>
              <a:gd name="connsiteX9" fmla="*/ 1576606 w 3239999"/>
              <a:gd name="connsiteY9" fmla="*/ 2776423 h 3032924"/>
              <a:gd name="connsiteX10" fmla="*/ 1576606 w 3239999"/>
              <a:gd name="connsiteY10" fmla="*/ 2778202 h 3032924"/>
              <a:gd name="connsiteX11" fmla="*/ 1663394 w 3239999"/>
              <a:gd name="connsiteY11" fmla="*/ 2778202 h 3032924"/>
              <a:gd name="connsiteX12" fmla="*/ 1663394 w 3239999"/>
              <a:gd name="connsiteY12" fmla="*/ 2776423 h 3032924"/>
              <a:gd name="connsiteX13" fmla="*/ 3000856 w 3239999"/>
              <a:gd name="connsiteY13" fmla="*/ 2776423 h 3032924"/>
              <a:gd name="connsiteX14" fmla="*/ 3000856 w 3239999"/>
              <a:gd name="connsiteY14" fmla="*/ 526981 h 3032924"/>
              <a:gd name="connsiteX15" fmla="*/ 2855082 w 3239999"/>
              <a:gd name="connsiteY15" fmla="*/ 526981 h 3032924"/>
              <a:gd name="connsiteX16" fmla="*/ 2861369 w 3239999"/>
              <a:gd name="connsiteY16" fmla="*/ 2472117 h 3032924"/>
              <a:gd name="connsiteX17" fmla="*/ 1663394 w 3239999"/>
              <a:gd name="connsiteY17" fmla="*/ 2765302 h 3032924"/>
              <a:gd name="connsiteX18" fmla="*/ 1663394 w 3239999"/>
              <a:gd name="connsiteY18" fmla="*/ 526981 h 3032924"/>
              <a:gd name="connsiteX19" fmla="*/ 1663394 w 3239999"/>
              <a:gd name="connsiteY19" fmla="*/ 430441 h 3032924"/>
              <a:gd name="connsiteX20" fmla="*/ 1663394 w 3239999"/>
              <a:gd name="connsiteY20" fmla="*/ 402054 h 3032924"/>
              <a:gd name="connsiteX21" fmla="*/ 2406065 w 3239999"/>
              <a:gd name="connsiteY21" fmla="*/ 22 h 3032924"/>
              <a:gd name="connsiteX22" fmla="*/ 2853673 w 3239999"/>
              <a:gd name="connsiteY22" fmla="*/ 91100 h 3032924"/>
              <a:gd name="connsiteX23" fmla="*/ 2854770 w 3239999"/>
              <a:gd name="connsiteY23" fmla="*/ 430441 h 3032924"/>
              <a:gd name="connsiteX24" fmla="*/ 3120669 w 3239999"/>
              <a:gd name="connsiteY24" fmla="*/ 428517 h 3032924"/>
              <a:gd name="connsiteX25" fmla="*/ 3120669 w 3239999"/>
              <a:gd name="connsiteY25" fmla="*/ 738345 h 3032924"/>
              <a:gd name="connsiteX26" fmla="*/ 3239999 w 3239999"/>
              <a:gd name="connsiteY26" fmla="*/ 738345 h 3032924"/>
              <a:gd name="connsiteX27" fmla="*/ 3239999 w 3239999"/>
              <a:gd name="connsiteY27" fmla="*/ 3032924 h 3032924"/>
              <a:gd name="connsiteX28" fmla="*/ 0 w 3239999"/>
              <a:gd name="connsiteY28" fmla="*/ 3032924 h 3032924"/>
              <a:gd name="connsiteX29" fmla="*/ 0 w 3239999"/>
              <a:gd name="connsiteY29" fmla="*/ 738345 h 3032924"/>
              <a:gd name="connsiteX30" fmla="*/ 102477 w 3239999"/>
              <a:gd name="connsiteY30" fmla="*/ 738345 h 3032924"/>
              <a:gd name="connsiteX31" fmla="*/ 102477 w 3239999"/>
              <a:gd name="connsiteY31" fmla="*/ 428517 h 3032924"/>
              <a:gd name="connsiteX32" fmla="*/ 385229 w 3239999"/>
              <a:gd name="connsiteY32" fmla="*/ 430441 h 3032924"/>
              <a:gd name="connsiteX33" fmla="*/ 386326 w 3239999"/>
              <a:gd name="connsiteY33" fmla="*/ 91100 h 3032924"/>
              <a:gd name="connsiteX34" fmla="*/ 833935 w 3239999"/>
              <a:gd name="connsiteY34" fmla="*/ 2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29618 w 3239999"/>
              <a:gd name="connsiteY32" fmla="*/ 2690698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2991331 w 3239999"/>
              <a:gd name="connsiteY3" fmla="*/ 2709748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29618 w 3239999"/>
              <a:gd name="connsiteY32" fmla="*/ 2690698 h 3032924"/>
              <a:gd name="connsiteX33" fmla="*/ 1576606 w 3239999"/>
              <a:gd name="connsiteY33" fmla="*/ 2776423 h 30329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239999" h="3032924">
                <a:moveTo>
                  <a:pt x="1576606" y="2778202"/>
                </a:moveTo>
                <a:cubicBezTo>
                  <a:pt x="1576606" y="2778795"/>
                  <a:pt x="1663394" y="2792670"/>
                  <a:pt x="1663394" y="2778202"/>
                </a:cubicBezTo>
                <a:lnTo>
                  <a:pt x="1663394" y="2776423"/>
                </a:lnTo>
                <a:cubicBezTo>
                  <a:pt x="2185083" y="2605634"/>
                  <a:pt x="2444552" y="2500589"/>
                  <a:pt x="2991331" y="2709748"/>
                </a:cubicBezTo>
                <a:lnTo>
                  <a:pt x="3000856" y="526981"/>
                </a:lnTo>
                <a:lnTo>
                  <a:pt x="2855082" y="526981"/>
                </a:lnTo>
                <a:cubicBezTo>
                  <a:pt x="2857178" y="1175360"/>
                  <a:pt x="2859273" y="1823738"/>
                  <a:pt x="2861369" y="2472117"/>
                </a:cubicBezTo>
                <a:cubicBezTo>
                  <a:pt x="2483869" y="2318121"/>
                  <a:pt x="2052449" y="2439541"/>
                  <a:pt x="1663394" y="2765302"/>
                </a:cubicBezTo>
                <a:lnTo>
                  <a:pt x="1663394" y="526981"/>
                </a:lnTo>
                <a:lnTo>
                  <a:pt x="1663394" y="430441"/>
                </a:lnTo>
                <a:lnTo>
                  <a:pt x="1663394" y="402054"/>
                </a:lnTo>
                <a:cubicBezTo>
                  <a:pt x="1896442" y="149589"/>
                  <a:pt x="2115835" y="2106"/>
                  <a:pt x="2406065" y="22"/>
                </a:cubicBezTo>
                <a:cubicBezTo>
                  <a:pt x="2537987" y="-925"/>
                  <a:pt x="2684544" y="28169"/>
                  <a:pt x="2853673" y="91100"/>
                </a:cubicBezTo>
                <a:cubicBezTo>
                  <a:pt x="2854039" y="204214"/>
                  <a:pt x="2854404" y="317327"/>
                  <a:pt x="2854770" y="430441"/>
                </a:cubicBezTo>
                <a:lnTo>
                  <a:pt x="3120669" y="428517"/>
                </a:lnTo>
                <a:lnTo>
                  <a:pt x="3120669" y="738345"/>
                </a:lnTo>
                <a:lnTo>
                  <a:pt x="3239999" y="738345"/>
                </a:lnTo>
                <a:lnTo>
                  <a:pt x="3239999" y="3032924"/>
                </a:lnTo>
                <a:lnTo>
                  <a:pt x="0" y="3032924"/>
                </a:lnTo>
                <a:lnTo>
                  <a:pt x="0" y="738345"/>
                </a:lnTo>
                <a:lnTo>
                  <a:pt x="102477" y="738345"/>
                </a:lnTo>
                <a:lnTo>
                  <a:pt x="102477" y="428517"/>
                </a:lnTo>
                <a:lnTo>
                  <a:pt x="385229" y="430441"/>
                </a:lnTo>
                <a:cubicBezTo>
                  <a:pt x="385595" y="317327"/>
                  <a:pt x="385960" y="204214"/>
                  <a:pt x="386326" y="91100"/>
                </a:cubicBezTo>
                <a:cubicBezTo>
                  <a:pt x="555455" y="28169"/>
                  <a:pt x="702013" y="-925"/>
                  <a:pt x="833935" y="22"/>
                </a:cubicBezTo>
                <a:cubicBezTo>
                  <a:pt x="1124164" y="2106"/>
                  <a:pt x="1343558" y="149589"/>
                  <a:pt x="1576606" y="402054"/>
                </a:cubicBezTo>
                <a:lnTo>
                  <a:pt x="1576606" y="430441"/>
                </a:lnTo>
                <a:lnTo>
                  <a:pt x="1576606" y="526981"/>
                </a:lnTo>
                <a:lnTo>
                  <a:pt x="1576606" y="2765302"/>
                </a:lnTo>
                <a:cubicBezTo>
                  <a:pt x="1187550" y="2439541"/>
                  <a:pt x="756130" y="2318121"/>
                  <a:pt x="378630" y="2472117"/>
                </a:cubicBezTo>
                <a:lnTo>
                  <a:pt x="384918" y="526981"/>
                </a:lnTo>
                <a:lnTo>
                  <a:pt x="239143" y="526981"/>
                </a:lnTo>
                <a:lnTo>
                  <a:pt x="229618" y="2690698"/>
                </a:lnTo>
                <a:cubicBezTo>
                  <a:pt x="773243" y="2466244"/>
                  <a:pt x="1081748" y="2626096"/>
                  <a:pt x="1576606" y="2776423"/>
                </a:cubicBezTo>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2" name="Group 1">
            <a:extLst>
              <a:ext uri="{FF2B5EF4-FFF2-40B4-BE49-F238E27FC236}">
                <a16:creationId xmlns:a16="http://schemas.microsoft.com/office/drawing/2014/main" id="{4BDD5789-0FC2-A211-C866-20489F9CEB17}"/>
              </a:ext>
            </a:extLst>
          </p:cNvPr>
          <p:cNvGrpSpPr/>
          <p:nvPr/>
        </p:nvGrpSpPr>
        <p:grpSpPr>
          <a:xfrm>
            <a:off x="-19020" y="-20538"/>
            <a:ext cx="9163020" cy="936104"/>
            <a:chOff x="-19020" y="-20538"/>
            <a:chExt cx="9163020" cy="936104"/>
          </a:xfrm>
        </p:grpSpPr>
        <p:sp>
          <p:nvSpPr>
            <p:cNvPr id="3" name="Rectangle 2">
              <a:extLst>
                <a:ext uri="{FF2B5EF4-FFF2-40B4-BE49-F238E27FC236}">
                  <a16:creationId xmlns:a16="http://schemas.microsoft.com/office/drawing/2014/main" id="{9228616E-49BE-53F6-A4F4-39F669C017D9}"/>
                </a:ext>
              </a:extLst>
            </p:cNvPr>
            <p:cNvSpPr/>
            <p:nvPr/>
          </p:nvSpPr>
          <p:spPr>
            <a:xfrm>
              <a:off x="323528" y="555526"/>
              <a:ext cx="4392488" cy="35427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Text Placeholder 1">
              <a:extLst>
                <a:ext uri="{FF2B5EF4-FFF2-40B4-BE49-F238E27FC236}">
                  <a16:creationId xmlns:a16="http://schemas.microsoft.com/office/drawing/2014/main" id="{114B336E-9551-1FF3-22E4-6B1A647EA075}"/>
                </a:ext>
              </a:extLst>
            </p:cNvPr>
            <p:cNvSpPr txBox="1">
              <a:spLocks/>
            </p:cNvSpPr>
            <p:nvPr/>
          </p:nvSpPr>
          <p:spPr>
            <a:xfrm>
              <a:off x="0" y="-20538"/>
              <a:ext cx="9144000" cy="576064"/>
            </a:xfrm>
            <a:prstGeom prst="rect">
              <a:avLst/>
            </a:prstGeom>
          </p:spPr>
          <p:txBody>
            <a:bodyP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l">
                <a:buNone/>
              </a:pPr>
              <a:r>
                <a:rPr lang="en-US" altLang="ko-KR" sz="3600" u="sng" dirty="0">
                  <a:solidFill>
                    <a:schemeClr val="tx1">
                      <a:lumMod val="85000"/>
                      <a:lumOff val="15000"/>
                    </a:schemeClr>
                  </a:solidFill>
                  <a:latin typeface="Bernard MT Condensed" panose="02050806060905020404" pitchFamily="18" charset="0"/>
                </a:rPr>
                <a:t>Data Structures and Algorithm</a:t>
              </a:r>
              <a:endParaRPr lang="ko-KR" altLang="en-US" sz="3600" dirty="0">
                <a:solidFill>
                  <a:schemeClr val="tx1">
                    <a:lumMod val="85000"/>
                    <a:lumOff val="15000"/>
                  </a:schemeClr>
                </a:solidFill>
              </a:endParaRPr>
            </a:p>
          </p:txBody>
        </p:sp>
        <p:sp>
          <p:nvSpPr>
            <p:cNvPr id="5" name="Rectangle 4">
              <a:extLst>
                <a:ext uri="{FF2B5EF4-FFF2-40B4-BE49-F238E27FC236}">
                  <a16:creationId xmlns:a16="http://schemas.microsoft.com/office/drawing/2014/main" id="{37861175-A3CF-DF17-D4CC-16F0E1AE1B6D}"/>
                </a:ext>
              </a:extLst>
            </p:cNvPr>
            <p:cNvSpPr/>
            <p:nvPr/>
          </p:nvSpPr>
          <p:spPr>
            <a:xfrm>
              <a:off x="-19020" y="561294"/>
              <a:ext cx="323528" cy="354272"/>
            </a:xfrm>
            <a:prstGeom prst="rect">
              <a:avLst/>
            </a:prstGeom>
            <a:solidFill>
              <a:schemeClr val="accent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10" name="TextBox 9">
              <a:extLst>
                <a:ext uri="{FF2B5EF4-FFF2-40B4-BE49-F238E27FC236}">
                  <a16:creationId xmlns:a16="http://schemas.microsoft.com/office/drawing/2014/main" id="{61A5072A-A623-A618-3FF8-078385A1BE21}"/>
                </a:ext>
              </a:extLst>
            </p:cNvPr>
            <p:cNvSpPr txBox="1"/>
            <p:nvPr/>
          </p:nvSpPr>
          <p:spPr>
            <a:xfrm>
              <a:off x="251520" y="541432"/>
              <a:ext cx="3318043" cy="369332"/>
            </a:xfrm>
            <a:prstGeom prst="rect">
              <a:avLst/>
            </a:prstGeom>
            <a:noFill/>
          </p:spPr>
          <p:txBody>
            <a:bodyPr wrap="square">
              <a:spAutoFit/>
            </a:bodyPr>
            <a:lstStyle/>
            <a:p>
              <a:pPr algn="l"/>
              <a:r>
                <a:rPr lang="en-PH" b="1" dirty="0">
                  <a:solidFill>
                    <a:schemeClr val="bg1"/>
                  </a:solidFill>
                  <a:latin typeface="Bahnschrift Condensed" panose="020B0502040204020203" pitchFamily="34" charset="0"/>
                </a:rPr>
                <a:t>Queue</a:t>
              </a:r>
              <a:r>
                <a:rPr lang="en-PH" sz="1800" b="1" dirty="0">
                  <a:solidFill>
                    <a:schemeClr val="bg1"/>
                  </a:solidFill>
                  <a:latin typeface="Bahnschrift Condensed" panose="020B0502040204020203" pitchFamily="34" charset="0"/>
                </a:rPr>
                <a:t> Sample Program</a:t>
              </a:r>
            </a:p>
          </p:txBody>
        </p:sp>
      </p:grpSp>
      <p:sp>
        <p:nvSpPr>
          <p:cNvPr id="12" name="Trapezoid 11">
            <a:extLst>
              <a:ext uri="{FF2B5EF4-FFF2-40B4-BE49-F238E27FC236}">
                <a16:creationId xmlns:a16="http://schemas.microsoft.com/office/drawing/2014/main" id="{63CBDAA3-C325-5697-BE7A-E200B08B58E6}"/>
              </a:ext>
            </a:extLst>
          </p:cNvPr>
          <p:cNvSpPr/>
          <p:nvPr/>
        </p:nvSpPr>
        <p:spPr>
          <a:xfrm rot="16200000">
            <a:off x="-30979" y="2028234"/>
            <a:ext cx="2736052" cy="1518828"/>
          </a:xfrm>
          <a:prstGeom prst="trapezoid">
            <a:avLst>
              <a:gd name="adj" fmla="val 72234"/>
            </a:avLst>
          </a:prstGeom>
          <a:gradFill>
            <a:gsLst>
              <a:gs pos="0">
                <a:schemeClr val="accent1">
                  <a:lumMod val="50000"/>
                  <a:lumOff val="50000"/>
                </a:schemeClr>
              </a:gs>
              <a:gs pos="50000">
                <a:schemeClr val="accent1">
                  <a:lumMod val="40000"/>
                  <a:lumOff val="60000"/>
                </a:schemeClr>
              </a:gs>
              <a:gs pos="100000">
                <a:schemeClr val="bg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Rounded Rectangle 8">
            <a:extLst>
              <a:ext uri="{FF2B5EF4-FFF2-40B4-BE49-F238E27FC236}">
                <a16:creationId xmlns:a16="http://schemas.microsoft.com/office/drawing/2014/main" id="{3CACDB5A-EA47-EB4D-8803-5B35F4F1BBD9}"/>
              </a:ext>
            </a:extLst>
          </p:cNvPr>
          <p:cNvSpPr/>
          <p:nvPr/>
        </p:nvSpPr>
        <p:spPr>
          <a:xfrm>
            <a:off x="16756" y="1396139"/>
            <a:ext cx="540000" cy="3060017"/>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TextBox 13">
            <a:extLst>
              <a:ext uri="{FF2B5EF4-FFF2-40B4-BE49-F238E27FC236}">
                <a16:creationId xmlns:a16="http://schemas.microsoft.com/office/drawing/2014/main" id="{240668EC-7241-D038-426E-C2F10EEC2B66}"/>
              </a:ext>
            </a:extLst>
          </p:cNvPr>
          <p:cNvSpPr txBox="1"/>
          <p:nvPr/>
        </p:nvSpPr>
        <p:spPr>
          <a:xfrm rot="16200000">
            <a:off x="-899140" y="2800845"/>
            <a:ext cx="2371794" cy="307777"/>
          </a:xfrm>
          <a:prstGeom prst="rect">
            <a:avLst/>
          </a:prstGeom>
          <a:noFill/>
        </p:spPr>
        <p:txBody>
          <a:bodyPr wrap="square" rtlCol="0">
            <a:spAutoFit/>
          </a:bodyPr>
          <a:lstStyle/>
          <a:p>
            <a:pPr algn="r"/>
            <a:r>
              <a:rPr lang="en-US" altLang="ko-KR" sz="1400" b="1" dirty="0">
                <a:solidFill>
                  <a:schemeClr val="bg1"/>
                </a:solidFill>
                <a:cs typeface="Arial" pitchFamily="34" charset="0"/>
              </a:rPr>
              <a:t>Queue Sample Program</a:t>
            </a:r>
            <a:endParaRPr lang="ko-KR" altLang="en-US" sz="1400" b="1" dirty="0">
              <a:solidFill>
                <a:schemeClr val="bg1"/>
              </a:solidFill>
              <a:cs typeface="Arial" pitchFamily="34" charset="0"/>
            </a:endParaRPr>
          </a:p>
        </p:txBody>
      </p:sp>
      <p:pic>
        <p:nvPicPr>
          <p:cNvPr id="15" name="Picture 14">
            <a:extLst>
              <a:ext uri="{FF2B5EF4-FFF2-40B4-BE49-F238E27FC236}">
                <a16:creationId xmlns:a16="http://schemas.microsoft.com/office/drawing/2014/main" id="{7B1F2DF9-76C9-3A18-403C-5BB6FB9CE6B6}"/>
              </a:ext>
            </a:extLst>
          </p:cNvPr>
          <p:cNvPicPr>
            <a:picLocks noChangeAspect="1"/>
          </p:cNvPicPr>
          <p:nvPr/>
        </p:nvPicPr>
        <p:blipFill>
          <a:blip r:embed="rId3"/>
          <a:stretch>
            <a:fillRect/>
          </a:stretch>
        </p:blipFill>
        <p:spPr>
          <a:xfrm>
            <a:off x="755576" y="1375011"/>
            <a:ext cx="2649151" cy="2132843"/>
          </a:xfrm>
          <a:prstGeom prst="rect">
            <a:avLst/>
          </a:prstGeom>
        </p:spPr>
      </p:pic>
    </p:spTree>
    <p:extLst>
      <p:ext uri="{BB962C8B-B14F-4D97-AF65-F5344CB8AC3E}">
        <p14:creationId xmlns:p14="http://schemas.microsoft.com/office/powerpoint/2010/main" val="33531520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9"/>
          <p:cNvSpPr/>
          <p:nvPr/>
        </p:nvSpPr>
        <p:spPr>
          <a:xfrm>
            <a:off x="3850130" y="555526"/>
            <a:ext cx="284243" cy="266077"/>
          </a:xfrm>
          <a:custGeom>
            <a:avLst/>
            <a:gdLst>
              <a:gd name="connsiteX0" fmla="*/ 833935 w 3239999"/>
              <a:gd name="connsiteY0" fmla="*/ 22 h 3032924"/>
              <a:gd name="connsiteX1" fmla="*/ 1576606 w 3239999"/>
              <a:gd name="connsiteY1" fmla="*/ 402054 h 3032924"/>
              <a:gd name="connsiteX2" fmla="*/ 1576606 w 3239999"/>
              <a:gd name="connsiteY2" fmla="*/ 430441 h 3032924"/>
              <a:gd name="connsiteX3" fmla="*/ 1576606 w 3239999"/>
              <a:gd name="connsiteY3" fmla="*/ 526981 h 3032924"/>
              <a:gd name="connsiteX4" fmla="*/ 1576606 w 3239999"/>
              <a:gd name="connsiteY4" fmla="*/ 2765302 h 3032924"/>
              <a:gd name="connsiteX5" fmla="*/ 378630 w 3239999"/>
              <a:gd name="connsiteY5" fmla="*/ 2472117 h 3032924"/>
              <a:gd name="connsiteX6" fmla="*/ 384918 w 3239999"/>
              <a:gd name="connsiteY6" fmla="*/ 526981 h 3032924"/>
              <a:gd name="connsiteX7" fmla="*/ 239143 w 3239999"/>
              <a:gd name="connsiteY7" fmla="*/ 526981 h 3032924"/>
              <a:gd name="connsiteX8" fmla="*/ 239143 w 3239999"/>
              <a:gd name="connsiteY8" fmla="*/ 2776423 h 3032924"/>
              <a:gd name="connsiteX9" fmla="*/ 1576606 w 3239999"/>
              <a:gd name="connsiteY9" fmla="*/ 2776423 h 3032924"/>
              <a:gd name="connsiteX10" fmla="*/ 1576606 w 3239999"/>
              <a:gd name="connsiteY10" fmla="*/ 2778202 h 3032924"/>
              <a:gd name="connsiteX11" fmla="*/ 1663394 w 3239999"/>
              <a:gd name="connsiteY11" fmla="*/ 2778202 h 3032924"/>
              <a:gd name="connsiteX12" fmla="*/ 1663394 w 3239999"/>
              <a:gd name="connsiteY12" fmla="*/ 2776423 h 3032924"/>
              <a:gd name="connsiteX13" fmla="*/ 3000856 w 3239999"/>
              <a:gd name="connsiteY13" fmla="*/ 2776423 h 3032924"/>
              <a:gd name="connsiteX14" fmla="*/ 3000856 w 3239999"/>
              <a:gd name="connsiteY14" fmla="*/ 526981 h 3032924"/>
              <a:gd name="connsiteX15" fmla="*/ 2855082 w 3239999"/>
              <a:gd name="connsiteY15" fmla="*/ 526981 h 3032924"/>
              <a:gd name="connsiteX16" fmla="*/ 2861369 w 3239999"/>
              <a:gd name="connsiteY16" fmla="*/ 2472117 h 3032924"/>
              <a:gd name="connsiteX17" fmla="*/ 1663394 w 3239999"/>
              <a:gd name="connsiteY17" fmla="*/ 2765302 h 3032924"/>
              <a:gd name="connsiteX18" fmla="*/ 1663394 w 3239999"/>
              <a:gd name="connsiteY18" fmla="*/ 526981 h 3032924"/>
              <a:gd name="connsiteX19" fmla="*/ 1663394 w 3239999"/>
              <a:gd name="connsiteY19" fmla="*/ 430441 h 3032924"/>
              <a:gd name="connsiteX20" fmla="*/ 1663394 w 3239999"/>
              <a:gd name="connsiteY20" fmla="*/ 402054 h 3032924"/>
              <a:gd name="connsiteX21" fmla="*/ 2406065 w 3239999"/>
              <a:gd name="connsiteY21" fmla="*/ 22 h 3032924"/>
              <a:gd name="connsiteX22" fmla="*/ 2853673 w 3239999"/>
              <a:gd name="connsiteY22" fmla="*/ 91100 h 3032924"/>
              <a:gd name="connsiteX23" fmla="*/ 2854770 w 3239999"/>
              <a:gd name="connsiteY23" fmla="*/ 430441 h 3032924"/>
              <a:gd name="connsiteX24" fmla="*/ 3120669 w 3239999"/>
              <a:gd name="connsiteY24" fmla="*/ 428517 h 3032924"/>
              <a:gd name="connsiteX25" fmla="*/ 3120669 w 3239999"/>
              <a:gd name="connsiteY25" fmla="*/ 738345 h 3032924"/>
              <a:gd name="connsiteX26" fmla="*/ 3239999 w 3239999"/>
              <a:gd name="connsiteY26" fmla="*/ 738345 h 3032924"/>
              <a:gd name="connsiteX27" fmla="*/ 3239999 w 3239999"/>
              <a:gd name="connsiteY27" fmla="*/ 3032924 h 3032924"/>
              <a:gd name="connsiteX28" fmla="*/ 0 w 3239999"/>
              <a:gd name="connsiteY28" fmla="*/ 3032924 h 3032924"/>
              <a:gd name="connsiteX29" fmla="*/ 0 w 3239999"/>
              <a:gd name="connsiteY29" fmla="*/ 738345 h 3032924"/>
              <a:gd name="connsiteX30" fmla="*/ 102477 w 3239999"/>
              <a:gd name="connsiteY30" fmla="*/ 738345 h 3032924"/>
              <a:gd name="connsiteX31" fmla="*/ 102477 w 3239999"/>
              <a:gd name="connsiteY31" fmla="*/ 428517 h 3032924"/>
              <a:gd name="connsiteX32" fmla="*/ 385229 w 3239999"/>
              <a:gd name="connsiteY32" fmla="*/ 430441 h 3032924"/>
              <a:gd name="connsiteX33" fmla="*/ 386326 w 3239999"/>
              <a:gd name="connsiteY33" fmla="*/ 91100 h 3032924"/>
              <a:gd name="connsiteX34" fmla="*/ 833935 w 3239999"/>
              <a:gd name="connsiteY34" fmla="*/ 22 h 3032924"/>
              <a:gd name="connsiteX0" fmla="*/ 833935 w 3239999"/>
              <a:gd name="connsiteY0" fmla="*/ 22 h 3032924"/>
              <a:gd name="connsiteX1" fmla="*/ 1576606 w 3239999"/>
              <a:gd name="connsiteY1" fmla="*/ 402054 h 3032924"/>
              <a:gd name="connsiteX2" fmla="*/ 1576606 w 3239999"/>
              <a:gd name="connsiteY2" fmla="*/ 430441 h 3032924"/>
              <a:gd name="connsiteX3" fmla="*/ 1576606 w 3239999"/>
              <a:gd name="connsiteY3" fmla="*/ 526981 h 3032924"/>
              <a:gd name="connsiteX4" fmla="*/ 1576606 w 3239999"/>
              <a:gd name="connsiteY4" fmla="*/ 2765302 h 3032924"/>
              <a:gd name="connsiteX5" fmla="*/ 378630 w 3239999"/>
              <a:gd name="connsiteY5" fmla="*/ 2472117 h 3032924"/>
              <a:gd name="connsiteX6" fmla="*/ 384918 w 3239999"/>
              <a:gd name="connsiteY6" fmla="*/ 526981 h 3032924"/>
              <a:gd name="connsiteX7" fmla="*/ 239143 w 3239999"/>
              <a:gd name="connsiteY7" fmla="*/ 526981 h 3032924"/>
              <a:gd name="connsiteX8" fmla="*/ 239143 w 3239999"/>
              <a:gd name="connsiteY8" fmla="*/ 2776423 h 3032924"/>
              <a:gd name="connsiteX9" fmla="*/ 1576606 w 3239999"/>
              <a:gd name="connsiteY9" fmla="*/ 2776423 h 3032924"/>
              <a:gd name="connsiteX10" fmla="*/ 1576606 w 3239999"/>
              <a:gd name="connsiteY10" fmla="*/ 2778202 h 3032924"/>
              <a:gd name="connsiteX11" fmla="*/ 1663394 w 3239999"/>
              <a:gd name="connsiteY11" fmla="*/ 2778202 h 3032924"/>
              <a:gd name="connsiteX12" fmla="*/ 1663394 w 3239999"/>
              <a:gd name="connsiteY12" fmla="*/ 2776423 h 3032924"/>
              <a:gd name="connsiteX13" fmla="*/ 3000856 w 3239999"/>
              <a:gd name="connsiteY13" fmla="*/ 2776423 h 3032924"/>
              <a:gd name="connsiteX14" fmla="*/ 3000856 w 3239999"/>
              <a:gd name="connsiteY14" fmla="*/ 526981 h 3032924"/>
              <a:gd name="connsiteX15" fmla="*/ 2855082 w 3239999"/>
              <a:gd name="connsiteY15" fmla="*/ 526981 h 3032924"/>
              <a:gd name="connsiteX16" fmla="*/ 2861369 w 3239999"/>
              <a:gd name="connsiteY16" fmla="*/ 2472117 h 3032924"/>
              <a:gd name="connsiteX17" fmla="*/ 1663394 w 3239999"/>
              <a:gd name="connsiteY17" fmla="*/ 2765302 h 3032924"/>
              <a:gd name="connsiteX18" fmla="*/ 1663394 w 3239999"/>
              <a:gd name="connsiteY18" fmla="*/ 526981 h 3032924"/>
              <a:gd name="connsiteX19" fmla="*/ 1663394 w 3239999"/>
              <a:gd name="connsiteY19" fmla="*/ 430441 h 3032924"/>
              <a:gd name="connsiteX20" fmla="*/ 1663394 w 3239999"/>
              <a:gd name="connsiteY20" fmla="*/ 402054 h 3032924"/>
              <a:gd name="connsiteX21" fmla="*/ 2406065 w 3239999"/>
              <a:gd name="connsiteY21" fmla="*/ 22 h 3032924"/>
              <a:gd name="connsiteX22" fmla="*/ 2853673 w 3239999"/>
              <a:gd name="connsiteY22" fmla="*/ 91100 h 3032924"/>
              <a:gd name="connsiteX23" fmla="*/ 2854770 w 3239999"/>
              <a:gd name="connsiteY23" fmla="*/ 430441 h 3032924"/>
              <a:gd name="connsiteX24" fmla="*/ 3120669 w 3239999"/>
              <a:gd name="connsiteY24" fmla="*/ 428517 h 3032924"/>
              <a:gd name="connsiteX25" fmla="*/ 3120669 w 3239999"/>
              <a:gd name="connsiteY25" fmla="*/ 738345 h 3032924"/>
              <a:gd name="connsiteX26" fmla="*/ 3239999 w 3239999"/>
              <a:gd name="connsiteY26" fmla="*/ 738345 h 3032924"/>
              <a:gd name="connsiteX27" fmla="*/ 3239999 w 3239999"/>
              <a:gd name="connsiteY27" fmla="*/ 3032924 h 3032924"/>
              <a:gd name="connsiteX28" fmla="*/ 0 w 3239999"/>
              <a:gd name="connsiteY28" fmla="*/ 3032924 h 3032924"/>
              <a:gd name="connsiteX29" fmla="*/ 0 w 3239999"/>
              <a:gd name="connsiteY29" fmla="*/ 738345 h 3032924"/>
              <a:gd name="connsiteX30" fmla="*/ 102477 w 3239999"/>
              <a:gd name="connsiteY30" fmla="*/ 738345 h 3032924"/>
              <a:gd name="connsiteX31" fmla="*/ 102477 w 3239999"/>
              <a:gd name="connsiteY31" fmla="*/ 428517 h 3032924"/>
              <a:gd name="connsiteX32" fmla="*/ 385229 w 3239999"/>
              <a:gd name="connsiteY32" fmla="*/ 430441 h 3032924"/>
              <a:gd name="connsiteX33" fmla="*/ 386326 w 3239999"/>
              <a:gd name="connsiteY33" fmla="*/ 91100 h 3032924"/>
              <a:gd name="connsiteX34" fmla="*/ 833935 w 3239999"/>
              <a:gd name="connsiteY34" fmla="*/ 22 h 3032924"/>
              <a:gd name="connsiteX0" fmla="*/ 833935 w 3239999"/>
              <a:gd name="connsiteY0" fmla="*/ 22 h 3032924"/>
              <a:gd name="connsiteX1" fmla="*/ 1576606 w 3239999"/>
              <a:gd name="connsiteY1" fmla="*/ 402054 h 3032924"/>
              <a:gd name="connsiteX2" fmla="*/ 1576606 w 3239999"/>
              <a:gd name="connsiteY2" fmla="*/ 430441 h 3032924"/>
              <a:gd name="connsiteX3" fmla="*/ 1576606 w 3239999"/>
              <a:gd name="connsiteY3" fmla="*/ 526981 h 3032924"/>
              <a:gd name="connsiteX4" fmla="*/ 1576606 w 3239999"/>
              <a:gd name="connsiteY4" fmla="*/ 2765302 h 3032924"/>
              <a:gd name="connsiteX5" fmla="*/ 378630 w 3239999"/>
              <a:gd name="connsiteY5" fmla="*/ 2472117 h 3032924"/>
              <a:gd name="connsiteX6" fmla="*/ 384918 w 3239999"/>
              <a:gd name="connsiteY6" fmla="*/ 526981 h 3032924"/>
              <a:gd name="connsiteX7" fmla="*/ 239143 w 3239999"/>
              <a:gd name="connsiteY7" fmla="*/ 526981 h 3032924"/>
              <a:gd name="connsiteX8" fmla="*/ 239143 w 3239999"/>
              <a:gd name="connsiteY8" fmla="*/ 2776423 h 3032924"/>
              <a:gd name="connsiteX9" fmla="*/ 1576606 w 3239999"/>
              <a:gd name="connsiteY9" fmla="*/ 2776423 h 3032924"/>
              <a:gd name="connsiteX10" fmla="*/ 1576606 w 3239999"/>
              <a:gd name="connsiteY10" fmla="*/ 2778202 h 3032924"/>
              <a:gd name="connsiteX11" fmla="*/ 1663394 w 3239999"/>
              <a:gd name="connsiteY11" fmla="*/ 2778202 h 3032924"/>
              <a:gd name="connsiteX12" fmla="*/ 1663394 w 3239999"/>
              <a:gd name="connsiteY12" fmla="*/ 2776423 h 3032924"/>
              <a:gd name="connsiteX13" fmla="*/ 3000856 w 3239999"/>
              <a:gd name="connsiteY13" fmla="*/ 2776423 h 3032924"/>
              <a:gd name="connsiteX14" fmla="*/ 3000856 w 3239999"/>
              <a:gd name="connsiteY14" fmla="*/ 526981 h 3032924"/>
              <a:gd name="connsiteX15" fmla="*/ 2855082 w 3239999"/>
              <a:gd name="connsiteY15" fmla="*/ 526981 h 3032924"/>
              <a:gd name="connsiteX16" fmla="*/ 2861369 w 3239999"/>
              <a:gd name="connsiteY16" fmla="*/ 2472117 h 3032924"/>
              <a:gd name="connsiteX17" fmla="*/ 1663394 w 3239999"/>
              <a:gd name="connsiteY17" fmla="*/ 2765302 h 3032924"/>
              <a:gd name="connsiteX18" fmla="*/ 1663394 w 3239999"/>
              <a:gd name="connsiteY18" fmla="*/ 526981 h 3032924"/>
              <a:gd name="connsiteX19" fmla="*/ 1663394 w 3239999"/>
              <a:gd name="connsiteY19" fmla="*/ 430441 h 3032924"/>
              <a:gd name="connsiteX20" fmla="*/ 1663394 w 3239999"/>
              <a:gd name="connsiteY20" fmla="*/ 402054 h 3032924"/>
              <a:gd name="connsiteX21" fmla="*/ 2406065 w 3239999"/>
              <a:gd name="connsiteY21" fmla="*/ 22 h 3032924"/>
              <a:gd name="connsiteX22" fmla="*/ 2853673 w 3239999"/>
              <a:gd name="connsiteY22" fmla="*/ 91100 h 3032924"/>
              <a:gd name="connsiteX23" fmla="*/ 2854770 w 3239999"/>
              <a:gd name="connsiteY23" fmla="*/ 430441 h 3032924"/>
              <a:gd name="connsiteX24" fmla="*/ 3120669 w 3239999"/>
              <a:gd name="connsiteY24" fmla="*/ 428517 h 3032924"/>
              <a:gd name="connsiteX25" fmla="*/ 3120669 w 3239999"/>
              <a:gd name="connsiteY25" fmla="*/ 738345 h 3032924"/>
              <a:gd name="connsiteX26" fmla="*/ 3239999 w 3239999"/>
              <a:gd name="connsiteY26" fmla="*/ 738345 h 3032924"/>
              <a:gd name="connsiteX27" fmla="*/ 3239999 w 3239999"/>
              <a:gd name="connsiteY27" fmla="*/ 3032924 h 3032924"/>
              <a:gd name="connsiteX28" fmla="*/ 0 w 3239999"/>
              <a:gd name="connsiteY28" fmla="*/ 3032924 h 3032924"/>
              <a:gd name="connsiteX29" fmla="*/ 0 w 3239999"/>
              <a:gd name="connsiteY29" fmla="*/ 738345 h 3032924"/>
              <a:gd name="connsiteX30" fmla="*/ 102477 w 3239999"/>
              <a:gd name="connsiteY30" fmla="*/ 738345 h 3032924"/>
              <a:gd name="connsiteX31" fmla="*/ 102477 w 3239999"/>
              <a:gd name="connsiteY31" fmla="*/ 428517 h 3032924"/>
              <a:gd name="connsiteX32" fmla="*/ 385229 w 3239999"/>
              <a:gd name="connsiteY32" fmla="*/ 430441 h 3032924"/>
              <a:gd name="connsiteX33" fmla="*/ 386326 w 3239999"/>
              <a:gd name="connsiteY33" fmla="*/ 91100 h 3032924"/>
              <a:gd name="connsiteX34" fmla="*/ 833935 w 3239999"/>
              <a:gd name="connsiteY34" fmla="*/ 2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29618 w 3239999"/>
              <a:gd name="connsiteY32" fmla="*/ 2690698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2991331 w 3239999"/>
              <a:gd name="connsiteY3" fmla="*/ 2709748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29618 w 3239999"/>
              <a:gd name="connsiteY32" fmla="*/ 2690698 h 3032924"/>
              <a:gd name="connsiteX33" fmla="*/ 1576606 w 3239999"/>
              <a:gd name="connsiteY33" fmla="*/ 2776423 h 30329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239999" h="3032924">
                <a:moveTo>
                  <a:pt x="1576606" y="2778202"/>
                </a:moveTo>
                <a:cubicBezTo>
                  <a:pt x="1576606" y="2778795"/>
                  <a:pt x="1663394" y="2792670"/>
                  <a:pt x="1663394" y="2778202"/>
                </a:cubicBezTo>
                <a:lnTo>
                  <a:pt x="1663394" y="2776423"/>
                </a:lnTo>
                <a:cubicBezTo>
                  <a:pt x="2185083" y="2605634"/>
                  <a:pt x="2444552" y="2500589"/>
                  <a:pt x="2991331" y="2709748"/>
                </a:cubicBezTo>
                <a:lnTo>
                  <a:pt x="3000856" y="526981"/>
                </a:lnTo>
                <a:lnTo>
                  <a:pt x="2855082" y="526981"/>
                </a:lnTo>
                <a:cubicBezTo>
                  <a:pt x="2857178" y="1175360"/>
                  <a:pt x="2859273" y="1823738"/>
                  <a:pt x="2861369" y="2472117"/>
                </a:cubicBezTo>
                <a:cubicBezTo>
                  <a:pt x="2483869" y="2318121"/>
                  <a:pt x="2052449" y="2439541"/>
                  <a:pt x="1663394" y="2765302"/>
                </a:cubicBezTo>
                <a:lnTo>
                  <a:pt x="1663394" y="526981"/>
                </a:lnTo>
                <a:lnTo>
                  <a:pt x="1663394" y="430441"/>
                </a:lnTo>
                <a:lnTo>
                  <a:pt x="1663394" y="402054"/>
                </a:lnTo>
                <a:cubicBezTo>
                  <a:pt x="1896442" y="149589"/>
                  <a:pt x="2115835" y="2106"/>
                  <a:pt x="2406065" y="22"/>
                </a:cubicBezTo>
                <a:cubicBezTo>
                  <a:pt x="2537987" y="-925"/>
                  <a:pt x="2684544" y="28169"/>
                  <a:pt x="2853673" y="91100"/>
                </a:cubicBezTo>
                <a:cubicBezTo>
                  <a:pt x="2854039" y="204214"/>
                  <a:pt x="2854404" y="317327"/>
                  <a:pt x="2854770" y="430441"/>
                </a:cubicBezTo>
                <a:lnTo>
                  <a:pt x="3120669" y="428517"/>
                </a:lnTo>
                <a:lnTo>
                  <a:pt x="3120669" y="738345"/>
                </a:lnTo>
                <a:lnTo>
                  <a:pt x="3239999" y="738345"/>
                </a:lnTo>
                <a:lnTo>
                  <a:pt x="3239999" y="3032924"/>
                </a:lnTo>
                <a:lnTo>
                  <a:pt x="0" y="3032924"/>
                </a:lnTo>
                <a:lnTo>
                  <a:pt x="0" y="738345"/>
                </a:lnTo>
                <a:lnTo>
                  <a:pt x="102477" y="738345"/>
                </a:lnTo>
                <a:lnTo>
                  <a:pt x="102477" y="428517"/>
                </a:lnTo>
                <a:lnTo>
                  <a:pt x="385229" y="430441"/>
                </a:lnTo>
                <a:cubicBezTo>
                  <a:pt x="385595" y="317327"/>
                  <a:pt x="385960" y="204214"/>
                  <a:pt x="386326" y="91100"/>
                </a:cubicBezTo>
                <a:cubicBezTo>
                  <a:pt x="555455" y="28169"/>
                  <a:pt x="702013" y="-925"/>
                  <a:pt x="833935" y="22"/>
                </a:cubicBezTo>
                <a:cubicBezTo>
                  <a:pt x="1124164" y="2106"/>
                  <a:pt x="1343558" y="149589"/>
                  <a:pt x="1576606" y="402054"/>
                </a:cubicBezTo>
                <a:lnTo>
                  <a:pt x="1576606" y="430441"/>
                </a:lnTo>
                <a:lnTo>
                  <a:pt x="1576606" y="526981"/>
                </a:lnTo>
                <a:lnTo>
                  <a:pt x="1576606" y="2765302"/>
                </a:lnTo>
                <a:cubicBezTo>
                  <a:pt x="1187550" y="2439541"/>
                  <a:pt x="756130" y="2318121"/>
                  <a:pt x="378630" y="2472117"/>
                </a:cubicBezTo>
                <a:lnTo>
                  <a:pt x="384918" y="526981"/>
                </a:lnTo>
                <a:lnTo>
                  <a:pt x="239143" y="526981"/>
                </a:lnTo>
                <a:lnTo>
                  <a:pt x="229618" y="2690698"/>
                </a:lnTo>
                <a:cubicBezTo>
                  <a:pt x="773243" y="2466244"/>
                  <a:pt x="1081748" y="2626096"/>
                  <a:pt x="1576606" y="2776423"/>
                </a:cubicBezTo>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2" name="Group 1">
            <a:extLst>
              <a:ext uri="{FF2B5EF4-FFF2-40B4-BE49-F238E27FC236}">
                <a16:creationId xmlns:a16="http://schemas.microsoft.com/office/drawing/2014/main" id="{4BDD5789-0FC2-A211-C866-20489F9CEB17}"/>
              </a:ext>
            </a:extLst>
          </p:cNvPr>
          <p:cNvGrpSpPr/>
          <p:nvPr/>
        </p:nvGrpSpPr>
        <p:grpSpPr>
          <a:xfrm>
            <a:off x="-19020" y="-20538"/>
            <a:ext cx="9163020" cy="936104"/>
            <a:chOff x="-19020" y="-20538"/>
            <a:chExt cx="9163020" cy="936104"/>
          </a:xfrm>
        </p:grpSpPr>
        <p:sp>
          <p:nvSpPr>
            <p:cNvPr id="3" name="Rectangle 2">
              <a:extLst>
                <a:ext uri="{FF2B5EF4-FFF2-40B4-BE49-F238E27FC236}">
                  <a16:creationId xmlns:a16="http://schemas.microsoft.com/office/drawing/2014/main" id="{9228616E-49BE-53F6-A4F4-39F669C017D9}"/>
                </a:ext>
              </a:extLst>
            </p:cNvPr>
            <p:cNvSpPr/>
            <p:nvPr/>
          </p:nvSpPr>
          <p:spPr>
            <a:xfrm>
              <a:off x="323528" y="555526"/>
              <a:ext cx="4392488" cy="35427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Text Placeholder 1">
              <a:extLst>
                <a:ext uri="{FF2B5EF4-FFF2-40B4-BE49-F238E27FC236}">
                  <a16:creationId xmlns:a16="http://schemas.microsoft.com/office/drawing/2014/main" id="{114B336E-9551-1FF3-22E4-6B1A647EA075}"/>
                </a:ext>
              </a:extLst>
            </p:cNvPr>
            <p:cNvSpPr txBox="1">
              <a:spLocks/>
            </p:cNvSpPr>
            <p:nvPr/>
          </p:nvSpPr>
          <p:spPr>
            <a:xfrm>
              <a:off x="0" y="-20538"/>
              <a:ext cx="9144000" cy="576064"/>
            </a:xfrm>
            <a:prstGeom prst="rect">
              <a:avLst/>
            </a:prstGeom>
          </p:spPr>
          <p:txBody>
            <a:bodyP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l">
                <a:buNone/>
              </a:pPr>
              <a:r>
                <a:rPr lang="en-US" altLang="ko-KR" sz="3600" u="sng" dirty="0">
                  <a:solidFill>
                    <a:schemeClr val="tx1">
                      <a:lumMod val="85000"/>
                      <a:lumOff val="15000"/>
                    </a:schemeClr>
                  </a:solidFill>
                  <a:latin typeface="Bernard MT Condensed" panose="02050806060905020404" pitchFamily="18" charset="0"/>
                </a:rPr>
                <a:t>Data Structures and Algorithm</a:t>
              </a:r>
              <a:endParaRPr lang="ko-KR" altLang="en-US" sz="3600" dirty="0">
                <a:solidFill>
                  <a:schemeClr val="tx1">
                    <a:lumMod val="85000"/>
                    <a:lumOff val="15000"/>
                  </a:schemeClr>
                </a:solidFill>
              </a:endParaRPr>
            </a:p>
          </p:txBody>
        </p:sp>
        <p:sp>
          <p:nvSpPr>
            <p:cNvPr id="5" name="Rectangle 4">
              <a:extLst>
                <a:ext uri="{FF2B5EF4-FFF2-40B4-BE49-F238E27FC236}">
                  <a16:creationId xmlns:a16="http://schemas.microsoft.com/office/drawing/2014/main" id="{37861175-A3CF-DF17-D4CC-16F0E1AE1B6D}"/>
                </a:ext>
              </a:extLst>
            </p:cNvPr>
            <p:cNvSpPr/>
            <p:nvPr/>
          </p:nvSpPr>
          <p:spPr>
            <a:xfrm>
              <a:off x="-19020" y="561294"/>
              <a:ext cx="323528" cy="354272"/>
            </a:xfrm>
            <a:prstGeom prst="rect">
              <a:avLst/>
            </a:prstGeom>
            <a:solidFill>
              <a:schemeClr val="accent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10" name="TextBox 9">
              <a:extLst>
                <a:ext uri="{FF2B5EF4-FFF2-40B4-BE49-F238E27FC236}">
                  <a16:creationId xmlns:a16="http://schemas.microsoft.com/office/drawing/2014/main" id="{61A5072A-A623-A618-3FF8-078385A1BE21}"/>
                </a:ext>
              </a:extLst>
            </p:cNvPr>
            <p:cNvSpPr txBox="1"/>
            <p:nvPr/>
          </p:nvSpPr>
          <p:spPr>
            <a:xfrm>
              <a:off x="251520" y="541432"/>
              <a:ext cx="3318043" cy="369332"/>
            </a:xfrm>
            <a:prstGeom prst="rect">
              <a:avLst/>
            </a:prstGeom>
            <a:noFill/>
          </p:spPr>
          <p:txBody>
            <a:bodyPr wrap="square">
              <a:spAutoFit/>
            </a:bodyPr>
            <a:lstStyle/>
            <a:p>
              <a:pPr algn="l"/>
              <a:r>
                <a:rPr lang="en-PH" b="1" dirty="0">
                  <a:solidFill>
                    <a:schemeClr val="bg1"/>
                  </a:solidFill>
                  <a:latin typeface="Bahnschrift Condensed" panose="020B0502040204020203" pitchFamily="34" charset="0"/>
                </a:rPr>
                <a:t>Queue</a:t>
              </a:r>
              <a:r>
                <a:rPr lang="en-PH" sz="1800" b="1" dirty="0">
                  <a:solidFill>
                    <a:schemeClr val="bg1"/>
                  </a:solidFill>
                  <a:latin typeface="Bahnschrift Condensed" panose="020B0502040204020203" pitchFamily="34" charset="0"/>
                </a:rPr>
                <a:t> Sample Program</a:t>
              </a:r>
            </a:p>
          </p:txBody>
        </p:sp>
      </p:grpSp>
      <p:sp>
        <p:nvSpPr>
          <p:cNvPr id="12" name="Trapezoid 11">
            <a:extLst>
              <a:ext uri="{FF2B5EF4-FFF2-40B4-BE49-F238E27FC236}">
                <a16:creationId xmlns:a16="http://schemas.microsoft.com/office/drawing/2014/main" id="{63CBDAA3-C325-5697-BE7A-E200B08B58E6}"/>
              </a:ext>
            </a:extLst>
          </p:cNvPr>
          <p:cNvSpPr/>
          <p:nvPr/>
        </p:nvSpPr>
        <p:spPr>
          <a:xfrm rot="16200000">
            <a:off x="-30979" y="2028234"/>
            <a:ext cx="2736052" cy="1518828"/>
          </a:xfrm>
          <a:prstGeom prst="trapezoid">
            <a:avLst>
              <a:gd name="adj" fmla="val 72234"/>
            </a:avLst>
          </a:prstGeom>
          <a:gradFill>
            <a:gsLst>
              <a:gs pos="0">
                <a:schemeClr val="accent1">
                  <a:lumMod val="50000"/>
                  <a:lumOff val="50000"/>
                </a:schemeClr>
              </a:gs>
              <a:gs pos="50000">
                <a:schemeClr val="accent1">
                  <a:lumMod val="40000"/>
                  <a:lumOff val="60000"/>
                </a:schemeClr>
              </a:gs>
              <a:gs pos="100000">
                <a:schemeClr val="bg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Rounded Rectangle 8">
            <a:extLst>
              <a:ext uri="{FF2B5EF4-FFF2-40B4-BE49-F238E27FC236}">
                <a16:creationId xmlns:a16="http://schemas.microsoft.com/office/drawing/2014/main" id="{3CACDB5A-EA47-EB4D-8803-5B35F4F1BBD9}"/>
              </a:ext>
            </a:extLst>
          </p:cNvPr>
          <p:cNvSpPr/>
          <p:nvPr/>
        </p:nvSpPr>
        <p:spPr>
          <a:xfrm>
            <a:off x="16756" y="1396139"/>
            <a:ext cx="540000" cy="3060017"/>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TextBox 13">
            <a:extLst>
              <a:ext uri="{FF2B5EF4-FFF2-40B4-BE49-F238E27FC236}">
                <a16:creationId xmlns:a16="http://schemas.microsoft.com/office/drawing/2014/main" id="{240668EC-7241-D038-426E-C2F10EEC2B66}"/>
              </a:ext>
            </a:extLst>
          </p:cNvPr>
          <p:cNvSpPr txBox="1"/>
          <p:nvPr/>
        </p:nvSpPr>
        <p:spPr>
          <a:xfrm rot="16200000">
            <a:off x="-899140" y="2800845"/>
            <a:ext cx="2371794" cy="307777"/>
          </a:xfrm>
          <a:prstGeom prst="rect">
            <a:avLst/>
          </a:prstGeom>
          <a:noFill/>
        </p:spPr>
        <p:txBody>
          <a:bodyPr wrap="square" rtlCol="0">
            <a:spAutoFit/>
          </a:bodyPr>
          <a:lstStyle/>
          <a:p>
            <a:pPr algn="r"/>
            <a:r>
              <a:rPr lang="en-US" altLang="ko-KR" sz="1400" b="1" dirty="0">
                <a:solidFill>
                  <a:schemeClr val="bg1"/>
                </a:solidFill>
                <a:cs typeface="Arial" pitchFamily="34" charset="0"/>
              </a:rPr>
              <a:t>Queue Sample Program</a:t>
            </a:r>
            <a:endParaRPr lang="ko-KR" altLang="en-US" sz="1400" b="1" dirty="0">
              <a:solidFill>
                <a:schemeClr val="bg1"/>
              </a:solidFill>
              <a:cs typeface="Arial" pitchFamily="34" charset="0"/>
            </a:endParaRPr>
          </a:p>
        </p:txBody>
      </p:sp>
      <p:pic>
        <p:nvPicPr>
          <p:cNvPr id="9" name="Picture 8">
            <a:extLst>
              <a:ext uri="{FF2B5EF4-FFF2-40B4-BE49-F238E27FC236}">
                <a16:creationId xmlns:a16="http://schemas.microsoft.com/office/drawing/2014/main" id="{C47D68EB-404B-4A42-2595-1EA5C80EF8EB}"/>
              </a:ext>
            </a:extLst>
          </p:cNvPr>
          <p:cNvPicPr>
            <a:picLocks noChangeAspect="1"/>
          </p:cNvPicPr>
          <p:nvPr/>
        </p:nvPicPr>
        <p:blipFill>
          <a:blip r:embed="rId3"/>
          <a:stretch>
            <a:fillRect/>
          </a:stretch>
        </p:blipFill>
        <p:spPr>
          <a:xfrm>
            <a:off x="672868" y="1117496"/>
            <a:ext cx="4497054" cy="2855020"/>
          </a:xfrm>
          <a:prstGeom prst="rect">
            <a:avLst/>
          </a:prstGeom>
        </p:spPr>
      </p:pic>
      <p:sp>
        <p:nvSpPr>
          <p:cNvPr id="11" name="Rectangle 10">
            <a:extLst>
              <a:ext uri="{FF2B5EF4-FFF2-40B4-BE49-F238E27FC236}">
                <a16:creationId xmlns:a16="http://schemas.microsoft.com/office/drawing/2014/main" id="{1207A3E4-1710-7294-D710-8BFB6699C30B}"/>
              </a:ext>
            </a:extLst>
          </p:cNvPr>
          <p:cNvSpPr/>
          <p:nvPr/>
        </p:nvSpPr>
        <p:spPr>
          <a:xfrm>
            <a:off x="481201" y="4456156"/>
            <a:ext cx="3226703" cy="635874"/>
          </a:xfrm>
          <a:prstGeom prst="rect">
            <a:avLst/>
          </a:prstGeom>
          <a:solidFill>
            <a:srgbClr val="32AE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F46C83A0-957E-512E-44B5-F03E393ADC08}"/>
              </a:ext>
            </a:extLst>
          </p:cNvPr>
          <p:cNvSpPr txBox="1"/>
          <p:nvPr/>
        </p:nvSpPr>
        <p:spPr>
          <a:xfrm>
            <a:off x="495200" y="4209693"/>
            <a:ext cx="1518829" cy="307777"/>
          </a:xfrm>
          <a:prstGeom prst="rect">
            <a:avLst/>
          </a:prstGeom>
          <a:noFill/>
        </p:spPr>
        <p:txBody>
          <a:bodyPr wrap="square" rtlCol="0">
            <a:spAutoFit/>
          </a:bodyPr>
          <a:lstStyle/>
          <a:p>
            <a:r>
              <a:rPr lang="en-US" sz="1400" b="1" u="sng" dirty="0"/>
              <a:t>OUTPUT</a:t>
            </a:r>
          </a:p>
        </p:txBody>
      </p:sp>
      <p:pic>
        <p:nvPicPr>
          <p:cNvPr id="17" name="Picture 16">
            <a:extLst>
              <a:ext uri="{FF2B5EF4-FFF2-40B4-BE49-F238E27FC236}">
                <a16:creationId xmlns:a16="http://schemas.microsoft.com/office/drawing/2014/main" id="{4E7E2648-FFB9-883D-985D-DA9D99A8D740}"/>
              </a:ext>
            </a:extLst>
          </p:cNvPr>
          <p:cNvPicPr>
            <a:picLocks noChangeAspect="1"/>
          </p:cNvPicPr>
          <p:nvPr/>
        </p:nvPicPr>
        <p:blipFill>
          <a:blip r:embed="rId4"/>
          <a:stretch>
            <a:fillRect/>
          </a:stretch>
        </p:blipFill>
        <p:spPr>
          <a:xfrm>
            <a:off x="635489" y="4597245"/>
            <a:ext cx="1238250" cy="333375"/>
          </a:xfrm>
          <a:prstGeom prst="rect">
            <a:avLst/>
          </a:prstGeom>
        </p:spPr>
      </p:pic>
    </p:spTree>
    <p:extLst>
      <p:ext uri="{BB962C8B-B14F-4D97-AF65-F5344CB8AC3E}">
        <p14:creationId xmlns:p14="http://schemas.microsoft.com/office/powerpoint/2010/main" val="41579968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53E599C5-0C27-E126-C76B-1BEEB1626206}"/>
              </a:ext>
            </a:extLst>
          </p:cNvPr>
          <p:cNvGrpSpPr/>
          <p:nvPr/>
        </p:nvGrpSpPr>
        <p:grpSpPr>
          <a:xfrm>
            <a:off x="-19020" y="-20538"/>
            <a:ext cx="9163020" cy="936104"/>
            <a:chOff x="-19020" y="-20538"/>
            <a:chExt cx="9163020" cy="936104"/>
          </a:xfrm>
        </p:grpSpPr>
        <p:sp>
          <p:nvSpPr>
            <p:cNvPr id="4" name="Rectangle 3">
              <a:extLst>
                <a:ext uri="{FF2B5EF4-FFF2-40B4-BE49-F238E27FC236}">
                  <a16:creationId xmlns:a16="http://schemas.microsoft.com/office/drawing/2014/main" id="{A9C749E3-D170-886D-88F6-3C0CD0221805}"/>
                </a:ext>
              </a:extLst>
            </p:cNvPr>
            <p:cNvSpPr/>
            <p:nvPr/>
          </p:nvSpPr>
          <p:spPr>
            <a:xfrm>
              <a:off x="323528" y="555526"/>
              <a:ext cx="4392488" cy="35427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Text Placeholder 1">
              <a:extLst>
                <a:ext uri="{FF2B5EF4-FFF2-40B4-BE49-F238E27FC236}">
                  <a16:creationId xmlns:a16="http://schemas.microsoft.com/office/drawing/2014/main" id="{B605D9F3-346E-D7EE-6943-4C10C489A502}"/>
                </a:ext>
              </a:extLst>
            </p:cNvPr>
            <p:cNvSpPr txBox="1">
              <a:spLocks/>
            </p:cNvSpPr>
            <p:nvPr/>
          </p:nvSpPr>
          <p:spPr>
            <a:xfrm>
              <a:off x="0" y="-20538"/>
              <a:ext cx="9144000" cy="576064"/>
            </a:xfrm>
            <a:prstGeom prst="rect">
              <a:avLst/>
            </a:prstGeom>
          </p:spPr>
          <p:txBody>
            <a:bodyP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l">
                <a:buNone/>
              </a:pPr>
              <a:r>
                <a:rPr lang="en-US" altLang="ko-KR" sz="3600" u="sng" dirty="0">
                  <a:solidFill>
                    <a:schemeClr val="tx1">
                      <a:lumMod val="85000"/>
                      <a:lumOff val="15000"/>
                    </a:schemeClr>
                  </a:solidFill>
                  <a:latin typeface="Bernard MT Condensed" panose="02050806060905020404" pitchFamily="18" charset="0"/>
                </a:rPr>
                <a:t>Data Structures and Algorithm</a:t>
              </a:r>
              <a:endParaRPr lang="ko-KR" altLang="en-US" sz="3600" dirty="0">
                <a:solidFill>
                  <a:schemeClr val="tx1">
                    <a:lumMod val="85000"/>
                    <a:lumOff val="15000"/>
                  </a:schemeClr>
                </a:solidFill>
              </a:endParaRPr>
            </a:p>
          </p:txBody>
        </p:sp>
        <p:sp>
          <p:nvSpPr>
            <p:cNvPr id="9" name="Rectangle 8">
              <a:extLst>
                <a:ext uri="{FF2B5EF4-FFF2-40B4-BE49-F238E27FC236}">
                  <a16:creationId xmlns:a16="http://schemas.microsoft.com/office/drawing/2014/main" id="{461C215D-280C-A890-20D5-AF03A9129545}"/>
                </a:ext>
              </a:extLst>
            </p:cNvPr>
            <p:cNvSpPr/>
            <p:nvPr/>
          </p:nvSpPr>
          <p:spPr>
            <a:xfrm>
              <a:off x="-19020" y="561294"/>
              <a:ext cx="323528" cy="354272"/>
            </a:xfrm>
            <a:prstGeom prst="rect">
              <a:avLst/>
            </a:prstGeom>
            <a:solidFill>
              <a:schemeClr val="accent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13" name="TextBox 12">
              <a:extLst>
                <a:ext uri="{FF2B5EF4-FFF2-40B4-BE49-F238E27FC236}">
                  <a16:creationId xmlns:a16="http://schemas.microsoft.com/office/drawing/2014/main" id="{3CD51E76-8B1C-40D9-2466-A55B9232C508}"/>
                </a:ext>
              </a:extLst>
            </p:cNvPr>
            <p:cNvSpPr txBox="1"/>
            <p:nvPr/>
          </p:nvSpPr>
          <p:spPr>
            <a:xfrm>
              <a:off x="251520" y="541432"/>
              <a:ext cx="3318043" cy="369332"/>
            </a:xfrm>
            <a:prstGeom prst="rect">
              <a:avLst/>
            </a:prstGeom>
            <a:noFill/>
          </p:spPr>
          <p:txBody>
            <a:bodyPr wrap="square">
              <a:spAutoFit/>
            </a:bodyPr>
            <a:lstStyle/>
            <a:p>
              <a:pPr algn="l"/>
              <a:r>
                <a:rPr lang="en-PH" sz="1800" b="1" dirty="0">
                  <a:solidFill>
                    <a:schemeClr val="bg1"/>
                  </a:solidFill>
                  <a:latin typeface="Bahnschrift Condensed" panose="020B0502040204020203" pitchFamily="34" charset="0"/>
                </a:rPr>
                <a:t>PRIORITY QUEUE</a:t>
              </a:r>
            </a:p>
          </p:txBody>
        </p:sp>
      </p:grpSp>
      <p:sp>
        <p:nvSpPr>
          <p:cNvPr id="14" name="TextBox 13">
            <a:extLst>
              <a:ext uri="{FF2B5EF4-FFF2-40B4-BE49-F238E27FC236}">
                <a16:creationId xmlns:a16="http://schemas.microsoft.com/office/drawing/2014/main" id="{78874DB7-A89A-88AB-6627-0D483BD02C50}"/>
              </a:ext>
            </a:extLst>
          </p:cNvPr>
          <p:cNvSpPr txBox="1"/>
          <p:nvPr/>
        </p:nvSpPr>
        <p:spPr>
          <a:xfrm>
            <a:off x="2339752" y="1472734"/>
            <a:ext cx="6491792" cy="1384995"/>
          </a:xfrm>
          <a:prstGeom prst="rect">
            <a:avLst/>
          </a:prstGeom>
          <a:noFill/>
        </p:spPr>
        <p:txBody>
          <a:bodyPr wrap="square" rtlCol="0">
            <a:spAutoFit/>
          </a:bodyPr>
          <a:lstStyle/>
          <a:p>
            <a:pPr marL="742950" lvl="1" indent="-285750">
              <a:buFont typeface="Wingdings" panose="05000000000000000000" pitchFamily="2" charset="2"/>
              <a:buChar char="§"/>
            </a:pPr>
            <a:r>
              <a:rPr lang="en-US" altLang="ko-KR" sz="1400" dirty="0">
                <a:solidFill>
                  <a:schemeClr val="tx1">
                    <a:lumMod val="75000"/>
                    <a:lumOff val="25000"/>
                  </a:schemeClr>
                </a:solidFill>
                <a:cs typeface="Arial" pitchFamily="34" charset="0"/>
              </a:rPr>
              <a:t>Like an ordinary queue, a priority queue has a front and a rear, and items are removed from the front.</a:t>
            </a:r>
          </a:p>
          <a:p>
            <a:pPr marL="742950" lvl="1" indent="-285750">
              <a:buFont typeface="Wingdings" panose="05000000000000000000" pitchFamily="2" charset="2"/>
              <a:buChar char="§"/>
            </a:pPr>
            <a:r>
              <a:rPr lang="en-US" altLang="ko-KR" sz="1400" dirty="0">
                <a:solidFill>
                  <a:schemeClr val="tx1">
                    <a:lumMod val="75000"/>
                    <a:lumOff val="25000"/>
                  </a:schemeClr>
                </a:solidFill>
                <a:cs typeface="Arial" pitchFamily="34" charset="0"/>
              </a:rPr>
              <a:t>However, in a priority queue, items are ordered by key value so that the item with the lowest key (or in some implementations the highest key) is always at the front. Items are inserted in the proper position to maintain the order.</a:t>
            </a:r>
          </a:p>
        </p:txBody>
      </p:sp>
    </p:spTree>
    <p:extLst>
      <p:ext uri="{BB962C8B-B14F-4D97-AF65-F5344CB8AC3E}">
        <p14:creationId xmlns:p14="http://schemas.microsoft.com/office/powerpoint/2010/main" val="28860652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53E599C5-0C27-E126-C76B-1BEEB1626206}"/>
              </a:ext>
            </a:extLst>
          </p:cNvPr>
          <p:cNvGrpSpPr/>
          <p:nvPr/>
        </p:nvGrpSpPr>
        <p:grpSpPr>
          <a:xfrm>
            <a:off x="-19020" y="-20538"/>
            <a:ext cx="9163020" cy="936104"/>
            <a:chOff x="-19020" y="-20538"/>
            <a:chExt cx="9163020" cy="936104"/>
          </a:xfrm>
        </p:grpSpPr>
        <p:sp>
          <p:nvSpPr>
            <p:cNvPr id="4" name="Rectangle 3">
              <a:extLst>
                <a:ext uri="{FF2B5EF4-FFF2-40B4-BE49-F238E27FC236}">
                  <a16:creationId xmlns:a16="http://schemas.microsoft.com/office/drawing/2014/main" id="{A9C749E3-D170-886D-88F6-3C0CD0221805}"/>
                </a:ext>
              </a:extLst>
            </p:cNvPr>
            <p:cNvSpPr/>
            <p:nvPr/>
          </p:nvSpPr>
          <p:spPr>
            <a:xfrm>
              <a:off x="323528" y="555526"/>
              <a:ext cx="4392488" cy="35427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Text Placeholder 1">
              <a:extLst>
                <a:ext uri="{FF2B5EF4-FFF2-40B4-BE49-F238E27FC236}">
                  <a16:creationId xmlns:a16="http://schemas.microsoft.com/office/drawing/2014/main" id="{B605D9F3-346E-D7EE-6943-4C10C489A502}"/>
                </a:ext>
              </a:extLst>
            </p:cNvPr>
            <p:cNvSpPr txBox="1">
              <a:spLocks/>
            </p:cNvSpPr>
            <p:nvPr/>
          </p:nvSpPr>
          <p:spPr>
            <a:xfrm>
              <a:off x="0" y="-20538"/>
              <a:ext cx="9144000" cy="576064"/>
            </a:xfrm>
            <a:prstGeom prst="rect">
              <a:avLst/>
            </a:prstGeom>
          </p:spPr>
          <p:txBody>
            <a:bodyP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l">
                <a:buNone/>
              </a:pPr>
              <a:r>
                <a:rPr lang="en-US" altLang="ko-KR" sz="3600" u="sng" dirty="0">
                  <a:solidFill>
                    <a:schemeClr val="tx1">
                      <a:lumMod val="85000"/>
                      <a:lumOff val="15000"/>
                    </a:schemeClr>
                  </a:solidFill>
                  <a:latin typeface="Bernard MT Condensed" panose="02050806060905020404" pitchFamily="18" charset="0"/>
                </a:rPr>
                <a:t>Data Structures and Algorithm</a:t>
              </a:r>
              <a:endParaRPr lang="ko-KR" altLang="en-US" sz="3600" dirty="0">
                <a:solidFill>
                  <a:schemeClr val="tx1">
                    <a:lumMod val="85000"/>
                    <a:lumOff val="15000"/>
                  </a:schemeClr>
                </a:solidFill>
              </a:endParaRPr>
            </a:p>
          </p:txBody>
        </p:sp>
        <p:sp>
          <p:nvSpPr>
            <p:cNvPr id="9" name="Rectangle 8">
              <a:extLst>
                <a:ext uri="{FF2B5EF4-FFF2-40B4-BE49-F238E27FC236}">
                  <a16:creationId xmlns:a16="http://schemas.microsoft.com/office/drawing/2014/main" id="{461C215D-280C-A890-20D5-AF03A9129545}"/>
                </a:ext>
              </a:extLst>
            </p:cNvPr>
            <p:cNvSpPr/>
            <p:nvPr/>
          </p:nvSpPr>
          <p:spPr>
            <a:xfrm>
              <a:off x="-19020" y="561294"/>
              <a:ext cx="323528" cy="354272"/>
            </a:xfrm>
            <a:prstGeom prst="rect">
              <a:avLst/>
            </a:prstGeom>
            <a:solidFill>
              <a:schemeClr val="accent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13" name="TextBox 12">
              <a:extLst>
                <a:ext uri="{FF2B5EF4-FFF2-40B4-BE49-F238E27FC236}">
                  <a16:creationId xmlns:a16="http://schemas.microsoft.com/office/drawing/2014/main" id="{3CD51E76-8B1C-40D9-2466-A55B9232C508}"/>
                </a:ext>
              </a:extLst>
            </p:cNvPr>
            <p:cNvSpPr txBox="1"/>
            <p:nvPr/>
          </p:nvSpPr>
          <p:spPr>
            <a:xfrm>
              <a:off x="251520" y="541432"/>
              <a:ext cx="3318043" cy="369332"/>
            </a:xfrm>
            <a:prstGeom prst="rect">
              <a:avLst/>
            </a:prstGeom>
            <a:noFill/>
          </p:spPr>
          <p:txBody>
            <a:bodyPr wrap="square">
              <a:spAutoFit/>
            </a:bodyPr>
            <a:lstStyle/>
            <a:p>
              <a:pPr algn="l"/>
              <a:r>
                <a:rPr lang="en-PH" sz="1800" b="1" dirty="0">
                  <a:solidFill>
                    <a:schemeClr val="bg1"/>
                  </a:solidFill>
                  <a:latin typeface="Bahnschrift Condensed" panose="020B0502040204020203" pitchFamily="34" charset="0"/>
                </a:rPr>
                <a:t>PRIORITY QUEUE</a:t>
              </a:r>
            </a:p>
          </p:txBody>
        </p:sp>
      </p:grpSp>
      <p:pic>
        <p:nvPicPr>
          <p:cNvPr id="2" name="Picture 1">
            <a:extLst>
              <a:ext uri="{FF2B5EF4-FFF2-40B4-BE49-F238E27FC236}">
                <a16:creationId xmlns:a16="http://schemas.microsoft.com/office/drawing/2014/main" id="{806F7F4D-CA32-F11C-472F-2312368D6488}"/>
              </a:ext>
            </a:extLst>
          </p:cNvPr>
          <p:cNvPicPr>
            <a:picLocks noChangeAspect="1"/>
          </p:cNvPicPr>
          <p:nvPr/>
        </p:nvPicPr>
        <p:blipFill>
          <a:blip r:embed="rId3"/>
          <a:stretch>
            <a:fillRect/>
          </a:stretch>
        </p:blipFill>
        <p:spPr>
          <a:xfrm>
            <a:off x="3203848" y="1275606"/>
            <a:ext cx="4492241" cy="3672408"/>
          </a:xfrm>
          <a:prstGeom prst="rect">
            <a:avLst/>
          </a:prstGeom>
        </p:spPr>
      </p:pic>
    </p:spTree>
    <p:extLst>
      <p:ext uri="{BB962C8B-B14F-4D97-AF65-F5344CB8AC3E}">
        <p14:creationId xmlns:p14="http://schemas.microsoft.com/office/powerpoint/2010/main" val="4331302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53E599C5-0C27-E126-C76B-1BEEB1626206}"/>
              </a:ext>
            </a:extLst>
          </p:cNvPr>
          <p:cNvGrpSpPr/>
          <p:nvPr/>
        </p:nvGrpSpPr>
        <p:grpSpPr>
          <a:xfrm>
            <a:off x="-19020" y="-20538"/>
            <a:ext cx="9163020" cy="936104"/>
            <a:chOff x="-19020" y="-20538"/>
            <a:chExt cx="9163020" cy="936104"/>
          </a:xfrm>
        </p:grpSpPr>
        <p:sp>
          <p:nvSpPr>
            <p:cNvPr id="4" name="Rectangle 3">
              <a:extLst>
                <a:ext uri="{FF2B5EF4-FFF2-40B4-BE49-F238E27FC236}">
                  <a16:creationId xmlns:a16="http://schemas.microsoft.com/office/drawing/2014/main" id="{A9C749E3-D170-886D-88F6-3C0CD0221805}"/>
                </a:ext>
              </a:extLst>
            </p:cNvPr>
            <p:cNvSpPr/>
            <p:nvPr/>
          </p:nvSpPr>
          <p:spPr>
            <a:xfrm>
              <a:off x="323528" y="555526"/>
              <a:ext cx="4392488" cy="35427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Text Placeholder 1">
              <a:extLst>
                <a:ext uri="{FF2B5EF4-FFF2-40B4-BE49-F238E27FC236}">
                  <a16:creationId xmlns:a16="http://schemas.microsoft.com/office/drawing/2014/main" id="{B605D9F3-346E-D7EE-6943-4C10C489A502}"/>
                </a:ext>
              </a:extLst>
            </p:cNvPr>
            <p:cNvSpPr txBox="1">
              <a:spLocks/>
            </p:cNvSpPr>
            <p:nvPr/>
          </p:nvSpPr>
          <p:spPr>
            <a:xfrm>
              <a:off x="0" y="-20538"/>
              <a:ext cx="9144000" cy="576064"/>
            </a:xfrm>
            <a:prstGeom prst="rect">
              <a:avLst/>
            </a:prstGeom>
          </p:spPr>
          <p:txBody>
            <a:bodyP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l">
                <a:buNone/>
              </a:pPr>
              <a:r>
                <a:rPr lang="en-US" altLang="ko-KR" sz="3600" u="sng" dirty="0">
                  <a:solidFill>
                    <a:schemeClr val="tx1">
                      <a:lumMod val="85000"/>
                      <a:lumOff val="15000"/>
                    </a:schemeClr>
                  </a:solidFill>
                  <a:latin typeface="Bernard MT Condensed" panose="02050806060905020404" pitchFamily="18" charset="0"/>
                </a:rPr>
                <a:t>Data Structures and Algorithm</a:t>
              </a:r>
              <a:endParaRPr lang="ko-KR" altLang="en-US" sz="3600" dirty="0">
                <a:solidFill>
                  <a:schemeClr val="tx1">
                    <a:lumMod val="85000"/>
                    <a:lumOff val="15000"/>
                  </a:schemeClr>
                </a:solidFill>
              </a:endParaRPr>
            </a:p>
          </p:txBody>
        </p:sp>
        <p:sp>
          <p:nvSpPr>
            <p:cNvPr id="9" name="Rectangle 8">
              <a:extLst>
                <a:ext uri="{FF2B5EF4-FFF2-40B4-BE49-F238E27FC236}">
                  <a16:creationId xmlns:a16="http://schemas.microsoft.com/office/drawing/2014/main" id="{461C215D-280C-A890-20D5-AF03A9129545}"/>
                </a:ext>
              </a:extLst>
            </p:cNvPr>
            <p:cNvSpPr/>
            <p:nvPr/>
          </p:nvSpPr>
          <p:spPr>
            <a:xfrm>
              <a:off x="-19020" y="561294"/>
              <a:ext cx="323528" cy="354272"/>
            </a:xfrm>
            <a:prstGeom prst="rect">
              <a:avLst/>
            </a:prstGeom>
            <a:solidFill>
              <a:schemeClr val="accent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13" name="TextBox 12">
              <a:extLst>
                <a:ext uri="{FF2B5EF4-FFF2-40B4-BE49-F238E27FC236}">
                  <a16:creationId xmlns:a16="http://schemas.microsoft.com/office/drawing/2014/main" id="{3CD51E76-8B1C-40D9-2466-A55B9232C508}"/>
                </a:ext>
              </a:extLst>
            </p:cNvPr>
            <p:cNvSpPr txBox="1"/>
            <p:nvPr/>
          </p:nvSpPr>
          <p:spPr>
            <a:xfrm>
              <a:off x="251520" y="541432"/>
              <a:ext cx="3318043" cy="369332"/>
            </a:xfrm>
            <a:prstGeom prst="rect">
              <a:avLst/>
            </a:prstGeom>
            <a:noFill/>
          </p:spPr>
          <p:txBody>
            <a:bodyPr wrap="square">
              <a:spAutoFit/>
            </a:bodyPr>
            <a:lstStyle/>
            <a:p>
              <a:pPr algn="l"/>
              <a:r>
                <a:rPr lang="en-PH" sz="1800" b="1" dirty="0">
                  <a:solidFill>
                    <a:schemeClr val="bg1"/>
                  </a:solidFill>
                  <a:latin typeface="Bahnschrift Condensed" panose="020B0502040204020203" pitchFamily="34" charset="0"/>
                </a:rPr>
                <a:t>PRIORITY QUEUE</a:t>
              </a:r>
            </a:p>
          </p:txBody>
        </p:sp>
      </p:grpSp>
      <p:pic>
        <p:nvPicPr>
          <p:cNvPr id="3" name="Picture 2">
            <a:extLst>
              <a:ext uri="{FF2B5EF4-FFF2-40B4-BE49-F238E27FC236}">
                <a16:creationId xmlns:a16="http://schemas.microsoft.com/office/drawing/2014/main" id="{DDEBA9B2-F4C0-AA37-3592-BBB9875E6500}"/>
              </a:ext>
            </a:extLst>
          </p:cNvPr>
          <p:cNvPicPr>
            <a:picLocks noChangeAspect="1"/>
          </p:cNvPicPr>
          <p:nvPr/>
        </p:nvPicPr>
        <p:blipFill>
          <a:blip r:embed="rId3"/>
          <a:stretch>
            <a:fillRect/>
          </a:stretch>
        </p:blipFill>
        <p:spPr>
          <a:xfrm>
            <a:off x="3569563" y="1154716"/>
            <a:ext cx="4032448" cy="3840908"/>
          </a:xfrm>
          <a:prstGeom prst="rect">
            <a:avLst/>
          </a:prstGeom>
        </p:spPr>
      </p:pic>
    </p:spTree>
    <p:extLst>
      <p:ext uri="{BB962C8B-B14F-4D97-AF65-F5344CB8AC3E}">
        <p14:creationId xmlns:p14="http://schemas.microsoft.com/office/powerpoint/2010/main" val="4197377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9"/>
          <p:cNvSpPr/>
          <p:nvPr/>
        </p:nvSpPr>
        <p:spPr>
          <a:xfrm>
            <a:off x="3850130" y="555526"/>
            <a:ext cx="284243" cy="266077"/>
          </a:xfrm>
          <a:custGeom>
            <a:avLst/>
            <a:gdLst>
              <a:gd name="connsiteX0" fmla="*/ 833935 w 3239999"/>
              <a:gd name="connsiteY0" fmla="*/ 22 h 3032924"/>
              <a:gd name="connsiteX1" fmla="*/ 1576606 w 3239999"/>
              <a:gd name="connsiteY1" fmla="*/ 402054 h 3032924"/>
              <a:gd name="connsiteX2" fmla="*/ 1576606 w 3239999"/>
              <a:gd name="connsiteY2" fmla="*/ 430441 h 3032924"/>
              <a:gd name="connsiteX3" fmla="*/ 1576606 w 3239999"/>
              <a:gd name="connsiteY3" fmla="*/ 526981 h 3032924"/>
              <a:gd name="connsiteX4" fmla="*/ 1576606 w 3239999"/>
              <a:gd name="connsiteY4" fmla="*/ 2765302 h 3032924"/>
              <a:gd name="connsiteX5" fmla="*/ 378630 w 3239999"/>
              <a:gd name="connsiteY5" fmla="*/ 2472117 h 3032924"/>
              <a:gd name="connsiteX6" fmla="*/ 384918 w 3239999"/>
              <a:gd name="connsiteY6" fmla="*/ 526981 h 3032924"/>
              <a:gd name="connsiteX7" fmla="*/ 239143 w 3239999"/>
              <a:gd name="connsiteY7" fmla="*/ 526981 h 3032924"/>
              <a:gd name="connsiteX8" fmla="*/ 239143 w 3239999"/>
              <a:gd name="connsiteY8" fmla="*/ 2776423 h 3032924"/>
              <a:gd name="connsiteX9" fmla="*/ 1576606 w 3239999"/>
              <a:gd name="connsiteY9" fmla="*/ 2776423 h 3032924"/>
              <a:gd name="connsiteX10" fmla="*/ 1576606 w 3239999"/>
              <a:gd name="connsiteY10" fmla="*/ 2778202 h 3032924"/>
              <a:gd name="connsiteX11" fmla="*/ 1663394 w 3239999"/>
              <a:gd name="connsiteY11" fmla="*/ 2778202 h 3032924"/>
              <a:gd name="connsiteX12" fmla="*/ 1663394 w 3239999"/>
              <a:gd name="connsiteY12" fmla="*/ 2776423 h 3032924"/>
              <a:gd name="connsiteX13" fmla="*/ 3000856 w 3239999"/>
              <a:gd name="connsiteY13" fmla="*/ 2776423 h 3032924"/>
              <a:gd name="connsiteX14" fmla="*/ 3000856 w 3239999"/>
              <a:gd name="connsiteY14" fmla="*/ 526981 h 3032924"/>
              <a:gd name="connsiteX15" fmla="*/ 2855082 w 3239999"/>
              <a:gd name="connsiteY15" fmla="*/ 526981 h 3032924"/>
              <a:gd name="connsiteX16" fmla="*/ 2861369 w 3239999"/>
              <a:gd name="connsiteY16" fmla="*/ 2472117 h 3032924"/>
              <a:gd name="connsiteX17" fmla="*/ 1663394 w 3239999"/>
              <a:gd name="connsiteY17" fmla="*/ 2765302 h 3032924"/>
              <a:gd name="connsiteX18" fmla="*/ 1663394 w 3239999"/>
              <a:gd name="connsiteY18" fmla="*/ 526981 h 3032924"/>
              <a:gd name="connsiteX19" fmla="*/ 1663394 w 3239999"/>
              <a:gd name="connsiteY19" fmla="*/ 430441 h 3032924"/>
              <a:gd name="connsiteX20" fmla="*/ 1663394 w 3239999"/>
              <a:gd name="connsiteY20" fmla="*/ 402054 h 3032924"/>
              <a:gd name="connsiteX21" fmla="*/ 2406065 w 3239999"/>
              <a:gd name="connsiteY21" fmla="*/ 22 h 3032924"/>
              <a:gd name="connsiteX22" fmla="*/ 2853673 w 3239999"/>
              <a:gd name="connsiteY22" fmla="*/ 91100 h 3032924"/>
              <a:gd name="connsiteX23" fmla="*/ 2854770 w 3239999"/>
              <a:gd name="connsiteY23" fmla="*/ 430441 h 3032924"/>
              <a:gd name="connsiteX24" fmla="*/ 3120669 w 3239999"/>
              <a:gd name="connsiteY24" fmla="*/ 428517 h 3032924"/>
              <a:gd name="connsiteX25" fmla="*/ 3120669 w 3239999"/>
              <a:gd name="connsiteY25" fmla="*/ 738345 h 3032924"/>
              <a:gd name="connsiteX26" fmla="*/ 3239999 w 3239999"/>
              <a:gd name="connsiteY26" fmla="*/ 738345 h 3032924"/>
              <a:gd name="connsiteX27" fmla="*/ 3239999 w 3239999"/>
              <a:gd name="connsiteY27" fmla="*/ 3032924 h 3032924"/>
              <a:gd name="connsiteX28" fmla="*/ 0 w 3239999"/>
              <a:gd name="connsiteY28" fmla="*/ 3032924 h 3032924"/>
              <a:gd name="connsiteX29" fmla="*/ 0 w 3239999"/>
              <a:gd name="connsiteY29" fmla="*/ 738345 h 3032924"/>
              <a:gd name="connsiteX30" fmla="*/ 102477 w 3239999"/>
              <a:gd name="connsiteY30" fmla="*/ 738345 h 3032924"/>
              <a:gd name="connsiteX31" fmla="*/ 102477 w 3239999"/>
              <a:gd name="connsiteY31" fmla="*/ 428517 h 3032924"/>
              <a:gd name="connsiteX32" fmla="*/ 385229 w 3239999"/>
              <a:gd name="connsiteY32" fmla="*/ 430441 h 3032924"/>
              <a:gd name="connsiteX33" fmla="*/ 386326 w 3239999"/>
              <a:gd name="connsiteY33" fmla="*/ 91100 h 3032924"/>
              <a:gd name="connsiteX34" fmla="*/ 833935 w 3239999"/>
              <a:gd name="connsiteY34" fmla="*/ 22 h 3032924"/>
              <a:gd name="connsiteX0" fmla="*/ 833935 w 3239999"/>
              <a:gd name="connsiteY0" fmla="*/ 22 h 3032924"/>
              <a:gd name="connsiteX1" fmla="*/ 1576606 w 3239999"/>
              <a:gd name="connsiteY1" fmla="*/ 402054 h 3032924"/>
              <a:gd name="connsiteX2" fmla="*/ 1576606 w 3239999"/>
              <a:gd name="connsiteY2" fmla="*/ 430441 h 3032924"/>
              <a:gd name="connsiteX3" fmla="*/ 1576606 w 3239999"/>
              <a:gd name="connsiteY3" fmla="*/ 526981 h 3032924"/>
              <a:gd name="connsiteX4" fmla="*/ 1576606 w 3239999"/>
              <a:gd name="connsiteY4" fmla="*/ 2765302 h 3032924"/>
              <a:gd name="connsiteX5" fmla="*/ 378630 w 3239999"/>
              <a:gd name="connsiteY5" fmla="*/ 2472117 h 3032924"/>
              <a:gd name="connsiteX6" fmla="*/ 384918 w 3239999"/>
              <a:gd name="connsiteY6" fmla="*/ 526981 h 3032924"/>
              <a:gd name="connsiteX7" fmla="*/ 239143 w 3239999"/>
              <a:gd name="connsiteY7" fmla="*/ 526981 h 3032924"/>
              <a:gd name="connsiteX8" fmla="*/ 239143 w 3239999"/>
              <a:gd name="connsiteY8" fmla="*/ 2776423 h 3032924"/>
              <a:gd name="connsiteX9" fmla="*/ 1576606 w 3239999"/>
              <a:gd name="connsiteY9" fmla="*/ 2776423 h 3032924"/>
              <a:gd name="connsiteX10" fmla="*/ 1576606 w 3239999"/>
              <a:gd name="connsiteY10" fmla="*/ 2778202 h 3032924"/>
              <a:gd name="connsiteX11" fmla="*/ 1663394 w 3239999"/>
              <a:gd name="connsiteY11" fmla="*/ 2778202 h 3032924"/>
              <a:gd name="connsiteX12" fmla="*/ 1663394 w 3239999"/>
              <a:gd name="connsiteY12" fmla="*/ 2776423 h 3032924"/>
              <a:gd name="connsiteX13" fmla="*/ 3000856 w 3239999"/>
              <a:gd name="connsiteY13" fmla="*/ 2776423 h 3032924"/>
              <a:gd name="connsiteX14" fmla="*/ 3000856 w 3239999"/>
              <a:gd name="connsiteY14" fmla="*/ 526981 h 3032924"/>
              <a:gd name="connsiteX15" fmla="*/ 2855082 w 3239999"/>
              <a:gd name="connsiteY15" fmla="*/ 526981 h 3032924"/>
              <a:gd name="connsiteX16" fmla="*/ 2861369 w 3239999"/>
              <a:gd name="connsiteY16" fmla="*/ 2472117 h 3032924"/>
              <a:gd name="connsiteX17" fmla="*/ 1663394 w 3239999"/>
              <a:gd name="connsiteY17" fmla="*/ 2765302 h 3032924"/>
              <a:gd name="connsiteX18" fmla="*/ 1663394 w 3239999"/>
              <a:gd name="connsiteY18" fmla="*/ 526981 h 3032924"/>
              <a:gd name="connsiteX19" fmla="*/ 1663394 w 3239999"/>
              <a:gd name="connsiteY19" fmla="*/ 430441 h 3032924"/>
              <a:gd name="connsiteX20" fmla="*/ 1663394 w 3239999"/>
              <a:gd name="connsiteY20" fmla="*/ 402054 h 3032924"/>
              <a:gd name="connsiteX21" fmla="*/ 2406065 w 3239999"/>
              <a:gd name="connsiteY21" fmla="*/ 22 h 3032924"/>
              <a:gd name="connsiteX22" fmla="*/ 2853673 w 3239999"/>
              <a:gd name="connsiteY22" fmla="*/ 91100 h 3032924"/>
              <a:gd name="connsiteX23" fmla="*/ 2854770 w 3239999"/>
              <a:gd name="connsiteY23" fmla="*/ 430441 h 3032924"/>
              <a:gd name="connsiteX24" fmla="*/ 3120669 w 3239999"/>
              <a:gd name="connsiteY24" fmla="*/ 428517 h 3032924"/>
              <a:gd name="connsiteX25" fmla="*/ 3120669 w 3239999"/>
              <a:gd name="connsiteY25" fmla="*/ 738345 h 3032924"/>
              <a:gd name="connsiteX26" fmla="*/ 3239999 w 3239999"/>
              <a:gd name="connsiteY26" fmla="*/ 738345 h 3032924"/>
              <a:gd name="connsiteX27" fmla="*/ 3239999 w 3239999"/>
              <a:gd name="connsiteY27" fmla="*/ 3032924 h 3032924"/>
              <a:gd name="connsiteX28" fmla="*/ 0 w 3239999"/>
              <a:gd name="connsiteY28" fmla="*/ 3032924 h 3032924"/>
              <a:gd name="connsiteX29" fmla="*/ 0 w 3239999"/>
              <a:gd name="connsiteY29" fmla="*/ 738345 h 3032924"/>
              <a:gd name="connsiteX30" fmla="*/ 102477 w 3239999"/>
              <a:gd name="connsiteY30" fmla="*/ 738345 h 3032924"/>
              <a:gd name="connsiteX31" fmla="*/ 102477 w 3239999"/>
              <a:gd name="connsiteY31" fmla="*/ 428517 h 3032924"/>
              <a:gd name="connsiteX32" fmla="*/ 385229 w 3239999"/>
              <a:gd name="connsiteY32" fmla="*/ 430441 h 3032924"/>
              <a:gd name="connsiteX33" fmla="*/ 386326 w 3239999"/>
              <a:gd name="connsiteY33" fmla="*/ 91100 h 3032924"/>
              <a:gd name="connsiteX34" fmla="*/ 833935 w 3239999"/>
              <a:gd name="connsiteY34" fmla="*/ 22 h 3032924"/>
              <a:gd name="connsiteX0" fmla="*/ 833935 w 3239999"/>
              <a:gd name="connsiteY0" fmla="*/ 22 h 3032924"/>
              <a:gd name="connsiteX1" fmla="*/ 1576606 w 3239999"/>
              <a:gd name="connsiteY1" fmla="*/ 402054 h 3032924"/>
              <a:gd name="connsiteX2" fmla="*/ 1576606 w 3239999"/>
              <a:gd name="connsiteY2" fmla="*/ 430441 h 3032924"/>
              <a:gd name="connsiteX3" fmla="*/ 1576606 w 3239999"/>
              <a:gd name="connsiteY3" fmla="*/ 526981 h 3032924"/>
              <a:gd name="connsiteX4" fmla="*/ 1576606 w 3239999"/>
              <a:gd name="connsiteY4" fmla="*/ 2765302 h 3032924"/>
              <a:gd name="connsiteX5" fmla="*/ 378630 w 3239999"/>
              <a:gd name="connsiteY5" fmla="*/ 2472117 h 3032924"/>
              <a:gd name="connsiteX6" fmla="*/ 384918 w 3239999"/>
              <a:gd name="connsiteY6" fmla="*/ 526981 h 3032924"/>
              <a:gd name="connsiteX7" fmla="*/ 239143 w 3239999"/>
              <a:gd name="connsiteY7" fmla="*/ 526981 h 3032924"/>
              <a:gd name="connsiteX8" fmla="*/ 239143 w 3239999"/>
              <a:gd name="connsiteY8" fmla="*/ 2776423 h 3032924"/>
              <a:gd name="connsiteX9" fmla="*/ 1576606 w 3239999"/>
              <a:gd name="connsiteY9" fmla="*/ 2776423 h 3032924"/>
              <a:gd name="connsiteX10" fmla="*/ 1576606 w 3239999"/>
              <a:gd name="connsiteY10" fmla="*/ 2778202 h 3032924"/>
              <a:gd name="connsiteX11" fmla="*/ 1663394 w 3239999"/>
              <a:gd name="connsiteY11" fmla="*/ 2778202 h 3032924"/>
              <a:gd name="connsiteX12" fmla="*/ 1663394 w 3239999"/>
              <a:gd name="connsiteY12" fmla="*/ 2776423 h 3032924"/>
              <a:gd name="connsiteX13" fmla="*/ 3000856 w 3239999"/>
              <a:gd name="connsiteY13" fmla="*/ 2776423 h 3032924"/>
              <a:gd name="connsiteX14" fmla="*/ 3000856 w 3239999"/>
              <a:gd name="connsiteY14" fmla="*/ 526981 h 3032924"/>
              <a:gd name="connsiteX15" fmla="*/ 2855082 w 3239999"/>
              <a:gd name="connsiteY15" fmla="*/ 526981 h 3032924"/>
              <a:gd name="connsiteX16" fmla="*/ 2861369 w 3239999"/>
              <a:gd name="connsiteY16" fmla="*/ 2472117 h 3032924"/>
              <a:gd name="connsiteX17" fmla="*/ 1663394 w 3239999"/>
              <a:gd name="connsiteY17" fmla="*/ 2765302 h 3032924"/>
              <a:gd name="connsiteX18" fmla="*/ 1663394 w 3239999"/>
              <a:gd name="connsiteY18" fmla="*/ 526981 h 3032924"/>
              <a:gd name="connsiteX19" fmla="*/ 1663394 w 3239999"/>
              <a:gd name="connsiteY19" fmla="*/ 430441 h 3032924"/>
              <a:gd name="connsiteX20" fmla="*/ 1663394 w 3239999"/>
              <a:gd name="connsiteY20" fmla="*/ 402054 h 3032924"/>
              <a:gd name="connsiteX21" fmla="*/ 2406065 w 3239999"/>
              <a:gd name="connsiteY21" fmla="*/ 22 h 3032924"/>
              <a:gd name="connsiteX22" fmla="*/ 2853673 w 3239999"/>
              <a:gd name="connsiteY22" fmla="*/ 91100 h 3032924"/>
              <a:gd name="connsiteX23" fmla="*/ 2854770 w 3239999"/>
              <a:gd name="connsiteY23" fmla="*/ 430441 h 3032924"/>
              <a:gd name="connsiteX24" fmla="*/ 3120669 w 3239999"/>
              <a:gd name="connsiteY24" fmla="*/ 428517 h 3032924"/>
              <a:gd name="connsiteX25" fmla="*/ 3120669 w 3239999"/>
              <a:gd name="connsiteY25" fmla="*/ 738345 h 3032924"/>
              <a:gd name="connsiteX26" fmla="*/ 3239999 w 3239999"/>
              <a:gd name="connsiteY26" fmla="*/ 738345 h 3032924"/>
              <a:gd name="connsiteX27" fmla="*/ 3239999 w 3239999"/>
              <a:gd name="connsiteY27" fmla="*/ 3032924 h 3032924"/>
              <a:gd name="connsiteX28" fmla="*/ 0 w 3239999"/>
              <a:gd name="connsiteY28" fmla="*/ 3032924 h 3032924"/>
              <a:gd name="connsiteX29" fmla="*/ 0 w 3239999"/>
              <a:gd name="connsiteY29" fmla="*/ 738345 h 3032924"/>
              <a:gd name="connsiteX30" fmla="*/ 102477 w 3239999"/>
              <a:gd name="connsiteY30" fmla="*/ 738345 h 3032924"/>
              <a:gd name="connsiteX31" fmla="*/ 102477 w 3239999"/>
              <a:gd name="connsiteY31" fmla="*/ 428517 h 3032924"/>
              <a:gd name="connsiteX32" fmla="*/ 385229 w 3239999"/>
              <a:gd name="connsiteY32" fmla="*/ 430441 h 3032924"/>
              <a:gd name="connsiteX33" fmla="*/ 386326 w 3239999"/>
              <a:gd name="connsiteY33" fmla="*/ 91100 h 3032924"/>
              <a:gd name="connsiteX34" fmla="*/ 833935 w 3239999"/>
              <a:gd name="connsiteY34" fmla="*/ 2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29618 w 3239999"/>
              <a:gd name="connsiteY32" fmla="*/ 2690698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2991331 w 3239999"/>
              <a:gd name="connsiteY3" fmla="*/ 2709748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29618 w 3239999"/>
              <a:gd name="connsiteY32" fmla="*/ 2690698 h 3032924"/>
              <a:gd name="connsiteX33" fmla="*/ 1576606 w 3239999"/>
              <a:gd name="connsiteY33" fmla="*/ 2776423 h 30329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239999" h="3032924">
                <a:moveTo>
                  <a:pt x="1576606" y="2778202"/>
                </a:moveTo>
                <a:cubicBezTo>
                  <a:pt x="1576606" y="2778795"/>
                  <a:pt x="1663394" y="2792670"/>
                  <a:pt x="1663394" y="2778202"/>
                </a:cubicBezTo>
                <a:lnTo>
                  <a:pt x="1663394" y="2776423"/>
                </a:lnTo>
                <a:cubicBezTo>
                  <a:pt x="2185083" y="2605634"/>
                  <a:pt x="2444552" y="2500589"/>
                  <a:pt x="2991331" y="2709748"/>
                </a:cubicBezTo>
                <a:lnTo>
                  <a:pt x="3000856" y="526981"/>
                </a:lnTo>
                <a:lnTo>
                  <a:pt x="2855082" y="526981"/>
                </a:lnTo>
                <a:cubicBezTo>
                  <a:pt x="2857178" y="1175360"/>
                  <a:pt x="2859273" y="1823738"/>
                  <a:pt x="2861369" y="2472117"/>
                </a:cubicBezTo>
                <a:cubicBezTo>
                  <a:pt x="2483869" y="2318121"/>
                  <a:pt x="2052449" y="2439541"/>
                  <a:pt x="1663394" y="2765302"/>
                </a:cubicBezTo>
                <a:lnTo>
                  <a:pt x="1663394" y="526981"/>
                </a:lnTo>
                <a:lnTo>
                  <a:pt x="1663394" y="430441"/>
                </a:lnTo>
                <a:lnTo>
                  <a:pt x="1663394" y="402054"/>
                </a:lnTo>
                <a:cubicBezTo>
                  <a:pt x="1896442" y="149589"/>
                  <a:pt x="2115835" y="2106"/>
                  <a:pt x="2406065" y="22"/>
                </a:cubicBezTo>
                <a:cubicBezTo>
                  <a:pt x="2537987" y="-925"/>
                  <a:pt x="2684544" y="28169"/>
                  <a:pt x="2853673" y="91100"/>
                </a:cubicBezTo>
                <a:cubicBezTo>
                  <a:pt x="2854039" y="204214"/>
                  <a:pt x="2854404" y="317327"/>
                  <a:pt x="2854770" y="430441"/>
                </a:cubicBezTo>
                <a:lnTo>
                  <a:pt x="3120669" y="428517"/>
                </a:lnTo>
                <a:lnTo>
                  <a:pt x="3120669" y="738345"/>
                </a:lnTo>
                <a:lnTo>
                  <a:pt x="3239999" y="738345"/>
                </a:lnTo>
                <a:lnTo>
                  <a:pt x="3239999" y="3032924"/>
                </a:lnTo>
                <a:lnTo>
                  <a:pt x="0" y="3032924"/>
                </a:lnTo>
                <a:lnTo>
                  <a:pt x="0" y="738345"/>
                </a:lnTo>
                <a:lnTo>
                  <a:pt x="102477" y="738345"/>
                </a:lnTo>
                <a:lnTo>
                  <a:pt x="102477" y="428517"/>
                </a:lnTo>
                <a:lnTo>
                  <a:pt x="385229" y="430441"/>
                </a:lnTo>
                <a:cubicBezTo>
                  <a:pt x="385595" y="317327"/>
                  <a:pt x="385960" y="204214"/>
                  <a:pt x="386326" y="91100"/>
                </a:cubicBezTo>
                <a:cubicBezTo>
                  <a:pt x="555455" y="28169"/>
                  <a:pt x="702013" y="-925"/>
                  <a:pt x="833935" y="22"/>
                </a:cubicBezTo>
                <a:cubicBezTo>
                  <a:pt x="1124164" y="2106"/>
                  <a:pt x="1343558" y="149589"/>
                  <a:pt x="1576606" y="402054"/>
                </a:cubicBezTo>
                <a:lnTo>
                  <a:pt x="1576606" y="430441"/>
                </a:lnTo>
                <a:lnTo>
                  <a:pt x="1576606" y="526981"/>
                </a:lnTo>
                <a:lnTo>
                  <a:pt x="1576606" y="2765302"/>
                </a:lnTo>
                <a:cubicBezTo>
                  <a:pt x="1187550" y="2439541"/>
                  <a:pt x="756130" y="2318121"/>
                  <a:pt x="378630" y="2472117"/>
                </a:cubicBezTo>
                <a:lnTo>
                  <a:pt x="384918" y="526981"/>
                </a:lnTo>
                <a:lnTo>
                  <a:pt x="239143" y="526981"/>
                </a:lnTo>
                <a:lnTo>
                  <a:pt x="229618" y="2690698"/>
                </a:lnTo>
                <a:cubicBezTo>
                  <a:pt x="773243" y="2466244"/>
                  <a:pt x="1081748" y="2626096"/>
                  <a:pt x="1576606" y="2776423"/>
                </a:cubicBezTo>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2" name="Group 1">
            <a:extLst>
              <a:ext uri="{FF2B5EF4-FFF2-40B4-BE49-F238E27FC236}">
                <a16:creationId xmlns:a16="http://schemas.microsoft.com/office/drawing/2014/main" id="{4BDD5789-0FC2-A211-C866-20489F9CEB17}"/>
              </a:ext>
            </a:extLst>
          </p:cNvPr>
          <p:cNvGrpSpPr/>
          <p:nvPr/>
        </p:nvGrpSpPr>
        <p:grpSpPr>
          <a:xfrm>
            <a:off x="-19020" y="-20538"/>
            <a:ext cx="9163020" cy="936104"/>
            <a:chOff x="-19020" y="-20538"/>
            <a:chExt cx="9163020" cy="936104"/>
          </a:xfrm>
        </p:grpSpPr>
        <p:sp>
          <p:nvSpPr>
            <p:cNvPr id="3" name="Rectangle 2">
              <a:extLst>
                <a:ext uri="{FF2B5EF4-FFF2-40B4-BE49-F238E27FC236}">
                  <a16:creationId xmlns:a16="http://schemas.microsoft.com/office/drawing/2014/main" id="{9228616E-49BE-53F6-A4F4-39F669C017D9}"/>
                </a:ext>
              </a:extLst>
            </p:cNvPr>
            <p:cNvSpPr/>
            <p:nvPr/>
          </p:nvSpPr>
          <p:spPr>
            <a:xfrm>
              <a:off x="323528" y="555526"/>
              <a:ext cx="4392488" cy="35427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Text Placeholder 1">
              <a:extLst>
                <a:ext uri="{FF2B5EF4-FFF2-40B4-BE49-F238E27FC236}">
                  <a16:creationId xmlns:a16="http://schemas.microsoft.com/office/drawing/2014/main" id="{114B336E-9551-1FF3-22E4-6B1A647EA075}"/>
                </a:ext>
              </a:extLst>
            </p:cNvPr>
            <p:cNvSpPr txBox="1">
              <a:spLocks/>
            </p:cNvSpPr>
            <p:nvPr/>
          </p:nvSpPr>
          <p:spPr>
            <a:xfrm>
              <a:off x="0" y="-20538"/>
              <a:ext cx="9144000" cy="576064"/>
            </a:xfrm>
            <a:prstGeom prst="rect">
              <a:avLst/>
            </a:prstGeom>
          </p:spPr>
          <p:txBody>
            <a:bodyP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l">
                <a:buNone/>
              </a:pPr>
              <a:r>
                <a:rPr lang="en-US" altLang="ko-KR" sz="3600" u="sng" dirty="0">
                  <a:solidFill>
                    <a:schemeClr val="tx1">
                      <a:lumMod val="85000"/>
                      <a:lumOff val="15000"/>
                    </a:schemeClr>
                  </a:solidFill>
                  <a:latin typeface="Bernard MT Condensed" panose="02050806060905020404" pitchFamily="18" charset="0"/>
                </a:rPr>
                <a:t>Data Structures and Algorithm</a:t>
              </a:r>
              <a:endParaRPr lang="ko-KR" altLang="en-US" sz="3600" dirty="0">
                <a:solidFill>
                  <a:schemeClr val="tx1">
                    <a:lumMod val="85000"/>
                    <a:lumOff val="15000"/>
                  </a:schemeClr>
                </a:solidFill>
              </a:endParaRPr>
            </a:p>
          </p:txBody>
        </p:sp>
        <p:sp>
          <p:nvSpPr>
            <p:cNvPr id="5" name="Rectangle 4">
              <a:extLst>
                <a:ext uri="{FF2B5EF4-FFF2-40B4-BE49-F238E27FC236}">
                  <a16:creationId xmlns:a16="http://schemas.microsoft.com/office/drawing/2014/main" id="{37861175-A3CF-DF17-D4CC-16F0E1AE1B6D}"/>
                </a:ext>
              </a:extLst>
            </p:cNvPr>
            <p:cNvSpPr/>
            <p:nvPr/>
          </p:nvSpPr>
          <p:spPr>
            <a:xfrm>
              <a:off x="-19020" y="561294"/>
              <a:ext cx="323528" cy="354272"/>
            </a:xfrm>
            <a:prstGeom prst="rect">
              <a:avLst/>
            </a:prstGeom>
            <a:solidFill>
              <a:schemeClr val="accent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10" name="TextBox 9">
              <a:extLst>
                <a:ext uri="{FF2B5EF4-FFF2-40B4-BE49-F238E27FC236}">
                  <a16:creationId xmlns:a16="http://schemas.microsoft.com/office/drawing/2014/main" id="{61A5072A-A623-A618-3FF8-078385A1BE21}"/>
                </a:ext>
              </a:extLst>
            </p:cNvPr>
            <p:cNvSpPr txBox="1"/>
            <p:nvPr/>
          </p:nvSpPr>
          <p:spPr>
            <a:xfrm>
              <a:off x="251520" y="541432"/>
              <a:ext cx="3318043" cy="369332"/>
            </a:xfrm>
            <a:prstGeom prst="rect">
              <a:avLst/>
            </a:prstGeom>
            <a:noFill/>
          </p:spPr>
          <p:txBody>
            <a:bodyPr wrap="square">
              <a:spAutoFit/>
            </a:bodyPr>
            <a:lstStyle/>
            <a:p>
              <a:pPr algn="l"/>
              <a:r>
                <a:rPr lang="en-PH" b="1" dirty="0">
                  <a:solidFill>
                    <a:schemeClr val="bg1"/>
                  </a:solidFill>
                  <a:latin typeface="Bahnschrift Condensed" panose="020B0502040204020203" pitchFamily="34" charset="0"/>
                </a:rPr>
                <a:t>Priority Queue</a:t>
              </a:r>
              <a:r>
                <a:rPr lang="en-PH" sz="1800" b="1" dirty="0">
                  <a:solidFill>
                    <a:schemeClr val="bg1"/>
                  </a:solidFill>
                  <a:latin typeface="Bahnschrift Condensed" panose="020B0502040204020203" pitchFamily="34" charset="0"/>
                </a:rPr>
                <a:t> Sample Program</a:t>
              </a:r>
            </a:p>
          </p:txBody>
        </p:sp>
      </p:grpSp>
      <p:sp>
        <p:nvSpPr>
          <p:cNvPr id="12" name="Trapezoid 11">
            <a:extLst>
              <a:ext uri="{FF2B5EF4-FFF2-40B4-BE49-F238E27FC236}">
                <a16:creationId xmlns:a16="http://schemas.microsoft.com/office/drawing/2014/main" id="{63CBDAA3-C325-5697-BE7A-E200B08B58E6}"/>
              </a:ext>
            </a:extLst>
          </p:cNvPr>
          <p:cNvSpPr/>
          <p:nvPr/>
        </p:nvSpPr>
        <p:spPr>
          <a:xfrm rot="16200000">
            <a:off x="-30979" y="2028234"/>
            <a:ext cx="2736052" cy="1518828"/>
          </a:xfrm>
          <a:prstGeom prst="trapezoid">
            <a:avLst>
              <a:gd name="adj" fmla="val 72234"/>
            </a:avLst>
          </a:prstGeom>
          <a:gradFill>
            <a:gsLst>
              <a:gs pos="0">
                <a:schemeClr val="accent1">
                  <a:lumMod val="50000"/>
                  <a:lumOff val="50000"/>
                </a:schemeClr>
              </a:gs>
              <a:gs pos="50000">
                <a:schemeClr val="accent1">
                  <a:lumMod val="40000"/>
                  <a:lumOff val="60000"/>
                </a:schemeClr>
              </a:gs>
              <a:gs pos="100000">
                <a:schemeClr val="bg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Rounded Rectangle 8">
            <a:extLst>
              <a:ext uri="{FF2B5EF4-FFF2-40B4-BE49-F238E27FC236}">
                <a16:creationId xmlns:a16="http://schemas.microsoft.com/office/drawing/2014/main" id="{3CACDB5A-EA47-EB4D-8803-5B35F4F1BBD9}"/>
              </a:ext>
            </a:extLst>
          </p:cNvPr>
          <p:cNvSpPr/>
          <p:nvPr/>
        </p:nvSpPr>
        <p:spPr>
          <a:xfrm>
            <a:off x="16756" y="1396139"/>
            <a:ext cx="540000" cy="3060017"/>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TextBox 13">
            <a:extLst>
              <a:ext uri="{FF2B5EF4-FFF2-40B4-BE49-F238E27FC236}">
                <a16:creationId xmlns:a16="http://schemas.microsoft.com/office/drawing/2014/main" id="{240668EC-7241-D038-426E-C2F10EEC2B66}"/>
              </a:ext>
            </a:extLst>
          </p:cNvPr>
          <p:cNvSpPr txBox="1"/>
          <p:nvPr/>
        </p:nvSpPr>
        <p:spPr>
          <a:xfrm rot="16200000">
            <a:off x="-899140" y="2800845"/>
            <a:ext cx="2371794" cy="307777"/>
          </a:xfrm>
          <a:prstGeom prst="rect">
            <a:avLst/>
          </a:prstGeom>
          <a:noFill/>
        </p:spPr>
        <p:txBody>
          <a:bodyPr wrap="square" rtlCol="0">
            <a:spAutoFit/>
          </a:bodyPr>
          <a:lstStyle/>
          <a:p>
            <a:pPr algn="r"/>
            <a:r>
              <a:rPr lang="en-US" altLang="ko-KR" sz="1400" b="1" dirty="0">
                <a:solidFill>
                  <a:schemeClr val="bg1"/>
                </a:solidFill>
                <a:cs typeface="Arial" pitchFamily="34" charset="0"/>
              </a:rPr>
              <a:t>Queue Sample Program</a:t>
            </a:r>
            <a:endParaRPr lang="ko-KR" altLang="en-US" sz="1400" b="1" dirty="0">
              <a:solidFill>
                <a:schemeClr val="bg1"/>
              </a:solidFill>
              <a:cs typeface="Arial" pitchFamily="34" charset="0"/>
            </a:endParaRPr>
          </a:p>
        </p:txBody>
      </p:sp>
      <p:pic>
        <p:nvPicPr>
          <p:cNvPr id="9" name="Picture 8">
            <a:extLst>
              <a:ext uri="{FF2B5EF4-FFF2-40B4-BE49-F238E27FC236}">
                <a16:creationId xmlns:a16="http://schemas.microsoft.com/office/drawing/2014/main" id="{2E31F190-7DE5-5375-0E6B-BE00D4F129E2}"/>
              </a:ext>
            </a:extLst>
          </p:cNvPr>
          <p:cNvPicPr>
            <a:picLocks noChangeAspect="1"/>
          </p:cNvPicPr>
          <p:nvPr/>
        </p:nvPicPr>
        <p:blipFill>
          <a:blip r:embed="rId3"/>
          <a:stretch>
            <a:fillRect/>
          </a:stretch>
        </p:blipFill>
        <p:spPr>
          <a:xfrm>
            <a:off x="746153" y="1487195"/>
            <a:ext cx="3818519" cy="1789931"/>
          </a:xfrm>
          <a:prstGeom prst="rect">
            <a:avLst/>
          </a:prstGeom>
        </p:spPr>
      </p:pic>
    </p:spTree>
    <p:extLst>
      <p:ext uri="{BB962C8B-B14F-4D97-AF65-F5344CB8AC3E}">
        <p14:creationId xmlns:p14="http://schemas.microsoft.com/office/powerpoint/2010/main" val="23636603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9"/>
          <p:cNvSpPr/>
          <p:nvPr/>
        </p:nvSpPr>
        <p:spPr>
          <a:xfrm>
            <a:off x="3850130" y="555526"/>
            <a:ext cx="284243" cy="266077"/>
          </a:xfrm>
          <a:custGeom>
            <a:avLst/>
            <a:gdLst>
              <a:gd name="connsiteX0" fmla="*/ 833935 w 3239999"/>
              <a:gd name="connsiteY0" fmla="*/ 22 h 3032924"/>
              <a:gd name="connsiteX1" fmla="*/ 1576606 w 3239999"/>
              <a:gd name="connsiteY1" fmla="*/ 402054 h 3032924"/>
              <a:gd name="connsiteX2" fmla="*/ 1576606 w 3239999"/>
              <a:gd name="connsiteY2" fmla="*/ 430441 h 3032924"/>
              <a:gd name="connsiteX3" fmla="*/ 1576606 w 3239999"/>
              <a:gd name="connsiteY3" fmla="*/ 526981 h 3032924"/>
              <a:gd name="connsiteX4" fmla="*/ 1576606 w 3239999"/>
              <a:gd name="connsiteY4" fmla="*/ 2765302 h 3032924"/>
              <a:gd name="connsiteX5" fmla="*/ 378630 w 3239999"/>
              <a:gd name="connsiteY5" fmla="*/ 2472117 h 3032924"/>
              <a:gd name="connsiteX6" fmla="*/ 384918 w 3239999"/>
              <a:gd name="connsiteY6" fmla="*/ 526981 h 3032924"/>
              <a:gd name="connsiteX7" fmla="*/ 239143 w 3239999"/>
              <a:gd name="connsiteY7" fmla="*/ 526981 h 3032924"/>
              <a:gd name="connsiteX8" fmla="*/ 239143 w 3239999"/>
              <a:gd name="connsiteY8" fmla="*/ 2776423 h 3032924"/>
              <a:gd name="connsiteX9" fmla="*/ 1576606 w 3239999"/>
              <a:gd name="connsiteY9" fmla="*/ 2776423 h 3032924"/>
              <a:gd name="connsiteX10" fmla="*/ 1576606 w 3239999"/>
              <a:gd name="connsiteY10" fmla="*/ 2778202 h 3032924"/>
              <a:gd name="connsiteX11" fmla="*/ 1663394 w 3239999"/>
              <a:gd name="connsiteY11" fmla="*/ 2778202 h 3032924"/>
              <a:gd name="connsiteX12" fmla="*/ 1663394 w 3239999"/>
              <a:gd name="connsiteY12" fmla="*/ 2776423 h 3032924"/>
              <a:gd name="connsiteX13" fmla="*/ 3000856 w 3239999"/>
              <a:gd name="connsiteY13" fmla="*/ 2776423 h 3032924"/>
              <a:gd name="connsiteX14" fmla="*/ 3000856 w 3239999"/>
              <a:gd name="connsiteY14" fmla="*/ 526981 h 3032924"/>
              <a:gd name="connsiteX15" fmla="*/ 2855082 w 3239999"/>
              <a:gd name="connsiteY15" fmla="*/ 526981 h 3032924"/>
              <a:gd name="connsiteX16" fmla="*/ 2861369 w 3239999"/>
              <a:gd name="connsiteY16" fmla="*/ 2472117 h 3032924"/>
              <a:gd name="connsiteX17" fmla="*/ 1663394 w 3239999"/>
              <a:gd name="connsiteY17" fmla="*/ 2765302 h 3032924"/>
              <a:gd name="connsiteX18" fmla="*/ 1663394 w 3239999"/>
              <a:gd name="connsiteY18" fmla="*/ 526981 h 3032924"/>
              <a:gd name="connsiteX19" fmla="*/ 1663394 w 3239999"/>
              <a:gd name="connsiteY19" fmla="*/ 430441 h 3032924"/>
              <a:gd name="connsiteX20" fmla="*/ 1663394 w 3239999"/>
              <a:gd name="connsiteY20" fmla="*/ 402054 h 3032924"/>
              <a:gd name="connsiteX21" fmla="*/ 2406065 w 3239999"/>
              <a:gd name="connsiteY21" fmla="*/ 22 h 3032924"/>
              <a:gd name="connsiteX22" fmla="*/ 2853673 w 3239999"/>
              <a:gd name="connsiteY22" fmla="*/ 91100 h 3032924"/>
              <a:gd name="connsiteX23" fmla="*/ 2854770 w 3239999"/>
              <a:gd name="connsiteY23" fmla="*/ 430441 h 3032924"/>
              <a:gd name="connsiteX24" fmla="*/ 3120669 w 3239999"/>
              <a:gd name="connsiteY24" fmla="*/ 428517 h 3032924"/>
              <a:gd name="connsiteX25" fmla="*/ 3120669 w 3239999"/>
              <a:gd name="connsiteY25" fmla="*/ 738345 h 3032924"/>
              <a:gd name="connsiteX26" fmla="*/ 3239999 w 3239999"/>
              <a:gd name="connsiteY26" fmla="*/ 738345 h 3032924"/>
              <a:gd name="connsiteX27" fmla="*/ 3239999 w 3239999"/>
              <a:gd name="connsiteY27" fmla="*/ 3032924 h 3032924"/>
              <a:gd name="connsiteX28" fmla="*/ 0 w 3239999"/>
              <a:gd name="connsiteY28" fmla="*/ 3032924 h 3032924"/>
              <a:gd name="connsiteX29" fmla="*/ 0 w 3239999"/>
              <a:gd name="connsiteY29" fmla="*/ 738345 h 3032924"/>
              <a:gd name="connsiteX30" fmla="*/ 102477 w 3239999"/>
              <a:gd name="connsiteY30" fmla="*/ 738345 h 3032924"/>
              <a:gd name="connsiteX31" fmla="*/ 102477 w 3239999"/>
              <a:gd name="connsiteY31" fmla="*/ 428517 h 3032924"/>
              <a:gd name="connsiteX32" fmla="*/ 385229 w 3239999"/>
              <a:gd name="connsiteY32" fmla="*/ 430441 h 3032924"/>
              <a:gd name="connsiteX33" fmla="*/ 386326 w 3239999"/>
              <a:gd name="connsiteY33" fmla="*/ 91100 h 3032924"/>
              <a:gd name="connsiteX34" fmla="*/ 833935 w 3239999"/>
              <a:gd name="connsiteY34" fmla="*/ 22 h 3032924"/>
              <a:gd name="connsiteX0" fmla="*/ 833935 w 3239999"/>
              <a:gd name="connsiteY0" fmla="*/ 22 h 3032924"/>
              <a:gd name="connsiteX1" fmla="*/ 1576606 w 3239999"/>
              <a:gd name="connsiteY1" fmla="*/ 402054 h 3032924"/>
              <a:gd name="connsiteX2" fmla="*/ 1576606 w 3239999"/>
              <a:gd name="connsiteY2" fmla="*/ 430441 h 3032924"/>
              <a:gd name="connsiteX3" fmla="*/ 1576606 w 3239999"/>
              <a:gd name="connsiteY3" fmla="*/ 526981 h 3032924"/>
              <a:gd name="connsiteX4" fmla="*/ 1576606 w 3239999"/>
              <a:gd name="connsiteY4" fmla="*/ 2765302 h 3032924"/>
              <a:gd name="connsiteX5" fmla="*/ 378630 w 3239999"/>
              <a:gd name="connsiteY5" fmla="*/ 2472117 h 3032924"/>
              <a:gd name="connsiteX6" fmla="*/ 384918 w 3239999"/>
              <a:gd name="connsiteY6" fmla="*/ 526981 h 3032924"/>
              <a:gd name="connsiteX7" fmla="*/ 239143 w 3239999"/>
              <a:gd name="connsiteY7" fmla="*/ 526981 h 3032924"/>
              <a:gd name="connsiteX8" fmla="*/ 239143 w 3239999"/>
              <a:gd name="connsiteY8" fmla="*/ 2776423 h 3032924"/>
              <a:gd name="connsiteX9" fmla="*/ 1576606 w 3239999"/>
              <a:gd name="connsiteY9" fmla="*/ 2776423 h 3032924"/>
              <a:gd name="connsiteX10" fmla="*/ 1576606 w 3239999"/>
              <a:gd name="connsiteY10" fmla="*/ 2778202 h 3032924"/>
              <a:gd name="connsiteX11" fmla="*/ 1663394 w 3239999"/>
              <a:gd name="connsiteY11" fmla="*/ 2778202 h 3032924"/>
              <a:gd name="connsiteX12" fmla="*/ 1663394 w 3239999"/>
              <a:gd name="connsiteY12" fmla="*/ 2776423 h 3032924"/>
              <a:gd name="connsiteX13" fmla="*/ 3000856 w 3239999"/>
              <a:gd name="connsiteY13" fmla="*/ 2776423 h 3032924"/>
              <a:gd name="connsiteX14" fmla="*/ 3000856 w 3239999"/>
              <a:gd name="connsiteY14" fmla="*/ 526981 h 3032924"/>
              <a:gd name="connsiteX15" fmla="*/ 2855082 w 3239999"/>
              <a:gd name="connsiteY15" fmla="*/ 526981 h 3032924"/>
              <a:gd name="connsiteX16" fmla="*/ 2861369 w 3239999"/>
              <a:gd name="connsiteY16" fmla="*/ 2472117 h 3032924"/>
              <a:gd name="connsiteX17" fmla="*/ 1663394 w 3239999"/>
              <a:gd name="connsiteY17" fmla="*/ 2765302 h 3032924"/>
              <a:gd name="connsiteX18" fmla="*/ 1663394 w 3239999"/>
              <a:gd name="connsiteY18" fmla="*/ 526981 h 3032924"/>
              <a:gd name="connsiteX19" fmla="*/ 1663394 w 3239999"/>
              <a:gd name="connsiteY19" fmla="*/ 430441 h 3032924"/>
              <a:gd name="connsiteX20" fmla="*/ 1663394 w 3239999"/>
              <a:gd name="connsiteY20" fmla="*/ 402054 h 3032924"/>
              <a:gd name="connsiteX21" fmla="*/ 2406065 w 3239999"/>
              <a:gd name="connsiteY21" fmla="*/ 22 h 3032924"/>
              <a:gd name="connsiteX22" fmla="*/ 2853673 w 3239999"/>
              <a:gd name="connsiteY22" fmla="*/ 91100 h 3032924"/>
              <a:gd name="connsiteX23" fmla="*/ 2854770 w 3239999"/>
              <a:gd name="connsiteY23" fmla="*/ 430441 h 3032924"/>
              <a:gd name="connsiteX24" fmla="*/ 3120669 w 3239999"/>
              <a:gd name="connsiteY24" fmla="*/ 428517 h 3032924"/>
              <a:gd name="connsiteX25" fmla="*/ 3120669 w 3239999"/>
              <a:gd name="connsiteY25" fmla="*/ 738345 h 3032924"/>
              <a:gd name="connsiteX26" fmla="*/ 3239999 w 3239999"/>
              <a:gd name="connsiteY26" fmla="*/ 738345 h 3032924"/>
              <a:gd name="connsiteX27" fmla="*/ 3239999 w 3239999"/>
              <a:gd name="connsiteY27" fmla="*/ 3032924 h 3032924"/>
              <a:gd name="connsiteX28" fmla="*/ 0 w 3239999"/>
              <a:gd name="connsiteY28" fmla="*/ 3032924 h 3032924"/>
              <a:gd name="connsiteX29" fmla="*/ 0 w 3239999"/>
              <a:gd name="connsiteY29" fmla="*/ 738345 h 3032924"/>
              <a:gd name="connsiteX30" fmla="*/ 102477 w 3239999"/>
              <a:gd name="connsiteY30" fmla="*/ 738345 h 3032924"/>
              <a:gd name="connsiteX31" fmla="*/ 102477 w 3239999"/>
              <a:gd name="connsiteY31" fmla="*/ 428517 h 3032924"/>
              <a:gd name="connsiteX32" fmla="*/ 385229 w 3239999"/>
              <a:gd name="connsiteY32" fmla="*/ 430441 h 3032924"/>
              <a:gd name="connsiteX33" fmla="*/ 386326 w 3239999"/>
              <a:gd name="connsiteY33" fmla="*/ 91100 h 3032924"/>
              <a:gd name="connsiteX34" fmla="*/ 833935 w 3239999"/>
              <a:gd name="connsiteY34" fmla="*/ 22 h 3032924"/>
              <a:gd name="connsiteX0" fmla="*/ 833935 w 3239999"/>
              <a:gd name="connsiteY0" fmla="*/ 22 h 3032924"/>
              <a:gd name="connsiteX1" fmla="*/ 1576606 w 3239999"/>
              <a:gd name="connsiteY1" fmla="*/ 402054 h 3032924"/>
              <a:gd name="connsiteX2" fmla="*/ 1576606 w 3239999"/>
              <a:gd name="connsiteY2" fmla="*/ 430441 h 3032924"/>
              <a:gd name="connsiteX3" fmla="*/ 1576606 w 3239999"/>
              <a:gd name="connsiteY3" fmla="*/ 526981 h 3032924"/>
              <a:gd name="connsiteX4" fmla="*/ 1576606 w 3239999"/>
              <a:gd name="connsiteY4" fmla="*/ 2765302 h 3032924"/>
              <a:gd name="connsiteX5" fmla="*/ 378630 w 3239999"/>
              <a:gd name="connsiteY5" fmla="*/ 2472117 h 3032924"/>
              <a:gd name="connsiteX6" fmla="*/ 384918 w 3239999"/>
              <a:gd name="connsiteY6" fmla="*/ 526981 h 3032924"/>
              <a:gd name="connsiteX7" fmla="*/ 239143 w 3239999"/>
              <a:gd name="connsiteY7" fmla="*/ 526981 h 3032924"/>
              <a:gd name="connsiteX8" fmla="*/ 239143 w 3239999"/>
              <a:gd name="connsiteY8" fmla="*/ 2776423 h 3032924"/>
              <a:gd name="connsiteX9" fmla="*/ 1576606 w 3239999"/>
              <a:gd name="connsiteY9" fmla="*/ 2776423 h 3032924"/>
              <a:gd name="connsiteX10" fmla="*/ 1576606 w 3239999"/>
              <a:gd name="connsiteY10" fmla="*/ 2778202 h 3032924"/>
              <a:gd name="connsiteX11" fmla="*/ 1663394 w 3239999"/>
              <a:gd name="connsiteY11" fmla="*/ 2778202 h 3032924"/>
              <a:gd name="connsiteX12" fmla="*/ 1663394 w 3239999"/>
              <a:gd name="connsiteY12" fmla="*/ 2776423 h 3032924"/>
              <a:gd name="connsiteX13" fmla="*/ 3000856 w 3239999"/>
              <a:gd name="connsiteY13" fmla="*/ 2776423 h 3032924"/>
              <a:gd name="connsiteX14" fmla="*/ 3000856 w 3239999"/>
              <a:gd name="connsiteY14" fmla="*/ 526981 h 3032924"/>
              <a:gd name="connsiteX15" fmla="*/ 2855082 w 3239999"/>
              <a:gd name="connsiteY15" fmla="*/ 526981 h 3032924"/>
              <a:gd name="connsiteX16" fmla="*/ 2861369 w 3239999"/>
              <a:gd name="connsiteY16" fmla="*/ 2472117 h 3032924"/>
              <a:gd name="connsiteX17" fmla="*/ 1663394 w 3239999"/>
              <a:gd name="connsiteY17" fmla="*/ 2765302 h 3032924"/>
              <a:gd name="connsiteX18" fmla="*/ 1663394 w 3239999"/>
              <a:gd name="connsiteY18" fmla="*/ 526981 h 3032924"/>
              <a:gd name="connsiteX19" fmla="*/ 1663394 w 3239999"/>
              <a:gd name="connsiteY19" fmla="*/ 430441 h 3032924"/>
              <a:gd name="connsiteX20" fmla="*/ 1663394 w 3239999"/>
              <a:gd name="connsiteY20" fmla="*/ 402054 h 3032924"/>
              <a:gd name="connsiteX21" fmla="*/ 2406065 w 3239999"/>
              <a:gd name="connsiteY21" fmla="*/ 22 h 3032924"/>
              <a:gd name="connsiteX22" fmla="*/ 2853673 w 3239999"/>
              <a:gd name="connsiteY22" fmla="*/ 91100 h 3032924"/>
              <a:gd name="connsiteX23" fmla="*/ 2854770 w 3239999"/>
              <a:gd name="connsiteY23" fmla="*/ 430441 h 3032924"/>
              <a:gd name="connsiteX24" fmla="*/ 3120669 w 3239999"/>
              <a:gd name="connsiteY24" fmla="*/ 428517 h 3032924"/>
              <a:gd name="connsiteX25" fmla="*/ 3120669 w 3239999"/>
              <a:gd name="connsiteY25" fmla="*/ 738345 h 3032924"/>
              <a:gd name="connsiteX26" fmla="*/ 3239999 w 3239999"/>
              <a:gd name="connsiteY26" fmla="*/ 738345 h 3032924"/>
              <a:gd name="connsiteX27" fmla="*/ 3239999 w 3239999"/>
              <a:gd name="connsiteY27" fmla="*/ 3032924 h 3032924"/>
              <a:gd name="connsiteX28" fmla="*/ 0 w 3239999"/>
              <a:gd name="connsiteY28" fmla="*/ 3032924 h 3032924"/>
              <a:gd name="connsiteX29" fmla="*/ 0 w 3239999"/>
              <a:gd name="connsiteY29" fmla="*/ 738345 h 3032924"/>
              <a:gd name="connsiteX30" fmla="*/ 102477 w 3239999"/>
              <a:gd name="connsiteY30" fmla="*/ 738345 h 3032924"/>
              <a:gd name="connsiteX31" fmla="*/ 102477 w 3239999"/>
              <a:gd name="connsiteY31" fmla="*/ 428517 h 3032924"/>
              <a:gd name="connsiteX32" fmla="*/ 385229 w 3239999"/>
              <a:gd name="connsiteY32" fmla="*/ 430441 h 3032924"/>
              <a:gd name="connsiteX33" fmla="*/ 386326 w 3239999"/>
              <a:gd name="connsiteY33" fmla="*/ 91100 h 3032924"/>
              <a:gd name="connsiteX34" fmla="*/ 833935 w 3239999"/>
              <a:gd name="connsiteY34" fmla="*/ 2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29618 w 3239999"/>
              <a:gd name="connsiteY32" fmla="*/ 2690698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2991331 w 3239999"/>
              <a:gd name="connsiteY3" fmla="*/ 2709748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29618 w 3239999"/>
              <a:gd name="connsiteY32" fmla="*/ 2690698 h 3032924"/>
              <a:gd name="connsiteX33" fmla="*/ 1576606 w 3239999"/>
              <a:gd name="connsiteY33" fmla="*/ 2776423 h 30329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239999" h="3032924">
                <a:moveTo>
                  <a:pt x="1576606" y="2778202"/>
                </a:moveTo>
                <a:cubicBezTo>
                  <a:pt x="1576606" y="2778795"/>
                  <a:pt x="1663394" y="2792670"/>
                  <a:pt x="1663394" y="2778202"/>
                </a:cubicBezTo>
                <a:lnTo>
                  <a:pt x="1663394" y="2776423"/>
                </a:lnTo>
                <a:cubicBezTo>
                  <a:pt x="2185083" y="2605634"/>
                  <a:pt x="2444552" y="2500589"/>
                  <a:pt x="2991331" y="2709748"/>
                </a:cubicBezTo>
                <a:lnTo>
                  <a:pt x="3000856" y="526981"/>
                </a:lnTo>
                <a:lnTo>
                  <a:pt x="2855082" y="526981"/>
                </a:lnTo>
                <a:cubicBezTo>
                  <a:pt x="2857178" y="1175360"/>
                  <a:pt x="2859273" y="1823738"/>
                  <a:pt x="2861369" y="2472117"/>
                </a:cubicBezTo>
                <a:cubicBezTo>
                  <a:pt x="2483869" y="2318121"/>
                  <a:pt x="2052449" y="2439541"/>
                  <a:pt x="1663394" y="2765302"/>
                </a:cubicBezTo>
                <a:lnTo>
                  <a:pt x="1663394" y="526981"/>
                </a:lnTo>
                <a:lnTo>
                  <a:pt x="1663394" y="430441"/>
                </a:lnTo>
                <a:lnTo>
                  <a:pt x="1663394" y="402054"/>
                </a:lnTo>
                <a:cubicBezTo>
                  <a:pt x="1896442" y="149589"/>
                  <a:pt x="2115835" y="2106"/>
                  <a:pt x="2406065" y="22"/>
                </a:cubicBezTo>
                <a:cubicBezTo>
                  <a:pt x="2537987" y="-925"/>
                  <a:pt x="2684544" y="28169"/>
                  <a:pt x="2853673" y="91100"/>
                </a:cubicBezTo>
                <a:cubicBezTo>
                  <a:pt x="2854039" y="204214"/>
                  <a:pt x="2854404" y="317327"/>
                  <a:pt x="2854770" y="430441"/>
                </a:cubicBezTo>
                <a:lnTo>
                  <a:pt x="3120669" y="428517"/>
                </a:lnTo>
                <a:lnTo>
                  <a:pt x="3120669" y="738345"/>
                </a:lnTo>
                <a:lnTo>
                  <a:pt x="3239999" y="738345"/>
                </a:lnTo>
                <a:lnTo>
                  <a:pt x="3239999" y="3032924"/>
                </a:lnTo>
                <a:lnTo>
                  <a:pt x="0" y="3032924"/>
                </a:lnTo>
                <a:lnTo>
                  <a:pt x="0" y="738345"/>
                </a:lnTo>
                <a:lnTo>
                  <a:pt x="102477" y="738345"/>
                </a:lnTo>
                <a:lnTo>
                  <a:pt x="102477" y="428517"/>
                </a:lnTo>
                <a:lnTo>
                  <a:pt x="385229" y="430441"/>
                </a:lnTo>
                <a:cubicBezTo>
                  <a:pt x="385595" y="317327"/>
                  <a:pt x="385960" y="204214"/>
                  <a:pt x="386326" y="91100"/>
                </a:cubicBezTo>
                <a:cubicBezTo>
                  <a:pt x="555455" y="28169"/>
                  <a:pt x="702013" y="-925"/>
                  <a:pt x="833935" y="22"/>
                </a:cubicBezTo>
                <a:cubicBezTo>
                  <a:pt x="1124164" y="2106"/>
                  <a:pt x="1343558" y="149589"/>
                  <a:pt x="1576606" y="402054"/>
                </a:cubicBezTo>
                <a:lnTo>
                  <a:pt x="1576606" y="430441"/>
                </a:lnTo>
                <a:lnTo>
                  <a:pt x="1576606" y="526981"/>
                </a:lnTo>
                <a:lnTo>
                  <a:pt x="1576606" y="2765302"/>
                </a:lnTo>
                <a:cubicBezTo>
                  <a:pt x="1187550" y="2439541"/>
                  <a:pt x="756130" y="2318121"/>
                  <a:pt x="378630" y="2472117"/>
                </a:cubicBezTo>
                <a:lnTo>
                  <a:pt x="384918" y="526981"/>
                </a:lnTo>
                <a:lnTo>
                  <a:pt x="239143" y="526981"/>
                </a:lnTo>
                <a:lnTo>
                  <a:pt x="229618" y="2690698"/>
                </a:lnTo>
                <a:cubicBezTo>
                  <a:pt x="773243" y="2466244"/>
                  <a:pt x="1081748" y="2626096"/>
                  <a:pt x="1576606" y="2776423"/>
                </a:cubicBezTo>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2" name="Group 1">
            <a:extLst>
              <a:ext uri="{FF2B5EF4-FFF2-40B4-BE49-F238E27FC236}">
                <a16:creationId xmlns:a16="http://schemas.microsoft.com/office/drawing/2014/main" id="{4BDD5789-0FC2-A211-C866-20489F9CEB17}"/>
              </a:ext>
            </a:extLst>
          </p:cNvPr>
          <p:cNvGrpSpPr/>
          <p:nvPr/>
        </p:nvGrpSpPr>
        <p:grpSpPr>
          <a:xfrm>
            <a:off x="-19020" y="-20538"/>
            <a:ext cx="9163020" cy="936104"/>
            <a:chOff x="-19020" y="-20538"/>
            <a:chExt cx="9163020" cy="936104"/>
          </a:xfrm>
        </p:grpSpPr>
        <p:sp>
          <p:nvSpPr>
            <p:cNvPr id="3" name="Rectangle 2">
              <a:extLst>
                <a:ext uri="{FF2B5EF4-FFF2-40B4-BE49-F238E27FC236}">
                  <a16:creationId xmlns:a16="http://schemas.microsoft.com/office/drawing/2014/main" id="{9228616E-49BE-53F6-A4F4-39F669C017D9}"/>
                </a:ext>
              </a:extLst>
            </p:cNvPr>
            <p:cNvSpPr/>
            <p:nvPr/>
          </p:nvSpPr>
          <p:spPr>
            <a:xfrm>
              <a:off x="323528" y="555526"/>
              <a:ext cx="4392488" cy="35427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Text Placeholder 1">
              <a:extLst>
                <a:ext uri="{FF2B5EF4-FFF2-40B4-BE49-F238E27FC236}">
                  <a16:creationId xmlns:a16="http://schemas.microsoft.com/office/drawing/2014/main" id="{114B336E-9551-1FF3-22E4-6B1A647EA075}"/>
                </a:ext>
              </a:extLst>
            </p:cNvPr>
            <p:cNvSpPr txBox="1">
              <a:spLocks/>
            </p:cNvSpPr>
            <p:nvPr/>
          </p:nvSpPr>
          <p:spPr>
            <a:xfrm>
              <a:off x="0" y="-20538"/>
              <a:ext cx="9144000" cy="576064"/>
            </a:xfrm>
            <a:prstGeom prst="rect">
              <a:avLst/>
            </a:prstGeom>
          </p:spPr>
          <p:txBody>
            <a:bodyP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l">
                <a:buNone/>
              </a:pPr>
              <a:r>
                <a:rPr lang="en-US" altLang="ko-KR" sz="3600" u="sng" dirty="0">
                  <a:solidFill>
                    <a:schemeClr val="tx1">
                      <a:lumMod val="85000"/>
                      <a:lumOff val="15000"/>
                    </a:schemeClr>
                  </a:solidFill>
                  <a:latin typeface="Bernard MT Condensed" panose="02050806060905020404" pitchFamily="18" charset="0"/>
                </a:rPr>
                <a:t>Data Structures and Algorithm</a:t>
              </a:r>
              <a:endParaRPr lang="ko-KR" altLang="en-US" sz="3600" dirty="0">
                <a:solidFill>
                  <a:schemeClr val="tx1">
                    <a:lumMod val="85000"/>
                    <a:lumOff val="15000"/>
                  </a:schemeClr>
                </a:solidFill>
              </a:endParaRPr>
            </a:p>
          </p:txBody>
        </p:sp>
        <p:sp>
          <p:nvSpPr>
            <p:cNvPr id="5" name="Rectangle 4">
              <a:extLst>
                <a:ext uri="{FF2B5EF4-FFF2-40B4-BE49-F238E27FC236}">
                  <a16:creationId xmlns:a16="http://schemas.microsoft.com/office/drawing/2014/main" id="{37861175-A3CF-DF17-D4CC-16F0E1AE1B6D}"/>
                </a:ext>
              </a:extLst>
            </p:cNvPr>
            <p:cNvSpPr/>
            <p:nvPr/>
          </p:nvSpPr>
          <p:spPr>
            <a:xfrm>
              <a:off x="-19020" y="561294"/>
              <a:ext cx="323528" cy="354272"/>
            </a:xfrm>
            <a:prstGeom prst="rect">
              <a:avLst/>
            </a:prstGeom>
            <a:solidFill>
              <a:schemeClr val="accent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10" name="TextBox 9">
              <a:extLst>
                <a:ext uri="{FF2B5EF4-FFF2-40B4-BE49-F238E27FC236}">
                  <a16:creationId xmlns:a16="http://schemas.microsoft.com/office/drawing/2014/main" id="{61A5072A-A623-A618-3FF8-078385A1BE21}"/>
                </a:ext>
              </a:extLst>
            </p:cNvPr>
            <p:cNvSpPr txBox="1"/>
            <p:nvPr/>
          </p:nvSpPr>
          <p:spPr>
            <a:xfrm>
              <a:off x="251520" y="541432"/>
              <a:ext cx="3318043" cy="369332"/>
            </a:xfrm>
            <a:prstGeom prst="rect">
              <a:avLst/>
            </a:prstGeom>
            <a:noFill/>
          </p:spPr>
          <p:txBody>
            <a:bodyPr wrap="square">
              <a:spAutoFit/>
            </a:bodyPr>
            <a:lstStyle/>
            <a:p>
              <a:pPr algn="l"/>
              <a:r>
                <a:rPr lang="en-PH" b="1" dirty="0">
                  <a:solidFill>
                    <a:schemeClr val="bg1"/>
                  </a:solidFill>
                  <a:latin typeface="Bahnschrift Condensed" panose="020B0502040204020203" pitchFamily="34" charset="0"/>
                </a:rPr>
                <a:t>Priority Queue</a:t>
              </a:r>
              <a:r>
                <a:rPr lang="en-PH" sz="1800" b="1" dirty="0">
                  <a:solidFill>
                    <a:schemeClr val="bg1"/>
                  </a:solidFill>
                  <a:latin typeface="Bahnschrift Condensed" panose="020B0502040204020203" pitchFamily="34" charset="0"/>
                </a:rPr>
                <a:t> Sample Program</a:t>
              </a:r>
            </a:p>
          </p:txBody>
        </p:sp>
      </p:grpSp>
      <p:sp>
        <p:nvSpPr>
          <p:cNvPr id="12" name="Trapezoid 11">
            <a:extLst>
              <a:ext uri="{FF2B5EF4-FFF2-40B4-BE49-F238E27FC236}">
                <a16:creationId xmlns:a16="http://schemas.microsoft.com/office/drawing/2014/main" id="{63CBDAA3-C325-5697-BE7A-E200B08B58E6}"/>
              </a:ext>
            </a:extLst>
          </p:cNvPr>
          <p:cNvSpPr/>
          <p:nvPr/>
        </p:nvSpPr>
        <p:spPr>
          <a:xfrm rot="16200000">
            <a:off x="-30979" y="2028234"/>
            <a:ext cx="2736052" cy="1518828"/>
          </a:xfrm>
          <a:prstGeom prst="trapezoid">
            <a:avLst>
              <a:gd name="adj" fmla="val 72234"/>
            </a:avLst>
          </a:prstGeom>
          <a:gradFill>
            <a:gsLst>
              <a:gs pos="0">
                <a:schemeClr val="accent1">
                  <a:lumMod val="50000"/>
                  <a:lumOff val="50000"/>
                </a:schemeClr>
              </a:gs>
              <a:gs pos="50000">
                <a:schemeClr val="accent1">
                  <a:lumMod val="40000"/>
                  <a:lumOff val="60000"/>
                </a:schemeClr>
              </a:gs>
              <a:gs pos="100000">
                <a:schemeClr val="bg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Rounded Rectangle 8">
            <a:extLst>
              <a:ext uri="{FF2B5EF4-FFF2-40B4-BE49-F238E27FC236}">
                <a16:creationId xmlns:a16="http://schemas.microsoft.com/office/drawing/2014/main" id="{3CACDB5A-EA47-EB4D-8803-5B35F4F1BBD9}"/>
              </a:ext>
            </a:extLst>
          </p:cNvPr>
          <p:cNvSpPr/>
          <p:nvPr/>
        </p:nvSpPr>
        <p:spPr>
          <a:xfrm>
            <a:off x="16756" y="1396139"/>
            <a:ext cx="540000" cy="3060017"/>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TextBox 13">
            <a:extLst>
              <a:ext uri="{FF2B5EF4-FFF2-40B4-BE49-F238E27FC236}">
                <a16:creationId xmlns:a16="http://schemas.microsoft.com/office/drawing/2014/main" id="{240668EC-7241-D038-426E-C2F10EEC2B66}"/>
              </a:ext>
            </a:extLst>
          </p:cNvPr>
          <p:cNvSpPr txBox="1"/>
          <p:nvPr/>
        </p:nvSpPr>
        <p:spPr>
          <a:xfrm rot="16200000">
            <a:off x="-899140" y="2800845"/>
            <a:ext cx="2371794" cy="307777"/>
          </a:xfrm>
          <a:prstGeom prst="rect">
            <a:avLst/>
          </a:prstGeom>
          <a:noFill/>
        </p:spPr>
        <p:txBody>
          <a:bodyPr wrap="square" rtlCol="0">
            <a:spAutoFit/>
          </a:bodyPr>
          <a:lstStyle/>
          <a:p>
            <a:pPr algn="r"/>
            <a:r>
              <a:rPr lang="en-US" altLang="ko-KR" sz="1400" b="1" dirty="0">
                <a:solidFill>
                  <a:schemeClr val="bg1"/>
                </a:solidFill>
                <a:cs typeface="Arial" pitchFamily="34" charset="0"/>
              </a:rPr>
              <a:t>Queue Sample Program</a:t>
            </a:r>
            <a:endParaRPr lang="ko-KR" altLang="en-US" sz="1400" b="1" dirty="0">
              <a:solidFill>
                <a:schemeClr val="bg1"/>
              </a:solidFill>
              <a:cs typeface="Arial" pitchFamily="34" charset="0"/>
            </a:endParaRPr>
          </a:p>
        </p:txBody>
      </p:sp>
      <p:pic>
        <p:nvPicPr>
          <p:cNvPr id="9" name="Picture 8">
            <a:extLst>
              <a:ext uri="{FF2B5EF4-FFF2-40B4-BE49-F238E27FC236}">
                <a16:creationId xmlns:a16="http://schemas.microsoft.com/office/drawing/2014/main" id="{D762970A-5AEB-2580-EB9C-1711CB1A9868}"/>
              </a:ext>
            </a:extLst>
          </p:cNvPr>
          <p:cNvPicPr>
            <a:picLocks noChangeAspect="1"/>
          </p:cNvPicPr>
          <p:nvPr/>
        </p:nvPicPr>
        <p:blipFill>
          <a:blip r:embed="rId3"/>
          <a:stretch>
            <a:fillRect/>
          </a:stretch>
        </p:blipFill>
        <p:spPr>
          <a:xfrm>
            <a:off x="577633" y="1359261"/>
            <a:ext cx="4426509" cy="2359720"/>
          </a:xfrm>
          <a:prstGeom prst="rect">
            <a:avLst/>
          </a:prstGeom>
        </p:spPr>
      </p:pic>
      <p:sp>
        <p:nvSpPr>
          <p:cNvPr id="7" name="TextBox 6">
            <a:extLst>
              <a:ext uri="{FF2B5EF4-FFF2-40B4-BE49-F238E27FC236}">
                <a16:creationId xmlns:a16="http://schemas.microsoft.com/office/drawing/2014/main" id="{343A3C31-064C-A540-F107-A5C6E4F50DA7}"/>
              </a:ext>
            </a:extLst>
          </p:cNvPr>
          <p:cNvSpPr txBox="1"/>
          <p:nvPr/>
        </p:nvSpPr>
        <p:spPr>
          <a:xfrm>
            <a:off x="5436096" y="229646"/>
            <a:ext cx="3187922" cy="276999"/>
          </a:xfrm>
          <a:prstGeom prst="rect">
            <a:avLst/>
          </a:prstGeom>
          <a:noFill/>
        </p:spPr>
        <p:txBody>
          <a:bodyPr wrap="square" rtlCol="0">
            <a:spAutoFit/>
          </a:bodyPr>
          <a:lstStyle/>
          <a:p>
            <a:r>
              <a:rPr lang="en-US" sz="1200" dirty="0" err="1"/>
              <a:t>maxSize</a:t>
            </a:r>
            <a:r>
              <a:rPr lang="en-US" sz="1200" dirty="0"/>
              <a:t>=5; </a:t>
            </a:r>
            <a:r>
              <a:rPr lang="en-US" sz="1200" dirty="0" err="1"/>
              <a:t>nItems</a:t>
            </a:r>
            <a:r>
              <a:rPr lang="en-US" sz="1200" dirty="0"/>
              <a:t>=0 </a:t>
            </a:r>
          </a:p>
        </p:txBody>
      </p:sp>
      <p:sp>
        <p:nvSpPr>
          <p:cNvPr id="8" name="TextBox 7">
            <a:extLst>
              <a:ext uri="{FF2B5EF4-FFF2-40B4-BE49-F238E27FC236}">
                <a16:creationId xmlns:a16="http://schemas.microsoft.com/office/drawing/2014/main" id="{06C60D8B-0D60-7FBB-0B55-AF6D00699A6B}"/>
              </a:ext>
            </a:extLst>
          </p:cNvPr>
          <p:cNvSpPr txBox="1"/>
          <p:nvPr/>
        </p:nvSpPr>
        <p:spPr>
          <a:xfrm>
            <a:off x="5149290" y="626065"/>
            <a:ext cx="1654958" cy="1015663"/>
          </a:xfrm>
          <a:prstGeom prst="rect">
            <a:avLst/>
          </a:prstGeom>
          <a:noFill/>
        </p:spPr>
        <p:txBody>
          <a:bodyPr wrap="square" rtlCol="0">
            <a:spAutoFit/>
          </a:bodyPr>
          <a:lstStyle/>
          <a:p>
            <a:r>
              <a:rPr lang="en-US" sz="1200" b="1" dirty="0"/>
              <a:t>insert(30)</a:t>
            </a:r>
          </a:p>
          <a:p>
            <a:r>
              <a:rPr lang="en-US" sz="1200" dirty="0"/>
              <a:t>item=30</a:t>
            </a:r>
          </a:p>
          <a:p>
            <a:r>
              <a:rPr lang="en-US" sz="1200" dirty="0"/>
              <a:t>0==0?  T</a:t>
            </a:r>
          </a:p>
          <a:p>
            <a:r>
              <a:rPr lang="en-US" sz="1200" b="1" dirty="0"/>
              <a:t> </a:t>
            </a:r>
            <a:r>
              <a:rPr lang="en-US" sz="1200" b="1" dirty="0" err="1"/>
              <a:t>queArray</a:t>
            </a:r>
            <a:r>
              <a:rPr lang="en-US" sz="1200" b="1" dirty="0"/>
              <a:t>[0] = 30   </a:t>
            </a:r>
          </a:p>
          <a:p>
            <a:r>
              <a:rPr lang="en-US" sz="1200" dirty="0"/>
              <a:t> </a:t>
            </a:r>
            <a:r>
              <a:rPr lang="en-US" sz="1200" dirty="0" err="1"/>
              <a:t>nItems</a:t>
            </a:r>
            <a:r>
              <a:rPr lang="en-US" sz="1200" dirty="0"/>
              <a:t>=1</a:t>
            </a:r>
          </a:p>
        </p:txBody>
      </p:sp>
      <p:sp>
        <p:nvSpPr>
          <p:cNvPr id="17" name="TextBox 16">
            <a:extLst>
              <a:ext uri="{FF2B5EF4-FFF2-40B4-BE49-F238E27FC236}">
                <a16:creationId xmlns:a16="http://schemas.microsoft.com/office/drawing/2014/main" id="{A582ACC4-C540-2099-06E7-EFFC54508504}"/>
              </a:ext>
            </a:extLst>
          </p:cNvPr>
          <p:cNvSpPr txBox="1"/>
          <p:nvPr/>
        </p:nvSpPr>
        <p:spPr>
          <a:xfrm>
            <a:off x="5149290" y="1657334"/>
            <a:ext cx="2159014" cy="1569660"/>
          </a:xfrm>
          <a:prstGeom prst="rect">
            <a:avLst/>
          </a:prstGeom>
          <a:noFill/>
        </p:spPr>
        <p:txBody>
          <a:bodyPr wrap="square" rtlCol="0">
            <a:spAutoFit/>
          </a:bodyPr>
          <a:lstStyle/>
          <a:p>
            <a:r>
              <a:rPr lang="en-US" sz="1200" b="1" dirty="0"/>
              <a:t>insert(50)</a:t>
            </a:r>
          </a:p>
          <a:p>
            <a:r>
              <a:rPr lang="en-US" sz="1200" dirty="0"/>
              <a:t>item=50</a:t>
            </a:r>
          </a:p>
          <a:p>
            <a:r>
              <a:rPr lang="en-US" sz="1200" dirty="0"/>
              <a:t>1==0?  F</a:t>
            </a:r>
          </a:p>
          <a:p>
            <a:r>
              <a:rPr lang="en-US" sz="1200" dirty="0"/>
              <a:t> j=0   1&gt;=0?   T</a:t>
            </a:r>
          </a:p>
          <a:p>
            <a:r>
              <a:rPr lang="en-US" sz="1200" dirty="0"/>
              <a:t> 50 &gt; 30?  T</a:t>
            </a:r>
          </a:p>
          <a:p>
            <a:r>
              <a:rPr lang="en-US" sz="1200" dirty="0"/>
              <a:t> </a:t>
            </a:r>
            <a:r>
              <a:rPr lang="en-US" sz="1200" b="1" dirty="0" err="1"/>
              <a:t>queArray</a:t>
            </a:r>
            <a:r>
              <a:rPr lang="en-US" sz="1200" b="1" dirty="0"/>
              <a:t>[1] </a:t>
            </a:r>
            <a:r>
              <a:rPr lang="en-US" sz="1200" dirty="0"/>
              <a:t>= </a:t>
            </a:r>
            <a:r>
              <a:rPr lang="en-US" sz="1200" dirty="0" err="1"/>
              <a:t>queArray</a:t>
            </a:r>
            <a:r>
              <a:rPr lang="en-US" sz="1200" dirty="0"/>
              <a:t>[0]   </a:t>
            </a:r>
          </a:p>
          <a:p>
            <a:r>
              <a:rPr lang="en-US" sz="1200" dirty="0"/>
              <a:t>                    </a:t>
            </a:r>
            <a:r>
              <a:rPr lang="en-US" sz="1200" b="1" dirty="0"/>
              <a:t>= 30</a:t>
            </a:r>
          </a:p>
          <a:p>
            <a:endParaRPr lang="en-US" sz="1200" dirty="0"/>
          </a:p>
        </p:txBody>
      </p:sp>
      <p:sp>
        <p:nvSpPr>
          <p:cNvPr id="18" name="TextBox 17">
            <a:extLst>
              <a:ext uri="{FF2B5EF4-FFF2-40B4-BE49-F238E27FC236}">
                <a16:creationId xmlns:a16="http://schemas.microsoft.com/office/drawing/2014/main" id="{1BE5F665-343B-7F75-4CD0-B61A80ACAF3B}"/>
              </a:ext>
            </a:extLst>
          </p:cNvPr>
          <p:cNvSpPr txBox="1"/>
          <p:nvPr/>
        </p:nvSpPr>
        <p:spPr>
          <a:xfrm>
            <a:off x="5318737" y="2926103"/>
            <a:ext cx="2159014" cy="646331"/>
          </a:xfrm>
          <a:prstGeom prst="rect">
            <a:avLst/>
          </a:prstGeom>
          <a:noFill/>
        </p:spPr>
        <p:txBody>
          <a:bodyPr wrap="square" rtlCol="0">
            <a:spAutoFit/>
          </a:bodyPr>
          <a:lstStyle/>
          <a:p>
            <a:r>
              <a:rPr lang="en-US" sz="1200" dirty="0"/>
              <a:t>j=-1   -1&gt;=0?   F</a:t>
            </a:r>
          </a:p>
          <a:p>
            <a:r>
              <a:rPr lang="en-US" sz="1200" dirty="0"/>
              <a:t>  </a:t>
            </a:r>
            <a:r>
              <a:rPr lang="en-US" sz="1200" b="1" dirty="0" err="1"/>
              <a:t>queArray</a:t>
            </a:r>
            <a:r>
              <a:rPr lang="en-US" sz="1200" b="1" dirty="0"/>
              <a:t>[0] = 50</a:t>
            </a:r>
          </a:p>
          <a:p>
            <a:r>
              <a:rPr lang="en-US" sz="1200" dirty="0"/>
              <a:t>  </a:t>
            </a:r>
            <a:r>
              <a:rPr lang="en-US" sz="1200" dirty="0" err="1"/>
              <a:t>nItems</a:t>
            </a:r>
            <a:r>
              <a:rPr lang="en-US" sz="1200" dirty="0"/>
              <a:t>=2</a:t>
            </a:r>
          </a:p>
        </p:txBody>
      </p:sp>
      <p:sp>
        <p:nvSpPr>
          <p:cNvPr id="23" name="TextBox 22">
            <a:extLst>
              <a:ext uri="{FF2B5EF4-FFF2-40B4-BE49-F238E27FC236}">
                <a16:creationId xmlns:a16="http://schemas.microsoft.com/office/drawing/2014/main" id="{16D924CB-9173-07DB-81E5-BF26BC8163AF}"/>
              </a:ext>
            </a:extLst>
          </p:cNvPr>
          <p:cNvSpPr txBox="1"/>
          <p:nvPr/>
        </p:nvSpPr>
        <p:spPr>
          <a:xfrm>
            <a:off x="5171757" y="3572035"/>
            <a:ext cx="2159014" cy="1569660"/>
          </a:xfrm>
          <a:prstGeom prst="rect">
            <a:avLst/>
          </a:prstGeom>
          <a:noFill/>
        </p:spPr>
        <p:txBody>
          <a:bodyPr wrap="square" rtlCol="0">
            <a:spAutoFit/>
          </a:bodyPr>
          <a:lstStyle/>
          <a:p>
            <a:r>
              <a:rPr lang="en-US" sz="1200" b="1" dirty="0"/>
              <a:t>insert(10)</a:t>
            </a:r>
          </a:p>
          <a:p>
            <a:r>
              <a:rPr lang="en-US" sz="1200" dirty="0"/>
              <a:t>item=10</a:t>
            </a:r>
          </a:p>
          <a:p>
            <a:r>
              <a:rPr lang="en-US" sz="1200" dirty="0"/>
              <a:t>2==0?  F</a:t>
            </a:r>
          </a:p>
          <a:p>
            <a:r>
              <a:rPr lang="en-US" sz="1200" dirty="0"/>
              <a:t> j=1   1&gt;=0?   T</a:t>
            </a:r>
          </a:p>
          <a:p>
            <a:r>
              <a:rPr lang="en-US" sz="1200" dirty="0"/>
              <a:t> 10 &gt; 30?  F</a:t>
            </a:r>
          </a:p>
          <a:p>
            <a:r>
              <a:rPr lang="en-US" sz="1200" dirty="0"/>
              <a:t>  break for</a:t>
            </a:r>
          </a:p>
          <a:p>
            <a:r>
              <a:rPr lang="en-US" sz="1200" dirty="0"/>
              <a:t> </a:t>
            </a:r>
            <a:r>
              <a:rPr lang="en-US" sz="1200" b="1" dirty="0" err="1"/>
              <a:t>queArray</a:t>
            </a:r>
            <a:r>
              <a:rPr lang="en-US" sz="1200" b="1" dirty="0"/>
              <a:t>[2] = 10   </a:t>
            </a:r>
          </a:p>
          <a:p>
            <a:r>
              <a:rPr lang="en-US" sz="1200" dirty="0"/>
              <a:t> </a:t>
            </a:r>
            <a:r>
              <a:rPr lang="en-US" sz="1200" dirty="0" err="1"/>
              <a:t>nItems</a:t>
            </a:r>
            <a:r>
              <a:rPr lang="en-US" sz="1200" dirty="0"/>
              <a:t>=3</a:t>
            </a:r>
          </a:p>
        </p:txBody>
      </p:sp>
      <p:sp>
        <p:nvSpPr>
          <p:cNvPr id="35" name="TextBox 34">
            <a:extLst>
              <a:ext uri="{FF2B5EF4-FFF2-40B4-BE49-F238E27FC236}">
                <a16:creationId xmlns:a16="http://schemas.microsoft.com/office/drawing/2014/main" id="{56EAC6E7-8C1E-FBCB-AD03-7EF673744E93}"/>
              </a:ext>
            </a:extLst>
          </p:cNvPr>
          <p:cNvSpPr txBox="1"/>
          <p:nvPr/>
        </p:nvSpPr>
        <p:spPr>
          <a:xfrm>
            <a:off x="7220380" y="2150773"/>
            <a:ext cx="2159014" cy="830997"/>
          </a:xfrm>
          <a:prstGeom prst="rect">
            <a:avLst/>
          </a:prstGeom>
          <a:noFill/>
        </p:spPr>
        <p:txBody>
          <a:bodyPr wrap="square" rtlCol="0">
            <a:spAutoFit/>
          </a:bodyPr>
          <a:lstStyle/>
          <a:p>
            <a:r>
              <a:rPr lang="en-US" sz="1200" dirty="0"/>
              <a:t>j=1   1&gt;=0?   T</a:t>
            </a:r>
          </a:p>
          <a:p>
            <a:r>
              <a:rPr lang="en-US" sz="1200" dirty="0"/>
              <a:t>  40 &gt; 30? T</a:t>
            </a:r>
          </a:p>
          <a:p>
            <a:r>
              <a:rPr lang="en-US" sz="1200" dirty="0"/>
              <a:t>  </a:t>
            </a:r>
            <a:r>
              <a:rPr lang="en-US" sz="1200" b="1" dirty="0" err="1"/>
              <a:t>queArray</a:t>
            </a:r>
            <a:r>
              <a:rPr lang="en-US" sz="1200" b="1" dirty="0"/>
              <a:t>[2]</a:t>
            </a:r>
            <a:r>
              <a:rPr lang="en-US" sz="1200" dirty="0"/>
              <a:t>=</a:t>
            </a:r>
            <a:r>
              <a:rPr lang="en-US" sz="1200" dirty="0" err="1"/>
              <a:t>queArray</a:t>
            </a:r>
            <a:r>
              <a:rPr lang="en-US" sz="1200" dirty="0"/>
              <a:t>[1]</a:t>
            </a:r>
          </a:p>
          <a:p>
            <a:r>
              <a:rPr lang="en-US" sz="1200" dirty="0"/>
              <a:t>                      </a:t>
            </a:r>
            <a:r>
              <a:rPr lang="en-US" sz="1200" b="1" dirty="0"/>
              <a:t>=30 </a:t>
            </a:r>
          </a:p>
        </p:txBody>
      </p:sp>
      <p:sp>
        <p:nvSpPr>
          <p:cNvPr id="36" name="TextBox 35">
            <a:extLst>
              <a:ext uri="{FF2B5EF4-FFF2-40B4-BE49-F238E27FC236}">
                <a16:creationId xmlns:a16="http://schemas.microsoft.com/office/drawing/2014/main" id="{ADF2A280-1FFA-4FCF-3167-8AB627C308AE}"/>
              </a:ext>
            </a:extLst>
          </p:cNvPr>
          <p:cNvSpPr txBox="1"/>
          <p:nvPr/>
        </p:nvSpPr>
        <p:spPr>
          <a:xfrm>
            <a:off x="7220011" y="2865970"/>
            <a:ext cx="2159014" cy="1015663"/>
          </a:xfrm>
          <a:prstGeom prst="rect">
            <a:avLst/>
          </a:prstGeom>
          <a:noFill/>
        </p:spPr>
        <p:txBody>
          <a:bodyPr wrap="square" rtlCol="0">
            <a:spAutoFit/>
          </a:bodyPr>
          <a:lstStyle/>
          <a:p>
            <a:r>
              <a:rPr lang="en-US" sz="1200" dirty="0"/>
              <a:t>j=0   0&gt;=0?   T</a:t>
            </a:r>
          </a:p>
          <a:p>
            <a:r>
              <a:rPr lang="en-US" sz="1200" dirty="0"/>
              <a:t>  40 &gt; 50? F</a:t>
            </a:r>
          </a:p>
          <a:p>
            <a:r>
              <a:rPr lang="en-US" sz="1200" dirty="0"/>
              <a:t>  break for</a:t>
            </a:r>
          </a:p>
          <a:p>
            <a:r>
              <a:rPr lang="en-US" sz="1200" dirty="0"/>
              <a:t>  </a:t>
            </a:r>
            <a:r>
              <a:rPr lang="en-US" sz="1200" b="1" dirty="0" err="1"/>
              <a:t>queArray</a:t>
            </a:r>
            <a:r>
              <a:rPr lang="en-US" sz="1200" b="1" dirty="0"/>
              <a:t>[1]=40</a:t>
            </a:r>
          </a:p>
          <a:p>
            <a:r>
              <a:rPr lang="en-US" sz="1200" b="1" dirty="0"/>
              <a:t>  </a:t>
            </a:r>
            <a:r>
              <a:rPr lang="en-US" sz="1200" dirty="0" err="1"/>
              <a:t>nItems</a:t>
            </a:r>
            <a:r>
              <a:rPr lang="en-US" sz="1200" dirty="0"/>
              <a:t>=4 </a:t>
            </a:r>
          </a:p>
        </p:txBody>
      </p:sp>
      <p:sp>
        <p:nvSpPr>
          <p:cNvPr id="43" name="Rectangle 42">
            <a:extLst>
              <a:ext uri="{FF2B5EF4-FFF2-40B4-BE49-F238E27FC236}">
                <a16:creationId xmlns:a16="http://schemas.microsoft.com/office/drawing/2014/main" id="{D88F345B-0534-61AD-701E-9B337888891E}"/>
              </a:ext>
            </a:extLst>
          </p:cNvPr>
          <p:cNvSpPr/>
          <p:nvPr/>
        </p:nvSpPr>
        <p:spPr>
          <a:xfrm>
            <a:off x="5156074" y="555526"/>
            <a:ext cx="2007072" cy="4495763"/>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Box 43">
            <a:extLst>
              <a:ext uri="{FF2B5EF4-FFF2-40B4-BE49-F238E27FC236}">
                <a16:creationId xmlns:a16="http://schemas.microsoft.com/office/drawing/2014/main" id="{4986AF3F-F2CA-F778-4811-3268972B7CD5}"/>
              </a:ext>
            </a:extLst>
          </p:cNvPr>
          <p:cNvSpPr txBox="1"/>
          <p:nvPr/>
        </p:nvSpPr>
        <p:spPr>
          <a:xfrm>
            <a:off x="7316688" y="800137"/>
            <a:ext cx="2159014" cy="1569660"/>
          </a:xfrm>
          <a:prstGeom prst="rect">
            <a:avLst/>
          </a:prstGeom>
          <a:noFill/>
        </p:spPr>
        <p:txBody>
          <a:bodyPr wrap="square" rtlCol="0">
            <a:spAutoFit/>
          </a:bodyPr>
          <a:lstStyle/>
          <a:p>
            <a:r>
              <a:rPr lang="en-US" sz="1200" b="1" dirty="0"/>
              <a:t>insert(40)</a:t>
            </a:r>
          </a:p>
          <a:p>
            <a:r>
              <a:rPr lang="en-US" sz="1200" dirty="0"/>
              <a:t>item=40</a:t>
            </a:r>
          </a:p>
          <a:p>
            <a:r>
              <a:rPr lang="en-US" sz="1200" dirty="0"/>
              <a:t>3==0?  F</a:t>
            </a:r>
          </a:p>
          <a:p>
            <a:r>
              <a:rPr lang="en-US" sz="1200" dirty="0"/>
              <a:t> j=2   2&gt;=0?   T</a:t>
            </a:r>
          </a:p>
          <a:p>
            <a:r>
              <a:rPr lang="en-US" sz="1200" dirty="0"/>
              <a:t> 40 &gt; 10?  T</a:t>
            </a:r>
          </a:p>
          <a:p>
            <a:r>
              <a:rPr lang="en-US" sz="1200" dirty="0"/>
              <a:t> </a:t>
            </a:r>
            <a:r>
              <a:rPr lang="en-US" sz="1200" b="1" dirty="0" err="1"/>
              <a:t>queArray</a:t>
            </a:r>
            <a:r>
              <a:rPr lang="en-US" sz="1200" b="1" dirty="0"/>
              <a:t>[3] </a:t>
            </a:r>
            <a:r>
              <a:rPr lang="en-US" sz="1200" dirty="0"/>
              <a:t>= </a:t>
            </a:r>
            <a:r>
              <a:rPr lang="en-US" sz="1200" dirty="0" err="1"/>
              <a:t>queArray</a:t>
            </a:r>
            <a:r>
              <a:rPr lang="en-US" sz="1200" dirty="0"/>
              <a:t>[2]   </a:t>
            </a:r>
          </a:p>
          <a:p>
            <a:r>
              <a:rPr lang="en-US" sz="1200" dirty="0"/>
              <a:t>                    </a:t>
            </a:r>
            <a:r>
              <a:rPr lang="en-US" sz="1200" b="1" dirty="0"/>
              <a:t>= 10</a:t>
            </a:r>
          </a:p>
          <a:p>
            <a:endParaRPr lang="en-US" sz="1200" dirty="0"/>
          </a:p>
        </p:txBody>
      </p:sp>
      <p:sp>
        <p:nvSpPr>
          <p:cNvPr id="34" name="TextBox 33">
            <a:extLst>
              <a:ext uri="{FF2B5EF4-FFF2-40B4-BE49-F238E27FC236}">
                <a16:creationId xmlns:a16="http://schemas.microsoft.com/office/drawing/2014/main" id="{63BB2022-760A-5685-3CE9-B34636897D8D}"/>
              </a:ext>
            </a:extLst>
          </p:cNvPr>
          <p:cNvSpPr txBox="1"/>
          <p:nvPr/>
        </p:nvSpPr>
        <p:spPr>
          <a:xfrm>
            <a:off x="5216236" y="736855"/>
            <a:ext cx="2159014" cy="1569660"/>
          </a:xfrm>
          <a:prstGeom prst="rect">
            <a:avLst/>
          </a:prstGeom>
          <a:noFill/>
        </p:spPr>
        <p:txBody>
          <a:bodyPr wrap="square" rtlCol="0">
            <a:spAutoFit/>
          </a:bodyPr>
          <a:lstStyle/>
          <a:p>
            <a:r>
              <a:rPr lang="en-US" sz="1200" b="1" dirty="0"/>
              <a:t>insert(20)</a:t>
            </a:r>
          </a:p>
          <a:p>
            <a:r>
              <a:rPr lang="en-US" sz="1200" dirty="0"/>
              <a:t>item=20</a:t>
            </a:r>
          </a:p>
          <a:p>
            <a:r>
              <a:rPr lang="en-US" sz="1200" dirty="0"/>
              <a:t>4==0?  F</a:t>
            </a:r>
          </a:p>
          <a:p>
            <a:r>
              <a:rPr lang="en-US" sz="1200" dirty="0"/>
              <a:t> j=3   3&gt;=0?   T</a:t>
            </a:r>
          </a:p>
          <a:p>
            <a:r>
              <a:rPr lang="en-US" sz="1200" dirty="0"/>
              <a:t> 20 &gt; 10?  T</a:t>
            </a:r>
          </a:p>
          <a:p>
            <a:r>
              <a:rPr lang="en-US" sz="1200" dirty="0"/>
              <a:t> </a:t>
            </a:r>
            <a:r>
              <a:rPr lang="en-US" sz="1200" b="1" dirty="0" err="1"/>
              <a:t>queArray</a:t>
            </a:r>
            <a:r>
              <a:rPr lang="en-US" sz="1200" b="1" dirty="0"/>
              <a:t>[4] </a:t>
            </a:r>
            <a:r>
              <a:rPr lang="en-US" sz="1200" dirty="0"/>
              <a:t>= </a:t>
            </a:r>
            <a:r>
              <a:rPr lang="en-US" sz="1200" dirty="0" err="1"/>
              <a:t>queArray</a:t>
            </a:r>
            <a:r>
              <a:rPr lang="en-US" sz="1200" dirty="0"/>
              <a:t>[3]   </a:t>
            </a:r>
          </a:p>
          <a:p>
            <a:r>
              <a:rPr lang="en-US" sz="1200" dirty="0"/>
              <a:t>                    </a:t>
            </a:r>
            <a:r>
              <a:rPr lang="en-US" sz="1200" b="1" dirty="0"/>
              <a:t>= 10</a:t>
            </a:r>
          </a:p>
          <a:p>
            <a:endParaRPr lang="en-US" sz="1200" dirty="0"/>
          </a:p>
        </p:txBody>
      </p:sp>
      <p:sp>
        <p:nvSpPr>
          <p:cNvPr id="45" name="TextBox 44">
            <a:extLst>
              <a:ext uri="{FF2B5EF4-FFF2-40B4-BE49-F238E27FC236}">
                <a16:creationId xmlns:a16="http://schemas.microsoft.com/office/drawing/2014/main" id="{FAD0AC7D-21CB-0F95-99E1-01BC99B32846}"/>
              </a:ext>
            </a:extLst>
          </p:cNvPr>
          <p:cNvSpPr txBox="1"/>
          <p:nvPr/>
        </p:nvSpPr>
        <p:spPr>
          <a:xfrm>
            <a:off x="5264390" y="2157298"/>
            <a:ext cx="2159014" cy="1015663"/>
          </a:xfrm>
          <a:prstGeom prst="rect">
            <a:avLst/>
          </a:prstGeom>
          <a:noFill/>
        </p:spPr>
        <p:txBody>
          <a:bodyPr wrap="square" rtlCol="0">
            <a:spAutoFit/>
          </a:bodyPr>
          <a:lstStyle/>
          <a:p>
            <a:r>
              <a:rPr lang="en-US" sz="1200" dirty="0"/>
              <a:t>j=2   2&gt;=0?   T</a:t>
            </a:r>
          </a:p>
          <a:p>
            <a:r>
              <a:rPr lang="en-US" sz="1200" dirty="0"/>
              <a:t>  20 &gt; 30? F</a:t>
            </a:r>
          </a:p>
          <a:p>
            <a:r>
              <a:rPr lang="en-US" sz="1200" dirty="0"/>
              <a:t>  break for</a:t>
            </a:r>
          </a:p>
          <a:p>
            <a:r>
              <a:rPr lang="en-US" sz="1200" dirty="0"/>
              <a:t>  </a:t>
            </a:r>
            <a:r>
              <a:rPr lang="en-US" sz="1200" b="1" dirty="0" err="1"/>
              <a:t>queArray</a:t>
            </a:r>
            <a:r>
              <a:rPr lang="en-US" sz="1200" b="1" dirty="0"/>
              <a:t>[3]=20</a:t>
            </a:r>
          </a:p>
          <a:p>
            <a:r>
              <a:rPr lang="en-US" sz="1200" dirty="0"/>
              <a:t>  </a:t>
            </a:r>
            <a:r>
              <a:rPr lang="en-US" sz="1200" dirty="0" err="1"/>
              <a:t>nItems</a:t>
            </a:r>
            <a:r>
              <a:rPr lang="en-US" sz="1200" dirty="0"/>
              <a:t>=5 </a:t>
            </a:r>
          </a:p>
        </p:txBody>
      </p:sp>
      <p:sp>
        <p:nvSpPr>
          <p:cNvPr id="50" name="Rectangle 49">
            <a:extLst>
              <a:ext uri="{FF2B5EF4-FFF2-40B4-BE49-F238E27FC236}">
                <a16:creationId xmlns:a16="http://schemas.microsoft.com/office/drawing/2014/main" id="{09E1894F-CC3E-3CD6-5A3A-00D4146B24E0}"/>
              </a:ext>
            </a:extLst>
          </p:cNvPr>
          <p:cNvSpPr/>
          <p:nvPr/>
        </p:nvSpPr>
        <p:spPr>
          <a:xfrm>
            <a:off x="4144836" y="3435846"/>
            <a:ext cx="579749" cy="1707654"/>
          </a:xfrm>
          <a:prstGeom prst="rect">
            <a:avLst/>
          </a:prstGeom>
          <a:solidFill>
            <a:srgbClr val="32AE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TextBox 50">
            <a:extLst>
              <a:ext uri="{FF2B5EF4-FFF2-40B4-BE49-F238E27FC236}">
                <a16:creationId xmlns:a16="http://schemas.microsoft.com/office/drawing/2014/main" id="{B37627D7-9DEF-6EBD-8ADF-0334A35784EA}"/>
              </a:ext>
            </a:extLst>
          </p:cNvPr>
          <p:cNvSpPr txBox="1"/>
          <p:nvPr/>
        </p:nvSpPr>
        <p:spPr>
          <a:xfrm>
            <a:off x="3833672" y="3447155"/>
            <a:ext cx="466386" cy="276999"/>
          </a:xfrm>
          <a:prstGeom prst="rect">
            <a:avLst/>
          </a:prstGeom>
          <a:noFill/>
          <a:ln>
            <a:noFill/>
          </a:ln>
        </p:spPr>
        <p:txBody>
          <a:bodyPr wrap="square" rtlCol="0">
            <a:spAutoFit/>
          </a:bodyPr>
          <a:lstStyle/>
          <a:p>
            <a:r>
              <a:rPr lang="en-US" sz="1200" dirty="0"/>
              <a:t>[0]</a:t>
            </a:r>
          </a:p>
        </p:txBody>
      </p:sp>
      <p:sp>
        <p:nvSpPr>
          <p:cNvPr id="52" name="TextBox 51">
            <a:extLst>
              <a:ext uri="{FF2B5EF4-FFF2-40B4-BE49-F238E27FC236}">
                <a16:creationId xmlns:a16="http://schemas.microsoft.com/office/drawing/2014/main" id="{B06CE8A2-2DD3-A9F7-D4F9-5B7CF4CCB7CF}"/>
              </a:ext>
            </a:extLst>
          </p:cNvPr>
          <p:cNvSpPr txBox="1"/>
          <p:nvPr/>
        </p:nvSpPr>
        <p:spPr>
          <a:xfrm>
            <a:off x="4177324" y="3437788"/>
            <a:ext cx="426469" cy="307777"/>
          </a:xfrm>
          <a:prstGeom prst="rect">
            <a:avLst/>
          </a:prstGeom>
          <a:noFill/>
        </p:spPr>
        <p:txBody>
          <a:bodyPr wrap="square" rtlCol="0">
            <a:spAutoFit/>
          </a:bodyPr>
          <a:lstStyle/>
          <a:p>
            <a:r>
              <a:rPr lang="en-US" sz="1400" b="1" dirty="0">
                <a:solidFill>
                  <a:schemeClr val="bg1"/>
                </a:solidFill>
              </a:rPr>
              <a:t>30</a:t>
            </a:r>
          </a:p>
        </p:txBody>
      </p:sp>
      <p:sp>
        <p:nvSpPr>
          <p:cNvPr id="53" name="TextBox 52">
            <a:extLst>
              <a:ext uri="{FF2B5EF4-FFF2-40B4-BE49-F238E27FC236}">
                <a16:creationId xmlns:a16="http://schemas.microsoft.com/office/drawing/2014/main" id="{5FF4F06D-1C14-F82D-E33B-9A85F7E2C873}"/>
              </a:ext>
            </a:extLst>
          </p:cNvPr>
          <p:cNvSpPr txBox="1"/>
          <p:nvPr/>
        </p:nvSpPr>
        <p:spPr>
          <a:xfrm>
            <a:off x="3833672" y="3736255"/>
            <a:ext cx="466386" cy="276999"/>
          </a:xfrm>
          <a:prstGeom prst="rect">
            <a:avLst/>
          </a:prstGeom>
          <a:noFill/>
          <a:ln>
            <a:noFill/>
          </a:ln>
        </p:spPr>
        <p:txBody>
          <a:bodyPr wrap="square" rtlCol="0">
            <a:spAutoFit/>
          </a:bodyPr>
          <a:lstStyle/>
          <a:p>
            <a:r>
              <a:rPr lang="en-US" sz="1200" dirty="0"/>
              <a:t>[1]</a:t>
            </a:r>
          </a:p>
        </p:txBody>
      </p:sp>
      <p:sp>
        <p:nvSpPr>
          <p:cNvPr id="54" name="TextBox 53">
            <a:extLst>
              <a:ext uri="{FF2B5EF4-FFF2-40B4-BE49-F238E27FC236}">
                <a16:creationId xmlns:a16="http://schemas.microsoft.com/office/drawing/2014/main" id="{1C7C29C4-BA2C-36B2-17EF-AAF468825376}"/>
              </a:ext>
            </a:extLst>
          </p:cNvPr>
          <p:cNvSpPr txBox="1"/>
          <p:nvPr/>
        </p:nvSpPr>
        <p:spPr>
          <a:xfrm>
            <a:off x="4177324" y="3726888"/>
            <a:ext cx="426469" cy="307777"/>
          </a:xfrm>
          <a:prstGeom prst="rect">
            <a:avLst/>
          </a:prstGeom>
          <a:noFill/>
        </p:spPr>
        <p:txBody>
          <a:bodyPr wrap="square" rtlCol="0">
            <a:spAutoFit/>
          </a:bodyPr>
          <a:lstStyle/>
          <a:p>
            <a:r>
              <a:rPr lang="en-US" sz="1400" b="1" dirty="0">
                <a:solidFill>
                  <a:schemeClr val="bg1"/>
                </a:solidFill>
              </a:rPr>
              <a:t>30</a:t>
            </a:r>
          </a:p>
        </p:txBody>
      </p:sp>
      <p:sp>
        <p:nvSpPr>
          <p:cNvPr id="55" name="Rectangle 54">
            <a:extLst>
              <a:ext uri="{FF2B5EF4-FFF2-40B4-BE49-F238E27FC236}">
                <a16:creationId xmlns:a16="http://schemas.microsoft.com/office/drawing/2014/main" id="{72801629-52DD-8C18-1445-1749DE3C2647}"/>
              </a:ext>
            </a:extLst>
          </p:cNvPr>
          <p:cNvSpPr/>
          <p:nvPr/>
        </p:nvSpPr>
        <p:spPr>
          <a:xfrm>
            <a:off x="4202862" y="3460182"/>
            <a:ext cx="421808" cy="325545"/>
          </a:xfrm>
          <a:prstGeom prst="rect">
            <a:avLst/>
          </a:prstGeom>
          <a:solidFill>
            <a:srgbClr val="32AE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TextBox 55">
            <a:extLst>
              <a:ext uri="{FF2B5EF4-FFF2-40B4-BE49-F238E27FC236}">
                <a16:creationId xmlns:a16="http://schemas.microsoft.com/office/drawing/2014/main" id="{30A9CF73-E9E5-784C-F34A-7CF4847664D0}"/>
              </a:ext>
            </a:extLst>
          </p:cNvPr>
          <p:cNvSpPr txBox="1"/>
          <p:nvPr/>
        </p:nvSpPr>
        <p:spPr>
          <a:xfrm>
            <a:off x="4182300" y="3457186"/>
            <a:ext cx="442599" cy="307777"/>
          </a:xfrm>
          <a:prstGeom prst="rect">
            <a:avLst/>
          </a:prstGeom>
          <a:noFill/>
        </p:spPr>
        <p:txBody>
          <a:bodyPr wrap="square" rtlCol="0">
            <a:spAutoFit/>
          </a:bodyPr>
          <a:lstStyle/>
          <a:p>
            <a:r>
              <a:rPr lang="en-US" sz="1400" b="1" dirty="0">
                <a:solidFill>
                  <a:schemeClr val="bg1"/>
                </a:solidFill>
              </a:rPr>
              <a:t>50</a:t>
            </a:r>
          </a:p>
        </p:txBody>
      </p:sp>
      <p:sp>
        <p:nvSpPr>
          <p:cNvPr id="57" name="TextBox 56">
            <a:extLst>
              <a:ext uri="{FF2B5EF4-FFF2-40B4-BE49-F238E27FC236}">
                <a16:creationId xmlns:a16="http://schemas.microsoft.com/office/drawing/2014/main" id="{7F45E70A-30D7-A63F-AB23-E486CF85EE04}"/>
              </a:ext>
            </a:extLst>
          </p:cNvPr>
          <p:cNvSpPr txBox="1"/>
          <p:nvPr/>
        </p:nvSpPr>
        <p:spPr>
          <a:xfrm>
            <a:off x="3824550" y="4031988"/>
            <a:ext cx="466386" cy="276999"/>
          </a:xfrm>
          <a:prstGeom prst="rect">
            <a:avLst/>
          </a:prstGeom>
          <a:noFill/>
          <a:ln>
            <a:noFill/>
          </a:ln>
        </p:spPr>
        <p:txBody>
          <a:bodyPr wrap="square" rtlCol="0">
            <a:spAutoFit/>
          </a:bodyPr>
          <a:lstStyle/>
          <a:p>
            <a:r>
              <a:rPr lang="en-US" sz="1200" dirty="0"/>
              <a:t>[2]</a:t>
            </a:r>
          </a:p>
        </p:txBody>
      </p:sp>
      <p:sp>
        <p:nvSpPr>
          <p:cNvPr id="58" name="TextBox 57">
            <a:extLst>
              <a:ext uri="{FF2B5EF4-FFF2-40B4-BE49-F238E27FC236}">
                <a16:creationId xmlns:a16="http://schemas.microsoft.com/office/drawing/2014/main" id="{84648218-F1D5-E2EE-6D10-10B56943A176}"/>
              </a:ext>
            </a:extLst>
          </p:cNvPr>
          <p:cNvSpPr txBox="1"/>
          <p:nvPr/>
        </p:nvSpPr>
        <p:spPr>
          <a:xfrm>
            <a:off x="4153088" y="4022621"/>
            <a:ext cx="426469" cy="307777"/>
          </a:xfrm>
          <a:prstGeom prst="rect">
            <a:avLst/>
          </a:prstGeom>
          <a:noFill/>
        </p:spPr>
        <p:txBody>
          <a:bodyPr wrap="square" rtlCol="0">
            <a:spAutoFit/>
          </a:bodyPr>
          <a:lstStyle/>
          <a:p>
            <a:r>
              <a:rPr lang="en-US" sz="1400" b="1" dirty="0">
                <a:solidFill>
                  <a:schemeClr val="bg1"/>
                </a:solidFill>
              </a:rPr>
              <a:t>10</a:t>
            </a:r>
          </a:p>
        </p:txBody>
      </p:sp>
      <p:sp>
        <p:nvSpPr>
          <p:cNvPr id="64" name="TextBox 63">
            <a:extLst>
              <a:ext uri="{FF2B5EF4-FFF2-40B4-BE49-F238E27FC236}">
                <a16:creationId xmlns:a16="http://schemas.microsoft.com/office/drawing/2014/main" id="{95E9A876-3B1A-D4F3-D974-2AFBCFA4CD81}"/>
              </a:ext>
            </a:extLst>
          </p:cNvPr>
          <p:cNvSpPr txBox="1"/>
          <p:nvPr/>
        </p:nvSpPr>
        <p:spPr>
          <a:xfrm>
            <a:off x="3816298" y="4327721"/>
            <a:ext cx="466386" cy="276999"/>
          </a:xfrm>
          <a:prstGeom prst="rect">
            <a:avLst/>
          </a:prstGeom>
          <a:noFill/>
          <a:ln>
            <a:noFill/>
          </a:ln>
        </p:spPr>
        <p:txBody>
          <a:bodyPr wrap="square" rtlCol="0">
            <a:spAutoFit/>
          </a:bodyPr>
          <a:lstStyle/>
          <a:p>
            <a:r>
              <a:rPr lang="en-US" sz="1200" dirty="0"/>
              <a:t>[3]</a:t>
            </a:r>
          </a:p>
        </p:txBody>
      </p:sp>
      <p:sp>
        <p:nvSpPr>
          <p:cNvPr id="65" name="TextBox 64">
            <a:extLst>
              <a:ext uri="{FF2B5EF4-FFF2-40B4-BE49-F238E27FC236}">
                <a16:creationId xmlns:a16="http://schemas.microsoft.com/office/drawing/2014/main" id="{684AC390-3743-5AA4-EC4C-6751D1E3D05C}"/>
              </a:ext>
            </a:extLst>
          </p:cNvPr>
          <p:cNvSpPr txBox="1"/>
          <p:nvPr/>
        </p:nvSpPr>
        <p:spPr>
          <a:xfrm>
            <a:off x="4159950" y="4318354"/>
            <a:ext cx="426469" cy="307777"/>
          </a:xfrm>
          <a:prstGeom prst="rect">
            <a:avLst/>
          </a:prstGeom>
          <a:noFill/>
        </p:spPr>
        <p:txBody>
          <a:bodyPr wrap="square" rtlCol="0">
            <a:spAutoFit/>
          </a:bodyPr>
          <a:lstStyle/>
          <a:p>
            <a:r>
              <a:rPr lang="en-US" sz="1400" b="1" dirty="0">
                <a:solidFill>
                  <a:schemeClr val="bg1"/>
                </a:solidFill>
              </a:rPr>
              <a:t>10</a:t>
            </a:r>
          </a:p>
        </p:txBody>
      </p:sp>
      <p:sp>
        <p:nvSpPr>
          <p:cNvPr id="66" name="Rectangle 65">
            <a:extLst>
              <a:ext uri="{FF2B5EF4-FFF2-40B4-BE49-F238E27FC236}">
                <a16:creationId xmlns:a16="http://schemas.microsoft.com/office/drawing/2014/main" id="{62F20143-F0AF-EDBE-2B4C-BC23E51BF60E}"/>
              </a:ext>
            </a:extLst>
          </p:cNvPr>
          <p:cNvSpPr/>
          <p:nvPr/>
        </p:nvSpPr>
        <p:spPr>
          <a:xfrm>
            <a:off x="4173138" y="3751394"/>
            <a:ext cx="422403" cy="613577"/>
          </a:xfrm>
          <a:prstGeom prst="rect">
            <a:avLst/>
          </a:prstGeom>
          <a:solidFill>
            <a:srgbClr val="32AE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TextBox 66">
            <a:extLst>
              <a:ext uri="{FF2B5EF4-FFF2-40B4-BE49-F238E27FC236}">
                <a16:creationId xmlns:a16="http://schemas.microsoft.com/office/drawing/2014/main" id="{A50FE572-6CF4-4B93-CA96-D826D7F2ACD8}"/>
              </a:ext>
            </a:extLst>
          </p:cNvPr>
          <p:cNvSpPr txBox="1"/>
          <p:nvPr/>
        </p:nvSpPr>
        <p:spPr>
          <a:xfrm>
            <a:off x="4180611" y="3714659"/>
            <a:ext cx="426469" cy="307777"/>
          </a:xfrm>
          <a:prstGeom prst="rect">
            <a:avLst/>
          </a:prstGeom>
          <a:noFill/>
        </p:spPr>
        <p:txBody>
          <a:bodyPr wrap="square" rtlCol="0">
            <a:spAutoFit/>
          </a:bodyPr>
          <a:lstStyle/>
          <a:p>
            <a:r>
              <a:rPr lang="en-US" sz="1400" b="1" dirty="0">
                <a:solidFill>
                  <a:schemeClr val="bg1"/>
                </a:solidFill>
              </a:rPr>
              <a:t>40</a:t>
            </a:r>
          </a:p>
        </p:txBody>
      </p:sp>
      <p:sp>
        <p:nvSpPr>
          <p:cNvPr id="68" name="TextBox 67">
            <a:extLst>
              <a:ext uri="{FF2B5EF4-FFF2-40B4-BE49-F238E27FC236}">
                <a16:creationId xmlns:a16="http://schemas.microsoft.com/office/drawing/2014/main" id="{9D75C9D1-E44B-A843-0E19-DC9EA0696614}"/>
              </a:ext>
            </a:extLst>
          </p:cNvPr>
          <p:cNvSpPr txBox="1"/>
          <p:nvPr/>
        </p:nvSpPr>
        <p:spPr>
          <a:xfrm>
            <a:off x="4171489" y="4010392"/>
            <a:ext cx="426469" cy="307777"/>
          </a:xfrm>
          <a:prstGeom prst="rect">
            <a:avLst/>
          </a:prstGeom>
          <a:noFill/>
        </p:spPr>
        <p:txBody>
          <a:bodyPr wrap="square" rtlCol="0">
            <a:spAutoFit/>
          </a:bodyPr>
          <a:lstStyle/>
          <a:p>
            <a:r>
              <a:rPr lang="en-US" sz="1400" b="1" dirty="0">
                <a:solidFill>
                  <a:schemeClr val="bg1"/>
                </a:solidFill>
              </a:rPr>
              <a:t>30</a:t>
            </a:r>
          </a:p>
        </p:txBody>
      </p:sp>
      <p:sp>
        <p:nvSpPr>
          <p:cNvPr id="69" name="TextBox 68">
            <a:extLst>
              <a:ext uri="{FF2B5EF4-FFF2-40B4-BE49-F238E27FC236}">
                <a16:creationId xmlns:a16="http://schemas.microsoft.com/office/drawing/2014/main" id="{EA30B4F1-E2CE-802A-6D21-5E0F550891D0}"/>
              </a:ext>
            </a:extLst>
          </p:cNvPr>
          <p:cNvSpPr txBox="1"/>
          <p:nvPr/>
        </p:nvSpPr>
        <p:spPr>
          <a:xfrm>
            <a:off x="3819603" y="4592922"/>
            <a:ext cx="466386" cy="276999"/>
          </a:xfrm>
          <a:prstGeom prst="rect">
            <a:avLst/>
          </a:prstGeom>
          <a:noFill/>
          <a:ln>
            <a:noFill/>
          </a:ln>
        </p:spPr>
        <p:txBody>
          <a:bodyPr wrap="square" rtlCol="0">
            <a:spAutoFit/>
          </a:bodyPr>
          <a:lstStyle/>
          <a:p>
            <a:r>
              <a:rPr lang="en-US" sz="1200" dirty="0"/>
              <a:t>[4]</a:t>
            </a:r>
          </a:p>
        </p:txBody>
      </p:sp>
      <p:sp>
        <p:nvSpPr>
          <p:cNvPr id="70" name="TextBox 69">
            <a:extLst>
              <a:ext uri="{FF2B5EF4-FFF2-40B4-BE49-F238E27FC236}">
                <a16:creationId xmlns:a16="http://schemas.microsoft.com/office/drawing/2014/main" id="{D5AA8911-9082-D9BC-7FCD-30C9C19B3B6E}"/>
              </a:ext>
            </a:extLst>
          </p:cNvPr>
          <p:cNvSpPr txBox="1"/>
          <p:nvPr/>
        </p:nvSpPr>
        <p:spPr>
          <a:xfrm>
            <a:off x="4163255" y="4583555"/>
            <a:ext cx="426469" cy="307777"/>
          </a:xfrm>
          <a:prstGeom prst="rect">
            <a:avLst/>
          </a:prstGeom>
          <a:noFill/>
        </p:spPr>
        <p:txBody>
          <a:bodyPr wrap="square" rtlCol="0">
            <a:spAutoFit/>
          </a:bodyPr>
          <a:lstStyle/>
          <a:p>
            <a:r>
              <a:rPr lang="en-US" sz="1400" b="1" dirty="0">
                <a:solidFill>
                  <a:schemeClr val="bg1"/>
                </a:solidFill>
              </a:rPr>
              <a:t>10</a:t>
            </a:r>
          </a:p>
        </p:txBody>
      </p:sp>
      <p:sp>
        <p:nvSpPr>
          <p:cNvPr id="71" name="Rectangle 70">
            <a:extLst>
              <a:ext uri="{FF2B5EF4-FFF2-40B4-BE49-F238E27FC236}">
                <a16:creationId xmlns:a16="http://schemas.microsoft.com/office/drawing/2014/main" id="{8C4CA963-1B00-6248-4411-9F00683B9647}"/>
              </a:ext>
            </a:extLst>
          </p:cNvPr>
          <p:cNvSpPr/>
          <p:nvPr/>
        </p:nvSpPr>
        <p:spPr>
          <a:xfrm>
            <a:off x="4216205" y="4247790"/>
            <a:ext cx="357100" cy="376179"/>
          </a:xfrm>
          <a:prstGeom prst="rect">
            <a:avLst/>
          </a:prstGeom>
          <a:solidFill>
            <a:srgbClr val="32AE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TextBox 71">
            <a:extLst>
              <a:ext uri="{FF2B5EF4-FFF2-40B4-BE49-F238E27FC236}">
                <a16:creationId xmlns:a16="http://schemas.microsoft.com/office/drawing/2014/main" id="{8CF72200-F476-2AE1-BF7A-A7DDDA2FFACF}"/>
              </a:ext>
            </a:extLst>
          </p:cNvPr>
          <p:cNvSpPr txBox="1"/>
          <p:nvPr/>
        </p:nvSpPr>
        <p:spPr>
          <a:xfrm>
            <a:off x="4176406" y="4285947"/>
            <a:ext cx="426469" cy="307777"/>
          </a:xfrm>
          <a:prstGeom prst="rect">
            <a:avLst/>
          </a:prstGeom>
          <a:noFill/>
        </p:spPr>
        <p:txBody>
          <a:bodyPr wrap="square" rtlCol="0">
            <a:spAutoFit/>
          </a:bodyPr>
          <a:lstStyle/>
          <a:p>
            <a:r>
              <a:rPr lang="en-US" sz="1400" b="1" dirty="0">
                <a:solidFill>
                  <a:schemeClr val="bg1"/>
                </a:solidFill>
              </a:rPr>
              <a:t>20</a:t>
            </a:r>
          </a:p>
        </p:txBody>
      </p:sp>
    </p:spTree>
    <p:extLst>
      <p:ext uri="{BB962C8B-B14F-4D97-AF65-F5344CB8AC3E}">
        <p14:creationId xmlns:p14="http://schemas.microsoft.com/office/powerpoint/2010/main" val="2523180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7"/>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8"/>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44"/>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35"/>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36"/>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68"/>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67"/>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66"/>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64"/>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65"/>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43"/>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34"/>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45"/>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72"/>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71"/>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69"/>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7" grpId="0"/>
      <p:bldP spid="18" grpId="0"/>
      <p:bldP spid="23" grpId="0"/>
      <p:bldP spid="35" grpId="0"/>
      <p:bldP spid="36" grpId="0"/>
      <p:bldP spid="43" grpId="0" animBg="1"/>
      <p:bldP spid="44" grpId="0"/>
      <p:bldP spid="34" grpId="0"/>
      <p:bldP spid="45" grpId="0"/>
      <p:bldP spid="51" grpId="0"/>
      <p:bldP spid="52" grpId="0"/>
      <p:bldP spid="53" grpId="0"/>
      <p:bldP spid="54" grpId="0"/>
      <p:bldP spid="55" grpId="0" animBg="1"/>
      <p:bldP spid="56" grpId="0"/>
      <p:bldP spid="57" grpId="0"/>
      <p:bldP spid="58" grpId="0"/>
      <p:bldP spid="64" grpId="0"/>
      <p:bldP spid="65" grpId="0"/>
      <p:bldP spid="66" grpId="0" animBg="1"/>
      <p:bldP spid="67" grpId="0"/>
      <p:bldP spid="68" grpId="0"/>
      <p:bldP spid="69" grpId="0"/>
      <p:bldP spid="70" grpId="0"/>
      <p:bldP spid="71" grpId="0" animBg="1"/>
      <p:bldP spid="7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9"/>
          <p:cNvSpPr/>
          <p:nvPr/>
        </p:nvSpPr>
        <p:spPr>
          <a:xfrm>
            <a:off x="3850130" y="555526"/>
            <a:ext cx="284243" cy="266077"/>
          </a:xfrm>
          <a:custGeom>
            <a:avLst/>
            <a:gdLst>
              <a:gd name="connsiteX0" fmla="*/ 833935 w 3239999"/>
              <a:gd name="connsiteY0" fmla="*/ 22 h 3032924"/>
              <a:gd name="connsiteX1" fmla="*/ 1576606 w 3239999"/>
              <a:gd name="connsiteY1" fmla="*/ 402054 h 3032924"/>
              <a:gd name="connsiteX2" fmla="*/ 1576606 w 3239999"/>
              <a:gd name="connsiteY2" fmla="*/ 430441 h 3032924"/>
              <a:gd name="connsiteX3" fmla="*/ 1576606 w 3239999"/>
              <a:gd name="connsiteY3" fmla="*/ 526981 h 3032924"/>
              <a:gd name="connsiteX4" fmla="*/ 1576606 w 3239999"/>
              <a:gd name="connsiteY4" fmla="*/ 2765302 h 3032924"/>
              <a:gd name="connsiteX5" fmla="*/ 378630 w 3239999"/>
              <a:gd name="connsiteY5" fmla="*/ 2472117 h 3032924"/>
              <a:gd name="connsiteX6" fmla="*/ 384918 w 3239999"/>
              <a:gd name="connsiteY6" fmla="*/ 526981 h 3032924"/>
              <a:gd name="connsiteX7" fmla="*/ 239143 w 3239999"/>
              <a:gd name="connsiteY7" fmla="*/ 526981 h 3032924"/>
              <a:gd name="connsiteX8" fmla="*/ 239143 w 3239999"/>
              <a:gd name="connsiteY8" fmla="*/ 2776423 h 3032924"/>
              <a:gd name="connsiteX9" fmla="*/ 1576606 w 3239999"/>
              <a:gd name="connsiteY9" fmla="*/ 2776423 h 3032924"/>
              <a:gd name="connsiteX10" fmla="*/ 1576606 w 3239999"/>
              <a:gd name="connsiteY10" fmla="*/ 2778202 h 3032924"/>
              <a:gd name="connsiteX11" fmla="*/ 1663394 w 3239999"/>
              <a:gd name="connsiteY11" fmla="*/ 2778202 h 3032924"/>
              <a:gd name="connsiteX12" fmla="*/ 1663394 w 3239999"/>
              <a:gd name="connsiteY12" fmla="*/ 2776423 h 3032924"/>
              <a:gd name="connsiteX13" fmla="*/ 3000856 w 3239999"/>
              <a:gd name="connsiteY13" fmla="*/ 2776423 h 3032924"/>
              <a:gd name="connsiteX14" fmla="*/ 3000856 w 3239999"/>
              <a:gd name="connsiteY14" fmla="*/ 526981 h 3032924"/>
              <a:gd name="connsiteX15" fmla="*/ 2855082 w 3239999"/>
              <a:gd name="connsiteY15" fmla="*/ 526981 h 3032924"/>
              <a:gd name="connsiteX16" fmla="*/ 2861369 w 3239999"/>
              <a:gd name="connsiteY16" fmla="*/ 2472117 h 3032924"/>
              <a:gd name="connsiteX17" fmla="*/ 1663394 w 3239999"/>
              <a:gd name="connsiteY17" fmla="*/ 2765302 h 3032924"/>
              <a:gd name="connsiteX18" fmla="*/ 1663394 w 3239999"/>
              <a:gd name="connsiteY18" fmla="*/ 526981 h 3032924"/>
              <a:gd name="connsiteX19" fmla="*/ 1663394 w 3239999"/>
              <a:gd name="connsiteY19" fmla="*/ 430441 h 3032924"/>
              <a:gd name="connsiteX20" fmla="*/ 1663394 w 3239999"/>
              <a:gd name="connsiteY20" fmla="*/ 402054 h 3032924"/>
              <a:gd name="connsiteX21" fmla="*/ 2406065 w 3239999"/>
              <a:gd name="connsiteY21" fmla="*/ 22 h 3032924"/>
              <a:gd name="connsiteX22" fmla="*/ 2853673 w 3239999"/>
              <a:gd name="connsiteY22" fmla="*/ 91100 h 3032924"/>
              <a:gd name="connsiteX23" fmla="*/ 2854770 w 3239999"/>
              <a:gd name="connsiteY23" fmla="*/ 430441 h 3032924"/>
              <a:gd name="connsiteX24" fmla="*/ 3120669 w 3239999"/>
              <a:gd name="connsiteY24" fmla="*/ 428517 h 3032924"/>
              <a:gd name="connsiteX25" fmla="*/ 3120669 w 3239999"/>
              <a:gd name="connsiteY25" fmla="*/ 738345 h 3032924"/>
              <a:gd name="connsiteX26" fmla="*/ 3239999 w 3239999"/>
              <a:gd name="connsiteY26" fmla="*/ 738345 h 3032924"/>
              <a:gd name="connsiteX27" fmla="*/ 3239999 w 3239999"/>
              <a:gd name="connsiteY27" fmla="*/ 3032924 h 3032924"/>
              <a:gd name="connsiteX28" fmla="*/ 0 w 3239999"/>
              <a:gd name="connsiteY28" fmla="*/ 3032924 h 3032924"/>
              <a:gd name="connsiteX29" fmla="*/ 0 w 3239999"/>
              <a:gd name="connsiteY29" fmla="*/ 738345 h 3032924"/>
              <a:gd name="connsiteX30" fmla="*/ 102477 w 3239999"/>
              <a:gd name="connsiteY30" fmla="*/ 738345 h 3032924"/>
              <a:gd name="connsiteX31" fmla="*/ 102477 w 3239999"/>
              <a:gd name="connsiteY31" fmla="*/ 428517 h 3032924"/>
              <a:gd name="connsiteX32" fmla="*/ 385229 w 3239999"/>
              <a:gd name="connsiteY32" fmla="*/ 430441 h 3032924"/>
              <a:gd name="connsiteX33" fmla="*/ 386326 w 3239999"/>
              <a:gd name="connsiteY33" fmla="*/ 91100 h 3032924"/>
              <a:gd name="connsiteX34" fmla="*/ 833935 w 3239999"/>
              <a:gd name="connsiteY34" fmla="*/ 22 h 3032924"/>
              <a:gd name="connsiteX0" fmla="*/ 833935 w 3239999"/>
              <a:gd name="connsiteY0" fmla="*/ 22 h 3032924"/>
              <a:gd name="connsiteX1" fmla="*/ 1576606 w 3239999"/>
              <a:gd name="connsiteY1" fmla="*/ 402054 h 3032924"/>
              <a:gd name="connsiteX2" fmla="*/ 1576606 w 3239999"/>
              <a:gd name="connsiteY2" fmla="*/ 430441 h 3032924"/>
              <a:gd name="connsiteX3" fmla="*/ 1576606 w 3239999"/>
              <a:gd name="connsiteY3" fmla="*/ 526981 h 3032924"/>
              <a:gd name="connsiteX4" fmla="*/ 1576606 w 3239999"/>
              <a:gd name="connsiteY4" fmla="*/ 2765302 h 3032924"/>
              <a:gd name="connsiteX5" fmla="*/ 378630 w 3239999"/>
              <a:gd name="connsiteY5" fmla="*/ 2472117 h 3032924"/>
              <a:gd name="connsiteX6" fmla="*/ 384918 w 3239999"/>
              <a:gd name="connsiteY6" fmla="*/ 526981 h 3032924"/>
              <a:gd name="connsiteX7" fmla="*/ 239143 w 3239999"/>
              <a:gd name="connsiteY7" fmla="*/ 526981 h 3032924"/>
              <a:gd name="connsiteX8" fmla="*/ 239143 w 3239999"/>
              <a:gd name="connsiteY8" fmla="*/ 2776423 h 3032924"/>
              <a:gd name="connsiteX9" fmla="*/ 1576606 w 3239999"/>
              <a:gd name="connsiteY9" fmla="*/ 2776423 h 3032924"/>
              <a:gd name="connsiteX10" fmla="*/ 1576606 w 3239999"/>
              <a:gd name="connsiteY10" fmla="*/ 2778202 h 3032924"/>
              <a:gd name="connsiteX11" fmla="*/ 1663394 w 3239999"/>
              <a:gd name="connsiteY11" fmla="*/ 2778202 h 3032924"/>
              <a:gd name="connsiteX12" fmla="*/ 1663394 w 3239999"/>
              <a:gd name="connsiteY12" fmla="*/ 2776423 h 3032924"/>
              <a:gd name="connsiteX13" fmla="*/ 3000856 w 3239999"/>
              <a:gd name="connsiteY13" fmla="*/ 2776423 h 3032924"/>
              <a:gd name="connsiteX14" fmla="*/ 3000856 w 3239999"/>
              <a:gd name="connsiteY14" fmla="*/ 526981 h 3032924"/>
              <a:gd name="connsiteX15" fmla="*/ 2855082 w 3239999"/>
              <a:gd name="connsiteY15" fmla="*/ 526981 h 3032924"/>
              <a:gd name="connsiteX16" fmla="*/ 2861369 w 3239999"/>
              <a:gd name="connsiteY16" fmla="*/ 2472117 h 3032924"/>
              <a:gd name="connsiteX17" fmla="*/ 1663394 w 3239999"/>
              <a:gd name="connsiteY17" fmla="*/ 2765302 h 3032924"/>
              <a:gd name="connsiteX18" fmla="*/ 1663394 w 3239999"/>
              <a:gd name="connsiteY18" fmla="*/ 526981 h 3032924"/>
              <a:gd name="connsiteX19" fmla="*/ 1663394 w 3239999"/>
              <a:gd name="connsiteY19" fmla="*/ 430441 h 3032924"/>
              <a:gd name="connsiteX20" fmla="*/ 1663394 w 3239999"/>
              <a:gd name="connsiteY20" fmla="*/ 402054 h 3032924"/>
              <a:gd name="connsiteX21" fmla="*/ 2406065 w 3239999"/>
              <a:gd name="connsiteY21" fmla="*/ 22 h 3032924"/>
              <a:gd name="connsiteX22" fmla="*/ 2853673 w 3239999"/>
              <a:gd name="connsiteY22" fmla="*/ 91100 h 3032924"/>
              <a:gd name="connsiteX23" fmla="*/ 2854770 w 3239999"/>
              <a:gd name="connsiteY23" fmla="*/ 430441 h 3032924"/>
              <a:gd name="connsiteX24" fmla="*/ 3120669 w 3239999"/>
              <a:gd name="connsiteY24" fmla="*/ 428517 h 3032924"/>
              <a:gd name="connsiteX25" fmla="*/ 3120669 w 3239999"/>
              <a:gd name="connsiteY25" fmla="*/ 738345 h 3032924"/>
              <a:gd name="connsiteX26" fmla="*/ 3239999 w 3239999"/>
              <a:gd name="connsiteY26" fmla="*/ 738345 h 3032924"/>
              <a:gd name="connsiteX27" fmla="*/ 3239999 w 3239999"/>
              <a:gd name="connsiteY27" fmla="*/ 3032924 h 3032924"/>
              <a:gd name="connsiteX28" fmla="*/ 0 w 3239999"/>
              <a:gd name="connsiteY28" fmla="*/ 3032924 h 3032924"/>
              <a:gd name="connsiteX29" fmla="*/ 0 w 3239999"/>
              <a:gd name="connsiteY29" fmla="*/ 738345 h 3032924"/>
              <a:gd name="connsiteX30" fmla="*/ 102477 w 3239999"/>
              <a:gd name="connsiteY30" fmla="*/ 738345 h 3032924"/>
              <a:gd name="connsiteX31" fmla="*/ 102477 w 3239999"/>
              <a:gd name="connsiteY31" fmla="*/ 428517 h 3032924"/>
              <a:gd name="connsiteX32" fmla="*/ 385229 w 3239999"/>
              <a:gd name="connsiteY32" fmla="*/ 430441 h 3032924"/>
              <a:gd name="connsiteX33" fmla="*/ 386326 w 3239999"/>
              <a:gd name="connsiteY33" fmla="*/ 91100 h 3032924"/>
              <a:gd name="connsiteX34" fmla="*/ 833935 w 3239999"/>
              <a:gd name="connsiteY34" fmla="*/ 22 h 3032924"/>
              <a:gd name="connsiteX0" fmla="*/ 833935 w 3239999"/>
              <a:gd name="connsiteY0" fmla="*/ 22 h 3032924"/>
              <a:gd name="connsiteX1" fmla="*/ 1576606 w 3239999"/>
              <a:gd name="connsiteY1" fmla="*/ 402054 h 3032924"/>
              <a:gd name="connsiteX2" fmla="*/ 1576606 w 3239999"/>
              <a:gd name="connsiteY2" fmla="*/ 430441 h 3032924"/>
              <a:gd name="connsiteX3" fmla="*/ 1576606 w 3239999"/>
              <a:gd name="connsiteY3" fmla="*/ 526981 h 3032924"/>
              <a:gd name="connsiteX4" fmla="*/ 1576606 w 3239999"/>
              <a:gd name="connsiteY4" fmla="*/ 2765302 h 3032924"/>
              <a:gd name="connsiteX5" fmla="*/ 378630 w 3239999"/>
              <a:gd name="connsiteY5" fmla="*/ 2472117 h 3032924"/>
              <a:gd name="connsiteX6" fmla="*/ 384918 w 3239999"/>
              <a:gd name="connsiteY6" fmla="*/ 526981 h 3032924"/>
              <a:gd name="connsiteX7" fmla="*/ 239143 w 3239999"/>
              <a:gd name="connsiteY7" fmla="*/ 526981 h 3032924"/>
              <a:gd name="connsiteX8" fmla="*/ 239143 w 3239999"/>
              <a:gd name="connsiteY8" fmla="*/ 2776423 h 3032924"/>
              <a:gd name="connsiteX9" fmla="*/ 1576606 w 3239999"/>
              <a:gd name="connsiteY9" fmla="*/ 2776423 h 3032924"/>
              <a:gd name="connsiteX10" fmla="*/ 1576606 w 3239999"/>
              <a:gd name="connsiteY10" fmla="*/ 2778202 h 3032924"/>
              <a:gd name="connsiteX11" fmla="*/ 1663394 w 3239999"/>
              <a:gd name="connsiteY11" fmla="*/ 2778202 h 3032924"/>
              <a:gd name="connsiteX12" fmla="*/ 1663394 w 3239999"/>
              <a:gd name="connsiteY12" fmla="*/ 2776423 h 3032924"/>
              <a:gd name="connsiteX13" fmla="*/ 3000856 w 3239999"/>
              <a:gd name="connsiteY13" fmla="*/ 2776423 h 3032924"/>
              <a:gd name="connsiteX14" fmla="*/ 3000856 w 3239999"/>
              <a:gd name="connsiteY14" fmla="*/ 526981 h 3032924"/>
              <a:gd name="connsiteX15" fmla="*/ 2855082 w 3239999"/>
              <a:gd name="connsiteY15" fmla="*/ 526981 h 3032924"/>
              <a:gd name="connsiteX16" fmla="*/ 2861369 w 3239999"/>
              <a:gd name="connsiteY16" fmla="*/ 2472117 h 3032924"/>
              <a:gd name="connsiteX17" fmla="*/ 1663394 w 3239999"/>
              <a:gd name="connsiteY17" fmla="*/ 2765302 h 3032924"/>
              <a:gd name="connsiteX18" fmla="*/ 1663394 w 3239999"/>
              <a:gd name="connsiteY18" fmla="*/ 526981 h 3032924"/>
              <a:gd name="connsiteX19" fmla="*/ 1663394 w 3239999"/>
              <a:gd name="connsiteY19" fmla="*/ 430441 h 3032924"/>
              <a:gd name="connsiteX20" fmla="*/ 1663394 w 3239999"/>
              <a:gd name="connsiteY20" fmla="*/ 402054 h 3032924"/>
              <a:gd name="connsiteX21" fmla="*/ 2406065 w 3239999"/>
              <a:gd name="connsiteY21" fmla="*/ 22 h 3032924"/>
              <a:gd name="connsiteX22" fmla="*/ 2853673 w 3239999"/>
              <a:gd name="connsiteY22" fmla="*/ 91100 h 3032924"/>
              <a:gd name="connsiteX23" fmla="*/ 2854770 w 3239999"/>
              <a:gd name="connsiteY23" fmla="*/ 430441 h 3032924"/>
              <a:gd name="connsiteX24" fmla="*/ 3120669 w 3239999"/>
              <a:gd name="connsiteY24" fmla="*/ 428517 h 3032924"/>
              <a:gd name="connsiteX25" fmla="*/ 3120669 w 3239999"/>
              <a:gd name="connsiteY25" fmla="*/ 738345 h 3032924"/>
              <a:gd name="connsiteX26" fmla="*/ 3239999 w 3239999"/>
              <a:gd name="connsiteY26" fmla="*/ 738345 h 3032924"/>
              <a:gd name="connsiteX27" fmla="*/ 3239999 w 3239999"/>
              <a:gd name="connsiteY27" fmla="*/ 3032924 h 3032924"/>
              <a:gd name="connsiteX28" fmla="*/ 0 w 3239999"/>
              <a:gd name="connsiteY28" fmla="*/ 3032924 h 3032924"/>
              <a:gd name="connsiteX29" fmla="*/ 0 w 3239999"/>
              <a:gd name="connsiteY29" fmla="*/ 738345 h 3032924"/>
              <a:gd name="connsiteX30" fmla="*/ 102477 w 3239999"/>
              <a:gd name="connsiteY30" fmla="*/ 738345 h 3032924"/>
              <a:gd name="connsiteX31" fmla="*/ 102477 w 3239999"/>
              <a:gd name="connsiteY31" fmla="*/ 428517 h 3032924"/>
              <a:gd name="connsiteX32" fmla="*/ 385229 w 3239999"/>
              <a:gd name="connsiteY32" fmla="*/ 430441 h 3032924"/>
              <a:gd name="connsiteX33" fmla="*/ 386326 w 3239999"/>
              <a:gd name="connsiteY33" fmla="*/ 91100 h 3032924"/>
              <a:gd name="connsiteX34" fmla="*/ 833935 w 3239999"/>
              <a:gd name="connsiteY34" fmla="*/ 2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29618 w 3239999"/>
              <a:gd name="connsiteY32" fmla="*/ 2690698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2991331 w 3239999"/>
              <a:gd name="connsiteY3" fmla="*/ 2709748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29618 w 3239999"/>
              <a:gd name="connsiteY32" fmla="*/ 2690698 h 3032924"/>
              <a:gd name="connsiteX33" fmla="*/ 1576606 w 3239999"/>
              <a:gd name="connsiteY33" fmla="*/ 2776423 h 30329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239999" h="3032924">
                <a:moveTo>
                  <a:pt x="1576606" y="2778202"/>
                </a:moveTo>
                <a:cubicBezTo>
                  <a:pt x="1576606" y="2778795"/>
                  <a:pt x="1663394" y="2792670"/>
                  <a:pt x="1663394" y="2778202"/>
                </a:cubicBezTo>
                <a:lnTo>
                  <a:pt x="1663394" y="2776423"/>
                </a:lnTo>
                <a:cubicBezTo>
                  <a:pt x="2185083" y="2605634"/>
                  <a:pt x="2444552" y="2500589"/>
                  <a:pt x="2991331" y="2709748"/>
                </a:cubicBezTo>
                <a:lnTo>
                  <a:pt x="3000856" y="526981"/>
                </a:lnTo>
                <a:lnTo>
                  <a:pt x="2855082" y="526981"/>
                </a:lnTo>
                <a:cubicBezTo>
                  <a:pt x="2857178" y="1175360"/>
                  <a:pt x="2859273" y="1823738"/>
                  <a:pt x="2861369" y="2472117"/>
                </a:cubicBezTo>
                <a:cubicBezTo>
                  <a:pt x="2483869" y="2318121"/>
                  <a:pt x="2052449" y="2439541"/>
                  <a:pt x="1663394" y="2765302"/>
                </a:cubicBezTo>
                <a:lnTo>
                  <a:pt x="1663394" y="526981"/>
                </a:lnTo>
                <a:lnTo>
                  <a:pt x="1663394" y="430441"/>
                </a:lnTo>
                <a:lnTo>
                  <a:pt x="1663394" y="402054"/>
                </a:lnTo>
                <a:cubicBezTo>
                  <a:pt x="1896442" y="149589"/>
                  <a:pt x="2115835" y="2106"/>
                  <a:pt x="2406065" y="22"/>
                </a:cubicBezTo>
                <a:cubicBezTo>
                  <a:pt x="2537987" y="-925"/>
                  <a:pt x="2684544" y="28169"/>
                  <a:pt x="2853673" y="91100"/>
                </a:cubicBezTo>
                <a:cubicBezTo>
                  <a:pt x="2854039" y="204214"/>
                  <a:pt x="2854404" y="317327"/>
                  <a:pt x="2854770" y="430441"/>
                </a:cubicBezTo>
                <a:lnTo>
                  <a:pt x="3120669" y="428517"/>
                </a:lnTo>
                <a:lnTo>
                  <a:pt x="3120669" y="738345"/>
                </a:lnTo>
                <a:lnTo>
                  <a:pt x="3239999" y="738345"/>
                </a:lnTo>
                <a:lnTo>
                  <a:pt x="3239999" y="3032924"/>
                </a:lnTo>
                <a:lnTo>
                  <a:pt x="0" y="3032924"/>
                </a:lnTo>
                <a:lnTo>
                  <a:pt x="0" y="738345"/>
                </a:lnTo>
                <a:lnTo>
                  <a:pt x="102477" y="738345"/>
                </a:lnTo>
                <a:lnTo>
                  <a:pt x="102477" y="428517"/>
                </a:lnTo>
                <a:lnTo>
                  <a:pt x="385229" y="430441"/>
                </a:lnTo>
                <a:cubicBezTo>
                  <a:pt x="385595" y="317327"/>
                  <a:pt x="385960" y="204214"/>
                  <a:pt x="386326" y="91100"/>
                </a:cubicBezTo>
                <a:cubicBezTo>
                  <a:pt x="555455" y="28169"/>
                  <a:pt x="702013" y="-925"/>
                  <a:pt x="833935" y="22"/>
                </a:cubicBezTo>
                <a:cubicBezTo>
                  <a:pt x="1124164" y="2106"/>
                  <a:pt x="1343558" y="149589"/>
                  <a:pt x="1576606" y="402054"/>
                </a:cubicBezTo>
                <a:lnTo>
                  <a:pt x="1576606" y="430441"/>
                </a:lnTo>
                <a:lnTo>
                  <a:pt x="1576606" y="526981"/>
                </a:lnTo>
                <a:lnTo>
                  <a:pt x="1576606" y="2765302"/>
                </a:lnTo>
                <a:cubicBezTo>
                  <a:pt x="1187550" y="2439541"/>
                  <a:pt x="756130" y="2318121"/>
                  <a:pt x="378630" y="2472117"/>
                </a:cubicBezTo>
                <a:lnTo>
                  <a:pt x="384918" y="526981"/>
                </a:lnTo>
                <a:lnTo>
                  <a:pt x="239143" y="526981"/>
                </a:lnTo>
                <a:lnTo>
                  <a:pt x="229618" y="2690698"/>
                </a:lnTo>
                <a:cubicBezTo>
                  <a:pt x="773243" y="2466244"/>
                  <a:pt x="1081748" y="2626096"/>
                  <a:pt x="1576606" y="2776423"/>
                </a:cubicBezTo>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2" name="Group 1">
            <a:extLst>
              <a:ext uri="{FF2B5EF4-FFF2-40B4-BE49-F238E27FC236}">
                <a16:creationId xmlns:a16="http://schemas.microsoft.com/office/drawing/2014/main" id="{4BDD5789-0FC2-A211-C866-20489F9CEB17}"/>
              </a:ext>
            </a:extLst>
          </p:cNvPr>
          <p:cNvGrpSpPr/>
          <p:nvPr/>
        </p:nvGrpSpPr>
        <p:grpSpPr>
          <a:xfrm>
            <a:off x="-19020" y="-20538"/>
            <a:ext cx="9163020" cy="936104"/>
            <a:chOff x="-19020" y="-20538"/>
            <a:chExt cx="9163020" cy="936104"/>
          </a:xfrm>
        </p:grpSpPr>
        <p:sp>
          <p:nvSpPr>
            <p:cNvPr id="3" name="Rectangle 2">
              <a:extLst>
                <a:ext uri="{FF2B5EF4-FFF2-40B4-BE49-F238E27FC236}">
                  <a16:creationId xmlns:a16="http://schemas.microsoft.com/office/drawing/2014/main" id="{9228616E-49BE-53F6-A4F4-39F669C017D9}"/>
                </a:ext>
              </a:extLst>
            </p:cNvPr>
            <p:cNvSpPr/>
            <p:nvPr/>
          </p:nvSpPr>
          <p:spPr>
            <a:xfrm>
              <a:off x="323528" y="555526"/>
              <a:ext cx="4392488" cy="35427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Text Placeholder 1">
              <a:extLst>
                <a:ext uri="{FF2B5EF4-FFF2-40B4-BE49-F238E27FC236}">
                  <a16:creationId xmlns:a16="http://schemas.microsoft.com/office/drawing/2014/main" id="{114B336E-9551-1FF3-22E4-6B1A647EA075}"/>
                </a:ext>
              </a:extLst>
            </p:cNvPr>
            <p:cNvSpPr txBox="1">
              <a:spLocks/>
            </p:cNvSpPr>
            <p:nvPr/>
          </p:nvSpPr>
          <p:spPr>
            <a:xfrm>
              <a:off x="0" y="-20538"/>
              <a:ext cx="9144000" cy="576064"/>
            </a:xfrm>
            <a:prstGeom prst="rect">
              <a:avLst/>
            </a:prstGeom>
          </p:spPr>
          <p:txBody>
            <a:bodyP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l">
                <a:buNone/>
              </a:pPr>
              <a:r>
                <a:rPr lang="en-US" altLang="ko-KR" sz="3600" u="sng" dirty="0">
                  <a:solidFill>
                    <a:schemeClr val="tx1">
                      <a:lumMod val="85000"/>
                      <a:lumOff val="15000"/>
                    </a:schemeClr>
                  </a:solidFill>
                  <a:latin typeface="Bernard MT Condensed" panose="02050806060905020404" pitchFamily="18" charset="0"/>
                </a:rPr>
                <a:t>Data Structures and Algorithm</a:t>
              </a:r>
              <a:endParaRPr lang="ko-KR" altLang="en-US" sz="3600" dirty="0">
                <a:solidFill>
                  <a:schemeClr val="tx1">
                    <a:lumMod val="85000"/>
                    <a:lumOff val="15000"/>
                  </a:schemeClr>
                </a:solidFill>
              </a:endParaRPr>
            </a:p>
          </p:txBody>
        </p:sp>
        <p:sp>
          <p:nvSpPr>
            <p:cNvPr id="5" name="Rectangle 4">
              <a:extLst>
                <a:ext uri="{FF2B5EF4-FFF2-40B4-BE49-F238E27FC236}">
                  <a16:creationId xmlns:a16="http://schemas.microsoft.com/office/drawing/2014/main" id="{37861175-A3CF-DF17-D4CC-16F0E1AE1B6D}"/>
                </a:ext>
              </a:extLst>
            </p:cNvPr>
            <p:cNvSpPr/>
            <p:nvPr/>
          </p:nvSpPr>
          <p:spPr>
            <a:xfrm>
              <a:off x="-19020" y="561294"/>
              <a:ext cx="323528" cy="354272"/>
            </a:xfrm>
            <a:prstGeom prst="rect">
              <a:avLst/>
            </a:prstGeom>
            <a:solidFill>
              <a:schemeClr val="accent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10" name="TextBox 9">
              <a:extLst>
                <a:ext uri="{FF2B5EF4-FFF2-40B4-BE49-F238E27FC236}">
                  <a16:creationId xmlns:a16="http://schemas.microsoft.com/office/drawing/2014/main" id="{61A5072A-A623-A618-3FF8-078385A1BE21}"/>
                </a:ext>
              </a:extLst>
            </p:cNvPr>
            <p:cNvSpPr txBox="1"/>
            <p:nvPr/>
          </p:nvSpPr>
          <p:spPr>
            <a:xfrm>
              <a:off x="251520" y="541432"/>
              <a:ext cx="3318043" cy="369332"/>
            </a:xfrm>
            <a:prstGeom prst="rect">
              <a:avLst/>
            </a:prstGeom>
            <a:noFill/>
          </p:spPr>
          <p:txBody>
            <a:bodyPr wrap="square">
              <a:spAutoFit/>
            </a:bodyPr>
            <a:lstStyle/>
            <a:p>
              <a:pPr algn="l"/>
              <a:r>
                <a:rPr lang="en-PH" b="1" dirty="0">
                  <a:solidFill>
                    <a:schemeClr val="bg1"/>
                  </a:solidFill>
                  <a:latin typeface="Bahnschrift Condensed" panose="020B0502040204020203" pitchFamily="34" charset="0"/>
                </a:rPr>
                <a:t>Priority Queue</a:t>
              </a:r>
              <a:r>
                <a:rPr lang="en-PH" sz="1800" b="1" dirty="0">
                  <a:solidFill>
                    <a:schemeClr val="bg1"/>
                  </a:solidFill>
                  <a:latin typeface="Bahnschrift Condensed" panose="020B0502040204020203" pitchFamily="34" charset="0"/>
                </a:rPr>
                <a:t> Sample Program</a:t>
              </a:r>
            </a:p>
          </p:txBody>
        </p:sp>
      </p:grpSp>
      <p:sp>
        <p:nvSpPr>
          <p:cNvPr id="12" name="Trapezoid 11">
            <a:extLst>
              <a:ext uri="{FF2B5EF4-FFF2-40B4-BE49-F238E27FC236}">
                <a16:creationId xmlns:a16="http://schemas.microsoft.com/office/drawing/2014/main" id="{63CBDAA3-C325-5697-BE7A-E200B08B58E6}"/>
              </a:ext>
            </a:extLst>
          </p:cNvPr>
          <p:cNvSpPr/>
          <p:nvPr/>
        </p:nvSpPr>
        <p:spPr>
          <a:xfrm rot="16200000">
            <a:off x="-30979" y="2028234"/>
            <a:ext cx="2736052" cy="1518828"/>
          </a:xfrm>
          <a:prstGeom prst="trapezoid">
            <a:avLst>
              <a:gd name="adj" fmla="val 72234"/>
            </a:avLst>
          </a:prstGeom>
          <a:gradFill>
            <a:gsLst>
              <a:gs pos="0">
                <a:schemeClr val="accent1">
                  <a:lumMod val="50000"/>
                  <a:lumOff val="50000"/>
                </a:schemeClr>
              </a:gs>
              <a:gs pos="50000">
                <a:schemeClr val="accent1">
                  <a:lumMod val="40000"/>
                  <a:lumOff val="60000"/>
                </a:schemeClr>
              </a:gs>
              <a:gs pos="100000">
                <a:schemeClr val="bg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Rounded Rectangle 8">
            <a:extLst>
              <a:ext uri="{FF2B5EF4-FFF2-40B4-BE49-F238E27FC236}">
                <a16:creationId xmlns:a16="http://schemas.microsoft.com/office/drawing/2014/main" id="{3CACDB5A-EA47-EB4D-8803-5B35F4F1BBD9}"/>
              </a:ext>
            </a:extLst>
          </p:cNvPr>
          <p:cNvSpPr/>
          <p:nvPr/>
        </p:nvSpPr>
        <p:spPr>
          <a:xfrm>
            <a:off x="16756" y="1396139"/>
            <a:ext cx="540000" cy="3060017"/>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TextBox 13">
            <a:extLst>
              <a:ext uri="{FF2B5EF4-FFF2-40B4-BE49-F238E27FC236}">
                <a16:creationId xmlns:a16="http://schemas.microsoft.com/office/drawing/2014/main" id="{240668EC-7241-D038-426E-C2F10EEC2B66}"/>
              </a:ext>
            </a:extLst>
          </p:cNvPr>
          <p:cNvSpPr txBox="1"/>
          <p:nvPr/>
        </p:nvSpPr>
        <p:spPr>
          <a:xfrm rot="16200000">
            <a:off x="-899140" y="2800845"/>
            <a:ext cx="2371794" cy="307777"/>
          </a:xfrm>
          <a:prstGeom prst="rect">
            <a:avLst/>
          </a:prstGeom>
          <a:noFill/>
        </p:spPr>
        <p:txBody>
          <a:bodyPr wrap="square" rtlCol="0">
            <a:spAutoFit/>
          </a:bodyPr>
          <a:lstStyle/>
          <a:p>
            <a:pPr algn="r"/>
            <a:r>
              <a:rPr lang="en-US" altLang="ko-KR" sz="1400" b="1" dirty="0">
                <a:solidFill>
                  <a:schemeClr val="bg1"/>
                </a:solidFill>
                <a:cs typeface="Arial" pitchFamily="34" charset="0"/>
              </a:rPr>
              <a:t>Queue Sample Program</a:t>
            </a:r>
            <a:endParaRPr lang="ko-KR" altLang="en-US" sz="1400" b="1" dirty="0">
              <a:solidFill>
                <a:schemeClr val="bg1"/>
              </a:solidFill>
              <a:cs typeface="Arial" pitchFamily="34" charset="0"/>
            </a:endParaRPr>
          </a:p>
        </p:txBody>
      </p:sp>
      <p:pic>
        <p:nvPicPr>
          <p:cNvPr id="15" name="Picture 14">
            <a:extLst>
              <a:ext uri="{FF2B5EF4-FFF2-40B4-BE49-F238E27FC236}">
                <a16:creationId xmlns:a16="http://schemas.microsoft.com/office/drawing/2014/main" id="{EFFDB2F1-7F0B-9C41-0D0A-4260A6BC16FF}"/>
              </a:ext>
            </a:extLst>
          </p:cNvPr>
          <p:cNvPicPr>
            <a:picLocks noChangeAspect="1"/>
          </p:cNvPicPr>
          <p:nvPr/>
        </p:nvPicPr>
        <p:blipFill>
          <a:blip r:embed="rId3"/>
          <a:stretch>
            <a:fillRect/>
          </a:stretch>
        </p:blipFill>
        <p:spPr>
          <a:xfrm>
            <a:off x="577633" y="1324643"/>
            <a:ext cx="4291551" cy="2485755"/>
          </a:xfrm>
          <a:prstGeom prst="rect">
            <a:avLst/>
          </a:prstGeom>
        </p:spPr>
      </p:pic>
    </p:spTree>
    <p:extLst>
      <p:ext uri="{BB962C8B-B14F-4D97-AF65-F5344CB8AC3E}">
        <p14:creationId xmlns:p14="http://schemas.microsoft.com/office/powerpoint/2010/main" val="20938615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9"/>
          <p:cNvSpPr/>
          <p:nvPr/>
        </p:nvSpPr>
        <p:spPr>
          <a:xfrm>
            <a:off x="3850130" y="555526"/>
            <a:ext cx="284243" cy="266077"/>
          </a:xfrm>
          <a:custGeom>
            <a:avLst/>
            <a:gdLst>
              <a:gd name="connsiteX0" fmla="*/ 833935 w 3239999"/>
              <a:gd name="connsiteY0" fmla="*/ 22 h 3032924"/>
              <a:gd name="connsiteX1" fmla="*/ 1576606 w 3239999"/>
              <a:gd name="connsiteY1" fmla="*/ 402054 h 3032924"/>
              <a:gd name="connsiteX2" fmla="*/ 1576606 w 3239999"/>
              <a:gd name="connsiteY2" fmla="*/ 430441 h 3032924"/>
              <a:gd name="connsiteX3" fmla="*/ 1576606 w 3239999"/>
              <a:gd name="connsiteY3" fmla="*/ 526981 h 3032924"/>
              <a:gd name="connsiteX4" fmla="*/ 1576606 w 3239999"/>
              <a:gd name="connsiteY4" fmla="*/ 2765302 h 3032924"/>
              <a:gd name="connsiteX5" fmla="*/ 378630 w 3239999"/>
              <a:gd name="connsiteY5" fmla="*/ 2472117 h 3032924"/>
              <a:gd name="connsiteX6" fmla="*/ 384918 w 3239999"/>
              <a:gd name="connsiteY6" fmla="*/ 526981 h 3032924"/>
              <a:gd name="connsiteX7" fmla="*/ 239143 w 3239999"/>
              <a:gd name="connsiteY7" fmla="*/ 526981 h 3032924"/>
              <a:gd name="connsiteX8" fmla="*/ 239143 w 3239999"/>
              <a:gd name="connsiteY8" fmla="*/ 2776423 h 3032924"/>
              <a:gd name="connsiteX9" fmla="*/ 1576606 w 3239999"/>
              <a:gd name="connsiteY9" fmla="*/ 2776423 h 3032924"/>
              <a:gd name="connsiteX10" fmla="*/ 1576606 w 3239999"/>
              <a:gd name="connsiteY10" fmla="*/ 2778202 h 3032924"/>
              <a:gd name="connsiteX11" fmla="*/ 1663394 w 3239999"/>
              <a:gd name="connsiteY11" fmla="*/ 2778202 h 3032924"/>
              <a:gd name="connsiteX12" fmla="*/ 1663394 w 3239999"/>
              <a:gd name="connsiteY12" fmla="*/ 2776423 h 3032924"/>
              <a:gd name="connsiteX13" fmla="*/ 3000856 w 3239999"/>
              <a:gd name="connsiteY13" fmla="*/ 2776423 h 3032924"/>
              <a:gd name="connsiteX14" fmla="*/ 3000856 w 3239999"/>
              <a:gd name="connsiteY14" fmla="*/ 526981 h 3032924"/>
              <a:gd name="connsiteX15" fmla="*/ 2855082 w 3239999"/>
              <a:gd name="connsiteY15" fmla="*/ 526981 h 3032924"/>
              <a:gd name="connsiteX16" fmla="*/ 2861369 w 3239999"/>
              <a:gd name="connsiteY16" fmla="*/ 2472117 h 3032924"/>
              <a:gd name="connsiteX17" fmla="*/ 1663394 w 3239999"/>
              <a:gd name="connsiteY17" fmla="*/ 2765302 h 3032924"/>
              <a:gd name="connsiteX18" fmla="*/ 1663394 w 3239999"/>
              <a:gd name="connsiteY18" fmla="*/ 526981 h 3032924"/>
              <a:gd name="connsiteX19" fmla="*/ 1663394 w 3239999"/>
              <a:gd name="connsiteY19" fmla="*/ 430441 h 3032924"/>
              <a:gd name="connsiteX20" fmla="*/ 1663394 w 3239999"/>
              <a:gd name="connsiteY20" fmla="*/ 402054 h 3032924"/>
              <a:gd name="connsiteX21" fmla="*/ 2406065 w 3239999"/>
              <a:gd name="connsiteY21" fmla="*/ 22 h 3032924"/>
              <a:gd name="connsiteX22" fmla="*/ 2853673 w 3239999"/>
              <a:gd name="connsiteY22" fmla="*/ 91100 h 3032924"/>
              <a:gd name="connsiteX23" fmla="*/ 2854770 w 3239999"/>
              <a:gd name="connsiteY23" fmla="*/ 430441 h 3032924"/>
              <a:gd name="connsiteX24" fmla="*/ 3120669 w 3239999"/>
              <a:gd name="connsiteY24" fmla="*/ 428517 h 3032924"/>
              <a:gd name="connsiteX25" fmla="*/ 3120669 w 3239999"/>
              <a:gd name="connsiteY25" fmla="*/ 738345 h 3032924"/>
              <a:gd name="connsiteX26" fmla="*/ 3239999 w 3239999"/>
              <a:gd name="connsiteY26" fmla="*/ 738345 h 3032924"/>
              <a:gd name="connsiteX27" fmla="*/ 3239999 w 3239999"/>
              <a:gd name="connsiteY27" fmla="*/ 3032924 h 3032924"/>
              <a:gd name="connsiteX28" fmla="*/ 0 w 3239999"/>
              <a:gd name="connsiteY28" fmla="*/ 3032924 h 3032924"/>
              <a:gd name="connsiteX29" fmla="*/ 0 w 3239999"/>
              <a:gd name="connsiteY29" fmla="*/ 738345 h 3032924"/>
              <a:gd name="connsiteX30" fmla="*/ 102477 w 3239999"/>
              <a:gd name="connsiteY30" fmla="*/ 738345 h 3032924"/>
              <a:gd name="connsiteX31" fmla="*/ 102477 w 3239999"/>
              <a:gd name="connsiteY31" fmla="*/ 428517 h 3032924"/>
              <a:gd name="connsiteX32" fmla="*/ 385229 w 3239999"/>
              <a:gd name="connsiteY32" fmla="*/ 430441 h 3032924"/>
              <a:gd name="connsiteX33" fmla="*/ 386326 w 3239999"/>
              <a:gd name="connsiteY33" fmla="*/ 91100 h 3032924"/>
              <a:gd name="connsiteX34" fmla="*/ 833935 w 3239999"/>
              <a:gd name="connsiteY34" fmla="*/ 22 h 3032924"/>
              <a:gd name="connsiteX0" fmla="*/ 833935 w 3239999"/>
              <a:gd name="connsiteY0" fmla="*/ 22 h 3032924"/>
              <a:gd name="connsiteX1" fmla="*/ 1576606 w 3239999"/>
              <a:gd name="connsiteY1" fmla="*/ 402054 h 3032924"/>
              <a:gd name="connsiteX2" fmla="*/ 1576606 w 3239999"/>
              <a:gd name="connsiteY2" fmla="*/ 430441 h 3032924"/>
              <a:gd name="connsiteX3" fmla="*/ 1576606 w 3239999"/>
              <a:gd name="connsiteY3" fmla="*/ 526981 h 3032924"/>
              <a:gd name="connsiteX4" fmla="*/ 1576606 w 3239999"/>
              <a:gd name="connsiteY4" fmla="*/ 2765302 h 3032924"/>
              <a:gd name="connsiteX5" fmla="*/ 378630 w 3239999"/>
              <a:gd name="connsiteY5" fmla="*/ 2472117 h 3032924"/>
              <a:gd name="connsiteX6" fmla="*/ 384918 w 3239999"/>
              <a:gd name="connsiteY6" fmla="*/ 526981 h 3032924"/>
              <a:gd name="connsiteX7" fmla="*/ 239143 w 3239999"/>
              <a:gd name="connsiteY7" fmla="*/ 526981 h 3032924"/>
              <a:gd name="connsiteX8" fmla="*/ 239143 w 3239999"/>
              <a:gd name="connsiteY8" fmla="*/ 2776423 h 3032924"/>
              <a:gd name="connsiteX9" fmla="*/ 1576606 w 3239999"/>
              <a:gd name="connsiteY9" fmla="*/ 2776423 h 3032924"/>
              <a:gd name="connsiteX10" fmla="*/ 1576606 w 3239999"/>
              <a:gd name="connsiteY10" fmla="*/ 2778202 h 3032924"/>
              <a:gd name="connsiteX11" fmla="*/ 1663394 w 3239999"/>
              <a:gd name="connsiteY11" fmla="*/ 2778202 h 3032924"/>
              <a:gd name="connsiteX12" fmla="*/ 1663394 w 3239999"/>
              <a:gd name="connsiteY12" fmla="*/ 2776423 h 3032924"/>
              <a:gd name="connsiteX13" fmla="*/ 3000856 w 3239999"/>
              <a:gd name="connsiteY13" fmla="*/ 2776423 h 3032924"/>
              <a:gd name="connsiteX14" fmla="*/ 3000856 w 3239999"/>
              <a:gd name="connsiteY14" fmla="*/ 526981 h 3032924"/>
              <a:gd name="connsiteX15" fmla="*/ 2855082 w 3239999"/>
              <a:gd name="connsiteY15" fmla="*/ 526981 h 3032924"/>
              <a:gd name="connsiteX16" fmla="*/ 2861369 w 3239999"/>
              <a:gd name="connsiteY16" fmla="*/ 2472117 h 3032924"/>
              <a:gd name="connsiteX17" fmla="*/ 1663394 w 3239999"/>
              <a:gd name="connsiteY17" fmla="*/ 2765302 h 3032924"/>
              <a:gd name="connsiteX18" fmla="*/ 1663394 w 3239999"/>
              <a:gd name="connsiteY18" fmla="*/ 526981 h 3032924"/>
              <a:gd name="connsiteX19" fmla="*/ 1663394 w 3239999"/>
              <a:gd name="connsiteY19" fmla="*/ 430441 h 3032924"/>
              <a:gd name="connsiteX20" fmla="*/ 1663394 w 3239999"/>
              <a:gd name="connsiteY20" fmla="*/ 402054 h 3032924"/>
              <a:gd name="connsiteX21" fmla="*/ 2406065 w 3239999"/>
              <a:gd name="connsiteY21" fmla="*/ 22 h 3032924"/>
              <a:gd name="connsiteX22" fmla="*/ 2853673 w 3239999"/>
              <a:gd name="connsiteY22" fmla="*/ 91100 h 3032924"/>
              <a:gd name="connsiteX23" fmla="*/ 2854770 w 3239999"/>
              <a:gd name="connsiteY23" fmla="*/ 430441 h 3032924"/>
              <a:gd name="connsiteX24" fmla="*/ 3120669 w 3239999"/>
              <a:gd name="connsiteY24" fmla="*/ 428517 h 3032924"/>
              <a:gd name="connsiteX25" fmla="*/ 3120669 w 3239999"/>
              <a:gd name="connsiteY25" fmla="*/ 738345 h 3032924"/>
              <a:gd name="connsiteX26" fmla="*/ 3239999 w 3239999"/>
              <a:gd name="connsiteY26" fmla="*/ 738345 h 3032924"/>
              <a:gd name="connsiteX27" fmla="*/ 3239999 w 3239999"/>
              <a:gd name="connsiteY27" fmla="*/ 3032924 h 3032924"/>
              <a:gd name="connsiteX28" fmla="*/ 0 w 3239999"/>
              <a:gd name="connsiteY28" fmla="*/ 3032924 h 3032924"/>
              <a:gd name="connsiteX29" fmla="*/ 0 w 3239999"/>
              <a:gd name="connsiteY29" fmla="*/ 738345 h 3032924"/>
              <a:gd name="connsiteX30" fmla="*/ 102477 w 3239999"/>
              <a:gd name="connsiteY30" fmla="*/ 738345 h 3032924"/>
              <a:gd name="connsiteX31" fmla="*/ 102477 w 3239999"/>
              <a:gd name="connsiteY31" fmla="*/ 428517 h 3032924"/>
              <a:gd name="connsiteX32" fmla="*/ 385229 w 3239999"/>
              <a:gd name="connsiteY32" fmla="*/ 430441 h 3032924"/>
              <a:gd name="connsiteX33" fmla="*/ 386326 w 3239999"/>
              <a:gd name="connsiteY33" fmla="*/ 91100 h 3032924"/>
              <a:gd name="connsiteX34" fmla="*/ 833935 w 3239999"/>
              <a:gd name="connsiteY34" fmla="*/ 22 h 3032924"/>
              <a:gd name="connsiteX0" fmla="*/ 833935 w 3239999"/>
              <a:gd name="connsiteY0" fmla="*/ 22 h 3032924"/>
              <a:gd name="connsiteX1" fmla="*/ 1576606 w 3239999"/>
              <a:gd name="connsiteY1" fmla="*/ 402054 h 3032924"/>
              <a:gd name="connsiteX2" fmla="*/ 1576606 w 3239999"/>
              <a:gd name="connsiteY2" fmla="*/ 430441 h 3032924"/>
              <a:gd name="connsiteX3" fmla="*/ 1576606 w 3239999"/>
              <a:gd name="connsiteY3" fmla="*/ 526981 h 3032924"/>
              <a:gd name="connsiteX4" fmla="*/ 1576606 w 3239999"/>
              <a:gd name="connsiteY4" fmla="*/ 2765302 h 3032924"/>
              <a:gd name="connsiteX5" fmla="*/ 378630 w 3239999"/>
              <a:gd name="connsiteY5" fmla="*/ 2472117 h 3032924"/>
              <a:gd name="connsiteX6" fmla="*/ 384918 w 3239999"/>
              <a:gd name="connsiteY6" fmla="*/ 526981 h 3032924"/>
              <a:gd name="connsiteX7" fmla="*/ 239143 w 3239999"/>
              <a:gd name="connsiteY7" fmla="*/ 526981 h 3032924"/>
              <a:gd name="connsiteX8" fmla="*/ 239143 w 3239999"/>
              <a:gd name="connsiteY8" fmla="*/ 2776423 h 3032924"/>
              <a:gd name="connsiteX9" fmla="*/ 1576606 w 3239999"/>
              <a:gd name="connsiteY9" fmla="*/ 2776423 h 3032924"/>
              <a:gd name="connsiteX10" fmla="*/ 1576606 w 3239999"/>
              <a:gd name="connsiteY10" fmla="*/ 2778202 h 3032924"/>
              <a:gd name="connsiteX11" fmla="*/ 1663394 w 3239999"/>
              <a:gd name="connsiteY11" fmla="*/ 2778202 h 3032924"/>
              <a:gd name="connsiteX12" fmla="*/ 1663394 w 3239999"/>
              <a:gd name="connsiteY12" fmla="*/ 2776423 h 3032924"/>
              <a:gd name="connsiteX13" fmla="*/ 3000856 w 3239999"/>
              <a:gd name="connsiteY13" fmla="*/ 2776423 h 3032924"/>
              <a:gd name="connsiteX14" fmla="*/ 3000856 w 3239999"/>
              <a:gd name="connsiteY14" fmla="*/ 526981 h 3032924"/>
              <a:gd name="connsiteX15" fmla="*/ 2855082 w 3239999"/>
              <a:gd name="connsiteY15" fmla="*/ 526981 h 3032924"/>
              <a:gd name="connsiteX16" fmla="*/ 2861369 w 3239999"/>
              <a:gd name="connsiteY16" fmla="*/ 2472117 h 3032924"/>
              <a:gd name="connsiteX17" fmla="*/ 1663394 w 3239999"/>
              <a:gd name="connsiteY17" fmla="*/ 2765302 h 3032924"/>
              <a:gd name="connsiteX18" fmla="*/ 1663394 w 3239999"/>
              <a:gd name="connsiteY18" fmla="*/ 526981 h 3032924"/>
              <a:gd name="connsiteX19" fmla="*/ 1663394 w 3239999"/>
              <a:gd name="connsiteY19" fmla="*/ 430441 h 3032924"/>
              <a:gd name="connsiteX20" fmla="*/ 1663394 w 3239999"/>
              <a:gd name="connsiteY20" fmla="*/ 402054 h 3032924"/>
              <a:gd name="connsiteX21" fmla="*/ 2406065 w 3239999"/>
              <a:gd name="connsiteY21" fmla="*/ 22 h 3032924"/>
              <a:gd name="connsiteX22" fmla="*/ 2853673 w 3239999"/>
              <a:gd name="connsiteY22" fmla="*/ 91100 h 3032924"/>
              <a:gd name="connsiteX23" fmla="*/ 2854770 w 3239999"/>
              <a:gd name="connsiteY23" fmla="*/ 430441 h 3032924"/>
              <a:gd name="connsiteX24" fmla="*/ 3120669 w 3239999"/>
              <a:gd name="connsiteY24" fmla="*/ 428517 h 3032924"/>
              <a:gd name="connsiteX25" fmla="*/ 3120669 w 3239999"/>
              <a:gd name="connsiteY25" fmla="*/ 738345 h 3032924"/>
              <a:gd name="connsiteX26" fmla="*/ 3239999 w 3239999"/>
              <a:gd name="connsiteY26" fmla="*/ 738345 h 3032924"/>
              <a:gd name="connsiteX27" fmla="*/ 3239999 w 3239999"/>
              <a:gd name="connsiteY27" fmla="*/ 3032924 h 3032924"/>
              <a:gd name="connsiteX28" fmla="*/ 0 w 3239999"/>
              <a:gd name="connsiteY28" fmla="*/ 3032924 h 3032924"/>
              <a:gd name="connsiteX29" fmla="*/ 0 w 3239999"/>
              <a:gd name="connsiteY29" fmla="*/ 738345 h 3032924"/>
              <a:gd name="connsiteX30" fmla="*/ 102477 w 3239999"/>
              <a:gd name="connsiteY30" fmla="*/ 738345 h 3032924"/>
              <a:gd name="connsiteX31" fmla="*/ 102477 w 3239999"/>
              <a:gd name="connsiteY31" fmla="*/ 428517 h 3032924"/>
              <a:gd name="connsiteX32" fmla="*/ 385229 w 3239999"/>
              <a:gd name="connsiteY32" fmla="*/ 430441 h 3032924"/>
              <a:gd name="connsiteX33" fmla="*/ 386326 w 3239999"/>
              <a:gd name="connsiteY33" fmla="*/ 91100 h 3032924"/>
              <a:gd name="connsiteX34" fmla="*/ 833935 w 3239999"/>
              <a:gd name="connsiteY34" fmla="*/ 2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29618 w 3239999"/>
              <a:gd name="connsiteY32" fmla="*/ 2690698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2991331 w 3239999"/>
              <a:gd name="connsiteY3" fmla="*/ 2709748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29618 w 3239999"/>
              <a:gd name="connsiteY32" fmla="*/ 2690698 h 3032924"/>
              <a:gd name="connsiteX33" fmla="*/ 1576606 w 3239999"/>
              <a:gd name="connsiteY33" fmla="*/ 2776423 h 30329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239999" h="3032924">
                <a:moveTo>
                  <a:pt x="1576606" y="2778202"/>
                </a:moveTo>
                <a:cubicBezTo>
                  <a:pt x="1576606" y="2778795"/>
                  <a:pt x="1663394" y="2792670"/>
                  <a:pt x="1663394" y="2778202"/>
                </a:cubicBezTo>
                <a:lnTo>
                  <a:pt x="1663394" y="2776423"/>
                </a:lnTo>
                <a:cubicBezTo>
                  <a:pt x="2185083" y="2605634"/>
                  <a:pt x="2444552" y="2500589"/>
                  <a:pt x="2991331" y="2709748"/>
                </a:cubicBezTo>
                <a:lnTo>
                  <a:pt x="3000856" y="526981"/>
                </a:lnTo>
                <a:lnTo>
                  <a:pt x="2855082" y="526981"/>
                </a:lnTo>
                <a:cubicBezTo>
                  <a:pt x="2857178" y="1175360"/>
                  <a:pt x="2859273" y="1823738"/>
                  <a:pt x="2861369" y="2472117"/>
                </a:cubicBezTo>
                <a:cubicBezTo>
                  <a:pt x="2483869" y="2318121"/>
                  <a:pt x="2052449" y="2439541"/>
                  <a:pt x="1663394" y="2765302"/>
                </a:cubicBezTo>
                <a:lnTo>
                  <a:pt x="1663394" y="526981"/>
                </a:lnTo>
                <a:lnTo>
                  <a:pt x="1663394" y="430441"/>
                </a:lnTo>
                <a:lnTo>
                  <a:pt x="1663394" y="402054"/>
                </a:lnTo>
                <a:cubicBezTo>
                  <a:pt x="1896442" y="149589"/>
                  <a:pt x="2115835" y="2106"/>
                  <a:pt x="2406065" y="22"/>
                </a:cubicBezTo>
                <a:cubicBezTo>
                  <a:pt x="2537987" y="-925"/>
                  <a:pt x="2684544" y="28169"/>
                  <a:pt x="2853673" y="91100"/>
                </a:cubicBezTo>
                <a:cubicBezTo>
                  <a:pt x="2854039" y="204214"/>
                  <a:pt x="2854404" y="317327"/>
                  <a:pt x="2854770" y="430441"/>
                </a:cubicBezTo>
                <a:lnTo>
                  <a:pt x="3120669" y="428517"/>
                </a:lnTo>
                <a:lnTo>
                  <a:pt x="3120669" y="738345"/>
                </a:lnTo>
                <a:lnTo>
                  <a:pt x="3239999" y="738345"/>
                </a:lnTo>
                <a:lnTo>
                  <a:pt x="3239999" y="3032924"/>
                </a:lnTo>
                <a:lnTo>
                  <a:pt x="0" y="3032924"/>
                </a:lnTo>
                <a:lnTo>
                  <a:pt x="0" y="738345"/>
                </a:lnTo>
                <a:lnTo>
                  <a:pt x="102477" y="738345"/>
                </a:lnTo>
                <a:lnTo>
                  <a:pt x="102477" y="428517"/>
                </a:lnTo>
                <a:lnTo>
                  <a:pt x="385229" y="430441"/>
                </a:lnTo>
                <a:cubicBezTo>
                  <a:pt x="385595" y="317327"/>
                  <a:pt x="385960" y="204214"/>
                  <a:pt x="386326" y="91100"/>
                </a:cubicBezTo>
                <a:cubicBezTo>
                  <a:pt x="555455" y="28169"/>
                  <a:pt x="702013" y="-925"/>
                  <a:pt x="833935" y="22"/>
                </a:cubicBezTo>
                <a:cubicBezTo>
                  <a:pt x="1124164" y="2106"/>
                  <a:pt x="1343558" y="149589"/>
                  <a:pt x="1576606" y="402054"/>
                </a:cubicBezTo>
                <a:lnTo>
                  <a:pt x="1576606" y="430441"/>
                </a:lnTo>
                <a:lnTo>
                  <a:pt x="1576606" y="526981"/>
                </a:lnTo>
                <a:lnTo>
                  <a:pt x="1576606" y="2765302"/>
                </a:lnTo>
                <a:cubicBezTo>
                  <a:pt x="1187550" y="2439541"/>
                  <a:pt x="756130" y="2318121"/>
                  <a:pt x="378630" y="2472117"/>
                </a:cubicBezTo>
                <a:lnTo>
                  <a:pt x="384918" y="526981"/>
                </a:lnTo>
                <a:lnTo>
                  <a:pt x="239143" y="526981"/>
                </a:lnTo>
                <a:lnTo>
                  <a:pt x="229618" y="2690698"/>
                </a:lnTo>
                <a:cubicBezTo>
                  <a:pt x="773243" y="2466244"/>
                  <a:pt x="1081748" y="2626096"/>
                  <a:pt x="1576606" y="2776423"/>
                </a:cubicBezTo>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2" name="Group 1">
            <a:extLst>
              <a:ext uri="{FF2B5EF4-FFF2-40B4-BE49-F238E27FC236}">
                <a16:creationId xmlns:a16="http://schemas.microsoft.com/office/drawing/2014/main" id="{4BDD5789-0FC2-A211-C866-20489F9CEB17}"/>
              </a:ext>
            </a:extLst>
          </p:cNvPr>
          <p:cNvGrpSpPr/>
          <p:nvPr/>
        </p:nvGrpSpPr>
        <p:grpSpPr>
          <a:xfrm>
            <a:off x="-19020" y="-20538"/>
            <a:ext cx="9163020" cy="936104"/>
            <a:chOff x="-19020" y="-20538"/>
            <a:chExt cx="9163020" cy="936104"/>
          </a:xfrm>
        </p:grpSpPr>
        <p:sp>
          <p:nvSpPr>
            <p:cNvPr id="3" name="Rectangle 2">
              <a:extLst>
                <a:ext uri="{FF2B5EF4-FFF2-40B4-BE49-F238E27FC236}">
                  <a16:creationId xmlns:a16="http://schemas.microsoft.com/office/drawing/2014/main" id="{9228616E-49BE-53F6-A4F4-39F669C017D9}"/>
                </a:ext>
              </a:extLst>
            </p:cNvPr>
            <p:cNvSpPr/>
            <p:nvPr/>
          </p:nvSpPr>
          <p:spPr>
            <a:xfrm>
              <a:off x="323528" y="555526"/>
              <a:ext cx="4392488" cy="35427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Text Placeholder 1">
              <a:extLst>
                <a:ext uri="{FF2B5EF4-FFF2-40B4-BE49-F238E27FC236}">
                  <a16:creationId xmlns:a16="http://schemas.microsoft.com/office/drawing/2014/main" id="{114B336E-9551-1FF3-22E4-6B1A647EA075}"/>
                </a:ext>
              </a:extLst>
            </p:cNvPr>
            <p:cNvSpPr txBox="1">
              <a:spLocks/>
            </p:cNvSpPr>
            <p:nvPr/>
          </p:nvSpPr>
          <p:spPr>
            <a:xfrm>
              <a:off x="0" y="-20538"/>
              <a:ext cx="9144000" cy="576064"/>
            </a:xfrm>
            <a:prstGeom prst="rect">
              <a:avLst/>
            </a:prstGeom>
          </p:spPr>
          <p:txBody>
            <a:bodyP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l">
                <a:buNone/>
              </a:pPr>
              <a:r>
                <a:rPr lang="en-US" altLang="ko-KR" sz="3600" u="sng" dirty="0">
                  <a:solidFill>
                    <a:schemeClr val="tx1">
                      <a:lumMod val="85000"/>
                      <a:lumOff val="15000"/>
                    </a:schemeClr>
                  </a:solidFill>
                  <a:latin typeface="Bernard MT Condensed" panose="02050806060905020404" pitchFamily="18" charset="0"/>
                </a:rPr>
                <a:t>Data Structures and Algorithm</a:t>
              </a:r>
              <a:endParaRPr lang="ko-KR" altLang="en-US" sz="3600" dirty="0">
                <a:solidFill>
                  <a:schemeClr val="tx1">
                    <a:lumMod val="85000"/>
                    <a:lumOff val="15000"/>
                  </a:schemeClr>
                </a:solidFill>
              </a:endParaRPr>
            </a:p>
          </p:txBody>
        </p:sp>
        <p:sp>
          <p:nvSpPr>
            <p:cNvPr id="5" name="Rectangle 4">
              <a:extLst>
                <a:ext uri="{FF2B5EF4-FFF2-40B4-BE49-F238E27FC236}">
                  <a16:creationId xmlns:a16="http://schemas.microsoft.com/office/drawing/2014/main" id="{37861175-A3CF-DF17-D4CC-16F0E1AE1B6D}"/>
                </a:ext>
              </a:extLst>
            </p:cNvPr>
            <p:cNvSpPr/>
            <p:nvPr/>
          </p:nvSpPr>
          <p:spPr>
            <a:xfrm>
              <a:off x="-19020" y="561294"/>
              <a:ext cx="323528" cy="354272"/>
            </a:xfrm>
            <a:prstGeom prst="rect">
              <a:avLst/>
            </a:prstGeom>
            <a:solidFill>
              <a:schemeClr val="accent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10" name="TextBox 9">
              <a:extLst>
                <a:ext uri="{FF2B5EF4-FFF2-40B4-BE49-F238E27FC236}">
                  <a16:creationId xmlns:a16="http://schemas.microsoft.com/office/drawing/2014/main" id="{61A5072A-A623-A618-3FF8-078385A1BE21}"/>
                </a:ext>
              </a:extLst>
            </p:cNvPr>
            <p:cNvSpPr txBox="1"/>
            <p:nvPr/>
          </p:nvSpPr>
          <p:spPr>
            <a:xfrm>
              <a:off x="251520" y="541432"/>
              <a:ext cx="3318043" cy="369332"/>
            </a:xfrm>
            <a:prstGeom prst="rect">
              <a:avLst/>
            </a:prstGeom>
            <a:noFill/>
          </p:spPr>
          <p:txBody>
            <a:bodyPr wrap="square">
              <a:spAutoFit/>
            </a:bodyPr>
            <a:lstStyle/>
            <a:p>
              <a:pPr algn="l"/>
              <a:r>
                <a:rPr lang="en-PH" b="1" dirty="0">
                  <a:solidFill>
                    <a:schemeClr val="bg1"/>
                  </a:solidFill>
                  <a:latin typeface="Bahnschrift Condensed" panose="020B0502040204020203" pitchFamily="34" charset="0"/>
                </a:rPr>
                <a:t>Priority Queue</a:t>
              </a:r>
              <a:r>
                <a:rPr lang="en-PH" sz="1800" b="1" dirty="0">
                  <a:solidFill>
                    <a:schemeClr val="bg1"/>
                  </a:solidFill>
                  <a:latin typeface="Bahnschrift Condensed" panose="020B0502040204020203" pitchFamily="34" charset="0"/>
                </a:rPr>
                <a:t> Sample Program</a:t>
              </a:r>
            </a:p>
          </p:txBody>
        </p:sp>
      </p:grpSp>
      <p:sp>
        <p:nvSpPr>
          <p:cNvPr id="12" name="Trapezoid 11">
            <a:extLst>
              <a:ext uri="{FF2B5EF4-FFF2-40B4-BE49-F238E27FC236}">
                <a16:creationId xmlns:a16="http://schemas.microsoft.com/office/drawing/2014/main" id="{63CBDAA3-C325-5697-BE7A-E200B08B58E6}"/>
              </a:ext>
            </a:extLst>
          </p:cNvPr>
          <p:cNvSpPr/>
          <p:nvPr/>
        </p:nvSpPr>
        <p:spPr>
          <a:xfrm rot="16200000">
            <a:off x="-30979" y="2028234"/>
            <a:ext cx="2736052" cy="1518828"/>
          </a:xfrm>
          <a:prstGeom prst="trapezoid">
            <a:avLst>
              <a:gd name="adj" fmla="val 72234"/>
            </a:avLst>
          </a:prstGeom>
          <a:gradFill>
            <a:gsLst>
              <a:gs pos="0">
                <a:schemeClr val="accent1">
                  <a:lumMod val="50000"/>
                  <a:lumOff val="50000"/>
                </a:schemeClr>
              </a:gs>
              <a:gs pos="50000">
                <a:schemeClr val="accent1">
                  <a:lumMod val="40000"/>
                  <a:lumOff val="60000"/>
                </a:schemeClr>
              </a:gs>
              <a:gs pos="100000">
                <a:schemeClr val="bg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Rounded Rectangle 8">
            <a:extLst>
              <a:ext uri="{FF2B5EF4-FFF2-40B4-BE49-F238E27FC236}">
                <a16:creationId xmlns:a16="http://schemas.microsoft.com/office/drawing/2014/main" id="{3CACDB5A-EA47-EB4D-8803-5B35F4F1BBD9}"/>
              </a:ext>
            </a:extLst>
          </p:cNvPr>
          <p:cNvSpPr/>
          <p:nvPr/>
        </p:nvSpPr>
        <p:spPr>
          <a:xfrm>
            <a:off x="16756" y="1396139"/>
            <a:ext cx="540000" cy="3060017"/>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TextBox 13">
            <a:extLst>
              <a:ext uri="{FF2B5EF4-FFF2-40B4-BE49-F238E27FC236}">
                <a16:creationId xmlns:a16="http://schemas.microsoft.com/office/drawing/2014/main" id="{240668EC-7241-D038-426E-C2F10EEC2B66}"/>
              </a:ext>
            </a:extLst>
          </p:cNvPr>
          <p:cNvSpPr txBox="1"/>
          <p:nvPr/>
        </p:nvSpPr>
        <p:spPr>
          <a:xfrm rot="16200000">
            <a:off x="-899140" y="2800845"/>
            <a:ext cx="2371794" cy="307777"/>
          </a:xfrm>
          <a:prstGeom prst="rect">
            <a:avLst/>
          </a:prstGeom>
          <a:noFill/>
        </p:spPr>
        <p:txBody>
          <a:bodyPr wrap="square" rtlCol="0">
            <a:spAutoFit/>
          </a:bodyPr>
          <a:lstStyle/>
          <a:p>
            <a:pPr algn="r"/>
            <a:r>
              <a:rPr lang="en-US" altLang="ko-KR" sz="1400" b="1" dirty="0">
                <a:solidFill>
                  <a:schemeClr val="bg1"/>
                </a:solidFill>
                <a:cs typeface="Arial" pitchFamily="34" charset="0"/>
              </a:rPr>
              <a:t>Queue Sample Program</a:t>
            </a:r>
            <a:endParaRPr lang="ko-KR" altLang="en-US" sz="1400" b="1" dirty="0">
              <a:solidFill>
                <a:schemeClr val="bg1"/>
              </a:solidFill>
              <a:cs typeface="Arial" pitchFamily="34" charset="0"/>
            </a:endParaRPr>
          </a:p>
        </p:txBody>
      </p:sp>
      <p:pic>
        <p:nvPicPr>
          <p:cNvPr id="9" name="Picture 8">
            <a:extLst>
              <a:ext uri="{FF2B5EF4-FFF2-40B4-BE49-F238E27FC236}">
                <a16:creationId xmlns:a16="http://schemas.microsoft.com/office/drawing/2014/main" id="{54937946-0E1E-6B7E-27F9-BC09BA0527B2}"/>
              </a:ext>
            </a:extLst>
          </p:cNvPr>
          <p:cNvPicPr>
            <a:picLocks noChangeAspect="1"/>
          </p:cNvPicPr>
          <p:nvPr/>
        </p:nvPicPr>
        <p:blipFill>
          <a:blip r:embed="rId3"/>
          <a:stretch>
            <a:fillRect/>
          </a:stretch>
        </p:blipFill>
        <p:spPr>
          <a:xfrm>
            <a:off x="672868" y="1563638"/>
            <a:ext cx="4758481" cy="2274565"/>
          </a:xfrm>
          <a:prstGeom prst="rect">
            <a:avLst/>
          </a:prstGeom>
        </p:spPr>
      </p:pic>
      <p:sp>
        <p:nvSpPr>
          <p:cNvPr id="11" name="Rectangle 10">
            <a:extLst>
              <a:ext uri="{FF2B5EF4-FFF2-40B4-BE49-F238E27FC236}">
                <a16:creationId xmlns:a16="http://schemas.microsoft.com/office/drawing/2014/main" id="{15CBC79A-9484-50E1-EE7C-C3B46D5F8BDF}"/>
              </a:ext>
            </a:extLst>
          </p:cNvPr>
          <p:cNvSpPr/>
          <p:nvPr/>
        </p:nvSpPr>
        <p:spPr>
          <a:xfrm>
            <a:off x="481201" y="4456156"/>
            <a:ext cx="3226703" cy="635874"/>
          </a:xfrm>
          <a:prstGeom prst="rect">
            <a:avLst/>
          </a:prstGeom>
          <a:solidFill>
            <a:srgbClr val="32AE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D8336437-B5F2-1B1C-6AB2-E72BD266D2D7}"/>
              </a:ext>
            </a:extLst>
          </p:cNvPr>
          <p:cNvSpPr txBox="1"/>
          <p:nvPr/>
        </p:nvSpPr>
        <p:spPr>
          <a:xfrm>
            <a:off x="495200" y="4209693"/>
            <a:ext cx="1518829" cy="307777"/>
          </a:xfrm>
          <a:prstGeom prst="rect">
            <a:avLst/>
          </a:prstGeom>
          <a:noFill/>
        </p:spPr>
        <p:txBody>
          <a:bodyPr wrap="square" rtlCol="0">
            <a:spAutoFit/>
          </a:bodyPr>
          <a:lstStyle/>
          <a:p>
            <a:r>
              <a:rPr lang="en-US" sz="1400" b="1" u="sng" dirty="0"/>
              <a:t>OUTPUT</a:t>
            </a:r>
          </a:p>
        </p:txBody>
      </p:sp>
      <p:pic>
        <p:nvPicPr>
          <p:cNvPr id="17" name="Picture 16">
            <a:extLst>
              <a:ext uri="{FF2B5EF4-FFF2-40B4-BE49-F238E27FC236}">
                <a16:creationId xmlns:a16="http://schemas.microsoft.com/office/drawing/2014/main" id="{28FE8976-9AEA-B522-00F2-D6CEF3ACA6BD}"/>
              </a:ext>
            </a:extLst>
          </p:cNvPr>
          <p:cNvPicPr>
            <a:picLocks noChangeAspect="1"/>
          </p:cNvPicPr>
          <p:nvPr/>
        </p:nvPicPr>
        <p:blipFill>
          <a:blip r:embed="rId4"/>
          <a:stretch>
            <a:fillRect/>
          </a:stretch>
        </p:blipFill>
        <p:spPr>
          <a:xfrm>
            <a:off x="585588" y="4589018"/>
            <a:ext cx="1152525" cy="266700"/>
          </a:xfrm>
          <a:prstGeom prst="rect">
            <a:avLst/>
          </a:prstGeom>
        </p:spPr>
      </p:pic>
    </p:spTree>
    <p:extLst>
      <p:ext uri="{BB962C8B-B14F-4D97-AF65-F5344CB8AC3E}">
        <p14:creationId xmlns:p14="http://schemas.microsoft.com/office/powerpoint/2010/main" val="38877307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251520" y="1860566"/>
            <a:ext cx="9144000" cy="576064"/>
          </a:xfrm>
        </p:spPr>
        <p:txBody>
          <a:bodyPr/>
          <a:lstStyle/>
          <a:p>
            <a:r>
              <a:rPr lang="en-US" altLang="ko-KR" sz="2400" dirty="0">
                <a:latin typeface="Amasis MT Pro Black" panose="02040A04050005020304" pitchFamily="18" charset="0"/>
              </a:rPr>
              <a:t>QUESTIONS?</a:t>
            </a:r>
            <a:endParaRPr lang="ko-KR" altLang="en-US" sz="2400" cap="all" dirty="0">
              <a:latin typeface="Amasis MT Pro Black" panose="02040A04050005020304" pitchFamily="18" charset="0"/>
            </a:endParaRPr>
          </a:p>
        </p:txBody>
      </p:sp>
      <p:sp>
        <p:nvSpPr>
          <p:cNvPr id="3" name="Text Placeholder 2"/>
          <p:cNvSpPr>
            <a:spLocks noGrp="1"/>
          </p:cNvSpPr>
          <p:nvPr>
            <p:ph type="body" sz="quarter" idx="11"/>
          </p:nvPr>
        </p:nvSpPr>
        <p:spPr>
          <a:xfrm>
            <a:off x="18002" y="4273255"/>
            <a:ext cx="9144000" cy="288032"/>
          </a:xfrm>
        </p:spPr>
        <p:txBody>
          <a:bodyPr/>
          <a:lstStyle/>
          <a:p>
            <a:pPr lvl="0"/>
            <a:r>
              <a:rPr lang="en-US" altLang="ko-KR" sz="2000" dirty="0">
                <a:latin typeface="Amasis MT Pro Black" panose="02040A04050005020304" pitchFamily="18" charset="0"/>
              </a:rPr>
              <a:t>LESSON 3: </a:t>
            </a:r>
          </a:p>
          <a:p>
            <a:pPr lvl="0"/>
            <a:r>
              <a:rPr lang="en-US" altLang="ko-KR" sz="2000" cap="all" dirty="0">
                <a:latin typeface="Amasis MT Pro Black" panose="02040A04050005020304" pitchFamily="18" charset="0"/>
              </a:rPr>
              <a:t>Stack and queue</a:t>
            </a:r>
          </a:p>
        </p:txBody>
      </p:sp>
      <p:sp>
        <p:nvSpPr>
          <p:cNvPr id="10" name="Oval 9">
            <a:extLst>
              <a:ext uri="{FF2B5EF4-FFF2-40B4-BE49-F238E27FC236}">
                <a16:creationId xmlns:a16="http://schemas.microsoft.com/office/drawing/2014/main" id="{3BAFCD98-4634-6187-74E3-2E1A6D436DAD}"/>
              </a:ext>
            </a:extLst>
          </p:cNvPr>
          <p:cNvSpPr/>
          <p:nvPr/>
        </p:nvSpPr>
        <p:spPr>
          <a:xfrm>
            <a:off x="4067944" y="2859782"/>
            <a:ext cx="1044116" cy="990321"/>
          </a:xfrm>
          <a:prstGeom prst="ellipse">
            <a:avLst/>
          </a:prstGeom>
          <a:solidFill>
            <a:srgbClr val="32AE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58765835"/>
      </p:ext>
    </p:extLst>
  </p:cSld>
  <p:clrMapOvr>
    <a:masterClrMapping/>
  </p:clrMapOvr>
</p:sld>
</file>

<file path=ppt/theme/theme1.xml><?xml version="1.0" encoding="utf-8"?>
<a:theme xmlns:a="http://schemas.openxmlformats.org/drawingml/2006/main" name="Contents Slide Master">
  <a:themeElements>
    <a:clrScheme name="ALLPPT-COLOR-A19">
      <a:dk1>
        <a:sysClr val="windowText" lastClr="000000"/>
      </a:dk1>
      <a:lt1>
        <a:sysClr val="window" lastClr="FFFFFF"/>
      </a:lt1>
      <a:dk2>
        <a:srgbClr val="1F497D"/>
      </a:dk2>
      <a:lt2>
        <a:srgbClr val="EEECE1"/>
      </a:lt2>
      <a:accent1>
        <a:srgbClr val="32AEB8"/>
      </a:accent1>
      <a:accent2>
        <a:srgbClr val="F2A40D"/>
      </a:accent2>
      <a:accent3>
        <a:srgbClr val="32AEB8"/>
      </a:accent3>
      <a:accent4>
        <a:srgbClr val="F2A40D"/>
      </a:accent4>
      <a:accent5>
        <a:srgbClr val="32AEB8"/>
      </a:accent5>
      <a:accent6>
        <a:srgbClr val="F2A40D"/>
      </a:accent6>
      <a:hlink>
        <a:srgbClr val="3F3F3F"/>
      </a:hlink>
      <a:folHlink>
        <a:srgbClr val="3F3F3F"/>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2AEB8"/>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Section Break Slide Master">
  <a:themeElements>
    <a:clrScheme name="ALLPPT-COLOR-A19">
      <a:dk1>
        <a:sysClr val="windowText" lastClr="000000"/>
      </a:dk1>
      <a:lt1>
        <a:sysClr val="window" lastClr="FFFFFF"/>
      </a:lt1>
      <a:dk2>
        <a:srgbClr val="1F497D"/>
      </a:dk2>
      <a:lt2>
        <a:srgbClr val="EEECE1"/>
      </a:lt2>
      <a:accent1>
        <a:srgbClr val="32AEB8"/>
      </a:accent1>
      <a:accent2>
        <a:srgbClr val="F2A40D"/>
      </a:accent2>
      <a:accent3>
        <a:srgbClr val="32AEB8"/>
      </a:accent3>
      <a:accent4>
        <a:srgbClr val="F2A40D"/>
      </a:accent4>
      <a:accent5>
        <a:srgbClr val="32AEB8"/>
      </a:accent5>
      <a:accent6>
        <a:srgbClr val="F2A40D"/>
      </a:accent6>
      <a:hlink>
        <a:srgbClr val="3F3F3F"/>
      </a:hlink>
      <a:folHlink>
        <a:srgbClr val="3F3F3F"/>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4921</TotalTime>
  <Words>1148</Words>
  <Application>Microsoft Office PowerPoint</Application>
  <PresentationFormat>On-screen Show (16:9)</PresentationFormat>
  <Paragraphs>227</Paragraphs>
  <Slides>22</Slides>
  <Notes>19</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22</vt:i4>
      </vt:variant>
    </vt:vector>
  </HeadingPairs>
  <TitlesOfParts>
    <vt:vector size="30" baseType="lpstr">
      <vt:lpstr>Amasis MT Pro Black</vt:lpstr>
      <vt:lpstr>Arial</vt:lpstr>
      <vt:lpstr>Bahnschrift Condensed</vt:lpstr>
      <vt:lpstr>Bernard MT Condensed</vt:lpstr>
      <vt:lpstr>Calibri</vt:lpstr>
      <vt:lpstr>Wingdings</vt:lpstr>
      <vt:lpstr>Contents Slide Master</vt:lpstr>
      <vt:lpstr>Section Break Slide Master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googleslidesppt.com;allppt.com</dc:creator>
  <cp:lastModifiedBy>ORCULLO Lowell Jay C.</cp:lastModifiedBy>
  <cp:revision>792</cp:revision>
  <cp:lastPrinted>2022-09-20T03:04:11Z</cp:lastPrinted>
  <dcterms:created xsi:type="dcterms:W3CDTF">2016-12-05T23:26:54Z</dcterms:created>
  <dcterms:modified xsi:type="dcterms:W3CDTF">2025-10-28T04:36:14Z</dcterms:modified>
</cp:coreProperties>
</file>