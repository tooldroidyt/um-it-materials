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57"/>
  </p:notesMasterIdLst>
  <p:sldIdLst>
    <p:sldId id="256" r:id="rId2"/>
    <p:sldId id="339" r:id="rId3"/>
    <p:sldId id="259" r:id="rId4"/>
    <p:sldId id="261" r:id="rId5"/>
    <p:sldId id="369" r:id="rId6"/>
    <p:sldId id="370" r:id="rId7"/>
    <p:sldId id="371" r:id="rId8"/>
    <p:sldId id="372" r:id="rId9"/>
    <p:sldId id="373" r:id="rId10"/>
    <p:sldId id="367" r:id="rId11"/>
    <p:sldId id="374" r:id="rId12"/>
    <p:sldId id="375" r:id="rId13"/>
    <p:sldId id="376" r:id="rId14"/>
    <p:sldId id="378" r:id="rId15"/>
    <p:sldId id="377" r:id="rId16"/>
    <p:sldId id="379" r:id="rId17"/>
    <p:sldId id="380" r:id="rId18"/>
    <p:sldId id="381" r:id="rId19"/>
    <p:sldId id="382" r:id="rId20"/>
    <p:sldId id="383" r:id="rId21"/>
    <p:sldId id="384" r:id="rId22"/>
    <p:sldId id="385" r:id="rId23"/>
    <p:sldId id="368" r:id="rId24"/>
    <p:sldId id="387" r:id="rId25"/>
    <p:sldId id="386" r:id="rId26"/>
    <p:sldId id="388" r:id="rId27"/>
    <p:sldId id="389" r:id="rId28"/>
    <p:sldId id="390" r:id="rId29"/>
    <p:sldId id="391" r:id="rId30"/>
    <p:sldId id="392" r:id="rId31"/>
    <p:sldId id="393" r:id="rId32"/>
    <p:sldId id="394" r:id="rId33"/>
    <p:sldId id="395" r:id="rId34"/>
    <p:sldId id="396" r:id="rId35"/>
    <p:sldId id="397" r:id="rId36"/>
    <p:sldId id="398" r:id="rId37"/>
    <p:sldId id="399" r:id="rId38"/>
    <p:sldId id="400" r:id="rId39"/>
    <p:sldId id="401" r:id="rId40"/>
    <p:sldId id="402" r:id="rId41"/>
    <p:sldId id="403" r:id="rId42"/>
    <p:sldId id="404" r:id="rId43"/>
    <p:sldId id="405" r:id="rId44"/>
    <p:sldId id="417" r:id="rId45"/>
    <p:sldId id="406" r:id="rId46"/>
    <p:sldId id="407" r:id="rId47"/>
    <p:sldId id="408" r:id="rId48"/>
    <p:sldId id="409" r:id="rId49"/>
    <p:sldId id="410" r:id="rId50"/>
    <p:sldId id="411" r:id="rId51"/>
    <p:sldId id="412" r:id="rId52"/>
    <p:sldId id="413" r:id="rId53"/>
    <p:sldId id="414" r:id="rId54"/>
    <p:sldId id="415" r:id="rId55"/>
    <p:sldId id="416" r:id="rId56"/>
  </p:sldIdLst>
  <p:sldSz cx="9144000" cy="5143500" type="screen16x9"/>
  <p:notesSz cx="6858000" cy="9144000"/>
  <p:embeddedFontLst>
    <p:embeddedFont>
      <p:font typeface="Anonymous Pro" panose="020B0604020202020204" charset="0"/>
      <p:regular r:id="rId58"/>
      <p:bold r:id="rId59"/>
      <p:italic r:id="rId60"/>
      <p:boldItalic r:id="rId61"/>
    </p:embeddedFont>
    <p:embeddedFont>
      <p:font typeface="Coming Soon" panose="020B0604020202020204" charset="0"/>
      <p:regular r:id="rId62"/>
    </p:embeddedFont>
    <p:embeddedFont>
      <p:font typeface="Concert One" pitchFamily="2" charset="0"/>
      <p:regular r:id="rId63"/>
    </p:embeddedFont>
    <p:embeddedFont>
      <p:font typeface="Oxygen" panose="02000503000000000000" pitchFamily="2" charset="0"/>
      <p:regular r:id="rId64"/>
      <p:bold r:id="rId65"/>
    </p:embeddedFont>
    <p:embeddedFont>
      <p:font typeface="Roboto Mono Medium" panose="00000009000000000000" pitchFamily="49" charset="0"/>
      <p:regular r:id="rId66"/>
      <p:bold r:id="rId67"/>
      <p:italic r:id="rId68"/>
      <p:boldItalic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9A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F83E44-E57C-4BD2-BE22-66859416706D}">
  <a:tblStyle styleId="{70F83E44-E57C-4BD2-BE22-66859416706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774" autoAdjust="0"/>
  </p:normalViewPr>
  <p:slideViewPr>
    <p:cSldViewPr snapToGrid="0">
      <p:cViewPr varScale="1">
        <p:scale>
          <a:sx n="104" d="100"/>
          <a:sy n="104" d="100"/>
        </p:scale>
        <p:origin x="850"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6089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53034354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53034354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0588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14189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12414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91156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944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53034354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53034354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8013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BDC1C6"/>
                </a:solidFill>
                <a:effectLst/>
                <a:latin typeface="arial" panose="020B0604020202020204" pitchFamily="34" charset="0"/>
              </a:rPr>
              <a:t>A prime number is </a:t>
            </a:r>
            <a:r>
              <a:rPr lang="en-US" b="1" i="0" dirty="0">
                <a:solidFill>
                  <a:srgbClr val="BDC1C6"/>
                </a:solidFill>
                <a:effectLst/>
                <a:latin typeface="arial" panose="020B0604020202020204" pitchFamily="34" charset="0"/>
              </a:rPr>
              <a:t>a whole number greater than 1 whose only factors are 1 and itself</a:t>
            </a:r>
            <a:r>
              <a:rPr lang="en-US" b="0" i="0" dirty="0">
                <a:solidFill>
                  <a:srgbClr val="BDC1C6"/>
                </a:solidFill>
                <a:effectLst/>
                <a:latin typeface="arial" panose="020B0604020202020204" pitchFamily="34" charset="0"/>
              </a:rPr>
              <a:t>. A factor is a whole number that can be divided evenly into another number. The first few prime numbers are 2, 3, 5, 7, 11, 13, 17, 19, 23 and 29.</a:t>
            </a:r>
            <a:endParaRPr dirty="0"/>
          </a:p>
        </p:txBody>
      </p:sp>
    </p:spTree>
    <p:extLst>
      <p:ext uri="{BB962C8B-B14F-4D97-AF65-F5344CB8AC3E}">
        <p14:creationId xmlns:p14="http://schemas.microsoft.com/office/powerpoint/2010/main" val="39434974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5391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45338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3959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49461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57983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2571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19048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06737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077811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4703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3279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53034354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53034354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43996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19737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14277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98252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65799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17924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51135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50582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56233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1707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81694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90375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74757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1417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62468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24837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7016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72865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48726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01333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00394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92163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43756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417241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82711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92454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26959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80357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051555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71710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10256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16604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53229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0" name="Google Shape;10;p2"/>
          <p:cNvPicPr preferRelativeResize="0"/>
          <p:nvPr/>
        </p:nvPicPr>
        <p:blipFill rotWithShape="1">
          <a:blip r:embed="rId3">
            <a:alphaModFix/>
          </a:blip>
          <a:srcRect b="61089"/>
          <a:stretch/>
        </p:blipFill>
        <p:spPr>
          <a:xfrm rot="-620881">
            <a:off x="1853551" y="40483"/>
            <a:ext cx="2068426" cy="1772790"/>
          </a:xfrm>
          <a:prstGeom prst="rect">
            <a:avLst/>
          </a:prstGeom>
          <a:noFill/>
          <a:ln>
            <a:noFill/>
          </a:ln>
        </p:spPr>
      </p:pic>
      <p:pic>
        <p:nvPicPr>
          <p:cNvPr id="11" name="Google Shape;11;p2"/>
          <p:cNvPicPr preferRelativeResize="0"/>
          <p:nvPr/>
        </p:nvPicPr>
        <p:blipFill rotWithShape="1">
          <a:blip r:embed="rId4">
            <a:alphaModFix/>
          </a:blip>
          <a:srcRect r="1545" b="6838"/>
          <a:stretch/>
        </p:blipFill>
        <p:spPr>
          <a:xfrm>
            <a:off x="1047887" y="524012"/>
            <a:ext cx="7048226" cy="4102024"/>
          </a:xfrm>
          <a:prstGeom prst="rect">
            <a:avLst/>
          </a:prstGeom>
          <a:noFill/>
          <a:ln>
            <a:noFill/>
          </a:ln>
        </p:spPr>
      </p:pic>
      <p:pic>
        <p:nvPicPr>
          <p:cNvPr id="12" name="Google Shape;12;p2"/>
          <p:cNvPicPr preferRelativeResize="0"/>
          <p:nvPr/>
        </p:nvPicPr>
        <p:blipFill>
          <a:blip r:embed="rId5">
            <a:alphaModFix/>
          </a:blip>
          <a:stretch>
            <a:fillRect/>
          </a:stretch>
        </p:blipFill>
        <p:spPr>
          <a:xfrm>
            <a:off x="1593925" y="2989525"/>
            <a:ext cx="1584774" cy="1852801"/>
          </a:xfrm>
          <a:prstGeom prst="rect">
            <a:avLst/>
          </a:prstGeom>
          <a:noFill/>
          <a:ln>
            <a:noFill/>
          </a:ln>
          <a:effectLst>
            <a:outerShdw blurRad="57150" dist="19050" dir="3300000" algn="bl" rotWithShape="0">
              <a:srgbClr val="000000">
                <a:alpha val="34000"/>
              </a:srgbClr>
            </a:outerShdw>
          </a:effectLst>
        </p:spPr>
      </p:pic>
      <p:sp>
        <p:nvSpPr>
          <p:cNvPr id="13" name="Google Shape;13;p2"/>
          <p:cNvSpPr txBox="1">
            <a:spLocks noGrp="1"/>
          </p:cNvSpPr>
          <p:nvPr>
            <p:ph type="ctrTitle"/>
          </p:nvPr>
        </p:nvSpPr>
        <p:spPr>
          <a:xfrm>
            <a:off x="1532100" y="1728423"/>
            <a:ext cx="6079800" cy="16551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SzPts val="6000"/>
              <a:buNone/>
              <a:defRPr sz="6000"/>
            </a:lvl1pPr>
            <a:lvl2pPr lvl="1" algn="ctr">
              <a:lnSpc>
                <a:spcPct val="80000"/>
              </a:lnSpc>
              <a:spcBef>
                <a:spcPts val="0"/>
              </a:spcBef>
              <a:spcAft>
                <a:spcPts val="0"/>
              </a:spcAft>
              <a:buClr>
                <a:srgbClr val="0B5394"/>
              </a:buClr>
              <a:buSzPts val="6000"/>
              <a:buNone/>
              <a:defRPr sz="6000">
                <a:solidFill>
                  <a:srgbClr val="0B5394"/>
                </a:solidFill>
              </a:defRPr>
            </a:lvl2pPr>
            <a:lvl3pPr lvl="2" algn="ctr">
              <a:lnSpc>
                <a:spcPct val="80000"/>
              </a:lnSpc>
              <a:spcBef>
                <a:spcPts val="0"/>
              </a:spcBef>
              <a:spcAft>
                <a:spcPts val="0"/>
              </a:spcAft>
              <a:buClr>
                <a:srgbClr val="0B5394"/>
              </a:buClr>
              <a:buSzPts val="6000"/>
              <a:buNone/>
              <a:defRPr sz="6000">
                <a:solidFill>
                  <a:srgbClr val="0B5394"/>
                </a:solidFill>
              </a:defRPr>
            </a:lvl3pPr>
            <a:lvl4pPr lvl="3" algn="ctr">
              <a:lnSpc>
                <a:spcPct val="80000"/>
              </a:lnSpc>
              <a:spcBef>
                <a:spcPts val="0"/>
              </a:spcBef>
              <a:spcAft>
                <a:spcPts val="0"/>
              </a:spcAft>
              <a:buClr>
                <a:srgbClr val="0B5394"/>
              </a:buClr>
              <a:buSzPts val="6000"/>
              <a:buNone/>
              <a:defRPr sz="6000">
                <a:solidFill>
                  <a:srgbClr val="0B5394"/>
                </a:solidFill>
              </a:defRPr>
            </a:lvl4pPr>
            <a:lvl5pPr lvl="4" algn="ctr">
              <a:lnSpc>
                <a:spcPct val="80000"/>
              </a:lnSpc>
              <a:spcBef>
                <a:spcPts val="0"/>
              </a:spcBef>
              <a:spcAft>
                <a:spcPts val="0"/>
              </a:spcAft>
              <a:buClr>
                <a:srgbClr val="0B5394"/>
              </a:buClr>
              <a:buSzPts val="6000"/>
              <a:buNone/>
              <a:defRPr sz="6000">
                <a:solidFill>
                  <a:srgbClr val="0B5394"/>
                </a:solidFill>
              </a:defRPr>
            </a:lvl5pPr>
            <a:lvl6pPr lvl="5" algn="ctr">
              <a:lnSpc>
                <a:spcPct val="80000"/>
              </a:lnSpc>
              <a:spcBef>
                <a:spcPts val="0"/>
              </a:spcBef>
              <a:spcAft>
                <a:spcPts val="0"/>
              </a:spcAft>
              <a:buClr>
                <a:srgbClr val="0B5394"/>
              </a:buClr>
              <a:buSzPts val="6000"/>
              <a:buNone/>
              <a:defRPr sz="6000">
                <a:solidFill>
                  <a:srgbClr val="0B5394"/>
                </a:solidFill>
              </a:defRPr>
            </a:lvl6pPr>
            <a:lvl7pPr lvl="6" algn="ctr">
              <a:lnSpc>
                <a:spcPct val="80000"/>
              </a:lnSpc>
              <a:spcBef>
                <a:spcPts val="0"/>
              </a:spcBef>
              <a:spcAft>
                <a:spcPts val="0"/>
              </a:spcAft>
              <a:buClr>
                <a:srgbClr val="0B5394"/>
              </a:buClr>
              <a:buSzPts val="6000"/>
              <a:buNone/>
              <a:defRPr sz="6000">
                <a:solidFill>
                  <a:srgbClr val="0B5394"/>
                </a:solidFill>
              </a:defRPr>
            </a:lvl7pPr>
            <a:lvl8pPr lvl="7" algn="ctr">
              <a:lnSpc>
                <a:spcPct val="80000"/>
              </a:lnSpc>
              <a:spcBef>
                <a:spcPts val="0"/>
              </a:spcBef>
              <a:spcAft>
                <a:spcPts val="0"/>
              </a:spcAft>
              <a:buClr>
                <a:srgbClr val="0B5394"/>
              </a:buClr>
              <a:buSzPts val="6000"/>
              <a:buNone/>
              <a:defRPr sz="6000">
                <a:solidFill>
                  <a:srgbClr val="0B5394"/>
                </a:solidFill>
              </a:defRPr>
            </a:lvl8pPr>
            <a:lvl9pPr lvl="8" algn="ctr">
              <a:lnSpc>
                <a:spcPct val="80000"/>
              </a:lnSpc>
              <a:spcBef>
                <a:spcPts val="0"/>
              </a:spcBef>
              <a:spcAft>
                <a:spcPts val="0"/>
              </a:spcAft>
              <a:buClr>
                <a:srgbClr val="0B5394"/>
              </a:buClr>
              <a:buSzPts val="6000"/>
              <a:buNone/>
              <a:defRPr sz="6000">
                <a:solidFill>
                  <a:srgbClr val="0B5394"/>
                </a:solidFill>
              </a:defRPr>
            </a:lvl9pPr>
          </a:lstStyle>
          <a:p>
            <a:endParaRPr/>
          </a:p>
        </p:txBody>
      </p:sp>
      <p:sp>
        <p:nvSpPr>
          <p:cNvPr id="14" name="Google Shape;14;p2"/>
          <p:cNvSpPr txBox="1">
            <a:spLocks noGrp="1"/>
          </p:cNvSpPr>
          <p:nvPr>
            <p:ph type="subTitle" idx="1"/>
          </p:nvPr>
        </p:nvSpPr>
        <p:spPr>
          <a:xfrm>
            <a:off x="1672763" y="3769325"/>
            <a:ext cx="1427100" cy="792600"/>
          </a:xfrm>
          <a:prstGeom prst="rect">
            <a:avLst/>
          </a:prstGeom>
        </p:spPr>
        <p:txBody>
          <a:bodyPr spcFirstLastPara="1" wrap="square" lIns="91425" tIns="91425" rIns="91425" bIns="91425" anchor="t" anchorCtr="0">
            <a:noAutofit/>
          </a:bodyPr>
          <a:lstStyle>
            <a:lvl1pPr lvl="0" algn="ctr">
              <a:lnSpc>
                <a:spcPct val="90000"/>
              </a:lnSpc>
              <a:spcBef>
                <a:spcPts val="0"/>
              </a:spcBef>
              <a:spcAft>
                <a:spcPts val="0"/>
              </a:spcAft>
              <a:buClr>
                <a:schemeClr val="dk2"/>
              </a:buClr>
              <a:buSzPts val="1400"/>
              <a:buNone/>
              <a:defRPr sz="1400">
                <a:solidFill>
                  <a:schemeClr val="dk2"/>
                </a:solidFill>
              </a:defRPr>
            </a:lvl1pPr>
            <a:lvl2pPr lvl="1"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2pPr>
            <a:lvl3pPr lvl="2"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3pPr>
            <a:lvl4pPr lvl="3"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4pPr>
            <a:lvl5pPr lvl="4"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5pPr>
            <a:lvl6pPr lvl="5"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6pPr>
            <a:lvl7pPr lvl="6"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7pPr>
            <a:lvl8pPr lvl="7"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8pPr>
            <a:lvl9pPr lvl="8"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7" name="Google Shape;17;p3"/>
          <p:cNvPicPr preferRelativeResize="0"/>
          <p:nvPr/>
        </p:nvPicPr>
        <p:blipFill>
          <a:blip r:embed="rId3">
            <a:alphaModFix/>
          </a:blip>
          <a:stretch>
            <a:fillRect/>
          </a:stretch>
        </p:blipFill>
        <p:spPr>
          <a:xfrm>
            <a:off x="1874151" y="447699"/>
            <a:ext cx="5395700" cy="4248101"/>
          </a:xfrm>
          <a:prstGeom prst="rect">
            <a:avLst/>
          </a:prstGeom>
          <a:noFill/>
          <a:ln>
            <a:noFill/>
          </a:ln>
          <a:effectLst>
            <a:outerShdw blurRad="57150" dist="19050" dir="5400000" algn="bl" rotWithShape="0">
              <a:srgbClr val="000000">
                <a:alpha val="50000"/>
              </a:srgbClr>
            </a:outerShdw>
          </a:effectLst>
        </p:spPr>
      </p:pic>
      <p:sp>
        <p:nvSpPr>
          <p:cNvPr id="18" name="Google Shape;18;p3"/>
          <p:cNvSpPr txBox="1">
            <a:spLocks noGrp="1"/>
          </p:cNvSpPr>
          <p:nvPr>
            <p:ph type="title"/>
          </p:nvPr>
        </p:nvSpPr>
        <p:spPr>
          <a:xfrm>
            <a:off x="2673000" y="2550900"/>
            <a:ext cx="3798000" cy="815700"/>
          </a:xfrm>
          <a:prstGeom prst="rect">
            <a:avLst/>
          </a:prstGeom>
        </p:spPr>
        <p:txBody>
          <a:bodyPr spcFirstLastPara="1" wrap="square" lIns="91425" tIns="91425" rIns="91425" bIns="91425" anchor="t"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9" name="Google Shape;19;p3"/>
          <p:cNvSpPr txBox="1">
            <a:spLocks noGrp="1"/>
          </p:cNvSpPr>
          <p:nvPr>
            <p:ph type="subTitle" idx="1"/>
          </p:nvPr>
        </p:nvSpPr>
        <p:spPr>
          <a:xfrm>
            <a:off x="2937741" y="3307350"/>
            <a:ext cx="3268500" cy="792600"/>
          </a:xfrm>
          <a:prstGeom prst="rect">
            <a:avLst/>
          </a:prstGeom>
        </p:spPr>
        <p:txBody>
          <a:bodyPr spcFirstLastPara="1" wrap="square" lIns="91425" tIns="91425" rIns="91425" bIns="91425" anchor="t" anchorCtr="0">
            <a:noAutofit/>
          </a:bodyPr>
          <a:lstStyle>
            <a:lvl1pPr lvl="0" algn="ctr" rtl="0">
              <a:lnSpc>
                <a:spcPct val="90000"/>
              </a:lnSpc>
              <a:spcBef>
                <a:spcPts val="0"/>
              </a:spcBef>
              <a:spcAft>
                <a:spcPts val="0"/>
              </a:spcAft>
              <a:buClr>
                <a:schemeClr val="dk2"/>
              </a:buClr>
              <a:buSzPts val="1600"/>
              <a:buNone/>
              <a:defRPr sz="1600">
                <a:solidFill>
                  <a:schemeClr val="dk2"/>
                </a:solidFill>
              </a:defRPr>
            </a:lvl1pPr>
            <a:lvl2pPr lvl="1"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2pPr>
            <a:lvl3pPr lvl="2"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3pPr>
            <a:lvl4pPr lvl="3"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4pPr>
            <a:lvl5pPr lvl="4"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5pPr>
            <a:lvl6pPr lvl="5"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6pPr>
            <a:lvl7pPr lvl="6"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7pPr>
            <a:lvl8pPr lvl="7"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8pPr>
            <a:lvl9pPr lvl="8"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9pPr>
          </a:lstStyle>
          <a:p>
            <a:endParaRPr/>
          </a:p>
        </p:txBody>
      </p:sp>
      <p:sp>
        <p:nvSpPr>
          <p:cNvPr id="20" name="Google Shape;20;p3"/>
          <p:cNvSpPr txBox="1">
            <a:spLocks noGrp="1"/>
          </p:cNvSpPr>
          <p:nvPr>
            <p:ph type="title" idx="2" hasCustomPrompt="1"/>
          </p:nvPr>
        </p:nvSpPr>
        <p:spPr>
          <a:xfrm>
            <a:off x="3778200" y="1403800"/>
            <a:ext cx="1587600" cy="1002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4800"/>
              <a:buNone/>
              <a:defRPr sz="4800" b="0">
                <a:solidFill>
                  <a:schemeClr val="dk1"/>
                </a:solidFill>
              </a:defRPr>
            </a:lvl1pPr>
            <a:lvl2pPr lvl="1" algn="ctr" rtl="0">
              <a:spcBef>
                <a:spcPts val="0"/>
              </a:spcBef>
              <a:spcAft>
                <a:spcPts val="0"/>
              </a:spcAft>
              <a:buClr>
                <a:schemeClr val="dk2"/>
              </a:buClr>
              <a:buSzPts val="4800"/>
              <a:buNone/>
              <a:defRPr sz="4800">
                <a:solidFill>
                  <a:schemeClr val="dk2"/>
                </a:solidFill>
              </a:defRPr>
            </a:lvl2pPr>
            <a:lvl3pPr lvl="2" algn="ctr" rtl="0">
              <a:spcBef>
                <a:spcPts val="0"/>
              </a:spcBef>
              <a:spcAft>
                <a:spcPts val="0"/>
              </a:spcAft>
              <a:buClr>
                <a:schemeClr val="dk2"/>
              </a:buClr>
              <a:buSzPts val="4800"/>
              <a:buNone/>
              <a:defRPr sz="4800">
                <a:solidFill>
                  <a:schemeClr val="dk2"/>
                </a:solidFill>
              </a:defRPr>
            </a:lvl3pPr>
            <a:lvl4pPr lvl="3" algn="ctr" rtl="0">
              <a:spcBef>
                <a:spcPts val="0"/>
              </a:spcBef>
              <a:spcAft>
                <a:spcPts val="0"/>
              </a:spcAft>
              <a:buClr>
                <a:schemeClr val="dk2"/>
              </a:buClr>
              <a:buSzPts val="4800"/>
              <a:buNone/>
              <a:defRPr sz="4800">
                <a:solidFill>
                  <a:schemeClr val="dk2"/>
                </a:solidFill>
              </a:defRPr>
            </a:lvl4pPr>
            <a:lvl5pPr lvl="4" algn="ctr" rtl="0">
              <a:spcBef>
                <a:spcPts val="0"/>
              </a:spcBef>
              <a:spcAft>
                <a:spcPts val="0"/>
              </a:spcAft>
              <a:buClr>
                <a:schemeClr val="dk2"/>
              </a:buClr>
              <a:buSzPts val="4800"/>
              <a:buNone/>
              <a:defRPr sz="4800">
                <a:solidFill>
                  <a:schemeClr val="dk2"/>
                </a:solidFill>
              </a:defRPr>
            </a:lvl5pPr>
            <a:lvl6pPr lvl="5" algn="ctr" rtl="0">
              <a:spcBef>
                <a:spcPts val="0"/>
              </a:spcBef>
              <a:spcAft>
                <a:spcPts val="0"/>
              </a:spcAft>
              <a:buClr>
                <a:schemeClr val="dk2"/>
              </a:buClr>
              <a:buSzPts val="4800"/>
              <a:buNone/>
              <a:defRPr sz="4800">
                <a:solidFill>
                  <a:schemeClr val="dk2"/>
                </a:solidFill>
              </a:defRPr>
            </a:lvl6pPr>
            <a:lvl7pPr lvl="6" algn="ctr" rtl="0">
              <a:spcBef>
                <a:spcPts val="0"/>
              </a:spcBef>
              <a:spcAft>
                <a:spcPts val="0"/>
              </a:spcAft>
              <a:buClr>
                <a:schemeClr val="dk2"/>
              </a:buClr>
              <a:buSzPts val="4800"/>
              <a:buNone/>
              <a:defRPr sz="4800">
                <a:solidFill>
                  <a:schemeClr val="dk2"/>
                </a:solidFill>
              </a:defRPr>
            </a:lvl7pPr>
            <a:lvl8pPr lvl="7" algn="ctr" rtl="0">
              <a:spcBef>
                <a:spcPts val="0"/>
              </a:spcBef>
              <a:spcAft>
                <a:spcPts val="0"/>
              </a:spcAft>
              <a:buClr>
                <a:schemeClr val="dk2"/>
              </a:buClr>
              <a:buSzPts val="4800"/>
              <a:buNone/>
              <a:defRPr sz="4800">
                <a:solidFill>
                  <a:schemeClr val="dk2"/>
                </a:solidFill>
              </a:defRPr>
            </a:lvl8pPr>
            <a:lvl9pPr lvl="8" algn="ctr" rtl="0">
              <a:spcBef>
                <a:spcPts val="0"/>
              </a:spcBef>
              <a:spcAft>
                <a:spcPts val="0"/>
              </a:spcAft>
              <a:buClr>
                <a:schemeClr val="dk2"/>
              </a:buClr>
              <a:buSzPts val="4800"/>
              <a:buNone/>
              <a:defRPr sz="4800">
                <a:solidFill>
                  <a:schemeClr val="dk2"/>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pic>
        <p:nvPicPr>
          <p:cNvPr id="55" name="Google Shape;55;p11"/>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56" name="Google Shape;56;p11"/>
          <p:cNvPicPr preferRelativeResize="0"/>
          <p:nvPr/>
        </p:nvPicPr>
        <p:blipFill rotWithShape="1">
          <a:blip r:embed="rId3">
            <a:alphaModFix/>
          </a:blip>
          <a:srcRect t="16734" r="8892" b="18300"/>
          <a:stretch/>
        </p:blipFill>
        <p:spPr>
          <a:xfrm rot="-5400000">
            <a:off x="4748475" y="480657"/>
            <a:ext cx="2036850" cy="846042"/>
          </a:xfrm>
          <a:prstGeom prst="rect">
            <a:avLst/>
          </a:prstGeom>
          <a:noFill/>
          <a:ln>
            <a:noFill/>
          </a:ln>
        </p:spPr>
      </p:pic>
      <p:pic>
        <p:nvPicPr>
          <p:cNvPr id="57" name="Google Shape;57;p11"/>
          <p:cNvPicPr preferRelativeResize="0"/>
          <p:nvPr/>
        </p:nvPicPr>
        <p:blipFill rotWithShape="1">
          <a:blip r:embed="rId3">
            <a:alphaModFix/>
          </a:blip>
          <a:srcRect t="16734" r="8892" b="18300"/>
          <a:stretch/>
        </p:blipFill>
        <p:spPr>
          <a:xfrm rot="-5400000">
            <a:off x="5339025" y="595407"/>
            <a:ext cx="2036850" cy="846042"/>
          </a:xfrm>
          <a:prstGeom prst="rect">
            <a:avLst/>
          </a:prstGeom>
          <a:noFill/>
          <a:ln>
            <a:noFill/>
          </a:ln>
        </p:spPr>
      </p:pic>
      <p:pic>
        <p:nvPicPr>
          <p:cNvPr id="58" name="Google Shape;58;p11"/>
          <p:cNvPicPr preferRelativeResize="0"/>
          <p:nvPr/>
        </p:nvPicPr>
        <p:blipFill rotWithShape="1">
          <a:blip r:embed="rId4">
            <a:alphaModFix/>
          </a:blip>
          <a:srcRect b="7123"/>
          <a:stretch/>
        </p:blipFill>
        <p:spPr>
          <a:xfrm>
            <a:off x="1974100" y="324738"/>
            <a:ext cx="5195775" cy="4494025"/>
          </a:xfrm>
          <a:prstGeom prst="rect">
            <a:avLst/>
          </a:prstGeom>
          <a:noFill/>
          <a:ln>
            <a:noFill/>
          </a:ln>
        </p:spPr>
      </p:pic>
      <p:sp>
        <p:nvSpPr>
          <p:cNvPr id="59" name="Google Shape;59;p11"/>
          <p:cNvSpPr txBox="1">
            <a:spLocks noGrp="1"/>
          </p:cNvSpPr>
          <p:nvPr>
            <p:ph type="title" hasCustomPrompt="1"/>
          </p:nvPr>
        </p:nvSpPr>
        <p:spPr>
          <a:xfrm>
            <a:off x="2838275" y="1645347"/>
            <a:ext cx="4001700" cy="11370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7200"/>
              <a:buNone/>
              <a:defRPr sz="7200" b="0">
                <a:solidFill>
                  <a:schemeClr val="dk2"/>
                </a:solidFill>
              </a:defRPr>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r>
              <a:t>xx%</a:t>
            </a:r>
          </a:p>
        </p:txBody>
      </p:sp>
      <p:sp>
        <p:nvSpPr>
          <p:cNvPr id="60" name="Google Shape;60;p11"/>
          <p:cNvSpPr txBox="1">
            <a:spLocks noGrp="1"/>
          </p:cNvSpPr>
          <p:nvPr>
            <p:ph type="body" idx="1"/>
          </p:nvPr>
        </p:nvSpPr>
        <p:spPr>
          <a:xfrm>
            <a:off x="3335675" y="3062950"/>
            <a:ext cx="30069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dk2"/>
              </a:buClr>
              <a:buSzPts val="1800"/>
              <a:buChar char="●"/>
              <a:defRPr>
                <a:solidFill>
                  <a:schemeClr val="dk2"/>
                </a:solidFill>
              </a:defRPr>
            </a:lvl1pPr>
            <a:lvl2pPr marL="914400" lvl="1" indent="-342900" algn="ctr">
              <a:spcBef>
                <a:spcPts val="1600"/>
              </a:spcBef>
              <a:spcAft>
                <a:spcPts val="0"/>
              </a:spcAft>
              <a:buClr>
                <a:schemeClr val="dk2"/>
              </a:buClr>
              <a:buSzPts val="1800"/>
              <a:buChar char="○"/>
              <a:defRPr sz="1800">
                <a:solidFill>
                  <a:schemeClr val="dk2"/>
                </a:solidFill>
              </a:defRPr>
            </a:lvl2pPr>
            <a:lvl3pPr marL="1371600" lvl="2" indent="-342900" algn="ctr">
              <a:spcBef>
                <a:spcPts val="1600"/>
              </a:spcBef>
              <a:spcAft>
                <a:spcPts val="0"/>
              </a:spcAft>
              <a:buClr>
                <a:schemeClr val="dk2"/>
              </a:buClr>
              <a:buSzPts val="1800"/>
              <a:buChar char="■"/>
              <a:defRPr sz="1800">
                <a:solidFill>
                  <a:schemeClr val="dk2"/>
                </a:solidFill>
              </a:defRPr>
            </a:lvl3pPr>
            <a:lvl4pPr marL="1828800" lvl="3" indent="-342900" algn="ctr">
              <a:spcBef>
                <a:spcPts val="1600"/>
              </a:spcBef>
              <a:spcAft>
                <a:spcPts val="0"/>
              </a:spcAft>
              <a:buClr>
                <a:schemeClr val="dk2"/>
              </a:buClr>
              <a:buSzPts val="1800"/>
              <a:buChar char="●"/>
              <a:defRPr sz="1800">
                <a:solidFill>
                  <a:schemeClr val="dk2"/>
                </a:solidFill>
              </a:defRPr>
            </a:lvl4pPr>
            <a:lvl5pPr marL="2286000" lvl="4" indent="-342900" algn="ctr">
              <a:spcBef>
                <a:spcPts val="1600"/>
              </a:spcBef>
              <a:spcAft>
                <a:spcPts val="0"/>
              </a:spcAft>
              <a:buClr>
                <a:schemeClr val="dk2"/>
              </a:buClr>
              <a:buSzPts val="1800"/>
              <a:buChar char="○"/>
              <a:defRPr sz="1800">
                <a:solidFill>
                  <a:schemeClr val="dk2"/>
                </a:solidFill>
              </a:defRPr>
            </a:lvl5pPr>
            <a:lvl6pPr marL="2743200" lvl="5" indent="-342900" algn="ctr">
              <a:spcBef>
                <a:spcPts val="1600"/>
              </a:spcBef>
              <a:spcAft>
                <a:spcPts val="0"/>
              </a:spcAft>
              <a:buClr>
                <a:schemeClr val="dk2"/>
              </a:buClr>
              <a:buSzPts val="1800"/>
              <a:buChar char="■"/>
              <a:defRPr sz="1800">
                <a:solidFill>
                  <a:schemeClr val="dk2"/>
                </a:solidFill>
              </a:defRPr>
            </a:lvl6pPr>
            <a:lvl7pPr marL="3200400" lvl="6" indent="-342900" algn="ctr">
              <a:spcBef>
                <a:spcPts val="1600"/>
              </a:spcBef>
              <a:spcAft>
                <a:spcPts val="0"/>
              </a:spcAft>
              <a:buClr>
                <a:schemeClr val="dk2"/>
              </a:buClr>
              <a:buSzPts val="1800"/>
              <a:buChar char="●"/>
              <a:defRPr sz="1800">
                <a:solidFill>
                  <a:schemeClr val="dk2"/>
                </a:solidFill>
              </a:defRPr>
            </a:lvl7pPr>
            <a:lvl8pPr marL="3657600" lvl="7" indent="-342900" algn="ctr">
              <a:spcBef>
                <a:spcPts val="1600"/>
              </a:spcBef>
              <a:spcAft>
                <a:spcPts val="0"/>
              </a:spcAft>
              <a:buClr>
                <a:schemeClr val="dk2"/>
              </a:buClr>
              <a:buSzPts val="1800"/>
              <a:buChar char="○"/>
              <a:defRPr sz="1800">
                <a:solidFill>
                  <a:schemeClr val="dk2"/>
                </a:solidFill>
              </a:defRPr>
            </a:lvl8pPr>
            <a:lvl9pPr marL="4114800" lvl="8" indent="-342900" algn="ctr">
              <a:spcBef>
                <a:spcPts val="1600"/>
              </a:spcBef>
              <a:spcAft>
                <a:spcPts val="1600"/>
              </a:spcAft>
              <a:buClr>
                <a:schemeClr val="dk2"/>
              </a:buClr>
              <a:buSzPts val="1800"/>
              <a:buChar char="■"/>
              <a:defRPr sz="1800">
                <a:solidFill>
                  <a:schemeClr val="dk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SECTION_TITLE_AND_DESCRIPTION_1_1_1">
    <p:spTree>
      <p:nvGrpSpPr>
        <p:cNvPr id="1" name="Shape 84"/>
        <p:cNvGrpSpPr/>
        <p:nvPr/>
      </p:nvGrpSpPr>
      <p:grpSpPr>
        <a:xfrm>
          <a:off x="0" y="0"/>
          <a:ext cx="0" cy="0"/>
          <a:chOff x="0" y="0"/>
          <a:chExt cx="0" cy="0"/>
        </a:xfrm>
      </p:grpSpPr>
      <p:pic>
        <p:nvPicPr>
          <p:cNvPr id="85" name="Google Shape;85;p15"/>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86" name="Google Shape;86;p15"/>
          <p:cNvPicPr preferRelativeResize="0"/>
          <p:nvPr/>
        </p:nvPicPr>
        <p:blipFill rotWithShape="1">
          <a:blip r:embed="rId3">
            <a:alphaModFix/>
          </a:blip>
          <a:srcRect t="16734" r="8892" b="18300"/>
          <a:stretch/>
        </p:blipFill>
        <p:spPr>
          <a:xfrm rot="-5400000">
            <a:off x="650175" y="465007"/>
            <a:ext cx="2036850" cy="846042"/>
          </a:xfrm>
          <a:prstGeom prst="rect">
            <a:avLst/>
          </a:prstGeom>
          <a:noFill/>
          <a:ln>
            <a:noFill/>
          </a:ln>
        </p:spPr>
      </p:pic>
      <p:pic>
        <p:nvPicPr>
          <p:cNvPr id="87" name="Google Shape;87;p15"/>
          <p:cNvPicPr preferRelativeResize="0"/>
          <p:nvPr/>
        </p:nvPicPr>
        <p:blipFill rotWithShape="1">
          <a:blip r:embed="rId3">
            <a:alphaModFix/>
          </a:blip>
          <a:srcRect t="16734" r="8892" b="18300"/>
          <a:stretch/>
        </p:blipFill>
        <p:spPr>
          <a:xfrm rot="-5400000">
            <a:off x="1262550" y="465007"/>
            <a:ext cx="2036850" cy="846042"/>
          </a:xfrm>
          <a:prstGeom prst="rect">
            <a:avLst/>
          </a:prstGeom>
          <a:noFill/>
          <a:ln>
            <a:noFill/>
          </a:ln>
        </p:spPr>
      </p:pic>
      <p:pic>
        <p:nvPicPr>
          <p:cNvPr id="88" name="Google Shape;88;p15"/>
          <p:cNvPicPr preferRelativeResize="0"/>
          <p:nvPr/>
        </p:nvPicPr>
        <p:blipFill rotWithShape="1">
          <a:blip r:embed="rId4">
            <a:alphaModFix/>
          </a:blip>
          <a:srcRect r="1545" b="6838"/>
          <a:stretch/>
        </p:blipFill>
        <p:spPr>
          <a:xfrm>
            <a:off x="384887" y="134900"/>
            <a:ext cx="8374226" cy="4873724"/>
          </a:xfrm>
          <a:prstGeom prst="rect">
            <a:avLst/>
          </a:prstGeom>
          <a:noFill/>
          <a:ln>
            <a:noFill/>
          </a:ln>
        </p:spPr>
      </p:pic>
      <p:sp>
        <p:nvSpPr>
          <p:cNvPr id="89" name="Google Shape;89;p15"/>
          <p:cNvSpPr txBox="1">
            <a:spLocks noGrp="1"/>
          </p:cNvSpPr>
          <p:nvPr>
            <p:ph type="title"/>
          </p:nvPr>
        </p:nvSpPr>
        <p:spPr>
          <a:xfrm>
            <a:off x="1922400" y="3538630"/>
            <a:ext cx="2140200" cy="488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600"/>
              <a:buFont typeface="Anonymous Pro"/>
              <a:buNone/>
              <a:defRPr sz="1600" b="0">
                <a:solidFill>
                  <a:schemeClr val="dk2"/>
                </a:solidFill>
                <a:latin typeface="Roboto Mono Medium"/>
                <a:ea typeface="Roboto Mono Medium"/>
                <a:cs typeface="Roboto Mono Medium"/>
                <a:sym typeface="Roboto Mono Medium"/>
              </a:defRPr>
            </a:lvl1pPr>
            <a:lvl2pPr lvl="1" rtl="0">
              <a:spcBef>
                <a:spcPts val="0"/>
              </a:spcBef>
              <a:spcAft>
                <a:spcPts val="0"/>
              </a:spcAft>
              <a:buSzPts val="2000"/>
              <a:buNone/>
              <a:defRPr sz="2000" b="1"/>
            </a:lvl2pPr>
            <a:lvl3pPr lvl="2" rtl="0">
              <a:spcBef>
                <a:spcPts val="0"/>
              </a:spcBef>
              <a:spcAft>
                <a:spcPts val="0"/>
              </a:spcAft>
              <a:buSzPts val="2000"/>
              <a:buNone/>
              <a:defRPr sz="2000" b="1"/>
            </a:lvl3pPr>
            <a:lvl4pPr lvl="3" rtl="0">
              <a:spcBef>
                <a:spcPts val="0"/>
              </a:spcBef>
              <a:spcAft>
                <a:spcPts val="0"/>
              </a:spcAft>
              <a:buSzPts val="2000"/>
              <a:buNone/>
              <a:defRPr sz="2000" b="1"/>
            </a:lvl4pPr>
            <a:lvl5pPr lvl="4" rtl="0">
              <a:spcBef>
                <a:spcPts val="0"/>
              </a:spcBef>
              <a:spcAft>
                <a:spcPts val="0"/>
              </a:spcAft>
              <a:buSzPts val="2000"/>
              <a:buNone/>
              <a:defRPr sz="2000" b="1"/>
            </a:lvl5pPr>
            <a:lvl6pPr lvl="5" rtl="0">
              <a:spcBef>
                <a:spcPts val="0"/>
              </a:spcBef>
              <a:spcAft>
                <a:spcPts val="0"/>
              </a:spcAft>
              <a:buSzPts val="2000"/>
              <a:buNone/>
              <a:defRPr sz="2000" b="1"/>
            </a:lvl6pPr>
            <a:lvl7pPr lvl="6" rtl="0">
              <a:spcBef>
                <a:spcPts val="0"/>
              </a:spcBef>
              <a:spcAft>
                <a:spcPts val="0"/>
              </a:spcAft>
              <a:buSzPts val="2000"/>
              <a:buNone/>
              <a:defRPr sz="2000" b="1"/>
            </a:lvl7pPr>
            <a:lvl8pPr lvl="7" rtl="0">
              <a:spcBef>
                <a:spcPts val="0"/>
              </a:spcBef>
              <a:spcAft>
                <a:spcPts val="0"/>
              </a:spcAft>
              <a:buSzPts val="2000"/>
              <a:buNone/>
              <a:defRPr sz="2000" b="1"/>
            </a:lvl8pPr>
            <a:lvl9pPr lvl="8" rtl="0">
              <a:spcBef>
                <a:spcPts val="0"/>
              </a:spcBef>
              <a:spcAft>
                <a:spcPts val="0"/>
              </a:spcAft>
              <a:buSzPts val="2000"/>
              <a:buNone/>
              <a:defRPr sz="2000" b="1"/>
            </a:lvl9pPr>
          </a:lstStyle>
          <a:p>
            <a:endParaRPr/>
          </a:p>
        </p:txBody>
      </p:sp>
      <p:sp>
        <p:nvSpPr>
          <p:cNvPr id="90" name="Google Shape;90;p15"/>
          <p:cNvSpPr txBox="1">
            <a:spLocks noGrp="1"/>
          </p:cNvSpPr>
          <p:nvPr>
            <p:ph type="subTitle" idx="1"/>
          </p:nvPr>
        </p:nvSpPr>
        <p:spPr>
          <a:xfrm>
            <a:off x="1922400" y="1269487"/>
            <a:ext cx="3439500" cy="2189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Concert One"/>
              <a:buNone/>
              <a:defRPr sz="2400" b="1">
                <a:latin typeface="Concert One"/>
                <a:ea typeface="Concert One"/>
                <a:cs typeface="Concert One"/>
                <a:sym typeface="Concert One"/>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BLANK_1">
    <p:spTree>
      <p:nvGrpSpPr>
        <p:cNvPr id="1" name="Shape 157"/>
        <p:cNvGrpSpPr/>
        <p:nvPr/>
      </p:nvGrpSpPr>
      <p:grpSpPr>
        <a:xfrm>
          <a:off x="0" y="0"/>
          <a:ext cx="0" cy="0"/>
          <a:chOff x="0" y="0"/>
          <a:chExt cx="0" cy="0"/>
        </a:xfrm>
      </p:grpSpPr>
      <p:pic>
        <p:nvPicPr>
          <p:cNvPr id="158" name="Google Shape;158;p23"/>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APTION_ONLY_1_1">
    <p:spTree>
      <p:nvGrpSpPr>
        <p:cNvPr id="1" name="Shape 159"/>
        <p:cNvGrpSpPr/>
        <p:nvPr/>
      </p:nvGrpSpPr>
      <p:grpSpPr>
        <a:xfrm>
          <a:off x="0" y="0"/>
          <a:ext cx="0" cy="0"/>
          <a:chOff x="0" y="0"/>
          <a:chExt cx="0" cy="0"/>
        </a:xfrm>
      </p:grpSpPr>
      <p:pic>
        <p:nvPicPr>
          <p:cNvPr id="160" name="Google Shape;160;p24"/>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61" name="Google Shape;161;p24"/>
          <p:cNvPicPr preferRelativeResize="0"/>
          <p:nvPr/>
        </p:nvPicPr>
        <p:blipFill>
          <a:blip r:embed="rId3">
            <a:alphaModFix/>
          </a:blip>
          <a:stretch>
            <a:fillRect/>
          </a:stretch>
        </p:blipFill>
        <p:spPr>
          <a:xfrm>
            <a:off x="255775" y="186275"/>
            <a:ext cx="8632448" cy="477094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2">
  <p:cSld name="SECTION_TITLE_AND_DESCRIPTION_1_1_3_1">
    <p:spTree>
      <p:nvGrpSpPr>
        <p:cNvPr id="1" name="Shape 162"/>
        <p:cNvGrpSpPr/>
        <p:nvPr/>
      </p:nvGrpSpPr>
      <p:grpSpPr>
        <a:xfrm>
          <a:off x="0" y="0"/>
          <a:ext cx="0" cy="0"/>
          <a:chOff x="0" y="0"/>
          <a:chExt cx="0" cy="0"/>
        </a:xfrm>
      </p:grpSpPr>
      <p:pic>
        <p:nvPicPr>
          <p:cNvPr id="163" name="Google Shape;163;p25"/>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64" name="Google Shape;164;p25"/>
          <p:cNvPicPr preferRelativeResize="0"/>
          <p:nvPr/>
        </p:nvPicPr>
        <p:blipFill>
          <a:blip r:embed="rId3">
            <a:alphaModFix/>
          </a:blip>
          <a:stretch>
            <a:fillRect/>
          </a:stretch>
        </p:blipFill>
        <p:spPr>
          <a:xfrm>
            <a:off x="254425" y="201113"/>
            <a:ext cx="8635149" cy="47412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3">
  <p:cSld name="BIG_NUMBER_1_1_2">
    <p:spTree>
      <p:nvGrpSpPr>
        <p:cNvPr id="1" name="Shape 165"/>
        <p:cNvGrpSpPr/>
        <p:nvPr/>
      </p:nvGrpSpPr>
      <p:grpSpPr>
        <a:xfrm>
          <a:off x="0" y="0"/>
          <a:ext cx="0" cy="0"/>
          <a:chOff x="0" y="0"/>
          <a:chExt cx="0" cy="0"/>
        </a:xfrm>
      </p:grpSpPr>
      <p:pic>
        <p:nvPicPr>
          <p:cNvPr id="166" name="Google Shape;166;p26"/>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67" name="Google Shape;167;p26"/>
          <p:cNvPicPr preferRelativeResize="0"/>
          <p:nvPr/>
        </p:nvPicPr>
        <p:blipFill rotWithShape="1">
          <a:blip r:embed="rId3">
            <a:alphaModFix/>
          </a:blip>
          <a:srcRect r="1545" b="6838"/>
          <a:stretch/>
        </p:blipFill>
        <p:spPr>
          <a:xfrm>
            <a:off x="384887" y="134900"/>
            <a:ext cx="8374226" cy="487372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9A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2"/>
              </a:buClr>
              <a:buSzPts val="2800"/>
              <a:buFont typeface="Concert One"/>
              <a:buNone/>
              <a:defRPr sz="2800" b="1">
                <a:solidFill>
                  <a:schemeClr val="accent2"/>
                </a:solidFill>
                <a:latin typeface="Concert One"/>
                <a:ea typeface="Concert One"/>
                <a:cs typeface="Concert One"/>
                <a:sym typeface="Concert One"/>
              </a:defRPr>
            </a:lvl1pPr>
            <a:lvl2pPr lvl="1">
              <a:spcBef>
                <a:spcPts val="0"/>
              </a:spcBef>
              <a:spcAft>
                <a:spcPts val="0"/>
              </a:spcAft>
              <a:buClr>
                <a:schemeClr val="accent2"/>
              </a:buClr>
              <a:buSzPts val="2800"/>
              <a:buNone/>
              <a:defRPr sz="2800">
                <a:solidFill>
                  <a:schemeClr val="accent2"/>
                </a:solidFill>
              </a:defRPr>
            </a:lvl2pPr>
            <a:lvl3pPr lvl="2">
              <a:spcBef>
                <a:spcPts val="0"/>
              </a:spcBef>
              <a:spcAft>
                <a:spcPts val="0"/>
              </a:spcAft>
              <a:buClr>
                <a:schemeClr val="accent2"/>
              </a:buClr>
              <a:buSzPts val="2800"/>
              <a:buNone/>
              <a:defRPr sz="2800">
                <a:solidFill>
                  <a:schemeClr val="accent2"/>
                </a:solidFill>
              </a:defRPr>
            </a:lvl3pPr>
            <a:lvl4pPr lvl="3">
              <a:spcBef>
                <a:spcPts val="0"/>
              </a:spcBef>
              <a:spcAft>
                <a:spcPts val="0"/>
              </a:spcAft>
              <a:buClr>
                <a:schemeClr val="accent2"/>
              </a:buClr>
              <a:buSzPts val="2800"/>
              <a:buNone/>
              <a:defRPr sz="2800">
                <a:solidFill>
                  <a:schemeClr val="accent2"/>
                </a:solidFill>
              </a:defRPr>
            </a:lvl4pPr>
            <a:lvl5pPr lvl="4">
              <a:spcBef>
                <a:spcPts val="0"/>
              </a:spcBef>
              <a:spcAft>
                <a:spcPts val="0"/>
              </a:spcAft>
              <a:buClr>
                <a:schemeClr val="accent2"/>
              </a:buClr>
              <a:buSzPts val="2800"/>
              <a:buNone/>
              <a:defRPr sz="2800">
                <a:solidFill>
                  <a:schemeClr val="accent2"/>
                </a:solidFill>
              </a:defRPr>
            </a:lvl5pPr>
            <a:lvl6pPr lvl="5">
              <a:spcBef>
                <a:spcPts val="0"/>
              </a:spcBef>
              <a:spcAft>
                <a:spcPts val="0"/>
              </a:spcAft>
              <a:buClr>
                <a:schemeClr val="accent2"/>
              </a:buClr>
              <a:buSzPts val="2800"/>
              <a:buNone/>
              <a:defRPr sz="2800">
                <a:solidFill>
                  <a:schemeClr val="accent2"/>
                </a:solidFill>
              </a:defRPr>
            </a:lvl6pPr>
            <a:lvl7pPr lvl="6">
              <a:spcBef>
                <a:spcPts val="0"/>
              </a:spcBef>
              <a:spcAft>
                <a:spcPts val="0"/>
              </a:spcAft>
              <a:buClr>
                <a:schemeClr val="accent2"/>
              </a:buClr>
              <a:buSzPts val="2800"/>
              <a:buNone/>
              <a:defRPr sz="2800">
                <a:solidFill>
                  <a:schemeClr val="accent2"/>
                </a:solidFill>
              </a:defRPr>
            </a:lvl7pPr>
            <a:lvl8pPr lvl="7">
              <a:spcBef>
                <a:spcPts val="0"/>
              </a:spcBef>
              <a:spcAft>
                <a:spcPts val="0"/>
              </a:spcAft>
              <a:buClr>
                <a:schemeClr val="accent2"/>
              </a:buClr>
              <a:buSzPts val="2800"/>
              <a:buNone/>
              <a:defRPr sz="2800">
                <a:solidFill>
                  <a:schemeClr val="accent2"/>
                </a:solidFill>
              </a:defRPr>
            </a:lvl8pPr>
            <a:lvl9pPr lvl="8">
              <a:spcBef>
                <a:spcPts val="0"/>
              </a:spcBef>
              <a:spcAft>
                <a:spcPts val="0"/>
              </a:spcAft>
              <a:buClr>
                <a:schemeClr val="accent2"/>
              </a:buClr>
              <a:buSzPts val="2800"/>
              <a:buNone/>
              <a:defRPr sz="2800">
                <a:solidFill>
                  <a:schemeClr val="accent2"/>
                </a:solidFill>
              </a:defRPr>
            </a:lvl9pPr>
          </a:lstStyle>
          <a:p>
            <a:endParaRPr/>
          </a:p>
        </p:txBody>
      </p:sp>
      <p:sp>
        <p:nvSpPr>
          <p:cNvPr id="7" name="Google Shape;7;p1"/>
          <p:cNvSpPr txBox="1">
            <a:spLocks noGrp="1"/>
          </p:cNvSpPr>
          <p:nvPr>
            <p:ph type="body" idx="1"/>
          </p:nvPr>
        </p:nvSpPr>
        <p:spPr>
          <a:xfrm>
            <a:off x="311700" y="1124900"/>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accent2"/>
              </a:buClr>
              <a:buSzPts val="1800"/>
              <a:buFont typeface="Roboto Mono Medium"/>
              <a:buChar char="●"/>
              <a:defRPr sz="1800">
                <a:solidFill>
                  <a:schemeClr val="accent2"/>
                </a:solidFill>
                <a:latin typeface="Roboto Mono Medium"/>
                <a:ea typeface="Roboto Mono Medium"/>
                <a:cs typeface="Roboto Mono Medium"/>
                <a:sym typeface="Roboto Mono Medium"/>
              </a:defRPr>
            </a:lvl1pPr>
            <a:lvl2pPr marL="914400" lvl="1"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2pPr>
            <a:lvl3pPr marL="1371600" lvl="2"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3pPr>
            <a:lvl4pPr marL="1828800" lvl="3"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4pPr>
            <a:lvl5pPr marL="2286000" lvl="4"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5pPr>
            <a:lvl6pPr marL="2743200" lvl="5"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6pPr>
            <a:lvl7pPr marL="3200400" lvl="6"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7pPr>
            <a:lvl8pPr marL="3657600" lvl="7"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8pPr>
            <a:lvl9pPr marL="4114800" lvl="8" indent="-317500">
              <a:lnSpc>
                <a:spcPct val="100000"/>
              </a:lnSpc>
              <a:spcBef>
                <a:spcPts val="1600"/>
              </a:spcBef>
              <a:spcAft>
                <a:spcPts val="160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7" r:id="rId3"/>
    <p:sldLayoutId id="2147483658" r:id="rId4"/>
    <p:sldLayoutId id="2147483661" r:id="rId5"/>
    <p:sldLayoutId id="2147483669"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5.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5.xml"/><Relationship Id="rId5" Type="http://schemas.openxmlformats.org/officeDocument/2006/relationships/image" Target="../media/image32.png"/><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5.xml"/><Relationship Id="rId5" Type="http://schemas.openxmlformats.org/officeDocument/2006/relationships/image" Target="../media/image34.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5.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5.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5.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5.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5.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5.xml"/><Relationship Id="rId5" Type="http://schemas.openxmlformats.org/officeDocument/2006/relationships/image" Target="../media/image51.png"/><Relationship Id="rId4" Type="http://schemas.openxmlformats.org/officeDocument/2006/relationships/image" Target="../media/image50.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5.xml"/><Relationship Id="rId5" Type="http://schemas.openxmlformats.org/officeDocument/2006/relationships/image" Target="../media/image51.png"/><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5.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5.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5.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5.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64.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5.xml"/><Relationship Id="rId4" Type="http://schemas.openxmlformats.org/officeDocument/2006/relationships/image" Target="../media/image65.pn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5.xml"/><Relationship Id="rId5" Type="http://schemas.openxmlformats.org/officeDocument/2006/relationships/image" Target="../media/image67.png"/><Relationship Id="rId4" Type="http://schemas.openxmlformats.org/officeDocument/2006/relationships/image" Target="../media/image66.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5.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0.png"/><Relationship Id="rId2" Type="http://schemas.openxmlformats.org/officeDocument/2006/relationships/notesSlide" Target="../notesSlides/notesSlide55.xml"/><Relationship Id="rId1" Type="http://schemas.openxmlformats.org/officeDocument/2006/relationships/slideLayout" Target="../slideLayouts/slideLayout5.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9"/>
          <p:cNvSpPr txBox="1">
            <a:spLocks noGrp="1"/>
          </p:cNvSpPr>
          <p:nvPr>
            <p:ph type="ctrTitle"/>
          </p:nvPr>
        </p:nvSpPr>
        <p:spPr>
          <a:xfrm>
            <a:off x="1672763" y="860330"/>
            <a:ext cx="6079800" cy="1655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400" dirty="0">
                <a:solidFill>
                  <a:schemeClr val="accent2"/>
                </a:solidFill>
              </a:rPr>
              <a:t>DATA STRUCTURES </a:t>
            </a:r>
            <a:br>
              <a:rPr lang="en-US" sz="4400" dirty="0">
                <a:solidFill>
                  <a:schemeClr val="accent2"/>
                </a:solidFill>
              </a:rPr>
            </a:br>
            <a:r>
              <a:rPr lang="en-US" sz="4400" dirty="0">
                <a:solidFill>
                  <a:schemeClr val="accent2"/>
                </a:solidFill>
              </a:rPr>
              <a:t>AND ALGORITHMS</a:t>
            </a:r>
            <a:endParaRPr sz="4400" dirty="0">
              <a:solidFill>
                <a:schemeClr val="accent2"/>
              </a:solidFill>
            </a:endParaRPr>
          </a:p>
        </p:txBody>
      </p:sp>
      <p:sp>
        <p:nvSpPr>
          <p:cNvPr id="178" name="Google Shape;178;p29"/>
          <p:cNvSpPr/>
          <p:nvPr/>
        </p:nvSpPr>
        <p:spPr>
          <a:xfrm>
            <a:off x="2574211" y="2729977"/>
            <a:ext cx="617075" cy="15875"/>
          </a:xfrm>
          <a:custGeom>
            <a:avLst/>
            <a:gdLst/>
            <a:ahLst/>
            <a:cxnLst/>
            <a:rect l="l" t="t" r="r" b="b"/>
            <a:pathLst>
              <a:path w="24683" h="635" extrusionOk="0">
                <a:moveTo>
                  <a:pt x="0" y="635"/>
                </a:moveTo>
                <a:cubicBezTo>
                  <a:pt x="8115" y="-719"/>
                  <a:pt x="16455" y="635"/>
                  <a:pt x="24683" y="635"/>
                </a:cubicBezTo>
              </a:path>
            </a:pathLst>
          </a:custGeom>
          <a:noFill/>
          <a:ln w="76200" cap="flat" cmpd="sng">
            <a:solidFill>
              <a:schemeClr val="accent1"/>
            </a:solidFill>
            <a:prstDash val="solid"/>
            <a:round/>
            <a:headEnd type="none" w="med" len="med"/>
            <a:tailEnd type="none" w="med" len="med"/>
          </a:ln>
        </p:spPr>
        <p:txBody>
          <a:bodyPr/>
          <a:lstStyle/>
          <a:p>
            <a:endParaRPr lang="en-US"/>
          </a:p>
        </p:txBody>
      </p:sp>
      <p:sp>
        <p:nvSpPr>
          <p:cNvPr id="179" name="Google Shape;179;p29"/>
          <p:cNvSpPr/>
          <p:nvPr/>
        </p:nvSpPr>
        <p:spPr>
          <a:xfrm>
            <a:off x="6232350" y="2728896"/>
            <a:ext cx="613650" cy="13775"/>
          </a:xfrm>
          <a:custGeom>
            <a:avLst/>
            <a:gdLst/>
            <a:ahLst/>
            <a:cxnLst/>
            <a:rect l="l" t="t" r="r" b="b"/>
            <a:pathLst>
              <a:path w="24546" h="551" extrusionOk="0">
                <a:moveTo>
                  <a:pt x="0" y="551"/>
                </a:moveTo>
                <a:cubicBezTo>
                  <a:pt x="8133" y="-353"/>
                  <a:pt x="16363" y="137"/>
                  <a:pt x="24546" y="137"/>
                </a:cubicBezTo>
              </a:path>
            </a:pathLst>
          </a:custGeom>
          <a:noFill/>
          <a:ln w="76200" cap="flat" cmpd="sng">
            <a:solidFill>
              <a:schemeClr val="accent1"/>
            </a:solidFill>
            <a:prstDash val="solid"/>
            <a:round/>
            <a:headEnd type="none" w="med" len="med"/>
            <a:tailEnd type="none" w="med" len="med"/>
          </a:ln>
        </p:spPr>
        <p:txBody>
          <a:bodyPr/>
          <a:lstStyle/>
          <a:p>
            <a:endParaRPr lang="en-US"/>
          </a:p>
        </p:txBody>
      </p:sp>
      <p:sp>
        <p:nvSpPr>
          <p:cNvPr id="180" name="Google Shape;180;p29"/>
          <p:cNvSpPr/>
          <p:nvPr/>
        </p:nvSpPr>
        <p:spPr>
          <a:xfrm>
            <a:off x="1760945" y="4231870"/>
            <a:ext cx="992850" cy="102600"/>
          </a:xfrm>
          <a:custGeom>
            <a:avLst/>
            <a:gdLst/>
            <a:ahLst/>
            <a:cxnLst/>
            <a:rect l="l" t="t" r="r" b="b"/>
            <a:pathLst>
              <a:path w="39714" h="4104" extrusionOk="0">
                <a:moveTo>
                  <a:pt x="0" y="4104"/>
                </a:moveTo>
                <a:cubicBezTo>
                  <a:pt x="11382" y="-2730"/>
                  <a:pt x="26437" y="1070"/>
                  <a:pt x="39714" y="1070"/>
                </a:cubicBezTo>
              </a:path>
            </a:pathLst>
          </a:custGeom>
          <a:noFill/>
          <a:ln w="28575" cap="flat" cmpd="sng">
            <a:solidFill>
              <a:schemeClr val="accent4"/>
            </a:solidFill>
            <a:prstDash val="solid"/>
            <a:round/>
            <a:headEnd type="none" w="med" len="med"/>
            <a:tailEnd type="none" w="med" len="med"/>
          </a:ln>
        </p:spPr>
        <p:txBody>
          <a:bodyPr/>
          <a:lstStyle/>
          <a:p>
            <a:endParaRPr lang="en-US"/>
          </a:p>
        </p:txBody>
      </p:sp>
      <p:pic>
        <p:nvPicPr>
          <p:cNvPr id="181" name="Google Shape;181;p29"/>
          <p:cNvPicPr preferRelativeResize="0"/>
          <p:nvPr/>
        </p:nvPicPr>
        <p:blipFill rotWithShape="1">
          <a:blip r:embed="rId3">
            <a:alphaModFix/>
          </a:blip>
          <a:srcRect t="16970" r="8892" b="21025"/>
          <a:stretch/>
        </p:blipFill>
        <p:spPr>
          <a:xfrm>
            <a:off x="5501148" y="3603223"/>
            <a:ext cx="3074877" cy="810276"/>
          </a:xfrm>
          <a:prstGeom prst="rect">
            <a:avLst/>
          </a:prstGeom>
          <a:noFill/>
          <a:ln>
            <a:noFill/>
          </a:ln>
        </p:spPr>
      </p:pic>
      <p:pic>
        <p:nvPicPr>
          <p:cNvPr id="182" name="Google Shape;182;p29"/>
          <p:cNvPicPr preferRelativeResize="0"/>
          <p:nvPr/>
        </p:nvPicPr>
        <p:blipFill rotWithShape="1">
          <a:blip r:embed="rId4">
            <a:alphaModFix/>
          </a:blip>
          <a:srcRect t="16734" r="8892" b="18300"/>
          <a:stretch/>
        </p:blipFill>
        <p:spPr>
          <a:xfrm>
            <a:off x="5501148" y="3055100"/>
            <a:ext cx="3074877" cy="846042"/>
          </a:xfrm>
          <a:prstGeom prst="rect">
            <a:avLst/>
          </a:prstGeom>
          <a:noFill/>
          <a:ln>
            <a:noFill/>
          </a:ln>
        </p:spPr>
      </p:pic>
      <p:sp>
        <p:nvSpPr>
          <p:cNvPr id="9" name="Google Shape;176;p29">
            <a:extLst>
              <a:ext uri="{FF2B5EF4-FFF2-40B4-BE49-F238E27FC236}">
                <a16:creationId xmlns:a16="http://schemas.microsoft.com/office/drawing/2014/main" id="{933EED45-7852-41BB-B022-A0D536FB60AC}"/>
              </a:ext>
            </a:extLst>
          </p:cNvPr>
          <p:cNvSpPr txBox="1">
            <a:spLocks/>
          </p:cNvSpPr>
          <p:nvPr/>
        </p:nvSpPr>
        <p:spPr>
          <a:xfrm>
            <a:off x="1672763" y="2459829"/>
            <a:ext cx="6079800" cy="68254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80000"/>
              </a:lnSpc>
              <a:spcBef>
                <a:spcPts val="0"/>
              </a:spcBef>
              <a:spcAft>
                <a:spcPts val="0"/>
              </a:spcAft>
              <a:buClr>
                <a:schemeClr val="accent2"/>
              </a:buClr>
              <a:buSzPts val="6000"/>
              <a:buFont typeface="Concert One"/>
              <a:buNone/>
              <a:defRPr sz="6000" b="1" i="0" u="none" strike="noStrike" cap="none">
                <a:solidFill>
                  <a:schemeClr val="accent2"/>
                </a:solidFill>
                <a:latin typeface="Concert One"/>
                <a:ea typeface="Concert One"/>
                <a:cs typeface="Concert One"/>
                <a:sym typeface="Concert One"/>
              </a:defRPr>
            </a:lvl1pPr>
            <a:lvl2pPr marR="0" lvl="1"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2pPr>
            <a:lvl3pPr marR="0" lvl="2"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3pPr>
            <a:lvl4pPr marR="0" lvl="3"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4pPr>
            <a:lvl5pPr marR="0" lvl="4"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5pPr>
            <a:lvl6pPr marR="0" lvl="5"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6pPr>
            <a:lvl7pPr marR="0" lvl="6"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7pPr>
            <a:lvl8pPr marR="0" lvl="7"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8pPr>
            <a:lvl9pPr marR="0" lvl="8"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9pPr>
          </a:lstStyle>
          <a:p>
            <a:r>
              <a:rPr lang="en-US" sz="4800" b="0" dirty="0"/>
              <a:t>Hash Table</a:t>
            </a:r>
          </a:p>
        </p:txBody>
      </p:sp>
      <p:sp>
        <p:nvSpPr>
          <p:cNvPr id="177" name="Google Shape;177;p29"/>
          <p:cNvSpPr txBox="1">
            <a:spLocks noGrp="1"/>
          </p:cNvSpPr>
          <p:nvPr>
            <p:ph type="subTitle" idx="1"/>
          </p:nvPr>
        </p:nvSpPr>
        <p:spPr>
          <a:xfrm>
            <a:off x="5867163" y="3718629"/>
            <a:ext cx="2773876" cy="79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b="0" dirty="0">
                <a:solidFill>
                  <a:schemeClr val="tx1"/>
                </a:solidFill>
                <a:latin typeface="Oxygen" panose="02000503000000000000" pitchFamily="2" charset="0"/>
              </a:rPr>
              <a:t>Prepared by:</a:t>
            </a:r>
          </a:p>
        </p:txBody>
      </p:sp>
      <p:sp>
        <p:nvSpPr>
          <p:cNvPr id="12" name="TextBox 11">
            <a:extLst>
              <a:ext uri="{FF2B5EF4-FFF2-40B4-BE49-F238E27FC236}">
                <a16:creationId xmlns:a16="http://schemas.microsoft.com/office/drawing/2014/main" id="{FF89CBE9-1A7D-4C63-8102-EAC1A75019D6}"/>
              </a:ext>
            </a:extLst>
          </p:cNvPr>
          <p:cNvSpPr txBox="1"/>
          <p:nvPr/>
        </p:nvSpPr>
        <p:spPr>
          <a:xfrm>
            <a:off x="1672763" y="3603223"/>
            <a:ext cx="992850" cy="600164"/>
          </a:xfrm>
          <a:prstGeom prst="rect">
            <a:avLst/>
          </a:prstGeom>
          <a:noFill/>
        </p:spPr>
        <p:txBody>
          <a:bodyPr wrap="square">
            <a:spAutoFit/>
          </a:bodyPr>
          <a:lstStyle/>
          <a:p>
            <a:pPr marL="0" lvl="0" indent="0" algn="l" rtl="0">
              <a:spcBef>
                <a:spcPts val="0"/>
              </a:spcBef>
              <a:spcAft>
                <a:spcPts val="0"/>
              </a:spcAft>
              <a:buNone/>
            </a:pPr>
            <a:r>
              <a:rPr lang="en-US" sz="1100" b="1" dirty="0">
                <a:solidFill>
                  <a:srgbClr val="C00000"/>
                </a:solidFill>
              </a:rPr>
              <a:t>CCE 105</a:t>
            </a:r>
          </a:p>
          <a:p>
            <a:pPr marL="0" lvl="0" indent="0" algn="l" rtl="0">
              <a:spcBef>
                <a:spcPts val="0"/>
              </a:spcBef>
              <a:spcAft>
                <a:spcPts val="0"/>
              </a:spcAft>
              <a:buNone/>
            </a:pPr>
            <a:r>
              <a:rPr lang="en-US" sz="1100" b="1" dirty="0">
                <a:solidFill>
                  <a:srgbClr val="C00000"/>
                </a:solidFill>
              </a:rPr>
              <a:t>Data Structures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41"/>
          <p:cNvSpPr txBox="1">
            <a:spLocks noGrp="1"/>
          </p:cNvSpPr>
          <p:nvPr>
            <p:ph type="title"/>
          </p:nvPr>
        </p:nvSpPr>
        <p:spPr>
          <a:xfrm>
            <a:off x="2752275" y="837368"/>
            <a:ext cx="4001700" cy="113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400" dirty="0"/>
              <a:t>Topics</a:t>
            </a:r>
            <a:endParaRPr sz="5400" dirty="0"/>
          </a:p>
        </p:txBody>
      </p:sp>
      <p:sp>
        <p:nvSpPr>
          <p:cNvPr id="389" name="Google Shape;389;p41"/>
          <p:cNvSpPr txBox="1">
            <a:spLocks noGrp="1"/>
          </p:cNvSpPr>
          <p:nvPr>
            <p:ph type="body" idx="1"/>
          </p:nvPr>
        </p:nvSpPr>
        <p:spPr>
          <a:xfrm>
            <a:off x="2844132" y="2119197"/>
            <a:ext cx="4206750" cy="1300800"/>
          </a:xfrm>
          <a:prstGeom prst="rect">
            <a:avLst/>
          </a:prstGeom>
        </p:spPr>
        <p:txBody>
          <a:bodyPr spcFirstLastPara="1" wrap="square" lIns="91425" tIns="91425" rIns="91425" bIns="91425" anchor="t" anchorCtr="0">
            <a:noAutofit/>
          </a:bodyPr>
          <a:lstStyle/>
          <a:p>
            <a:pPr marL="285750" indent="-285750" algn="l"/>
            <a:r>
              <a:rPr lang="en-US" sz="1400" dirty="0"/>
              <a:t>Hashing</a:t>
            </a:r>
          </a:p>
          <a:p>
            <a:pPr marL="285750" indent="-285750" algn="l"/>
            <a:r>
              <a:rPr lang="en-US" sz="1400" dirty="0"/>
              <a:t>Hashing Techniques</a:t>
            </a:r>
          </a:p>
          <a:p>
            <a:pPr marL="285750" indent="-285750" algn="l"/>
            <a:r>
              <a:rPr lang="en-US" sz="1400" dirty="0"/>
              <a:t>Collision Resolution Techniques</a:t>
            </a:r>
          </a:p>
          <a:p>
            <a:pPr marL="285750" indent="-285750" algn="l"/>
            <a:endParaRPr lang="en-US" sz="1400" dirty="0"/>
          </a:p>
          <a:p>
            <a:pPr marL="0" indent="0" algn="l">
              <a:buNone/>
            </a:pPr>
            <a:endParaRPr lang="en-US" sz="1400" dirty="0"/>
          </a:p>
        </p:txBody>
      </p:sp>
      <p:pic>
        <p:nvPicPr>
          <p:cNvPr id="390" name="Google Shape;390;p41"/>
          <p:cNvPicPr preferRelativeResize="0"/>
          <p:nvPr/>
        </p:nvPicPr>
        <p:blipFill rotWithShape="1">
          <a:blip r:embed="rId3">
            <a:alphaModFix amt="78000"/>
          </a:blip>
          <a:srcRect l="19967"/>
          <a:stretch/>
        </p:blipFill>
        <p:spPr>
          <a:xfrm rot="3044709">
            <a:off x="2397403" y="714063"/>
            <a:ext cx="1470368" cy="758224"/>
          </a:xfrm>
          <a:prstGeom prst="rect">
            <a:avLst/>
          </a:prstGeom>
          <a:noFill/>
          <a:ln>
            <a:noFill/>
          </a:ln>
        </p:spPr>
      </p:pic>
      <p:pic>
        <p:nvPicPr>
          <p:cNvPr id="391" name="Google Shape;391;p41"/>
          <p:cNvPicPr preferRelativeResize="0"/>
          <p:nvPr/>
        </p:nvPicPr>
        <p:blipFill>
          <a:blip r:embed="rId4">
            <a:alphaModFix/>
          </a:blip>
          <a:stretch>
            <a:fillRect/>
          </a:stretch>
        </p:blipFill>
        <p:spPr>
          <a:xfrm>
            <a:off x="3448050" y="1754625"/>
            <a:ext cx="2610150" cy="325925"/>
          </a:xfrm>
          <a:prstGeom prst="rect">
            <a:avLst/>
          </a:prstGeom>
          <a:noFill/>
          <a:ln>
            <a:noFill/>
          </a:ln>
        </p:spPr>
      </p:pic>
    </p:spTree>
    <p:extLst>
      <p:ext uri="{BB962C8B-B14F-4D97-AF65-F5344CB8AC3E}">
        <p14:creationId xmlns:p14="http://schemas.microsoft.com/office/powerpoint/2010/main" val="2779010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2"/>
          <p:cNvSpPr txBox="1">
            <a:spLocks noGrp="1"/>
          </p:cNvSpPr>
          <p:nvPr>
            <p:ph type="title" idx="2"/>
          </p:nvPr>
        </p:nvSpPr>
        <p:spPr>
          <a:xfrm>
            <a:off x="3778200" y="1403800"/>
            <a:ext cx="1587600" cy="10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pic>
        <p:nvPicPr>
          <p:cNvPr id="211" name="Google Shape;211;p32"/>
          <p:cNvPicPr preferRelativeResize="0"/>
          <p:nvPr/>
        </p:nvPicPr>
        <p:blipFill>
          <a:blip r:embed="rId3">
            <a:alphaModFix amt="86000"/>
          </a:blip>
          <a:stretch>
            <a:fillRect/>
          </a:stretch>
        </p:blipFill>
        <p:spPr>
          <a:xfrm rot="1344117">
            <a:off x="3823925" y="1324475"/>
            <a:ext cx="1496149" cy="1160650"/>
          </a:xfrm>
          <a:prstGeom prst="rect">
            <a:avLst/>
          </a:prstGeom>
          <a:noFill/>
          <a:ln>
            <a:noFill/>
          </a:ln>
        </p:spPr>
      </p:pic>
      <p:pic>
        <p:nvPicPr>
          <p:cNvPr id="212" name="Google Shape;212;p32"/>
          <p:cNvPicPr preferRelativeResize="0"/>
          <p:nvPr/>
        </p:nvPicPr>
        <p:blipFill rotWithShape="1">
          <a:blip r:embed="rId4">
            <a:alphaModFix/>
          </a:blip>
          <a:srcRect t="16970" r="8892" b="21025"/>
          <a:stretch/>
        </p:blipFill>
        <p:spPr>
          <a:xfrm rot="10800000">
            <a:off x="833700" y="1225600"/>
            <a:ext cx="2036850" cy="810276"/>
          </a:xfrm>
          <a:prstGeom prst="rect">
            <a:avLst/>
          </a:prstGeom>
          <a:noFill/>
          <a:ln>
            <a:noFill/>
          </a:ln>
        </p:spPr>
      </p:pic>
      <p:pic>
        <p:nvPicPr>
          <p:cNvPr id="213" name="Google Shape;213;p32"/>
          <p:cNvPicPr preferRelativeResize="0"/>
          <p:nvPr/>
        </p:nvPicPr>
        <p:blipFill rotWithShape="1">
          <a:blip r:embed="rId5">
            <a:alphaModFix/>
          </a:blip>
          <a:srcRect t="16734" r="8892" b="18300"/>
          <a:stretch/>
        </p:blipFill>
        <p:spPr>
          <a:xfrm rot="10800000">
            <a:off x="833700" y="1737957"/>
            <a:ext cx="2036850" cy="846042"/>
          </a:xfrm>
          <a:prstGeom prst="rect">
            <a:avLst/>
          </a:prstGeom>
          <a:noFill/>
          <a:ln>
            <a:noFill/>
          </a:ln>
        </p:spPr>
      </p:pic>
      <p:sp>
        <p:nvSpPr>
          <p:cNvPr id="214" name="Google Shape;214;p32"/>
          <p:cNvSpPr txBox="1">
            <a:spLocks noGrp="1"/>
          </p:cNvSpPr>
          <p:nvPr>
            <p:ph type="title"/>
          </p:nvPr>
        </p:nvSpPr>
        <p:spPr>
          <a:xfrm>
            <a:off x="2673000" y="2550900"/>
            <a:ext cx="3798000" cy="81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Hashing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dirty="0"/>
              <a:t>	A hash table is a data structure that offers very fast insertion and searching.</a:t>
            </a:r>
            <a:br>
              <a:rPr lang="en-US" sz="1400" dirty="0"/>
            </a:br>
            <a:r>
              <a:rPr lang="en-US" sz="1400" dirty="0"/>
              <a:t>	For a human user of a hash table, this is essentially instantaneous. It’s so fast that computer programs typically use hash tables when they need to look up tens of thousands of items in less than a second (as in spelling checkers). </a:t>
            </a:r>
            <a:br>
              <a:rPr lang="en-US" sz="1400" dirty="0"/>
            </a:br>
            <a:endParaRPr lang="en-PH" sz="1400" dirty="0"/>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Hash Tables</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		</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dirty="0"/>
              <a:t>	One important concept is how a range of key values is transformed into a range of array index values. In a hash table this is accomplished with a hash function. However, for certain kinds of keys, no hash function is necessary; the key values can be used directly as array indices. </a:t>
            </a:r>
            <a:br>
              <a:rPr lang="en-US" sz="1400" dirty="0"/>
            </a:br>
            <a:endParaRPr lang="en-PH" sz="1400" dirty="0"/>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Hash Tables</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		</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93324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dirty="0"/>
              <a:t>	</a:t>
            </a:r>
            <a:r>
              <a:rPr lang="en-US" sz="1400" b="1" u="sng" dirty="0"/>
              <a:t>Hashing</a:t>
            </a:r>
            <a:r>
              <a:rPr lang="en-US" sz="1400" b="1" dirty="0"/>
              <a:t> </a:t>
            </a:r>
            <a:r>
              <a:rPr lang="en-US" sz="1400" dirty="0"/>
              <a:t>is the application of a mathematical function (called a hash function) to the key values that results in mapping the possible range of key values into a smaller range of relative addresses. The hash function is something like a locked box that needs a key to get the output which, in this case, is the address where the key is stored:</a:t>
            </a:r>
            <a:br>
              <a:rPr lang="en-US" sz="1400" dirty="0"/>
            </a:br>
            <a:endParaRPr lang="en-PH" sz="1400" dirty="0"/>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Hashing	</a:t>
            </a:r>
          </a:p>
          <a:p>
            <a:pPr marL="0" lvl="0" indent="0" algn="l" rtl="0">
              <a:spcBef>
                <a:spcPts val="0"/>
              </a:spcBef>
              <a:spcAft>
                <a:spcPts val="0"/>
              </a:spcAft>
              <a:buNone/>
            </a:pPr>
            <a:r>
              <a:rPr lang="en-US" dirty="0"/>
              <a:t>	</a:t>
            </a:r>
            <a:endParaRPr lang="en-US" u="sng" dirty="0"/>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a:extLst>
              <a:ext uri="{FF2B5EF4-FFF2-40B4-BE49-F238E27FC236}">
                <a16:creationId xmlns:a16="http://schemas.microsoft.com/office/drawing/2014/main" id="{0A7191E1-6078-4281-9C24-D95EE922C1C0}"/>
              </a:ext>
            </a:extLst>
          </p:cNvPr>
          <p:cNvPicPr>
            <a:picLocks noChangeAspect="1"/>
          </p:cNvPicPr>
          <p:nvPr/>
        </p:nvPicPr>
        <p:blipFill>
          <a:blip r:embed="rId4"/>
          <a:stretch>
            <a:fillRect/>
          </a:stretch>
        </p:blipFill>
        <p:spPr>
          <a:xfrm>
            <a:off x="2246946" y="2794452"/>
            <a:ext cx="5000625" cy="1085850"/>
          </a:xfrm>
          <a:prstGeom prst="rect">
            <a:avLst/>
          </a:prstGeom>
        </p:spPr>
      </p:pic>
    </p:spTree>
    <p:extLst>
      <p:ext uri="{BB962C8B-B14F-4D97-AF65-F5344CB8AC3E}">
        <p14:creationId xmlns:p14="http://schemas.microsoft.com/office/powerpoint/2010/main" val="1401183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dirty="0"/>
              <a:t>	With hashing, there is no obvious connection between the key and the address generated since the function "randomly selects" an address for a specific key value, without regard to the physical sequence of the records in the file. Hence, it is also known as </a:t>
            </a:r>
            <a:r>
              <a:rPr lang="en-US" sz="1400" b="1" dirty="0"/>
              <a:t>randomizing scheme</a:t>
            </a:r>
            <a:r>
              <a:rPr lang="en-US" sz="1400" dirty="0"/>
              <a:t>.</a:t>
            </a:r>
            <a:br>
              <a:rPr lang="en-US" sz="1400" dirty="0"/>
            </a:br>
            <a:endParaRPr lang="en-PH" sz="1400" dirty="0"/>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Hashing	</a:t>
            </a:r>
          </a:p>
          <a:p>
            <a:pPr marL="0" lvl="0" indent="0" algn="l" rtl="0">
              <a:spcBef>
                <a:spcPts val="0"/>
              </a:spcBef>
              <a:spcAft>
                <a:spcPts val="0"/>
              </a:spcAft>
              <a:buNone/>
            </a:pPr>
            <a:r>
              <a:rPr lang="en-US" dirty="0"/>
              <a:t>		</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06228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dirty="0"/>
              <a:t>	Two or more input keys, say k1 and k2, when applied to a hash function, may hash to the same address, an accident known as </a:t>
            </a:r>
            <a:r>
              <a:rPr lang="en-US" sz="1400" b="1" u="sng" dirty="0"/>
              <a:t>collision</a:t>
            </a:r>
            <a:r>
              <a:rPr lang="en-US" sz="1400" dirty="0"/>
              <a:t>. </a:t>
            </a:r>
            <a:br>
              <a:rPr lang="en-US" sz="1400" dirty="0"/>
            </a:br>
            <a:r>
              <a:rPr lang="en-US" sz="1400" dirty="0"/>
              <a:t>	</a:t>
            </a:r>
            <a:r>
              <a:rPr lang="en-US" sz="1400" b="1" dirty="0"/>
              <a:t>Collision</a:t>
            </a:r>
            <a:r>
              <a:rPr lang="en-US" sz="1400" dirty="0"/>
              <a:t> can be reduced by allocating more file space than the minimum required to store the number of keys. However, this approach leads to wasted space.</a:t>
            </a:r>
            <a:endParaRPr lang="en-PH" sz="1400" dirty="0"/>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Hashing		</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32178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pPr algn="just"/>
            <a:r>
              <a:rPr lang="en-US" sz="1400" dirty="0"/>
              <a:t>	In hashing, there is a need to choose a good hash function and consequently, select a method to resolve, if not eliminate, collisions. A good hash function performs fast computation and produces less (or no) collisions.</a:t>
            </a:r>
            <a:endParaRPr lang="en-PH" sz="1400" dirty="0"/>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Hashing		</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74350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2"/>
          <p:cNvSpPr txBox="1">
            <a:spLocks noGrp="1"/>
          </p:cNvSpPr>
          <p:nvPr>
            <p:ph type="title" idx="2"/>
          </p:nvPr>
        </p:nvSpPr>
        <p:spPr>
          <a:xfrm>
            <a:off x="3778200" y="1403800"/>
            <a:ext cx="1587600" cy="10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pic>
        <p:nvPicPr>
          <p:cNvPr id="211" name="Google Shape;211;p32"/>
          <p:cNvPicPr preferRelativeResize="0"/>
          <p:nvPr/>
        </p:nvPicPr>
        <p:blipFill>
          <a:blip r:embed="rId3">
            <a:alphaModFix amt="86000"/>
          </a:blip>
          <a:stretch>
            <a:fillRect/>
          </a:stretch>
        </p:blipFill>
        <p:spPr>
          <a:xfrm rot="1344117">
            <a:off x="3922700" y="1324474"/>
            <a:ext cx="1496149" cy="1160650"/>
          </a:xfrm>
          <a:prstGeom prst="rect">
            <a:avLst/>
          </a:prstGeom>
          <a:noFill/>
          <a:ln>
            <a:noFill/>
          </a:ln>
        </p:spPr>
      </p:pic>
      <p:pic>
        <p:nvPicPr>
          <p:cNvPr id="212" name="Google Shape;212;p32"/>
          <p:cNvPicPr preferRelativeResize="0"/>
          <p:nvPr/>
        </p:nvPicPr>
        <p:blipFill rotWithShape="1">
          <a:blip r:embed="rId4">
            <a:alphaModFix/>
          </a:blip>
          <a:srcRect t="16970" r="8892" b="21025"/>
          <a:stretch/>
        </p:blipFill>
        <p:spPr>
          <a:xfrm rot="10800000">
            <a:off x="833700" y="1225600"/>
            <a:ext cx="2036850" cy="810276"/>
          </a:xfrm>
          <a:prstGeom prst="rect">
            <a:avLst/>
          </a:prstGeom>
          <a:noFill/>
          <a:ln>
            <a:noFill/>
          </a:ln>
        </p:spPr>
      </p:pic>
      <p:pic>
        <p:nvPicPr>
          <p:cNvPr id="213" name="Google Shape;213;p32"/>
          <p:cNvPicPr preferRelativeResize="0"/>
          <p:nvPr/>
        </p:nvPicPr>
        <p:blipFill rotWithShape="1">
          <a:blip r:embed="rId5">
            <a:alphaModFix/>
          </a:blip>
          <a:srcRect t="16734" r="8892" b="18300"/>
          <a:stretch/>
        </p:blipFill>
        <p:spPr>
          <a:xfrm rot="10800000">
            <a:off x="833700" y="1737957"/>
            <a:ext cx="2036850" cy="846042"/>
          </a:xfrm>
          <a:prstGeom prst="rect">
            <a:avLst/>
          </a:prstGeom>
          <a:noFill/>
          <a:ln>
            <a:noFill/>
          </a:ln>
        </p:spPr>
      </p:pic>
      <p:sp>
        <p:nvSpPr>
          <p:cNvPr id="214" name="Google Shape;214;p32"/>
          <p:cNvSpPr txBox="1">
            <a:spLocks noGrp="1"/>
          </p:cNvSpPr>
          <p:nvPr>
            <p:ph type="title"/>
          </p:nvPr>
        </p:nvSpPr>
        <p:spPr>
          <a:xfrm>
            <a:off x="2673000" y="2550900"/>
            <a:ext cx="3798000" cy="81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Hashing Techniques</a:t>
            </a:r>
          </a:p>
        </p:txBody>
      </p:sp>
    </p:spTree>
    <p:extLst>
      <p:ext uri="{BB962C8B-B14F-4D97-AF65-F5344CB8AC3E}">
        <p14:creationId xmlns:p14="http://schemas.microsoft.com/office/powerpoint/2010/main" val="3323649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Prime Number Division Method</a:t>
            </a:r>
            <a:br>
              <a:rPr lang="en-US" sz="1400" b="1" u="sng" dirty="0"/>
            </a:br>
            <a:br>
              <a:rPr lang="en-US" sz="1400" b="1" dirty="0"/>
            </a:br>
            <a:r>
              <a:rPr lang="en-US" sz="1400" dirty="0"/>
              <a:t>	This method is one of the most common randomizing scheme. If the key value is divided by a number n, the range of address generated will be of the form </a:t>
            </a:r>
            <a:r>
              <a:rPr lang="en-US" sz="1400" b="1" dirty="0"/>
              <a:t>0</a:t>
            </a:r>
            <a:r>
              <a:rPr lang="en-US" sz="1400" dirty="0"/>
              <a:t> to </a:t>
            </a:r>
            <a:r>
              <a:rPr lang="en-US" sz="1400" b="1" dirty="0"/>
              <a:t>n-1</a:t>
            </a:r>
            <a:r>
              <a:rPr lang="en-US" sz="1400" dirty="0"/>
              <a:t>. The formula is:</a:t>
            </a:r>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Simple Hash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a:extLst>
              <a:ext uri="{FF2B5EF4-FFF2-40B4-BE49-F238E27FC236}">
                <a16:creationId xmlns:a16="http://schemas.microsoft.com/office/drawing/2014/main" id="{E0163E46-903D-4410-B325-7196CA64FEFD}"/>
              </a:ext>
            </a:extLst>
          </p:cNvPr>
          <p:cNvPicPr>
            <a:picLocks noChangeAspect="1"/>
          </p:cNvPicPr>
          <p:nvPr/>
        </p:nvPicPr>
        <p:blipFill>
          <a:blip r:embed="rId4"/>
          <a:stretch>
            <a:fillRect/>
          </a:stretch>
        </p:blipFill>
        <p:spPr>
          <a:xfrm>
            <a:off x="2157225" y="2305049"/>
            <a:ext cx="5648325" cy="647700"/>
          </a:xfrm>
          <a:prstGeom prst="rect">
            <a:avLst/>
          </a:prstGeom>
        </p:spPr>
      </p:pic>
      <p:sp>
        <p:nvSpPr>
          <p:cNvPr id="17" name="TextBox 16">
            <a:extLst>
              <a:ext uri="{FF2B5EF4-FFF2-40B4-BE49-F238E27FC236}">
                <a16:creationId xmlns:a16="http://schemas.microsoft.com/office/drawing/2014/main" id="{09829F85-9E2F-44EA-96B3-5445C0CB5DAC}"/>
              </a:ext>
            </a:extLst>
          </p:cNvPr>
          <p:cNvSpPr txBox="1"/>
          <p:nvPr/>
        </p:nvSpPr>
        <p:spPr>
          <a:xfrm>
            <a:off x="1465199" y="3378245"/>
            <a:ext cx="7776028" cy="461665"/>
          </a:xfrm>
          <a:prstGeom prst="rect">
            <a:avLst/>
          </a:prstGeom>
          <a:noFill/>
        </p:spPr>
        <p:txBody>
          <a:bodyPr wrap="square">
            <a:spAutoFit/>
          </a:bodyPr>
          <a:lstStyle/>
          <a:p>
            <a:r>
              <a:rPr lang="en-US" sz="1200" b="1" dirty="0">
                <a:solidFill>
                  <a:schemeClr val="tx1"/>
                </a:solidFill>
                <a:latin typeface="Roboto Mono Medium" panose="020B0604020202020204" charset="0"/>
                <a:ea typeface="Roboto Mono Medium" panose="020B0604020202020204" charset="0"/>
              </a:rPr>
              <a:t>Rule of thumb</a:t>
            </a:r>
            <a:r>
              <a:rPr lang="en-US" sz="1200" dirty="0">
                <a:solidFill>
                  <a:schemeClr val="tx1"/>
                </a:solidFill>
                <a:latin typeface="Roboto Mono Medium" panose="020B0604020202020204" charset="0"/>
                <a:ea typeface="Roboto Mono Medium" panose="020B0604020202020204" charset="0"/>
              </a:rPr>
              <a:t>: </a:t>
            </a:r>
          </a:p>
          <a:p>
            <a:r>
              <a:rPr lang="en-US" sz="1200" dirty="0">
                <a:solidFill>
                  <a:schemeClr val="tx1"/>
                </a:solidFill>
                <a:latin typeface="Roboto Mono Medium" panose="020B0604020202020204" charset="0"/>
                <a:ea typeface="Roboto Mono Medium" panose="020B0604020202020204" charset="0"/>
              </a:rPr>
              <a:t>	Pick a prime number, close to a power of two, to be </a:t>
            </a:r>
            <a:r>
              <a:rPr lang="en-US" sz="1200" i="1" dirty="0">
                <a:solidFill>
                  <a:schemeClr val="tx1"/>
                </a:solidFill>
                <a:latin typeface="Roboto Mono Medium" panose="020B0604020202020204" charset="0"/>
                <a:ea typeface="Roboto Mono Medium" panose="020B0604020202020204" charset="0"/>
              </a:rPr>
              <a:t>n</a:t>
            </a:r>
          </a:p>
        </p:txBody>
      </p:sp>
    </p:spTree>
    <p:extLst>
      <p:ext uri="{BB962C8B-B14F-4D97-AF65-F5344CB8AC3E}">
        <p14:creationId xmlns:p14="http://schemas.microsoft.com/office/powerpoint/2010/main" val="4106276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Prime Number Division Method</a:t>
            </a:r>
            <a:br>
              <a:rPr lang="en-US" sz="1400" b="1" u="sng" dirty="0"/>
            </a:br>
            <a:br>
              <a:rPr lang="en-US" sz="1400" b="1" dirty="0"/>
            </a:br>
            <a:r>
              <a:rPr lang="en-US" sz="1400" dirty="0"/>
              <a:t>	If </a:t>
            </a:r>
            <a:r>
              <a:rPr lang="en-US" sz="1400" i="1" dirty="0"/>
              <a:t>n </a:t>
            </a:r>
            <a:r>
              <a:rPr lang="en-US" sz="1400" dirty="0"/>
              <a:t>is the total number of relative locations in the file, this method can be used to map the keys into n record locations. </a:t>
            </a:r>
            <a:br>
              <a:rPr lang="en-US" sz="1400" dirty="0"/>
            </a:br>
            <a:r>
              <a:rPr lang="en-US" sz="1400" dirty="0"/>
              <a:t>	</a:t>
            </a:r>
            <a:r>
              <a:rPr lang="en-US" sz="1400" i="1" dirty="0"/>
              <a:t>n</a:t>
            </a:r>
            <a:r>
              <a:rPr lang="en-US" sz="1400" dirty="0"/>
              <a:t> should be chosen to attempt to reduce number of collisions. If </a:t>
            </a:r>
            <a:r>
              <a:rPr lang="en-US" sz="1400" i="1" dirty="0"/>
              <a:t>n</a:t>
            </a:r>
            <a:r>
              <a:rPr lang="en-US" sz="1400" dirty="0"/>
              <a:t> is even, the result of the hash function has revealed an even value and if n is odd, the resulting value is also odd.</a:t>
            </a:r>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Simple Hash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12244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Prime Number Division Method</a:t>
            </a:r>
            <a:br>
              <a:rPr lang="en-US" sz="1400" b="1" u="sng" dirty="0"/>
            </a:br>
            <a:br>
              <a:rPr lang="en-US" sz="1400" b="1" dirty="0"/>
            </a:br>
            <a:r>
              <a:rPr lang="en-US" sz="1400" dirty="0"/>
              <a:t>	Division with a prime number will not result to much collision, that is why it is the best choice for the divisor in this method. </a:t>
            </a:r>
            <a:br>
              <a:rPr lang="en-US" sz="1400" dirty="0"/>
            </a:br>
            <a:r>
              <a:rPr lang="en-US" sz="1400" dirty="0"/>
              <a:t>	We could choose a prime number that is close to the number of record positions in the file. However, this method may be used even if </a:t>
            </a:r>
            <a:r>
              <a:rPr lang="en-US" sz="1400" i="1" dirty="0"/>
              <a:t>n</a:t>
            </a:r>
            <a:r>
              <a:rPr lang="en-US" sz="1400" dirty="0"/>
              <a:t> is not a prime, but be prepared to handle more collisions.</a:t>
            </a:r>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Simple Hash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01511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Prime Number Division Method</a:t>
            </a:r>
            <a:br>
              <a:rPr lang="en-US" sz="1400" b="1" u="sng" dirty="0"/>
            </a:br>
            <a:br>
              <a:rPr lang="en-US" sz="1400" b="1" dirty="0"/>
            </a:br>
            <a:r>
              <a:rPr lang="en-US" sz="1400" dirty="0"/>
              <a:t>	</a:t>
            </a:r>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Simple Hash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a:extLst>
              <a:ext uri="{FF2B5EF4-FFF2-40B4-BE49-F238E27FC236}">
                <a16:creationId xmlns:a16="http://schemas.microsoft.com/office/drawing/2014/main" id="{BD3C2555-E30F-4BCA-AE1B-50C7507E9999}"/>
              </a:ext>
            </a:extLst>
          </p:cNvPr>
          <p:cNvPicPr>
            <a:picLocks noChangeAspect="1"/>
          </p:cNvPicPr>
          <p:nvPr/>
        </p:nvPicPr>
        <p:blipFill>
          <a:blip r:embed="rId4"/>
          <a:stretch>
            <a:fillRect/>
          </a:stretch>
        </p:blipFill>
        <p:spPr>
          <a:xfrm>
            <a:off x="2844086" y="1435673"/>
            <a:ext cx="4180828" cy="2169940"/>
          </a:xfrm>
          <a:prstGeom prst="rect">
            <a:avLst/>
          </a:prstGeom>
        </p:spPr>
      </p:pic>
      <p:sp>
        <p:nvSpPr>
          <p:cNvPr id="17" name="TextBox 16">
            <a:extLst>
              <a:ext uri="{FF2B5EF4-FFF2-40B4-BE49-F238E27FC236}">
                <a16:creationId xmlns:a16="http://schemas.microsoft.com/office/drawing/2014/main" id="{BEFE5A9E-0552-4C88-A4A3-5EED4C0876FF}"/>
              </a:ext>
            </a:extLst>
          </p:cNvPr>
          <p:cNvSpPr txBox="1"/>
          <p:nvPr/>
        </p:nvSpPr>
        <p:spPr>
          <a:xfrm>
            <a:off x="1465199" y="3655077"/>
            <a:ext cx="4869542" cy="523220"/>
          </a:xfrm>
          <a:prstGeom prst="rect">
            <a:avLst/>
          </a:prstGeom>
          <a:noFill/>
        </p:spPr>
        <p:txBody>
          <a:bodyPr wrap="square">
            <a:spAutoFit/>
          </a:bodyPr>
          <a:lstStyle/>
          <a:p>
            <a:r>
              <a:rPr lang="en-US" sz="1400" dirty="0">
                <a:solidFill>
                  <a:schemeClr val="tx1"/>
                </a:solidFill>
                <a:latin typeface="Roboto Mono Medium" panose="020B0604020202020204" charset="0"/>
                <a:ea typeface="Roboto Mono Medium" panose="020B0604020202020204" charset="0"/>
              </a:rPr>
              <a:t>In Java, to implement this hashing, it is as simple as:</a:t>
            </a:r>
            <a:endParaRPr lang="en-US" dirty="0">
              <a:solidFill>
                <a:schemeClr val="tx1"/>
              </a:solidFill>
              <a:latin typeface="Roboto Mono Medium" panose="020B0604020202020204" charset="0"/>
              <a:ea typeface="Roboto Mono Medium" panose="020B0604020202020204" charset="0"/>
            </a:endParaRPr>
          </a:p>
        </p:txBody>
      </p:sp>
      <p:pic>
        <p:nvPicPr>
          <p:cNvPr id="18" name="Picture 17">
            <a:extLst>
              <a:ext uri="{FF2B5EF4-FFF2-40B4-BE49-F238E27FC236}">
                <a16:creationId xmlns:a16="http://schemas.microsoft.com/office/drawing/2014/main" id="{75C45DB4-276B-426F-A58F-A90EDC120B7C}"/>
              </a:ext>
            </a:extLst>
          </p:cNvPr>
          <p:cNvPicPr>
            <a:picLocks noChangeAspect="1"/>
          </p:cNvPicPr>
          <p:nvPr/>
        </p:nvPicPr>
        <p:blipFill>
          <a:blip r:embed="rId5"/>
          <a:stretch>
            <a:fillRect/>
          </a:stretch>
        </p:blipFill>
        <p:spPr>
          <a:xfrm>
            <a:off x="3231584" y="3995826"/>
            <a:ext cx="3031349" cy="694135"/>
          </a:xfrm>
          <a:prstGeom prst="rect">
            <a:avLst/>
          </a:prstGeom>
        </p:spPr>
      </p:pic>
    </p:spTree>
    <p:extLst>
      <p:ext uri="{BB962C8B-B14F-4D97-AF65-F5344CB8AC3E}">
        <p14:creationId xmlns:p14="http://schemas.microsoft.com/office/powerpoint/2010/main" val="4289059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Prime Number Division Method</a:t>
            </a:r>
            <a:br>
              <a:rPr lang="en-US" sz="1400" b="1" dirty="0"/>
            </a:br>
            <a:br>
              <a:rPr lang="en-US" sz="1400" b="1" dirty="0"/>
            </a:br>
            <a:r>
              <a:rPr lang="en-US" sz="1400" dirty="0"/>
              <a:t>	Division with a prime number will not result to much collision, that is why it is the best choice for the divisor in this method. We could choose a prime number that is close to the number of record positions in the file. However, this method may be used even if n is not a prime, but be prepared to handle more collisions.</a:t>
            </a:r>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Simple Hash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01142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Folding</a:t>
            </a:r>
            <a:br>
              <a:rPr lang="en-US" sz="1400" b="1" dirty="0"/>
            </a:br>
            <a:br>
              <a:rPr lang="en-US" sz="1400" b="1" dirty="0"/>
            </a:br>
            <a:r>
              <a:rPr lang="en-US" sz="1400" dirty="0"/>
              <a:t>	In this technique, the key value is split into two or more parts and then added, ANDed, or XORed to get a hash address. If the resulting address has more digits than the highest address in the file, the excess high order digits are truncated.</a:t>
            </a:r>
            <a:br>
              <a:rPr lang="en-US" sz="1400" dirty="0"/>
            </a:br>
            <a:endParaRPr lang="en-US" sz="1400" dirty="0"/>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Simple Hash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93113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Folding</a:t>
            </a:r>
            <a:br>
              <a:rPr lang="en-US" sz="1400" b="1" dirty="0"/>
            </a:br>
            <a:br>
              <a:rPr lang="en-US" sz="1400" b="1" dirty="0"/>
            </a:br>
            <a:r>
              <a:rPr lang="en-US" sz="1400" dirty="0"/>
              <a:t>	There are different ways of folding. A key value can be folded in </a:t>
            </a:r>
            <a:r>
              <a:rPr lang="en-US" sz="1400" b="1" u="sng" dirty="0"/>
              <a:t>half</a:t>
            </a:r>
            <a:r>
              <a:rPr lang="en-US" sz="1400" dirty="0"/>
              <a:t>. This is ideal for relatively small key values since they would easily fit in the available addresses. If in any case, the key would be unevenly split, the left fold must be greater than the right fold. </a:t>
            </a:r>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Simple Hash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25709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Folding</a:t>
            </a:r>
            <a:br>
              <a:rPr lang="en-US" sz="1400" b="1" dirty="0"/>
            </a:br>
            <a:br>
              <a:rPr lang="en-US" sz="1400" b="1" dirty="0"/>
            </a:br>
            <a:r>
              <a:rPr lang="en-US" sz="1400" dirty="0"/>
              <a:t>	A key value can also be folded in </a:t>
            </a:r>
            <a:r>
              <a:rPr lang="en-US" sz="1400" b="1" u="sng" dirty="0"/>
              <a:t>thirds</a:t>
            </a:r>
            <a:r>
              <a:rPr lang="en-US" sz="1400" dirty="0"/>
              <a:t> this is ideal for somewhat large key values. We can also fold alternate digits. The digits in the odd positions form one part, and the digits in the even positions form another.</a:t>
            </a:r>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Simple Hash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42464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Folding</a:t>
            </a:r>
            <a:br>
              <a:rPr lang="en-US" sz="1400" b="1" dirty="0"/>
            </a:br>
            <a:br>
              <a:rPr lang="en-US" sz="1400" b="1" dirty="0"/>
            </a:br>
            <a:r>
              <a:rPr lang="en-US" sz="1400" dirty="0"/>
              <a:t>	Folding in half and in thirds can be done in yet another two ways. </a:t>
            </a:r>
            <a:br>
              <a:rPr lang="en-US" sz="1400" dirty="0"/>
            </a:br>
            <a:r>
              <a:rPr lang="en-US" sz="1400" dirty="0"/>
              <a:t>	One is </a:t>
            </a:r>
            <a:r>
              <a:rPr lang="en-US" sz="1400" b="1" u="sng" dirty="0"/>
              <a:t>boundary folding</a:t>
            </a:r>
            <a:r>
              <a:rPr lang="en-US" sz="1400" dirty="0"/>
              <a:t> where some parts of the folded keys are reversed (imitating the way we fold paper) and then summed. </a:t>
            </a:r>
            <a:br>
              <a:rPr lang="en-US" sz="1400" dirty="0"/>
            </a:br>
            <a:r>
              <a:rPr lang="en-US" sz="1400" dirty="0"/>
              <a:t>	Last is </a:t>
            </a:r>
            <a:r>
              <a:rPr lang="en-US" sz="1400" b="1" u="sng" dirty="0"/>
              <a:t>shift folding</a:t>
            </a:r>
            <a:r>
              <a:rPr lang="en-US" sz="1400" dirty="0"/>
              <a:t> where no parts of the folded keys are reversed.</a:t>
            </a:r>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Simple Hash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99543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Folding</a:t>
            </a:r>
            <a:br>
              <a:rPr lang="en-US" sz="1400" b="1" dirty="0"/>
            </a:br>
            <a:br>
              <a:rPr lang="en-US" sz="1400" b="1" dirty="0"/>
            </a:br>
            <a:r>
              <a:rPr lang="en-US" sz="1400" dirty="0"/>
              <a:t>	The following are some examples of shift folding:</a:t>
            </a:r>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Simple Hash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4A537DD7-9837-C66B-F961-924C48D7CE2E}"/>
              </a:ext>
            </a:extLst>
          </p:cNvPr>
          <p:cNvPicPr>
            <a:picLocks noChangeAspect="1"/>
          </p:cNvPicPr>
          <p:nvPr/>
        </p:nvPicPr>
        <p:blipFill>
          <a:blip r:embed="rId4"/>
          <a:stretch>
            <a:fillRect/>
          </a:stretch>
        </p:blipFill>
        <p:spPr>
          <a:xfrm>
            <a:off x="3035748" y="1987547"/>
            <a:ext cx="3590925" cy="2190750"/>
          </a:xfrm>
          <a:prstGeom prst="rect">
            <a:avLst/>
          </a:prstGeom>
        </p:spPr>
      </p:pic>
    </p:spTree>
    <p:extLst>
      <p:ext uri="{BB962C8B-B14F-4D97-AF65-F5344CB8AC3E}">
        <p14:creationId xmlns:p14="http://schemas.microsoft.com/office/powerpoint/2010/main" val="3984092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Folding</a:t>
            </a:r>
            <a:br>
              <a:rPr lang="en-US" sz="1400" b="1" dirty="0"/>
            </a:br>
            <a:br>
              <a:rPr lang="en-US" sz="1400" b="1" dirty="0"/>
            </a:br>
            <a:r>
              <a:rPr lang="en-US" sz="1400" dirty="0"/>
              <a:t>	The following are some examples of boundary folding:</a:t>
            </a:r>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Simple Hash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B07C3373-F4FE-36C2-47A9-DD972FCAF512}"/>
              </a:ext>
            </a:extLst>
          </p:cNvPr>
          <p:cNvPicPr>
            <a:picLocks noChangeAspect="1"/>
          </p:cNvPicPr>
          <p:nvPr/>
        </p:nvPicPr>
        <p:blipFill>
          <a:blip r:embed="rId4"/>
          <a:stretch>
            <a:fillRect/>
          </a:stretch>
        </p:blipFill>
        <p:spPr>
          <a:xfrm>
            <a:off x="3133725" y="2077984"/>
            <a:ext cx="2876550" cy="2143125"/>
          </a:xfrm>
          <a:prstGeom prst="rect">
            <a:avLst/>
          </a:prstGeom>
        </p:spPr>
      </p:pic>
    </p:spTree>
    <p:extLst>
      <p:ext uri="{BB962C8B-B14F-4D97-AF65-F5344CB8AC3E}">
        <p14:creationId xmlns:p14="http://schemas.microsoft.com/office/powerpoint/2010/main" val="7101696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Folding</a:t>
            </a:r>
            <a:br>
              <a:rPr lang="en-US" sz="1400" b="1" dirty="0"/>
            </a:br>
            <a:br>
              <a:rPr lang="en-US" sz="1400" b="1" dirty="0"/>
            </a:br>
            <a:r>
              <a:rPr lang="en-US" sz="1400" dirty="0"/>
              <a:t>	This method is useful for converting keys with large number of digits to a smaller number of digits so the address fits into a word memory. It is also easier to store since the keys do not require much space to be stored.</a:t>
            </a:r>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Simple Hash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20772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2"/>
          <p:cNvSpPr txBox="1">
            <a:spLocks noGrp="1"/>
          </p:cNvSpPr>
          <p:nvPr>
            <p:ph type="title" idx="2"/>
          </p:nvPr>
        </p:nvSpPr>
        <p:spPr>
          <a:xfrm>
            <a:off x="3778200" y="1403800"/>
            <a:ext cx="1587600" cy="10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pic>
        <p:nvPicPr>
          <p:cNvPr id="211" name="Google Shape;211;p32"/>
          <p:cNvPicPr preferRelativeResize="0"/>
          <p:nvPr/>
        </p:nvPicPr>
        <p:blipFill>
          <a:blip r:embed="rId3">
            <a:alphaModFix amt="86000"/>
          </a:blip>
          <a:stretch>
            <a:fillRect/>
          </a:stretch>
        </p:blipFill>
        <p:spPr>
          <a:xfrm rot="1344117">
            <a:off x="3922701" y="1324475"/>
            <a:ext cx="1496149" cy="1160650"/>
          </a:xfrm>
          <a:prstGeom prst="rect">
            <a:avLst/>
          </a:prstGeom>
          <a:noFill/>
          <a:ln>
            <a:noFill/>
          </a:ln>
        </p:spPr>
      </p:pic>
      <p:pic>
        <p:nvPicPr>
          <p:cNvPr id="212" name="Google Shape;212;p32"/>
          <p:cNvPicPr preferRelativeResize="0"/>
          <p:nvPr/>
        </p:nvPicPr>
        <p:blipFill rotWithShape="1">
          <a:blip r:embed="rId4">
            <a:alphaModFix/>
          </a:blip>
          <a:srcRect t="16970" r="8892" b="21025"/>
          <a:stretch/>
        </p:blipFill>
        <p:spPr>
          <a:xfrm rot="10800000">
            <a:off x="833700" y="1225600"/>
            <a:ext cx="2036850" cy="810276"/>
          </a:xfrm>
          <a:prstGeom prst="rect">
            <a:avLst/>
          </a:prstGeom>
          <a:noFill/>
          <a:ln>
            <a:noFill/>
          </a:ln>
        </p:spPr>
      </p:pic>
      <p:pic>
        <p:nvPicPr>
          <p:cNvPr id="213" name="Google Shape;213;p32"/>
          <p:cNvPicPr preferRelativeResize="0"/>
          <p:nvPr/>
        </p:nvPicPr>
        <p:blipFill rotWithShape="1">
          <a:blip r:embed="rId5">
            <a:alphaModFix/>
          </a:blip>
          <a:srcRect t="16734" r="8892" b="18300"/>
          <a:stretch/>
        </p:blipFill>
        <p:spPr>
          <a:xfrm rot="10800000">
            <a:off x="833700" y="1737957"/>
            <a:ext cx="2036850" cy="846042"/>
          </a:xfrm>
          <a:prstGeom prst="rect">
            <a:avLst/>
          </a:prstGeom>
          <a:noFill/>
          <a:ln>
            <a:noFill/>
          </a:ln>
        </p:spPr>
      </p:pic>
      <p:sp>
        <p:nvSpPr>
          <p:cNvPr id="214" name="Google Shape;214;p32"/>
          <p:cNvSpPr txBox="1">
            <a:spLocks noGrp="1"/>
          </p:cNvSpPr>
          <p:nvPr>
            <p:ph type="title"/>
          </p:nvPr>
        </p:nvSpPr>
        <p:spPr>
          <a:xfrm>
            <a:off x="2673000" y="2550900"/>
            <a:ext cx="3798000" cy="81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Collision Resolution Techniques</a:t>
            </a:r>
          </a:p>
        </p:txBody>
      </p:sp>
    </p:spTree>
    <p:extLst>
      <p:ext uri="{BB962C8B-B14F-4D97-AF65-F5344CB8AC3E}">
        <p14:creationId xmlns:p14="http://schemas.microsoft.com/office/powerpoint/2010/main" val="1670126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br>
              <a:rPr lang="en-US" sz="1400" b="1" dirty="0"/>
            </a:br>
            <a:r>
              <a:rPr lang="en-US" sz="1400" dirty="0"/>
              <a:t>	Choosing a good hashing algorithm based on how few collisions are likely to occur is the first step in avoiding collision. However, this will just minimize and will not eradicate the problem. To avoid collision, we could:</a:t>
            </a:r>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a:extLst>
              <a:ext uri="{FF2B5EF4-FFF2-40B4-BE49-F238E27FC236}">
                <a16:creationId xmlns:a16="http://schemas.microsoft.com/office/drawing/2014/main" id="{54960CFD-4453-4303-933F-34F5E52117D2}"/>
              </a:ext>
            </a:extLst>
          </p:cNvPr>
          <p:cNvPicPr>
            <a:picLocks noChangeAspect="1"/>
          </p:cNvPicPr>
          <p:nvPr/>
        </p:nvPicPr>
        <p:blipFill>
          <a:blip r:embed="rId4"/>
          <a:stretch>
            <a:fillRect/>
          </a:stretch>
        </p:blipFill>
        <p:spPr>
          <a:xfrm>
            <a:off x="2038633" y="2297812"/>
            <a:ext cx="5601004" cy="606478"/>
          </a:xfrm>
          <a:prstGeom prst="rect">
            <a:avLst/>
          </a:prstGeom>
        </p:spPr>
      </p:pic>
      <p:pic>
        <p:nvPicPr>
          <p:cNvPr id="16" name="Picture 15">
            <a:extLst>
              <a:ext uri="{FF2B5EF4-FFF2-40B4-BE49-F238E27FC236}">
                <a16:creationId xmlns:a16="http://schemas.microsoft.com/office/drawing/2014/main" id="{94FA04E3-90FB-4000-B0C5-062A6767D869}"/>
              </a:ext>
            </a:extLst>
          </p:cNvPr>
          <p:cNvPicPr>
            <a:picLocks noChangeAspect="1"/>
          </p:cNvPicPr>
          <p:nvPr/>
        </p:nvPicPr>
        <p:blipFill>
          <a:blip r:embed="rId5"/>
          <a:stretch>
            <a:fillRect/>
          </a:stretch>
        </p:blipFill>
        <p:spPr>
          <a:xfrm>
            <a:off x="2038632" y="2919702"/>
            <a:ext cx="5610677" cy="715503"/>
          </a:xfrm>
          <a:prstGeom prst="rect">
            <a:avLst/>
          </a:prstGeom>
        </p:spPr>
      </p:pic>
      <p:pic>
        <p:nvPicPr>
          <p:cNvPr id="17" name="Picture 16">
            <a:extLst>
              <a:ext uri="{FF2B5EF4-FFF2-40B4-BE49-F238E27FC236}">
                <a16:creationId xmlns:a16="http://schemas.microsoft.com/office/drawing/2014/main" id="{6A6BE7CB-7278-43B4-BBE8-53F14D5E18BF}"/>
              </a:ext>
            </a:extLst>
          </p:cNvPr>
          <p:cNvPicPr>
            <a:picLocks noChangeAspect="1"/>
          </p:cNvPicPr>
          <p:nvPr/>
        </p:nvPicPr>
        <p:blipFill>
          <a:blip r:embed="rId6"/>
          <a:stretch>
            <a:fillRect/>
          </a:stretch>
        </p:blipFill>
        <p:spPr>
          <a:xfrm>
            <a:off x="2038633" y="3642503"/>
            <a:ext cx="5614691" cy="481505"/>
          </a:xfrm>
          <a:prstGeom prst="rect">
            <a:avLst/>
          </a:prstGeom>
        </p:spPr>
      </p:pic>
      <p:sp>
        <p:nvSpPr>
          <p:cNvPr id="19" name="TextBox 18">
            <a:extLst>
              <a:ext uri="{FF2B5EF4-FFF2-40B4-BE49-F238E27FC236}">
                <a16:creationId xmlns:a16="http://schemas.microsoft.com/office/drawing/2014/main" id="{650E0A5D-C21A-4111-B2A8-F82C45644565}"/>
              </a:ext>
            </a:extLst>
          </p:cNvPr>
          <p:cNvSpPr txBox="1"/>
          <p:nvPr/>
        </p:nvSpPr>
        <p:spPr>
          <a:xfrm>
            <a:off x="1465199" y="4131306"/>
            <a:ext cx="5519724" cy="600164"/>
          </a:xfrm>
          <a:prstGeom prst="rect">
            <a:avLst/>
          </a:prstGeom>
          <a:noFill/>
        </p:spPr>
        <p:txBody>
          <a:bodyPr wrap="square">
            <a:spAutoFit/>
          </a:bodyPr>
          <a:lstStyle/>
          <a:p>
            <a:pPr algn="just"/>
            <a:r>
              <a:rPr lang="en-US" sz="1100" dirty="0">
                <a:solidFill>
                  <a:schemeClr val="tx1"/>
                </a:solidFill>
                <a:latin typeface="Roboto Mono Medium" panose="020B0604020202020204" charset="0"/>
                <a:ea typeface="Roboto Mono Medium" panose="020B0604020202020204" charset="0"/>
              </a:rPr>
              <a:t>	There are several collision resolution techniques and in this topic, we will cover </a:t>
            </a:r>
            <a:r>
              <a:rPr lang="en-US" sz="1100" u="sng" dirty="0">
                <a:solidFill>
                  <a:schemeClr val="tx1"/>
                </a:solidFill>
                <a:latin typeface="Roboto Mono Medium" panose="020B0604020202020204" charset="0"/>
                <a:ea typeface="Roboto Mono Medium" panose="020B0604020202020204" charset="0"/>
              </a:rPr>
              <a:t>chaining</a:t>
            </a:r>
            <a:r>
              <a:rPr lang="en-US" sz="1100" dirty="0">
                <a:solidFill>
                  <a:schemeClr val="tx1"/>
                </a:solidFill>
                <a:latin typeface="Roboto Mono Medium" panose="020B0604020202020204" charset="0"/>
                <a:ea typeface="Roboto Mono Medium" panose="020B0604020202020204" charset="0"/>
              </a:rPr>
              <a:t>, </a:t>
            </a:r>
            <a:r>
              <a:rPr lang="en-US" sz="1100" u="sng" dirty="0">
                <a:solidFill>
                  <a:schemeClr val="tx1"/>
                </a:solidFill>
                <a:latin typeface="Roboto Mono Medium" panose="020B0604020202020204" charset="0"/>
                <a:ea typeface="Roboto Mono Medium" panose="020B0604020202020204" charset="0"/>
              </a:rPr>
              <a:t>use of buckets</a:t>
            </a:r>
            <a:r>
              <a:rPr lang="en-US" sz="1100" dirty="0">
                <a:solidFill>
                  <a:schemeClr val="tx1"/>
                </a:solidFill>
                <a:latin typeface="Roboto Mono Medium" panose="020B0604020202020204" charset="0"/>
                <a:ea typeface="Roboto Mono Medium" panose="020B0604020202020204" charset="0"/>
              </a:rPr>
              <a:t> and </a:t>
            </a:r>
            <a:r>
              <a:rPr lang="en-US" sz="1100" u="sng" dirty="0">
                <a:solidFill>
                  <a:schemeClr val="tx1"/>
                </a:solidFill>
                <a:latin typeface="Roboto Mono Medium" panose="020B0604020202020204" charset="0"/>
                <a:ea typeface="Roboto Mono Medium" panose="020B0604020202020204" charset="0"/>
              </a:rPr>
              <a:t>open addressing</a:t>
            </a:r>
            <a:r>
              <a:rPr lang="en-US" sz="1100" dirty="0">
                <a:solidFill>
                  <a:schemeClr val="tx1"/>
                </a:solidFill>
                <a:latin typeface="Roboto Mono Medium" panose="020B0604020202020204" charset="0"/>
                <a:ea typeface="Roboto Mono Medium" panose="020B0604020202020204" charset="0"/>
              </a:rPr>
              <a:t>.</a:t>
            </a:r>
          </a:p>
        </p:txBody>
      </p:sp>
    </p:spTree>
    <p:extLst>
      <p:ext uri="{BB962C8B-B14F-4D97-AF65-F5344CB8AC3E}">
        <p14:creationId xmlns:p14="http://schemas.microsoft.com/office/powerpoint/2010/main" val="13851680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2208057"/>
          </a:xfrm>
          <a:prstGeom prst="rect">
            <a:avLst/>
          </a:prstGeom>
        </p:spPr>
        <p:txBody>
          <a:bodyPr spcFirstLastPara="1" wrap="square" lIns="91425" tIns="91425" rIns="91425" bIns="91425" anchor="t" anchorCtr="0">
            <a:noAutofit/>
          </a:bodyPr>
          <a:lstStyle/>
          <a:p>
            <a:r>
              <a:rPr lang="en-US" sz="1400" b="1" u="sng" dirty="0"/>
              <a:t>Chaining</a:t>
            </a:r>
            <a:r>
              <a:rPr lang="en-US" sz="1400" b="1" dirty="0"/>
              <a:t>	</a:t>
            </a:r>
            <a:br>
              <a:rPr lang="en-US" sz="1400" b="1" dirty="0"/>
            </a:br>
            <a:r>
              <a:rPr lang="en-US" sz="1400" b="1" dirty="0"/>
              <a:t>	</a:t>
            </a:r>
            <a:r>
              <a:rPr lang="en-US" sz="1400" dirty="0"/>
              <a:t>In chaining, </a:t>
            </a:r>
            <a:r>
              <a:rPr lang="en-US" sz="1400" i="1" dirty="0"/>
              <a:t>m</a:t>
            </a:r>
            <a:r>
              <a:rPr lang="en-US" sz="1400" dirty="0"/>
              <a:t> linked lists are maintained, one for each possible address in the hash table. </a:t>
            </a:r>
            <a:br>
              <a:rPr lang="en-US" sz="1400" dirty="0"/>
            </a:br>
            <a:r>
              <a:rPr lang="en-US" sz="1400" dirty="0"/>
              <a:t>	</a:t>
            </a:r>
            <a:br>
              <a:rPr lang="en-US" sz="1400" b="1" dirty="0"/>
            </a:br>
            <a:r>
              <a:rPr lang="en-US" sz="1400" dirty="0"/>
              <a:t>	</a:t>
            </a:r>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70123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Chaining</a:t>
            </a: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a:extLst>
              <a:ext uri="{FF2B5EF4-FFF2-40B4-BE49-F238E27FC236}">
                <a16:creationId xmlns:a16="http://schemas.microsoft.com/office/drawing/2014/main" id="{C35AE7DE-D91E-4E97-A7C6-CA49D903C371}"/>
              </a:ext>
            </a:extLst>
          </p:cNvPr>
          <p:cNvPicPr>
            <a:picLocks noChangeAspect="1"/>
          </p:cNvPicPr>
          <p:nvPr/>
        </p:nvPicPr>
        <p:blipFill>
          <a:blip r:embed="rId4"/>
          <a:stretch>
            <a:fillRect/>
          </a:stretch>
        </p:blipFill>
        <p:spPr>
          <a:xfrm>
            <a:off x="2449748" y="2216742"/>
            <a:ext cx="4829233" cy="2306701"/>
          </a:xfrm>
          <a:prstGeom prst="rect">
            <a:avLst/>
          </a:prstGeom>
        </p:spPr>
      </p:pic>
      <p:sp>
        <p:nvSpPr>
          <p:cNvPr id="17" name="TextBox 16">
            <a:extLst>
              <a:ext uri="{FF2B5EF4-FFF2-40B4-BE49-F238E27FC236}">
                <a16:creationId xmlns:a16="http://schemas.microsoft.com/office/drawing/2014/main" id="{52D1D5BB-0B26-4E8F-BCDD-78D0FC5A021C}"/>
              </a:ext>
            </a:extLst>
          </p:cNvPr>
          <p:cNvSpPr txBox="1"/>
          <p:nvPr/>
        </p:nvSpPr>
        <p:spPr>
          <a:xfrm>
            <a:off x="1363980" y="1370842"/>
            <a:ext cx="7058172" cy="954107"/>
          </a:xfrm>
          <a:prstGeom prst="rect">
            <a:avLst/>
          </a:prstGeom>
          <a:noFill/>
        </p:spPr>
        <p:txBody>
          <a:bodyPr wrap="square">
            <a:spAutoFit/>
          </a:bodyPr>
          <a:lstStyle/>
          <a:p>
            <a:r>
              <a:rPr lang="en-US" sz="1400" dirty="0"/>
              <a:t>	Using chaining to resolve collision in storing the example in Prime Number Division Method of hashing:</a:t>
            </a:r>
            <a:br>
              <a:rPr lang="en-US" sz="1400" dirty="0"/>
            </a:br>
            <a:br>
              <a:rPr lang="en-US" sz="1400" dirty="0"/>
            </a:br>
            <a:endParaRPr lang="en-US" dirty="0"/>
          </a:p>
        </p:txBody>
      </p:sp>
    </p:spTree>
    <p:extLst>
      <p:ext uri="{BB962C8B-B14F-4D97-AF65-F5344CB8AC3E}">
        <p14:creationId xmlns:p14="http://schemas.microsoft.com/office/powerpoint/2010/main" val="3101380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Chaining</a:t>
            </a: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6" name="Picture 15">
            <a:extLst>
              <a:ext uri="{FF2B5EF4-FFF2-40B4-BE49-F238E27FC236}">
                <a16:creationId xmlns:a16="http://schemas.microsoft.com/office/drawing/2014/main" id="{E7820FB1-07FC-4CDF-8797-06061889C3E3}"/>
              </a:ext>
            </a:extLst>
          </p:cNvPr>
          <p:cNvPicPr>
            <a:picLocks noChangeAspect="1"/>
          </p:cNvPicPr>
          <p:nvPr/>
        </p:nvPicPr>
        <p:blipFill>
          <a:blip r:embed="rId4"/>
          <a:stretch>
            <a:fillRect/>
          </a:stretch>
        </p:blipFill>
        <p:spPr>
          <a:xfrm>
            <a:off x="1456231" y="1485985"/>
            <a:ext cx="4492914" cy="2653846"/>
          </a:xfrm>
          <a:prstGeom prst="rect">
            <a:avLst/>
          </a:prstGeom>
        </p:spPr>
      </p:pic>
      <p:sp>
        <p:nvSpPr>
          <p:cNvPr id="17" name="TextBox 16">
            <a:extLst>
              <a:ext uri="{FF2B5EF4-FFF2-40B4-BE49-F238E27FC236}">
                <a16:creationId xmlns:a16="http://schemas.microsoft.com/office/drawing/2014/main" id="{F19B4423-45F5-43EA-8864-0C1B3E150255}"/>
              </a:ext>
            </a:extLst>
          </p:cNvPr>
          <p:cNvSpPr txBox="1"/>
          <p:nvPr/>
        </p:nvSpPr>
        <p:spPr>
          <a:xfrm>
            <a:off x="6181427" y="1392170"/>
            <a:ext cx="2314896" cy="1938992"/>
          </a:xfrm>
          <a:prstGeom prst="rect">
            <a:avLst/>
          </a:prstGeom>
          <a:noFill/>
        </p:spPr>
        <p:txBody>
          <a:bodyPr wrap="square" rtlCol="0">
            <a:spAutoFit/>
          </a:bodyPr>
          <a:lstStyle/>
          <a:p>
            <a:pPr algn="just"/>
            <a:r>
              <a:rPr lang="en-US" sz="1200" dirty="0">
                <a:solidFill>
                  <a:schemeClr val="tx1"/>
                </a:solidFill>
              </a:rPr>
              <a:t>Keys </a:t>
            </a:r>
            <a:r>
              <a:rPr lang="en-US" sz="1200" b="1" dirty="0">
                <a:solidFill>
                  <a:schemeClr val="tx1"/>
                </a:solidFill>
              </a:rPr>
              <a:t>845</a:t>
            </a:r>
            <a:r>
              <a:rPr lang="en-US" sz="1200" dirty="0">
                <a:solidFill>
                  <a:schemeClr val="tx1"/>
                </a:solidFill>
              </a:rPr>
              <a:t> and </a:t>
            </a:r>
            <a:r>
              <a:rPr lang="en-US" sz="1200" b="1" dirty="0">
                <a:solidFill>
                  <a:schemeClr val="tx1"/>
                </a:solidFill>
              </a:rPr>
              <a:t>234</a:t>
            </a:r>
            <a:r>
              <a:rPr lang="en-US" sz="1200" dirty="0">
                <a:solidFill>
                  <a:schemeClr val="tx1"/>
                </a:solidFill>
              </a:rPr>
              <a:t> both hash to address 0 so they are linked together in the address. The case is the same for addresses 2, 4, 5, 7 and 10, while the rest of the addresses have no collision. The chaining method resolved the collision by providing additional link nodes to each of the values.</a:t>
            </a:r>
          </a:p>
        </p:txBody>
      </p:sp>
    </p:spTree>
    <p:extLst>
      <p:ext uri="{BB962C8B-B14F-4D97-AF65-F5344CB8AC3E}">
        <p14:creationId xmlns:p14="http://schemas.microsoft.com/office/powerpoint/2010/main" val="24640458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Use of Bucket</a:t>
            </a:r>
            <a:r>
              <a:rPr lang="en-US" sz="1400" b="1" dirty="0"/>
              <a:t>	</a:t>
            </a:r>
            <a:br>
              <a:rPr lang="en-US" sz="1400" b="1" u="sng" dirty="0"/>
            </a:br>
            <a:r>
              <a:rPr lang="en-US" sz="1400" b="1" dirty="0"/>
              <a:t>	</a:t>
            </a:r>
            <a:br>
              <a:rPr lang="en-US" sz="1400" b="1" dirty="0"/>
            </a:br>
            <a:r>
              <a:rPr lang="en-US" sz="1400" b="1" dirty="0"/>
              <a:t>	</a:t>
            </a:r>
            <a:r>
              <a:rPr lang="en-US" sz="1400" dirty="0"/>
              <a:t>Like chaining, this method divides the hash table into </a:t>
            </a:r>
            <a:r>
              <a:rPr lang="en-US" sz="1400" i="1" dirty="0"/>
              <a:t>m</a:t>
            </a:r>
            <a:r>
              <a:rPr lang="en-US" sz="1400" dirty="0"/>
              <a:t> groups of records where each group contains exactly b records, having each address regarded as a bucket.</a:t>
            </a:r>
            <a:br>
              <a:rPr lang="en-US" sz="1400" dirty="0"/>
            </a:b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 name="Picture 17">
            <a:extLst>
              <a:ext uri="{FF2B5EF4-FFF2-40B4-BE49-F238E27FC236}">
                <a16:creationId xmlns:a16="http://schemas.microsoft.com/office/drawing/2014/main" id="{1C0D4C6C-9CDF-4677-8890-1EEBA5862ABD}"/>
              </a:ext>
            </a:extLst>
          </p:cNvPr>
          <p:cNvPicPr>
            <a:picLocks noChangeAspect="1"/>
          </p:cNvPicPr>
          <p:nvPr/>
        </p:nvPicPr>
        <p:blipFill>
          <a:blip r:embed="rId4"/>
          <a:stretch>
            <a:fillRect/>
          </a:stretch>
        </p:blipFill>
        <p:spPr>
          <a:xfrm>
            <a:off x="3247487" y="2238930"/>
            <a:ext cx="2257126" cy="2841560"/>
          </a:xfrm>
          <a:prstGeom prst="rect">
            <a:avLst/>
          </a:prstGeom>
        </p:spPr>
      </p:pic>
    </p:spTree>
    <p:extLst>
      <p:ext uri="{BB962C8B-B14F-4D97-AF65-F5344CB8AC3E}">
        <p14:creationId xmlns:p14="http://schemas.microsoft.com/office/powerpoint/2010/main" val="16400527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4418440" cy="1583439"/>
          </a:xfrm>
          <a:prstGeom prst="rect">
            <a:avLst/>
          </a:prstGeom>
        </p:spPr>
        <p:txBody>
          <a:bodyPr spcFirstLastPara="1" wrap="square" lIns="91425" tIns="91425" rIns="91425" bIns="91425" anchor="t" anchorCtr="0">
            <a:noAutofit/>
          </a:bodyPr>
          <a:lstStyle/>
          <a:p>
            <a:r>
              <a:rPr lang="en-US" sz="1400" b="1" u="sng" dirty="0"/>
              <a:t>Use of Bucket</a:t>
            </a:r>
            <a:r>
              <a:rPr lang="en-US" sz="1400" b="1" dirty="0"/>
              <a:t>	</a:t>
            </a:r>
            <a:br>
              <a:rPr lang="en-US" sz="1400" b="1" u="sng"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 name="Picture 17">
            <a:extLst>
              <a:ext uri="{FF2B5EF4-FFF2-40B4-BE49-F238E27FC236}">
                <a16:creationId xmlns:a16="http://schemas.microsoft.com/office/drawing/2014/main" id="{1C0D4C6C-9CDF-4677-8890-1EEBA5862ABD}"/>
              </a:ext>
            </a:extLst>
          </p:cNvPr>
          <p:cNvPicPr>
            <a:picLocks noChangeAspect="1"/>
          </p:cNvPicPr>
          <p:nvPr/>
        </p:nvPicPr>
        <p:blipFill>
          <a:blip r:embed="rId4"/>
          <a:stretch>
            <a:fillRect/>
          </a:stretch>
        </p:blipFill>
        <p:spPr>
          <a:xfrm>
            <a:off x="6165026" y="1426118"/>
            <a:ext cx="2257126" cy="2841560"/>
          </a:xfrm>
          <a:prstGeom prst="rect">
            <a:avLst/>
          </a:prstGeom>
        </p:spPr>
      </p:pic>
      <p:sp>
        <p:nvSpPr>
          <p:cNvPr id="17" name="TextBox 16">
            <a:extLst>
              <a:ext uri="{FF2B5EF4-FFF2-40B4-BE49-F238E27FC236}">
                <a16:creationId xmlns:a16="http://schemas.microsoft.com/office/drawing/2014/main" id="{51527679-B08D-4BC1-BC54-A68B3A4345C6}"/>
              </a:ext>
            </a:extLst>
          </p:cNvPr>
          <p:cNvSpPr txBox="1"/>
          <p:nvPr/>
        </p:nvSpPr>
        <p:spPr>
          <a:xfrm>
            <a:off x="1486742" y="1687201"/>
            <a:ext cx="4418440" cy="1754326"/>
          </a:xfrm>
          <a:prstGeom prst="rect">
            <a:avLst/>
          </a:prstGeom>
          <a:noFill/>
        </p:spPr>
        <p:txBody>
          <a:bodyPr wrap="square">
            <a:spAutoFit/>
          </a:bodyPr>
          <a:lstStyle/>
          <a:p>
            <a:pPr algn="just"/>
            <a:r>
              <a:rPr lang="en-US" sz="1200" dirty="0">
                <a:solidFill>
                  <a:schemeClr val="tx1">
                    <a:lumMod val="50000"/>
                  </a:schemeClr>
                </a:solidFill>
              </a:rPr>
              <a:t>Collision is redefined in this approach. It happens when a </a:t>
            </a:r>
            <a:r>
              <a:rPr lang="en-US" sz="1200" b="1" u="sng" dirty="0">
                <a:solidFill>
                  <a:schemeClr val="tx1">
                    <a:lumMod val="50000"/>
                  </a:schemeClr>
                </a:solidFill>
              </a:rPr>
              <a:t>bucket overflows – that is, when an insertion is attempted on a full bucket</a:t>
            </a:r>
            <a:r>
              <a:rPr lang="en-US" sz="1200" dirty="0">
                <a:solidFill>
                  <a:schemeClr val="tx1">
                    <a:lumMod val="50000"/>
                  </a:schemeClr>
                </a:solidFill>
              </a:rPr>
              <a:t>. Hence, there is a significant reduction in the number of collisions. However, this method wastes some space and is not free from overflowing further, in which case an overflow policy must be invoked. In the above example, there are three slots in each address. Being static in size, problem arises when more than three values hash to a single address.</a:t>
            </a:r>
          </a:p>
        </p:txBody>
      </p:sp>
    </p:spTree>
    <p:extLst>
      <p:ext uri="{BB962C8B-B14F-4D97-AF65-F5344CB8AC3E}">
        <p14:creationId xmlns:p14="http://schemas.microsoft.com/office/powerpoint/2010/main" val="41595187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dirty="0"/>
              <a:t>	</a:t>
            </a:r>
            <a:br>
              <a:rPr lang="en-US" sz="1400" b="1" u="sng" dirty="0"/>
            </a:br>
            <a:r>
              <a:rPr lang="en-US" sz="1400" b="1" dirty="0"/>
              <a:t>	</a:t>
            </a:r>
            <a:r>
              <a:rPr lang="en-US" sz="1400" dirty="0"/>
              <a:t>In open addressing, when the address produced by a hash function h(k) has no more space for insertion, an empty slot other than h(k) in the hash table is located. </a:t>
            </a:r>
            <a:br>
              <a:rPr lang="en-US" sz="1400" dirty="0"/>
            </a:br>
            <a:r>
              <a:rPr lang="en-US" sz="1400" dirty="0"/>
              <a:t>	This process is called </a:t>
            </a:r>
            <a:r>
              <a:rPr lang="en-US" sz="1400" b="1" u="sng" dirty="0"/>
              <a:t>probing</a:t>
            </a:r>
            <a:r>
              <a:rPr lang="en-US" sz="1400" dirty="0"/>
              <a:t>. In this empty slot, the new record that has collided with the old one, known as the colliding key, could be safely placed. 	</a:t>
            </a:r>
            <a:br>
              <a:rPr lang="en-US" sz="1400" dirty="0"/>
            </a:br>
            <a:r>
              <a:rPr lang="en-US" sz="1400" dirty="0"/>
              <a:t>	In this lesson, we will cover two techniques: </a:t>
            </a:r>
            <a:r>
              <a:rPr lang="en-US" sz="1400" b="1" dirty="0"/>
              <a:t>linear probing</a:t>
            </a:r>
            <a:r>
              <a:rPr lang="en-US" sz="1400" dirty="0"/>
              <a:t> and </a:t>
            </a:r>
            <a:r>
              <a:rPr lang="en-US" sz="1400" b="1" dirty="0"/>
              <a:t>double hashing</a:t>
            </a:r>
            <a:r>
              <a:rPr lang="en-US" sz="1400" dirty="0"/>
              <a:t>.</a:t>
            </a:r>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85053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r>
              <a:rPr lang="en-US" sz="1400" b="1" u="sng" dirty="0"/>
              <a:t>Linear probing</a:t>
            </a:r>
            <a:r>
              <a:rPr lang="en-US" sz="1400" b="1" dirty="0"/>
              <a:t> </a:t>
            </a:r>
            <a:r>
              <a:rPr lang="en-US" sz="1400" dirty="0"/>
              <a:t>is one of the simplest techniques in handling collisions in which the file is scanned or probed sequentially as a circular file and the colliding key is stored in the nearest available space to the address. </a:t>
            </a:r>
            <a:br>
              <a:rPr lang="en-US" sz="1400" dirty="0"/>
            </a:br>
            <a:r>
              <a:rPr lang="en-US" sz="1400" dirty="0"/>
              <a:t>	This is used in systems where a “</a:t>
            </a:r>
            <a:r>
              <a:rPr lang="en-US" sz="1400" b="1" i="1" dirty="0"/>
              <a:t>first come, first served</a:t>
            </a:r>
            <a:r>
              <a:rPr lang="en-US" sz="1400" dirty="0"/>
              <a:t>” basis is followed. </a:t>
            </a:r>
            <a:br>
              <a:rPr lang="en-US" sz="1400" dirty="0"/>
            </a:br>
            <a:r>
              <a:rPr lang="en-US" sz="1400" dirty="0"/>
              <a:t>	An example is an airline reservation system where seats for chance passengers are given away when passengers for reserved seats don’t arrive.</a:t>
            </a:r>
            <a:br>
              <a:rPr lang="en-US" sz="1400" dirty="0"/>
            </a:br>
            <a:r>
              <a:rPr lang="en-US" sz="1400" dirty="0"/>
              <a:t>	</a:t>
            </a:r>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10752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r>
              <a:rPr lang="en-US" sz="1400" dirty="0"/>
              <a:t>Whenever a collision occurs at a certain address, the succeeding addresses are probed, that is, searched sequentially until an empty one is found. The key then uses this address. Array should be considered circular, so that when the last location is reached, the search proceeds to the first location of the array.</a:t>
            </a:r>
            <a:br>
              <a:rPr lang="en-US" sz="1400" dirty="0"/>
            </a:b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565859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65200" y="1837179"/>
            <a:ext cx="2334808" cy="1415772"/>
          </a:xfrm>
          <a:prstGeom prst="rect">
            <a:avLst/>
          </a:prstGeom>
          <a:noFill/>
        </p:spPr>
        <p:txBody>
          <a:bodyPr wrap="square" rtlCol="0">
            <a:spAutoFit/>
          </a:bodyPr>
          <a:lstStyle/>
          <a:p>
            <a:pPr algn="just"/>
            <a:r>
              <a:rPr lang="en-US" sz="1200" dirty="0"/>
              <a:t>The slots in a hash table may contain only one key or could also be a bucket. In this example, buckets of capacity 2 are used to store the following keys:</a:t>
            </a:r>
          </a:p>
          <a:p>
            <a:endParaRPr lang="en-US" sz="1200" dirty="0"/>
          </a:p>
        </p:txBody>
      </p:sp>
      <p:pic>
        <p:nvPicPr>
          <p:cNvPr id="16" name="Picture 15">
            <a:extLst>
              <a:ext uri="{FF2B5EF4-FFF2-40B4-BE49-F238E27FC236}">
                <a16:creationId xmlns:a16="http://schemas.microsoft.com/office/drawing/2014/main" id="{6F7EC8B5-6774-4C96-AF16-D9C696D80478}"/>
              </a:ext>
            </a:extLst>
          </p:cNvPr>
          <p:cNvPicPr>
            <a:picLocks noChangeAspect="1"/>
          </p:cNvPicPr>
          <p:nvPr/>
        </p:nvPicPr>
        <p:blipFill>
          <a:blip r:embed="rId4"/>
          <a:stretch>
            <a:fillRect/>
          </a:stretch>
        </p:blipFill>
        <p:spPr>
          <a:xfrm>
            <a:off x="3800008" y="1580601"/>
            <a:ext cx="5162282" cy="2491101"/>
          </a:xfrm>
          <a:prstGeom prst="rect">
            <a:avLst/>
          </a:prstGeom>
        </p:spPr>
      </p:pic>
    </p:spTree>
    <p:extLst>
      <p:ext uri="{BB962C8B-B14F-4D97-AF65-F5344CB8AC3E}">
        <p14:creationId xmlns:p14="http://schemas.microsoft.com/office/powerpoint/2010/main" val="2377596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7" name="Picture 16">
            <a:extLst>
              <a:ext uri="{FF2B5EF4-FFF2-40B4-BE49-F238E27FC236}">
                <a16:creationId xmlns:a16="http://schemas.microsoft.com/office/drawing/2014/main" id="{367E0F97-972D-4162-9CE8-5CAE1EC5400E}"/>
              </a:ext>
            </a:extLst>
          </p:cNvPr>
          <p:cNvPicPr>
            <a:picLocks noChangeAspect="1"/>
          </p:cNvPicPr>
          <p:nvPr/>
        </p:nvPicPr>
        <p:blipFill>
          <a:blip r:embed="rId4"/>
          <a:stretch>
            <a:fillRect/>
          </a:stretch>
        </p:blipFill>
        <p:spPr>
          <a:xfrm>
            <a:off x="1608380" y="1563469"/>
            <a:ext cx="2008413" cy="3484476"/>
          </a:xfrm>
          <a:prstGeom prst="rect">
            <a:avLst/>
          </a:prstGeom>
        </p:spPr>
      </p:pic>
      <p:sp>
        <p:nvSpPr>
          <p:cNvPr id="18" name="TextBox 17">
            <a:extLst>
              <a:ext uri="{FF2B5EF4-FFF2-40B4-BE49-F238E27FC236}">
                <a16:creationId xmlns:a16="http://schemas.microsoft.com/office/drawing/2014/main" id="{31AA5816-8808-4403-B2B5-14756A3BA99B}"/>
              </a:ext>
            </a:extLst>
          </p:cNvPr>
          <p:cNvSpPr txBox="1"/>
          <p:nvPr/>
        </p:nvSpPr>
        <p:spPr>
          <a:xfrm>
            <a:off x="4484921" y="3233458"/>
            <a:ext cx="3532820" cy="1569660"/>
          </a:xfrm>
          <a:prstGeom prst="rect">
            <a:avLst/>
          </a:prstGeom>
          <a:noFill/>
        </p:spPr>
        <p:txBody>
          <a:bodyPr wrap="square" rtlCol="0">
            <a:spAutoFit/>
          </a:bodyPr>
          <a:lstStyle/>
          <a:p>
            <a:pPr algn="just"/>
            <a:r>
              <a:rPr lang="en-US" sz="1200" dirty="0"/>
              <a:t>This approach resolves the problem of overflowing in bucket addressing. Also, probing for available space makes the storage of overflowed keys near its home address in most cases. However, this method suffers from displacement problem where the keys that rightfully owns an address may be displaced by other keys that just probed to the said address.</a:t>
            </a:r>
          </a:p>
        </p:txBody>
      </p:sp>
      <p:sp>
        <p:nvSpPr>
          <p:cNvPr id="3" name="Rectangle 2">
            <a:extLst>
              <a:ext uri="{FF2B5EF4-FFF2-40B4-BE49-F238E27FC236}">
                <a16:creationId xmlns:a16="http://schemas.microsoft.com/office/drawing/2014/main" id="{4A35350F-4641-3C1C-F073-C3D9DE750844}"/>
              </a:ext>
            </a:extLst>
          </p:cNvPr>
          <p:cNvSpPr/>
          <p:nvPr/>
        </p:nvSpPr>
        <p:spPr>
          <a:xfrm>
            <a:off x="1795532" y="1861752"/>
            <a:ext cx="1730263" cy="31221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32D1E3F-51E0-56B1-D22C-69D4B6AA6AFA}"/>
              </a:ext>
            </a:extLst>
          </p:cNvPr>
          <p:cNvPicPr>
            <a:picLocks noChangeAspect="1"/>
          </p:cNvPicPr>
          <p:nvPr/>
        </p:nvPicPr>
        <p:blipFill>
          <a:blip r:embed="rId5"/>
          <a:stretch>
            <a:fillRect/>
          </a:stretch>
        </p:blipFill>
        <p:spPr>
          <a:xfrm>
            <a:off x="4385894" y="1135881"/>
            <a:ext cx="4172675" cy="2013559"/>
          </a:xfrm>
          <a:prstGeom prst="rect">
            <a:avLst/>
          </a:prstGeom>
        </p:spPr>
      </p:pic>
      <p:sp>
        <p:nvSpPr>
          <p:cNvPr id="6" name="TextBox 5">
            <a:extLst>
              <a:ext uri="{FF2B5EF4-FFF2-40B4-BE49-F238E27FC236}">
                <a16:creationId xmlns:a16="http://schemas.microsoft.com/office/drawing/2014/main" id="{DE403AD2-EBDD-E133-AD65-67B7BE990293}"/>
              </a:ext>
            </a:extLst>
          </p:cNvPr>
          <p:cNvSpPr txBox="1"/>
          <p:nvPr/>
        </p:nvSpPr>
        <p:spPr>
          <a:xfrm>
            <a:off x="1818880" y="3757191"/>
            <a:ext cx="444225" cy="246221"/>
          </a:xfrm>
          <a:prstGeom prst="rect">
            <a:avLst/>
          </a:prstGeom>
          <a:noFill/>
        </p:spPr>
        <p:txBody>
          <a:bodyPr wrap="square" rtlCol="0">
            <a:spAutoFit/>
          </a:bodyPr>
          <a:lstStyle/>
          <a:p>
            <a:r>
              <a:rPr lang="en-US" sz="1000" b="1" dirty="0">
                <a:solidFill>
                  <a:schemeClr val="tx1">
                    <a:lumMod val="50000"/>
                  </a:schemeClr>
                </a:solidFill>
              </a:rPr>
              <a:t>125</a:t>
            </a:r>
          </a:p>
        </p:txBody>
      </p:sp>
      <p:cxnSp>
        <p:nvCxnSpPr>
          <p:cNvPr id="8" name="Straight Connector 7">
            <a:extLst>
              <a:ext uri="{FF2B5EF4-FFF2-40B4-BE49-F238E27FC236}">
                <a16:creationId xmlns:a16="http://schemas.microsoft.com/office/drawing/2014/main" id="{F1F0EA56-B7D2-0789-DFA3-8DC8381481BC}"/>
              </a:ext>
            </a:extLst>
          </p:cNvPr>
          <p:cNvCxnSpPr>
            <a:cxnSpLocks/>
            <a:stCxn id="3" idx="0"/>
            <a:endCxn id="3" idx="2"/>
          </p:cNvCxnSpPr>
          <p:nvPr/>
        </p:nvCxnSpPr>
        <p:spPr>
          <a:xfrm>
            <a:off x="2660664" y="1861752"/>
            <a:ext cx="0" cy="3122140"/>
          </a:xfrm>
          <a:prstGeom prst="line">
            <a:avLst/>
          </a:prstGeom>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AA0D4E9E-12B0-FA29-D73A-8CC3ABE84DC5}"/>
              </a:ext>
            </a:extLst>
          </p:cNvPr>
          <p:cNvSpPr txBox="1"/>
          <p:nvPr/>
        </p:nvSpPr>
        <p:spPr>
          <a:xfrm>
            <a:off x="1800735" y="1865327"/>
            <a:ext cx="444225" cy="246221"/>
          </a:xfrm>
          <a:prstGeom prst="rect">
            <a:avLst/>
          </a:prstGeom>
          <a:noFill/>
        </p:spPr>
        <p:txBody>
          <a:bodyPr wrap="square" rtlCol="0">
            <a:spAutoFit/>
          </a:bodyPr>
          <a:lstStyle/>
          <a:p>
            <a:r>
              <a:rPr lang="en-US" sz="1000" b="1" dirty="0">
                <a:solidFill>
                  <a:schemeClr val="tx1">
                    <a:lumMod val="50000"/>
                  </a:schemeClr>
                </a:solidFill>
              </a:rPr>
              <a:t>845</a:t>
            </a:r>
          </a:p>
        </p:txBody>
      </p:sp>
      <p:sp>
        <p:nvSpPr>
          <p:cNvPr id="11" name="TextBox 10">
            <a:extLst>
              <a:ext uri="{FF2B5EF4-FFF2-40B4-BE49-F238E27FC236}">
                <a16:creationId xmlns:a16="http://schemas.microsoft.com/office/drawing/2014/main" id="{C3E82036-57AE-D54B-D836-E3F8E0802790}"/>
              </a:ext>
            </a:extLst>
          </p:cNvPr>
          <p:cNvSpPr txBox="1"/>
          <p:nvPr/>
        </p:nvSpPr>
        <p:spPr>
          <a:xfrm>
            <a:off x="1828708" y="2341595"/>
            <a:ext cx="444225" cy="246221"/>
          </a:xfrm>
          <a:prstGeom prst="rect">
            <a:avLst/>
          </a:prstGeom>
          <a:noFill/>
        </p:spPr>
        <p:txBody>
          <a:bodyPr wrap="square" rtlCol="0">
            <a:spAutoFit/>
          </a:bodyPr>
          <a:lstStyle/>
          <a:p>
            <a:r>
              <a:rPr lang="en-US" sz="1000" b="1" dirty="0">
                <a:solidFill>
                  <a:schemeClr val="tx1">
                    <a:lumMod val="50000"/>
                  </a:schemeClr>
                </a:solidFill>
              </a:rPr>
              <a:t>444</a:t>
            </a:r>
          </a:p>
        </p:txBody>
      </p:sp>
      <p:sp>
        <p:nvSpPr>
          <p:cNvPr id="12" name="TextBox 11">
            <a:extLst>
              <a:ext uri="{FF2B5EF4-FFF2-40B4-BE49-F238E27FC236}">
                <a16:creationId xmlns:a16="http://schemas.microsoft.com/office/drawing/2014/main" id="{AFA7F5FA-8E5A-A770-A174-7CF1DCE04F50}"/>
              </a:ext>
            </a:extLst>
          </p:cNvPr>
          <p:cNvSpPr txBox="1"/>
          <p:nvPr/>
        </p:nvSpPr>
        <p:spPr>
          <a:xfrm>
            <a:off x="1818880" y="3990954"/>
            <a:ext cx="444225" cy="246221"/>
          </a:xfrm>
          <a:prstGeom prst="rect">
            <a:avLst/>
          </a:prstGeom>
          <a:noFill/>
        </p:spPr>
        <p:txBody>
          <a:bodyPr wrap="square" rtlCol="0">
            <a:spAutoFit/>
          </a:bodyPr>
          <a:lstStyle/>
          <a:p>
            <a:r>
              <a:rPr lang="en-US" sz="1000" b="1" dirty="0">
                <a:solidFill>
                  <a:schemeClr val="tx1">
                    <a:lumMod val="50000"/>
                  </a:schemeClr>
                </a:solidFill>
              </a:rPr>
              <a:t>256</a:t>
            </a:r>
          </a:p>
        </p:txBody>
      </p:sp>
      <p:sp>
        <p:nvSpPr>
          <p:cNvPr id="13" name="TextBox 12">
            <a:extLst>
              <a:ext uri="{FF2B5EF4-FFF2-40B4-BE49-F238E27FC236}">
                <a16:creationId xmlns:a16="http://schemas.microsoft.com/office/drawing/2014/main" id="{A5CDE37D-AB32-B767-6598-AACC284BCAE1}"/>
              </a:ext>
            </a:extLst>
          </p:cNvPr>
          <p:cNvSpPr txBox="1"/>
          <p:nvPr/>
        </p:nvSpPr>
        <p:spPr>
          <a:xfrm>
            <a:off x="1818880" y="3527144"/>
            <a:ext cx="444225" cy="246221"/>
          </a:xfrm>
          <a:prstGeom prst="rect">
            <a:avLst/>
          </a:prstGeom>
          <a:noFill/>
        </p:spPr>
        <p:txBody>
          <a:bodyPr wrap="square" rtlCol="0">
            <a:spAutoFit/>
          </a:bodyPr>
          <a:lstStyle/>
          <a:p>
            <a:r>
              <a:rPr lang="en-US" sz="1000" b="1" dirty="0">
                <a:solidFill>
                  <a:schemeClr val="tx1">
                    <a:lumMod val="50000"/>
                  </a:schemeClr>
                </a:solidFill>
              </a:rPr>
              <a:t>345</a:t>
            </a:r>
          </a:p>
        </p:txBody>
      </p:sp>
      <p:sp>
        <p:nvSpPr>
          <p:cNvPr id="14" name="TextBox 13">
            <a:extLst>
              <a:ext uri="{FF2B5EF4-FFF2-40B4-BE49-F238E27FC236}">
                <a16:creationId xmlns:a16="http://schemas.microsoft.com/office/drawing/2014/main" id="{B12C7620-792E-E1A7-77FA-418BFC109DF9}"/>
              </a:ext>
            </a:extLst>
          </p:cNvPr>
          <p:cNvSpPr txBox="1"/>
          <p:nvPr/>
        </p:nvSpPr>
        <p:spPr>
          <a:xfrm>
            <a:off x="1818449" y="2831396"/>
            <a:ext cx="444225" cy="246221"/>
          </a:xfrm>
          <a:prstGeom prst="rect">
            <a:avLst/>
          </a:prstGeom>
          <a:noFill/>
        </p:spPr>
        <p:txBody>
          <a:bodyPr wrap="square" rtlCol="0">
            <a:spAutoFit/>
          </a:bodyPr>
          <a:lstStyle/>
          <a:p>
            <a:r>
              <a:rPr lang="en-US" sz="1000" b="1" dirty="0">
                <a:solidFill>
                  <a:schemeClr val="tx1">
                    <a:lumMod val="50000"/>
                  </a:schemeClr>
                </a:solidFill>
              </a:rPr>
              <a:t>745</a:t>
            </a:r>
          </a:p>
        </p:txBody>
      </p:sp>
      <p:sp>
        <p:nvSpPr>
          <p:cNvPr id="16" name="TextBox 15">
            <a:extLst>
              <a:ext uri="{FF2B5EF4-FFF2-40B4-BE49-F238E27FC236}">
                <a16:creationId xmlns:a16="http://schemas.microsoft.com/office/drawing/2014/main" id="{FB7BA729-03DB-77FE-38FF-DB5AC745AE45}"/>
              </a:ext>
            </a:extLst>
          </p:cNvPr>
          <p:cNvSpPr txBox="1"/>
          <p:nvPr/>
        </p:nvSpPr>
        <p:spPr>
          <a:xfrm>
            <a:off x="1818448" y="3043149"/>
            <a:ext cx="444225" cy="246221"/>
          </a:xfrm>
          <a:prstGeom prst="rect">
            <a:avLst/>
          </a:prstGeom>
          <a:noFill/>
        </p:spPr>
        <p:txBody>
          <a:bodyPr wrap="square" rtlCol="0">
            <a:spAutoFit/>
          </a:bodyPr>
          <a:lstStyle/>
          <a:p>
            <a:r>
              <a:rPr lang="en-US" sz="1000" b="1" dirty="0">
                <a:solidFill>
                  <a:schemeClr val="tx1">
                    <a:lumMod val="50000"/>
                  </a:schemeClr>
                </a:solidFill>
              </a:rPr>
              <a:t>902</a:t>
            </a:r>
          </a:p>
        </p:txBody>
      </p:sp>
      <p:sp>
        <p:nvSpPr>
          <p:cNvPr id="19" name="TextBox 18">
            <a:extLst>
              <a:ext uri="{FF2B5EF4-FFF2-40B4-BE49-F238E27FC236}">
                <a16:creationId xmlns:a16="http://schemas.microsoft.com/office/drawing/2014/main" id="{8BF146EE-4583-B9B5-3FC5-E78E6C1AD35B}"/>
              </a:ext>
            </a:extLst>
          </p:cNvPr>
          <p:cNvSpPr txBox="1"/>
          <p:nvPr/>
        </p:nvSpPr>
        <p:spPr>
          <a:xfrm>
            <a:off x="1822454" y="4221001"/>
            <a:ext cx="444225" cy="246221"/>
          </a:xfrm>
          <a:prstGeom prst="rect">
            <a:avLst/>
          </a:prstGeom>
          <a:noFill/>
        </p:spPr>
        <p:txBody>
          <a:bodyPr wrap="square" rtlCol="0">
            <a:spAutoFit/>
          </a:bodyPr>
          <a:lstStyle/>
          <a:p>
            <a:r>
              <a:rPr lang="en-US" sz="1000" b="1" dirty="0">
                <a:solidFill>
                  <a:schemeClr val="tx1">
                    <a:lumMod val="50000"/>
                  </a:schemeClr>
                </a:solidFill>
              </a:rPr>
              <a:t>569</a:t>
            </a:r>
          </a:p>
        </p:txBody>
      </p:sp>
      <p:sp>
        <p:nvSpPr>
          <p:cNvPr id="21" name="TextBox 20">
            <a:extLst>
              <a:ext uri="{FF2B5EF4-FFF2-40B4-BE49-F238E27FC236}">
                <a16:creationId xmlns:a16="http://schemas.microsoft.com/office/drawing/2014/main" id="{6CD09FDB-CDA3-8AB9-F70C-48F46BF6CA5F}"/>
              </a:ext>
            </a:extLst>
          </p:cNvPr>
          <p:cNvSpPr txBox="1"/>
          <p:nvPr/>
        </p:nvSpPr>
        <p:spPr>
          <a:xfrm>
            <a:off x="2785318" y="3510970"/>
            <a:ext cx="444225" cy="246221"/>
          </a:xfrm>
          <a:prstGeom prst="rect">
            <a:avLst/>
          </a:prstGeom>
          <a:noFill/>
        </p:spPr>
        <p:txBody>
          <a:bodyPr wrap="square" rtlCol="0">
            <a:spAutoFit/>
          </a:bodyPr>
          <a:lstStyle/>
          <a:p>
            <a:r>
              <a:rPr lang="en-US" sz="1000" b="1" dirty="0">
                <a:solidFill>
                  <a:schemeClr val="tx1">
                    <a:lumMod val="50000"/>
                  </a:schemeClr>
                </a:solidFill>
              </a:rPr>
              <a:t>254</a:t>
            </a:r>
          </a:p>
        </p:txBody>
      </p:sp>
      <p:sp>
        <p:nvSpPr>
          <p:cNvPr id="22" name="TextBox 21">
            <a:extLst>
              <a:ext uri="{FF2B5EF4-FFF2-40B4-BE49-F238E27FC236}">
                <a16:creationId xmlns:a16="http://schemas.microsoft.com/office/drawing/2014/main" id="{427E8DEC-4F8E-EB2B-6FFD-346AC36F06BA}"/>
              </a:ext>
            </a:extLst>
          </p:cNvPr>
          <p:cNvSpPr txBox="1"/>
          <p:nvPr/>
        </p:nvSpPr>
        <p:spPr>
          <a:xfrm>
            <a:off x="2779684" y="3076687"/>
            <a:ext cx="444225" cy="246221"/>
          </a:xfrm>
          <a:prstGeom prst="rect">
            <a:avLst/>
          </a:prstGeom>
          <a:noFill/>
        </p:spPr>
        <p:txBody>
          <a:bodyPr wrap="square" rtlCol="0">
            <a:spAutoFit/>
          </a:bodyPr>
          <a:lstStyle/>
          <a:p>
            <a:r>
              <a:rPr lang="en-US" sz="1000" b="1" dirty="0">
                <a:solidFill>
                  <a:schemeClr val="tx1">
                    <a:lumMod val="50000"/>
                  </a:schemeClr>
                </a:solidFill>
              </a:rPr>
              <a:t>382</a:t>
            </a:r>
          </a:p>
        </p:txBody>
      </p:sp>
      <p:sp>
        <p:nvSpPr>
          <p:cNvPr id="23" name="TextBox 22">
            <a:extLst>
              <a:ext uri="{FF2B5EF4-FFF2-40B4-BE49-F238E27FC236}">
                <a16:creationId xmlns:a16="http://schemas.microsoft.com/office/drawing/2014/main" id="{A6185290-07D2-EE5F-284C-C64FF2FBB828}"/>
              </a:ext>
            </a:extLst>
          </p:cNvPr>
          <p:cNvSpPr txBox="1"/>
          <p:nvPr/>
        </p:nvSpPr>
        <p:spPr>
          <a:xfrm>
            <a:off x="2779683" y="1865500"/>
            <a:ext cx="444225" cy="246221"/>
          </a:xfrm>
          <a:prstGeom prst="rect">
            <a:avLst/>
          </a:prstGeom>
          <a:noFill/>
        </p:spPr>
        <p:txBody>
          <a:bodyPr wrap="square" rtlCol="0">
            <a:spAutoFit/>
          </a:bodyPr>
          <a:lstStyle/>
          <a:p>
            <a:r>
              <a:rPr lang="en-US" sz="1000" b="1" dirty="0">
                <a:solidFill>
                  <a:schemeClr val="tx1">
                    <a:lumMod val="50000"/>
                  </a:schemeClr>
                </a:solidFill>
              </a:rPr>
              <a:t>234</a:t>
            </a:r>
          </a:p>
        </p:txBody>
      </p:sp>
      <p:sp>
        <p:nvSpPr>
          <p:cNvPr id="24" name="TextBox 23">
            <a:extLst>
              <a:ext uri="{FF2B5EF4-FFF2-40B4-BE49-F238E27FC236}">
                <a16:creationId xmlns:a16="http://schemas.microsoft.com/office/drawing/2014/main" id="{FB924F42-A6FF-6353-E8BB-0016FE936AD1}"/>
              </a:ext>
            </a:extLst>
          </p:cNvPr>
          <p:cNvSpPr txBox="1"/>
          <p:nvPr/>
        </p:nvSpPr>
        <p:spPr>
          <a:xfrm>
            <a:off x="2781204" y="2341595"/>
            <a:ext cx="444225" cy="246221"/>
          </a:xfrm>
          <a:prstGeom prst="rect">
            <a:avLst/>
          </a:prstGeom>
          <a:noFill/>
        </p:spPr>
        <p:txBody>
          <a:bodyPr wrap="square" rtlCol="0">
            <a:spAutoFit/>
          </a:bodyPr>
          <a:lstStyle/>
          <a:p>
            <a:r>
              <a:rPr lang="en-US" sz="1000" b="1" dirty="0">
                <a:solidFill>
                  <a:schemeClr val="tx1">
                    <a:lumMod val="50000"/>
                  </a:schemeClr>
                </a:solidFill>
              </a:rPr>
              <a:t>431</a:t>
            </a:r>
          </a:p>
        </p:txBody>
      </p:sp>
      <p:sp>
        <p:nvSpPr>
          <p:cNvPr id="26" name="TextBox 25">
            <a:extLst>
              <a:ext uri="{FF2B5EF4-FFF2-40B4-BE49-F238E27FC236}">
                <a16:creationId xmlns:a16="http://schemas.microsoft.com/office/drawing/2014/main" id="{DC73C509-52AB-AF75-1FB7-F1F9FF39F331}"/>
              </a:ext>
            </a:extLst>
          </p:cNvPr>
          <p:cNvSpPr txBox="1"/>
          <p:nvPr/>
        </p:nvSpPr>
        <p:spPr>
          <a:xfrm>
            <a:off x="1814881" y="4458775"/>
            <a:ext cx="444225" cy="246221"/>
          </a:xfrm>
          <a:prstGeom prst="rect">
            <a:avLst/>
          </a:prstGeom>
          <a:noFill/>
        </p:spPr>
        <p:txBody>
          <a:bodyPr wrap="square" rtlCol="0">
            <a:spAutoFit/>
          </a:bodyPr>
          <a:lstStyle/>
          <a:p>
            <a:r>
              <a:rPr lang="en-US" sz="1000" b="1" dirty="0">
                <a:solidFill>
                  <a:schemeClr val="tx1">
                    <a:lumMod val="50000"/>
                  </a:schemeClr>
                </a:solidFill>
              </a:rPr>
              <a:t>947</a:t>
            </a:r>
          </a:p>
        </p:txBody>
      </p:sp>
      <p:sp>
        <p:nvSpPr>
          <p:cNvPr id="27" name="TextBox 26">
            <a:extLst>
              <a:ext uri="{FF2B5EF4-FFF2-40B4-BE49-F238E27FC236}">
                <a16:creationId xmlns:a16="http://schemas.microsoft.com/office/drawing/2014/main" id="{1EA6A2D2-F7B1-5901-5279-DE0041D7E4AE}"/>
              </a:ext>
            </a:extLst>
          </p:cNvPr>
          <p:cNvSpPr txBox="1"/>
          <p:nvPr/>
        </p:nvSpPr>
        <p:spPr>
          <a:xfrm>
            <a:off x="1810134" y="3254902"/>
            <a:ext cx="444225" cy="246221"/>
          </a:xfrm>
          <a:prstGeom prst="rect">
            <a:avLst/>
          </a:prstGeom>
          <a:noFill/>
        </p:spPr>
        <p:txBody>
          <a:bodyPr wrap="square" rtlCol="0">
            <a:spAutoFit/>
          </a:bodyPr>
          <a:lstStyle/>
          <a:p>
            <a:r>
              <a:rPr lang="en-US" sz="1000" b="1" dirty="0">
                <a:solidFill>
                  <a:schemeClr val="tx1">
                    <a:lumMod val="50000"/>
                  </a:schemeClr>
                </a:solidFill>
              </a:rPr>
              <a:t>981</a:t>
            </a:r>
          </a:p>
        </p:txBody>
      </p:sp>
      <p:sp>
        <p:nvSpPr>
          <p:cNvPr id="28" name="TextBox 27">
            <a:extLst>
              <a:ext uri="{FF2B5EF4-FFF2-40B4-BE49-F238E27FC236}">
                <a16:creationId xmlns:a16="http://schemas.microsoft.com/office/drawing/2014/main" id="{6C96CC74-D989-32B6-2F4F-9CBA93BDF11C}"/>
              </a:ext>
            </a:extLst>
          </p:cNvPr>
          <p:cNvSpPr txBox="1"/>
          <p:nvPr/>
        </p:nvSpPr>
        <p:spPr>
          <a:xfrm>
            <a:off x="1809158" y="4655679"/>
            <a:ext cx="444225" cy="246221"/>
          </a:xfrm>
          <a:prstGeom prst="rect">
            <a:avLst/>
          </a:prstGeom>
          <a:noFill/>
        </p:spPr>
        <p:txBody>
          <a:bodyPr wrap="square" rtlCol="0">
            <a:spAutoFit/>
          </a:bodyPr>
          <a:lstStyle/>
          <a:p>
            <a:r>
              <a:rPr lang="en-US" sz="1000" b="1" dirty="0">
                <a:solidFill>
                  <a:schemeClr val="tx1">
                    <a:lumMod val="50000"/>
                  </a:schemeClr>
                </a:solidFill>
              </a:rPr>
              <a:t>792</a:t>
            </a:r>
          </a:p>
        </p:txBody>
      </p:sp>
      <p:sp>
        <p:nvSpPr>
          <p:cNvPr id="29" name="TextBox 28">
            <a:extLst>
              <a:ext uri="{FF2B5EF4-FFF2-40B4-BE49-F238E27FC236}">
                <a16:creationId xmlns:a16="http://schemas.microsoft.com/office/drawing/2014/main" id="{AF1C5700-4EB8-A66A-9D98-6BFD12C8AE78}"/>
              </a:ext>
            </a:extLst>
          </p:cNvPr>
          <p:cNvSpPr txBox="1"/>
          <p:nvPr/>
        </p:nvSpPr>
        <p:spPr>
          <a:xfrm>
            <a:off x="2776620" y="2858773"/>
            <a:ext cx="444225" cy="246221"/>
          </a:xfrm>
          <a:prstGeom prst="rect">
            <a:avLst/>
          </a:prstGeom>
          <a:noFill/>
        </p:spPr>
        <p:txBody>
          <a:bodyPr wrap="square" rtlCol="0">
            <a:spAutoFit/>
          </a:bodyPr>
          <a:lstStyle/>
          <a:p>
            <a:r>
              <a:rPr lang="en-US" sz="1000" b="1" dirty="0">
                <a:solidFill>
                  <a:schemeClr val="tx1">
                    <a:lumMod val="50000"/>
                  </a:schemeClr>
                </a:solidFill>
              </a:rPr>
              <a:t>459</a:t>
            </a:r>
          </a:p>
        </p:txBody>
      </p:sp>
      <p:sp>
        <p:nvSpPr>
          <p:cNvPr id="30" name="TextBox 29">
            <a:extLst>
              <a:ext uri="{FF2B5EF4-FFF2-40B4-BE49-F238E27FC236}">
                <a16:creationId xmlns:a16="http://schemas.microsoft.com/office/drawing/2014/main" id="{147817B3-EA28-24EE-04F5-B64132A23AE9}"/>
              </a:ext>
            </a:extLst>
          </p:cNvPr>
          <p:cNvSpPr txBox="1"/>
          <p:nvPr/>
        </p:nvSpPr>
        <p:spPr>
          <a:xfrm>
            <a:off x="2826283" y="4197813"/>
            <a:ext cx="444225" cy="246221"/>
          </a:xfrm>
          <a:prstGeom prst="rect">
            <a:avLst/>
          </a:prstGeom>
          <a:noFill/>
        </p:spPr>
        <p:txBody>
          <a:bodyPr wrap="square" rtlCol="0">
            <a:spAutoFit/>
          </a:bodyPr>
          <a:lstStyle/>
          <a:p>
            <a:r>
              <a:rPr lang="en-US" sz="1000" b="1" dirty="0">
                <a:solidFill>
                  <a:schemeClr val="tx1">
                    <a:lumMod val="50000"/>
                  </a:schemeClr>
                </a:solidFill>
              </a:rPr>
              <a:t>725</a:t>
            </a:r>
          </a:p>
        </p:txBody>
      </p:sp>
      <p:sp>
        <p:nvSpPr>
          <p:cNvPr id="31" name="TextBox 30">
            <a:extLst>
              <a:ext uri="{FF2B5EF4-FFF2-40B4-BE49-F238E27FC236}">
                <a16:creationId xmlns:a16="http://schemas.microsoft.com/office/drawing/2014/main" id="{C8296750-834C-3751-AC5B-9C2FC01742AF}"/>
              </a:ext>
            </a:extLst>
          </p:cNvPr>
          <p:cNvSpPr txBox="1"/>
          <p:nvPr/>
        </p:nvSpPr>
        <p:spPr>
          <a:xfrm>
            <a:off x="1809157" y="2573110"/>
            <a:ext cx="444225" cy="246221"/>
          </a:xfrm>
          <a:prstGeom prst="rect">
            <a:avLst/>
          </a:prstGeom>
          <a:solidFill>
            <a:schemeClr val="bg1">
              <a:lumMod val="20000"/>
              <a:lumOff val="80000"/>
            </a:schemeClr>
          </a:solidFill>
        </p:spPr>
        <p:txBody>
          <a:bodyPr wrap="square" rtlCol="0">
            <a:spAutoFit/>
          </a:bodyPr>
          <a:lstStyle/>
          <a:p>
            <a:r>
              <a:rPr lang="en-US" sz="1000" b="1" dirty="0">
                <a:solidFill>
                  <a:schemeClr val="tx1">
                    <a:lumMod val="50000"/>
                  </a:schemeClr>
                </a:solidFill>
              </a:rPr>
              <a:t>652</a:t>
            </a:r>
          </a:p>
        </p:txBody>
      </p:sp>
      <p:sp>
        <p:nvSpPr>
          <p:cNvPr id="32" name="TextBox 31">
            <a:extLst>
              <a:ext uri="{FF2B5EF4-FFF2-40B4-BE49-F238E27FC236}">
                <a16:creationId xmlns:a16="http://schemas.microsoft.com/office/drawing/2014/main" id="{227E6889-8FE0-5549-C4BA-314A0DF81011}"/>
              </a:ext>
            </a:extLst>
          </p:cNvPr>
          <p:cNvSpPr txBox="1"/>
          <p:nvPr/>
        </p:nvSpPr>
        <p:spPr>
          <a:xfrm>
            <a:off x="2772517" y="3294601"/>
            <a:ext cx="444225" cy="246221"/>
          </a:xfrm>
          <a:prstGeom prst="rect">
            <a:avLst/>
          </a:prstGeom>
          <a:solidFill>
            <a:schemeClr val="bg1">
              <a:lumMod val="20000"/>
              <a:lumOff val="80000"/>
            </a:schemeClr>
          </a:solidFill>
        </p:spPr>
        <p:txBody>
          <a:bodyPr wrap="square" rtlCol="0">
            <a:spAutoFit/>
          </a:bodyPr>
          <a:lstStyle/>
          <a:p>
            <a:r>
              <a:rPr lang="en-US" sz="1000" b="1" dirty="0">
                <a:solidFill>
                  <a:schemeClr val="tx1">
                    <a:lumMod val="50000"/>
                  </a:schemeClr>
                </a:solidFill>
              </a:rPr>
              <a:t>421</a:t>
            </a:r>
          </a:p>
        </p:txBody>
      </p:sp>
      <p:sp>
        <p:nvSpPr>
          <p:cNvPr id="33" name="TextBox 32">
            <a:extLst>
              <a:ext uri="{FF2B5EF4-FFF2-40B4-BE49-F238E27FC236}">
                <a16:creationId xmlns:a16="http://schemas.microsoft.com/office/drawing/2014/main" id="{047D1FDC-D8E0-5876-7CC6-71ABFF8ED153}"/>
              </a:ext>
            </a:extLst>
          </p:cNvPr>
          <p:cNvSpPr txBox="1"/>
          <p:nvPr/>
        </p:nvSpPr>
        <p:spPr>
          <a:xfrm>
            <a:off x="2772518" y="2574027"/>
            <a:ext cx="444225" cy="246221"/>
          </a:xfrm>
          <a:prstGeom prst="rect">
            <a:avLst/>
          </a:prstGeom>
          <a:noFill/>
        </p:spPr>
        <p:txBody>
          <a:bodyPr wrap="square" rtlCol="0">
            <a:spAutoFit/>
          </a:bodyPr>
          <a:lstStyle/>
          <a:p>
            <a:r>
              <a:rPr lang="en-US" sz="1000" b="1" dirty="0">
                <a:solidFill>
                  <a:schemeClr val="tx1">
                    <a:lumMod val="50000"/>
                  </a:schemeClr>
                </a:solidFill>
              </a:rPr>
              <a:t>458</a:t>
            </a:r>
          </a:p>
        </p:txBody>
      </p:sp>
    </p:spTree>
    <p:extLst>
      <p:ext uri="{BB962C8B-B14F-4D97-AF65-F5344CB8AC3E}">
        <p14:creationId xmlns:p14="http://schemas.microsoft.com/office/powerpoint/2010/main" val="1742392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1" grpId="0"/>
      <p:bldP spid="12" grpId="0"/>
      <p:bldP spid="13" grpId="0"/>
      <p:bldP spid="14" grpId="0"/>
      <p:bldP spid="16" grpId="0"/>
      <p:bldP spid="19" grpId="0"/>
      <p:bldP spid="21" grpId="0"/>
      <p:bldP spid="22" grpId="0"/>
      <p:bldP spid="23" grpId="0"/>
      <p:bldP spid="24" grpId="0"/>
      <p:bldP spid="26" grpId="0"/>
      <p:bldP spid="27" grpId="0"/>
      <p:bldP spid="28" grpId="0"/>
      <p:bldP spid="29" grpId="0"/>
      <p:bldP spid="30" grpId="0"/>
      <p:bldP spid="31" grpId="0" animBg="1"/>
      <p:bldP spid="32" grpId="0" animBg="1"/>
      <p:bldP spid="3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65200" y="1917006"/>
            <a:ext cx="2334808" cy="276999"/>
          </a:xfrm>
          <a:prstGeom prst="rect">
            <a:avLst/>
          </a:prstGeom>
          <a:noFill/>
        </p:spPr>
        <p:txBody>
          <a:bodyPr wrap="square" rtlCol="0">
            <a:spAutoFit/>
          </a:bodyPr>
          <a:lstStyle/>
          <a:p>
            <a:pPr algn="just"/>
            <a:r>
              <a:rPr lang="en-US" sz="1200" dirty="0"/>
              <a:t>Example:</a:t>
            </a:r>
          </a:p>
        </p:txBody>
      </p:sp>
      <p:pic>
        <p:nvPicPr>
          <p:cNvPr id="19" name="Picture 18">
            <a:extLst>
              <a:ext uri="{FF2B5EF4-FFF2-40B4-BE49-F238E27FC236}">
                <a16:creationId xmlns:a16="http://schemas.microsoft.com/office/drawing/2014/main" id="{F46E3BA4-33F3-41A6-9533-9E0B5EFF29DB}"/>
              </a:ext>
            </a:extLst>
          </p:cNvPr>
          <p:cNvPicPr>
            <a:picLocks noChangeAspect="1"/>
          </p:cNvPicPr>
          <p:nvPr/>
        </p:nvPicPr>
        <p:blipFill>
          <a:blip r:embed="rId4"/>
          <a:stretch>
            <a:fillRect/>
          </a:stretch>
        </p:blipFill>
        <p:spPr>
          <a:xfrm>
            <a:off x="1913944" y="2466195"/>
            <a:ext cx="1655599" cy="939763"/>
          </a:xfrm>
          <a:prstGeom prst="rect">
            <a:avLst/>
          </a:prstGeom>
        </p:spPr>
      </p:pic>
      <p:pic>
        <p:nvPicPr>
          <p:cNvPr id="20" name="Picture 19">
            <a:extLst>
              <a:ext uri="{FF2B5EF4-FFF2-40B4-BE49-F238E27FC236}">
                <a16:creationId xmlns:a16="http://schemas.microsoft.com/office/drawing/2014/main" id="{1CABFF22-D55E-4976-97AE-331F0EE20CCB}"/>
              </a:ext>
            </a:extLst>
          </p:cNvPr>
          <p:cNvPicPr>
            <a:picLocks noChangeAspect="1"/>
          </p:cNvPicPr>
          <p:nvPr/>
        </p:nvPicPr>
        <p:blipFill>
          <a:blip r:embed="rId5"/>
          <a:stretch>
            <a:fillRect/>
          </a:stretch>
        </p:blipFill>
        <p:spPr>
          <a:xfrm>
            <a:off x="3976145" y="1653014"/>
            <a:ext cx="873122" cy="2513989"/>
          </a:xfrm>
          <a:prstGeom prst="rect">
            <a:avLst/>
          </a:prstGeom>
        </p:spPr>
      </p:pic>
      <p:pic>
        <p:nvPicPr>
          <p:cNvPr id="21" name="Picture 20">
            <a:extLst>
              <a:ext uri="{FF2B5EF4-FFF2-40B4-BE49-F238E27FC236}">
                <a16:creationId xmlns:a16="http://schemas.microsoft.com/office/drawing/2014/main" id="{74F18C19-16B5-40A0-A72A-85AEE640BD91}"/>
              </a:ext>
            </a:extLst>
          </p:cNvPr>
          <p:cNvPicPr>
            <a:picLocks noChangeAspect="1"/>
          </p:cNvPicPr>
          <p:nvPr/>
        </p:nvPicPr>
        <p:blipFill>
          <a:blip r:embed="rId6"/>
          <a:stretch>
            <a:fillRect/>
          </a:stretch>
        </p:blipFill>
        <p:spPr>
          <a:xfrm>
            <a:off x="5076705" y="2221868"/>
            <a:ext cx="1357114" cy="1508669"/>
          </a:xfrm>
          <a:prstGeom prst="rect">
            <a:avLst/>
          </a:prstGeom>
        </p:spPr>
      </p:pic>
    </p:spTree>
    <p:extLst>
      <p:ext uri="{BB962C8B-B14F-4D97-AF65-F5344CB8AC3E}">
        <p14:creationId xmlns:p14="http://schemas.microsoft.com/office/powerpoint/2010/main" val="30562338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65200" y="1917006"/>
            <a:ext cx="2334808" cy="276999"/>
          </a:xfrm>
          <a:prstGeom prst="rect">
            <a:avLst/>
          </a:prstGeom>
          <a:noFill/>
        </p:spPr>
        <p:txBody>
          <a:bodyPr wrap="square" rtlCol="0">
            <a:spAutoFit/>
          </a:bodyPr>
          <a:lstStyle/>
          <a:p>
            <a:pPr algn="just"/>
            <a:r>
              <a:rPr lang="en-US" sz="1200" dirty="0"/>
              <a:t>Example: </a:t>
            </a:r>
            <a:r>
              <a:rPr lang="en-US" sz="1200" b="1" dirty="0"/>
              <a:t>Insert 18</a:t>
            </a:r>
            <a:endParaRPr lang="en-US" sz="1200" dirty="0"/>
          </a:p>
        </p:txBody>
      </p:sp>
      <p:pic>
        <p:nvPicPr>
          <p:cNvPr id="22" name="Picture 21">
            <a:extLst>
              <a:ext uri="{FF2B5EF4-FFF2-40B4-BE49-F238E27FC236}">
                <a16:creationId xmlns:a16="http://schemas.microsoft.com/office/drawing/2014/main" id="{9C62EFA4-3996-4073-8FA3-9FD95A201B09}"/>
              </a:ext>
            </a:extLst>
          </p:cNvPr>
          <p:cNvPicPr>
            <a:picLocks noChangeAspect="1"/>
          </p:cNvPicPr>
          <p:nvPr/>
        </p:nvPicPr>
        <p:blipFill>
          <a:blip r:embed="rId4"/>
          <a:stretch>
            <a:fillRect/>
          </a:stretch>
        </p:blipFill>
        <p:spPr>
          <a:xfrm>
            <a:off x="2539225" y="2352643"/>
            <a:ext cx="1706094" cy="1104862"/>
          </a:xfrm>
          <a:prstGeom prst="rect">
            <a:avLst/>
          </a:prstGeom>
        </p:spPr>
      </p:pic>
      <p:pic>
        <p:nvPicPr>
          <p:cNvPr id="23" name="Picture 22">
            <a:extLst>
              <a:ext uri="{FF2B5EF4-FFF2-40B4-BE49-F238E27FC236}">
                <a16:creationId xmlns:a16="http://schemas.microsoft.com/office/drawing/2014/main" id="{5186F286-EE42-4143-B0FE-4CDC7E73F0EC}"/>
              </a:ext>
            </a:extLst>
          </p:cNvPr>
          <p:cNvPicPr>
            <a:picLocks noChangeAspect="1"/>
          </p:cNvPicPr>
          <p:nvPr/>
        </p:nvPicPr>
        <p:blipFill>
          <a:blip r:embed="rId5"/>
          <a:stretch>
            <a:fillRect/>
          </a:stretch>
        </p:blipFill>
        <p:spPr>
          <a:xfrm>
            <a:off x="4442072" y="1580601"/>
            <a:ext cx="945361" cy="2720997"/>
          </a:xfrm>
          <a:prstGeom prst="rect">
            <a:avLst/>
          </a:prstGeom>
        </p:spPr>
      </p:pic>
    </p:spTree>
    <p:extLst>
      <p:ext uri="{BB962C8B-B14F-4D97-AF65-F5344CB8AC3E}">
        <p14:creationId xmlns:p14="http://schemas.microsoft.com/office/powerpoint/2010/main" val="35515114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65200" y="1917006"/>
            <a:ext cx="2334808" cy="276999"/>
          </a:xfrm>
          <a:prstGeom prst="rect">
            <a:avLst/>
          </a:prstGeom>
          <a:noFill/>
        </p:spPr>
        <p:txBody>
          <a:bodyPr wrap="square" rtlCol="0">
            <a:spAutoFit/>
          </a:bodyPr>
          <a:lstStyle/>
          <a:p>
            <a:pPr algn="just"/>
            <a:r>
              <a:rPr lang="en-US" sz="1200" dirty="0"/>
              <a:t>Example: </a:t>
            </a:r>
            <a:r>
              <a:rPr lang="en-US" sz="1200" b="1" dirty="0"/>
              <a:t>Insert 14</a:t>
            </a:r>
            <a:endParaRPr lang="en-US" sz="1200" dirty="0"/>
          </a:p>
        </p:txBody>
      </p:sp>
      <p:pic>
        <p:nvPicPr>
          <p:cNvPr id="18" name="Picture 17">
            <a:extLst>
              <a:ext uri="{FF2B5EF4-FFF2-40B4-BE49-F238E27FC236}">
                <a16:creationId xmlns:a16="http://schemas.microsoft.com/office/drawing/2014/main" id="{E67F0400-BBB9-4D3F-879B-2C9E2C918260}"/>
              </a:ext>
            </a:extLst>
          </p:cNvPr>
          <p:cNvPicPr>
            <a:picLocks noChangeAspect="1"/>
          </p:cNvPicPr>
          <p:nvPr/>
        </p:nvPicPr>
        <p:blipFill>
          <a:blip r:embed="rId4"/>
          <a:stretch>
            <a:fillRect/>
          </a:stretch>
        </p:blipFill>
        <p:spPr>
          <a:xfrm>
            <a:off x="2672050" y="2401127"/>
            <a:ext cx="1797801" cy="1077885"/>
          </a:xfrm>
          <a:prstGeom prst="rect">
            <a:avLst/>
          </a:prstGeom>
        </p:spPr>
      </p:pic>
      <p:pic>
        <p:nvPicPr>
          <p:cNvPr id="19" name="Picture 18">
            <a:extLst>
              <a:ext uri="{FF2B5EF4-FFF2-40B4-BE49-F238E27FC236}">
                <a16:creationId xmlns:a16="http://schemas.microsoft.com/office/drawing/2014/main" id="{AD39A1C8-2FD4-4A78-BB35-17B1A72B8140}"/>
              </a:ext>
            </a:extLst>
          </p:cNvPr>
          <p:cNvPicPr>
            <a:picLocks noChangeAspect="1"/>
          </p:cNvPicPr>
          <p:nvPr/>
        </p:nvPicPr>
        <p:blipFill>
          <a:blip r:embed="rId5"/>
          <a:stretch>
            <a:fillRect/>
          </a:stretch>
        </p:blipFill>
        <p:spPr>
          <a:xfrm>
            <a:off x="5075959" y="1302266"/>
            <a:ext cx="1201486" cy="3238787"/>
          </a:xfrm>
          <a:prstGeom prst="rect">
            <a:avLst/>
          </a:prstGeom>
        </p:spPr>
      </p:pic>
    </p:spTree>
    <p:extLst>
      <p:ext uri="{BB962C8B-B14F-4D97-AF65-F5344CB8AC3E}">
        <p14:creationId xmlns:p14="http://schemas.microsoft.com/office/powerpoint/2010/main" val="38148606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65200" y="1917006"/>
            <a:ext cx="2334808" cy="276999"/>
          </a:xfrm>
          <a:prstGeom prst="rect">
            <a:avLst/>
          </a:prstGeom>
          <a:noFill/>
        </p:spPr>
        <p:txBody>
          <a:bodyPr wrap="square" rtlCol="0">
            <a:spAutoFit/>
          </a:bodyPr>
          <a:lstStyle/>
          <a:p>
            <a:pPr algn="just"/>
            <a:r>
              <a:rPr lang="en-US" sz="1200" dirty="0"/>
              <a:t>Example: </a:t>
            </a:r>
            <a:r>
              <a:rPr lang="en-US" sz="1200" b="1" dirty="0"/>
              <a:t>Insert 21</a:t>
            </a:r>
            <a:endParaRPr lang="en-US" sz="1200" dirty="0"/>
          </a:p>
        </p:txBody>
      </p:sp>
      <p:pic>
        <p:nvPicPr>
          <p:cNvPr id="20" name="Picture 19">
            <a:extLst>
              <a:ext uri="{FF2B5EF4-FFF2-40B4-BE49-F238E27FC236}">
                <a16:creationId xmlns:a16="http://schemas.microsoft.com/office/drawing/2014/main" id="{B3611B10-37C4-4E07-AC07-D6A3629FB355}"/>
              </a:ext>
            </a:extLst>
          </p:cNvPr>
          <p:cNvPicPr>
            <a:picLocks noChangeAspect="1"/>
          </p:cNvPicPr>
          <p:nvPr/>
        </p:nvPicPr>
        <p:blipFill>
          <a:blip r:embed="rId4"/>
          <a:stretch>
            <a:fillRect/>
          </a:stretch>
        </p:blipFill>
        <p:spPr>
          <a:xfrm>
            <a:off x="2235335" y="2539908"/>
            <a:ext cx="1852505" cy="1205397"/>
          </a:xfrm>
          <a:prstGeom prst="rect">
            <a:avLst/>
          </a:prstGeom>
        </p:spPr>
      </p:pic>
      <p:pic>
        <p:nvPicPr>
          <p:cNvPr id="21" name="Picture 20">
            <a:extLst>
              <a:ext uri="{FF2B5EF4-FFF2-40B4-BE49-F238E27FC236}">
                <a16:creationId xmlns:a16="http://schemas.microsoft.com/office/drawing/2014/main" id="{CD182FEF-0346-4F35-AC6B-D4CA6C772D7E}"/>
              </a:ext>
            </a:extLst>
          </p:cNvPr>
          <p:cNvPicPr>
            <a:picLocks noChangeAspect="1"/>
          </p:cNvPicPr>
          <p:nvPr/>
        </p:nvPicPr>
        <p:blipFill>
          <a:blip r:embed="rId5"/>
          <a:stretch>
            <a:fillRect/>
          </a:stretch>
        </p:blipFill>
        <p:spPr>
          <a:xfrm>
            <a:off x="4442714" y="1401518"/>
            <a:ext cx="1121121" cy="3003496"/>
          </a:xfrm>
          <a:prstGeom prst="rect">
            <a:avLst/>
          </a:prstGeom>
        </p:spPr>
      </p:pic>
      <p:pic>
        <p:nvPicPr>
          <p:cNvPr id="22" name="Picture 21">
            <a:extLst>
              <a:ext uri="{FF2B5EF4-FFF2-40B4-BE49-F238E27FC236}">
                <a16:creationId xmlns:a16="http://schemas.microsoft.com/office/drawing/2014/main" id="{E506C029-24D7-41D6-84EB-AF6E0F00D534}"/>
              </a:ext>
            </a:extLst>
          </p:cNvPr>
          <p:cNvPicPr>
            <a:picLocks noChangeAspect="1"/>
          </p:cNvPicPr>
          <p:nvPr/>
        </p:nvPicPr>
        <p:blipFill>
          <a:blip r:embed="rId6"/>
          <a:stretch>
            <a:fillRect/>
          </a:stretch>
        </p:blipFill>
        <p:spPr>
          <a:xfrm>
            <a:off x="5721276" y="2571750"/>
            <a:ext cx="2096830" cy="533368"/>
          </a:xfrm>
          <a:prstGeom prst="rect">
            <a:avLst/>
          </a:prstGeom>
        </p:spPr>
      </p:pic>
    </p:spTree>
    <p:extLst>
      <p:ext uri="{BB962C8B-B14F-4D97-AF65-F5344CB8AC3E}">
        <p14:creationId xmlns:p14="http://schemas.microsoft.com/office/powerpoint/2010/main" val="7155246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65200" y="1917006"/>
            <a:ext cx="2334808" cy="276999"/>
          </a:xfrm>
          <a:prstGeom prst="rect">
            <a:avLst/>
          </a:prstGeom>
          <a:noFill/>
        </p:spPr>
        <p:txBody>
          <a:bodyPr wrap="square" rtlCol="0">
            <a:spAutoFit/>
          </a:bodyPr>
          <a:lstStyle/>
          <a:p>
            <a:pPr algn="just"/>
            <a:r>
              <a:rPr lang="en-US" sz="1200" dirty="0"/>
              <a:t>Example: </a:t>
            </a:r>
            <a:r>
              <a:rPr lang="en-US" sz="1200" b="1" dirty="0"/>
              <a:t>Insert 1</a:t>
            </a:r>
            <a:endParaRPr lang="en-US" sz="1200" dirty="0"/>
          </a:p>
        </p:txBody>
      </p:sp>
      <p:pic>
        <p:nvPicPr>
          <p:cNvPr id="19" name="Picture 18">
            <a:extLst>
              <a:ext uri="{FF2B5EF4-FFF2-40B4-BE49-F238E27FC236}">
                <a16:creationId xmlns:a16="http://schemas.microsoft.com/office/drawing/2014/main" id="{46EEE5C5-19AC-4B08-8E45-DAFA84569BB3}"/>
              </a:ext>
            </a:extLst>
          </p:cNvPr>
          <p:cNvPicPr>
            <a:picLocks noChangeAspect="1"/>
          </p:cNvPicPr>
          <p:nvPr/>
        </p:nvPicPr>
        <p:blipFill>
          <a:blip r:embed="rId4"/>
          <a:stretch>
            <a:fillRect/>
          </a:stretch>
        </p:blipFill>
        <p:spPr>
          <a:xfrm>
            <a:off x="1984711" y="2492342"/>
            <a:ext cx="1855818" cy="1163956"/>
          </a:xfrm>
          <a:prstGeom prst="rect">
            <a:avLst/>
          </a:prstGeom>
        </p:spPr>
      </p:pic>
      <p:pic>
        <p:nvPicPr>
          <p:cNvPr id="23" name="Picture 22">
            <a:extLst>
              <a:ext uri="{FF2B5EF4-FFF2-40B4-BE49-F238E27FC236}">
                <a16:creationId xmlns:a16="http://schemas.microsoft.com/office/drawing/2014/main" id="{858426B4-79DC-4347-90FD-5E18B60979C6}"/>
              </a:ext>
            </a:extLst>
          </p:cNvPr>
          <p:cNvPicPr>
            <a:picLocks noChangeAspect="1"/>
          </p:cNvPicPr>
          <p:nvPr/>
        </p:nvPicPr>
        <p:blipFill>
          <a:blip r:embed="rId5"/>
          <a:stretch>
            <a:fillRect/>
          </a:stretch>
        </p:blipFill>
        <p:spPr>
          <a:xfrm>
            <a:off x="4342904" y="1230815"/>
            <a:ext cx="1254279" cy="3339766"/>
          </a:xfrm>
          <a:prstGeom prst="rect">
            <a:avLst/>
          </a:prstGeom>
        </p:spPr>
      </p:pic>
      <p:pic>
        <p:nvPicPr>
          <p:cNvPr id="24" name="Picture 23">
            <a:extLst>
              <a:ext uri="{FF2B5EF4-FFF2-40B4-BE49-F238E27FC236}">
                <a16:creationId xmlns:a16="http://schemas.microsoft.com/office/drawing/2014/main" id="{1E20DC3C-1927-4B11-AC07-4DC9D896E144}"/>
              </a:ext>
            </a:extLst>
          </p:cNvPr>
          <p:cNvPicPr>
            <a:picLocks noChangeAspect="1"/>
          </p:cNvPicPr>
          <p:nvPr/>
        </p:nvPicPr>
        <p:blipFill>
          <a:blip r:embed="rId6"/>
          <a:stretch>
            <a:fillRect/>
          </a:stretch>
        </p:blipFill>
        <p:spPr>
          <a:xfrm>
            <a:off x="5859547" y="2570019"/>
            <a:ext cx="2135608" cy="837493"/>
          </a:xfrm>
          <a:prstGeom prst="rect">
            <a:avLst/>
          </a:prstGeom>
        </p:spPr>
      </p:pic>
    </p:spTree>
    <p:extLst>
      <p:ext uri="{BB962C8B-B14F-4D97-AF65-F5344CB8AC3E}">
        <p14:creationId xmlns:p14="http://schemas.microsoft.com/office/powerpoint/2010/main" val="34205506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65200" y="1917006"/>
            <a:ext cx="2334808" cy="276999"/>
          </a:xfrm>
          <a:prstGeom prst="rect">
            <a:avLst/>
          </a:prstGeom>
          <a:noFill/>
        </p:spPr>
        <p:txBody>
          <a:bodyPr wrap="square" rtlCol="0">
            <a:spAutoFit/>
          </a:bodyPr>
          <a:lstStyle/>
          <a:p>
            <a:pPr algn="just"/>
            <a:r>
              <a:rPr lang="en-US" sz="1200" dirty="0"/>
              <a:t>Example: </a:t>
            </a:r>
            <a:r>
              <a:rPr lang="en-US" sz="1200" b="1" dirty="0"/>
              <a:t>Insert 35</a:t>
            </a:r>
            <a:endParaRPr lang="en-US" sz="1200" dirty="0"/>
          </a:p>
        </p:txBody>
      </p:sp>
      <p:pic>
        <p:nvPicPr>
          <p:cNvPr id="20" name="Picture 19">
            <a:extLst>
              <a:ext uri="{FF2B5EF4-FFF2-40B4-BE49-F238E27FC236}">
                <a16:creationId xmlns:a16="http://schemas.microsoft.com/office/drawing/2014/main" id="{FA9B33E5-BF97-4045-92BB-13A4A78ABFE0}"/>
              </a:ext>
            </a:extLst>
          </p:cNvPr>
          <p:cNvPicPr>
            <a:picLocks noChangeAspect="1"/>
          </p:cNvPicPr>
          <p:nvPr/>
        </p:nvPicPr>
        <p:blipFill>
          <a:blip r:embed="rId4"/>
          <a:stretch>
            <a:fillRect/>
          </a:stretch>
        </p:blipFill>
        <p:spPr>
          <a:xfrm>
            <a:off x="2236242" y="2455961"/>
            <a:ext cx="1817168" cy="1195185"/>
          </a:xfrm>
          <a:prstGeom prst="rect">
            <a:avLst/>
          </a:prstGeom>
        </p:spPr>
      </p:pic>
      <p:pic>
        <p:nvPicPr>
          <p:cNvPr id="21" name="Picture 20">
            <a:extLst>
              <a:ext uri="{FF2B5EF4-FFF2-40B4-BE49-F238E27FC236}">
                <a16:creationId xmlns:a16="http://schemas.microsoft.com/office/drawing/2014/main" id="{651A63C3-5354-4404-BD19-A2673FAF281B}"/>
              </a:ext>
            </a:extLst>
          </p:cNvPr>
          <p:cNvPicPr>
            <a:picLocks noChangeAspect="1"/>
          </p:cNvPicPr>
          <p:nvPr/>
        </p:nvPicPr>
        <p:blipFill>
          <a:blip r:embed="rId5"/>
          <a:stretch>
            <a:fillRect/>
          </a:stretch>
        </p:blipFill>
        <p:spPr>
          <a:xfrm>
            <a:off x="4343196" y="1409675"/>
            <a:ext cx="1143203" cy="2979391"/>
          </a:xfrm>
          <a:prstGeom prst="rect">
            <a:avLst/>
          </a:prstGeom>
        </p:spPr>
      </p:pic>
      <p:pic>
        <p:nvPicPr>
          <p:cNvPr id="22" name="Picture 21">
            <a:extLst>
              <a:ext uri="{FF2B5EF4-FFF2-40B4-BE49-F238E27FC236}">
                <a16:creationId xmlns:a16="http://schemas.microsoft.com/office/drawing/2014/main" id="{1126019D-3A2E-4ABA-8D95-F95A5063CBE6}"/>
              </a:ext>
            </a:extLst>
          </p:cNvPr>
          <p:cNvPicPr>
            <a:picLocks noChangeAspect="1"/>
          </p:cNvPicPr>
          <p:nvPr/>
        </p:nvPicPr>
        <p:blipFill>
          <a:blip r:embed="rId6"/>
          <a:stretch>
            <a:fillRect/>
          </a:stretch>
        </p:blipFill>
        <p:spPr>
          <a:xfrm>
            <a:off x="5643840" y="2511599"/>
            <a:ext cx="2025867" cy="631008"/>
          </a:xfrm>
          <a:prstGeom prst="rect">
            <a:avLst/>
          </a:prstGeom>
        </p:spPr>
      </p:pic>
    </p:spTree>
    <p:extLst>
      <p:ext uri="{BB962C8B-B14F-4D97-AF65-F5344CB8AC3E}">
        <p14:creationId xmlns:p14="http://schemas.microsoft.com/office/powerpoint/2010/main" val="17124200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65200" y="1917006"/>
            <a:ext cx="2334808" cy="276999"/>
          </a:xfrm>
          <a:prstGeom prst="rect">
            <a:avLst/>
          </a:prstGeom>
          <a:noFill/>
        </p:spPr>
        <p:txBody>
          <a:bodyPr wrap="square" rtlCol="0">
            <a:spAutoFit/>
          </a:bodyPr>
          <a:lstStyle/>
          <a:p>
            <a:pPr algn="just"/>
            <a:r>
              <a:rPr lang="en-US" sz="1200" dirty="0"/>
              <a:t>Example: </a:t>
            </a:r>
            <a:r>
              <a:rPr lang="en-US" sz="1200" b="1" dirty="0"/>
              <a:t>Find 35</a:t>
            </a:r>
            <a:endParaRPr lang="en-US" sz="1200" dirty="0"/>
          </a:p>
        </p:txBody>
      </p:sp>
      <p:pic>
        <p:nvPicPr>
          <p:cNvPr id="19" name="Picture 18">
            <a:extLst>
              <a:ext uri="{FF2B5EF4-FFF2-40B4-BE49-F238E27FC236}">
                <a16:creationId xmlns:a16="http://schemas.microsoft.com/office/drawing/2014/main" id="{936A8913-A206-4041-99D3-18DAD57864F2}"/>
              </a:ext>
            </a:extLst>
          </p:cNvPr>
          <p:cNvPicPr>
            <a:picLocks noChangeAspect="1"/>
          </p:cNvPicPr>
          <p:nvPr/>
        </p:nvPicPr>
        <p:blipFill>
          <a:blip r:embed="rId4"/>
          <a:stretch>
            <a:fillRect/>
          </a:stretch>
        </p:blipFill>
        <p:spPr>
          <a:xfrm>
            <a:off x="2073504" y="2428013"/>
            <a:ext cx="1979248" cy="1236453"/>
          </a:xfrm>
          <a:prstGeom prst="rect">
            <a:avLst/>
          </a:prstGeom>
        </p:spPr>
      </p:pic>
      <p:pic>
        <p:nvPicPr>
          <p:cNvPr id="23" name="Picture 22">
            <a:extLst>
              <a:ext uri="{FF2B5EF4-FFF2-40B4-BE49-F238E27FC236}">
                <a16:creationId xmlns:a16="http://schemas.microsoft.com/office/drawing/2014/main" id="{778D5347-E866-48AB-B129-F64CA000BB55}"/>
              </a:ext>
            </a:extLst>
          </p:cNvPr>
          <p:cNvPicPr>
            <a:picLocks noChangeAspect="1"/>
          </p:cNvPicPr>
          <p:nvPr/>
        </p:nvPicPr>
        <p:blipFill>
          <a:blip r:embed="rId5"/>
          <a:stretch>
            <a:fillRect/>
          </a:stretch>
        </p:blipFill>
        <p:spPr>
          <a:xfrm>
            <a:off x="4408313" y="1263729"/>
            <a:ext cx="1250479" cy="3256148"/>
          </a:xfrm>
          <a:prstGeom prst="rect">
            <a:avLst/>
          </a:prstGeom>
        </p:spPr>
      </p:pic>
      <p:pic>
        <p:nvPicPr>
          <p:cNvPr id="24" name="Picture 23">
            <a:extLst>
              <a:ext uri="{FF2B5EF4-FFF2-40B4-BE49-F238E27FC236}">
                <a16:creationId xmlns:a16="http://schemas.microsoft.com/office/drawing/2014/main" id="{CC7B1F70-432B-49F6-A52E-0762F69914D9}"/>
              </a:ext>
            </a:extLst>
          </p:cNvPr>
          <p:cNvPicPr>
            <a:picLocks noChangeAspect="1"/>
          </p:cNvPicPr>
          <p:nvPr/>
        </p:nvPicPr>
        <p:blipFill>
          <a:blip r:embed="rId6"/>
          <a:stretch>
            <a:fillRect/>
          </a:stretch>
        </p:blipFill>
        <p:spPr>
          <a:xfrm>
            <a:off x="5819188" y="2446450"/>
            <a:ext cx="2307890" cy="746973"/>
          </a:xfrm>
          <a:prstGeom prst="rect">
            <a:avLst/>
          </a:prstGeom>
        </p:spPr>
      </p:pic>
    </p:spTree>
    <p:extLst>
      <p:ext uri="{BB962C8B-B14F-4D97-AF65-F5344CB8AC3E}">
        <p14:creationId xmlns:p14="http://schemas.microsoft.com/office/powerpoint/2010/main" val="10263239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65200" y="1917006"/>
            <a:ext cx="2334808" cy="276999"/>
          </a:xfrm>
          <a:prstGeom prst="rect">
            <a:avLst/>
          </a:prstGeom>
          <a:noFill/>
        </p:spPr>
        <p:txBody>
          <a:bodyPr wrap="square" rtlCol="0">
            <a:spAutoFit/>
          </a:bodyPr>
          <a:lstStyle/>
          <a:p>
            <a:pPr algn="just"/>
            <a:r>
              <a:rPr lang="en-US" sz="1200" dirty="0"/>
              <a:t>Example: </a:t>
            </a:r>
            <a:r>
              <a:rPr lang="en-US" sz="1200" b="1" dirty="0"/>
              <a:t>Find 8</a:t>
            </a:r>
            <a:endParaRPr lang="en-US" sz="1200" dirty="0"/>
          </a:p>
        </p:txBody>
      </p:sp>
      <p:pic>
        <p:nvPicPr>
          <p:cNvPr id="20" name="Picture 19">
            <a:extLst>
              <a:ext uri="{FF2B5EF4-FFF2-40B4-BE49-F238E27FC236}">
                <a16:creationId xmlns:a16="http://schemas.microsoft.com/office/drawing/2014/main" id="{743DE033-8CF5-48C2-94A6-D3F8658D87CB}"/>
              </a:ext>
            </a:extLst>
          </p:cNvPr>
          <p:cNvPicPr>
            <a:picLocks noChangeAspect="1"/>
          </p:cNvPicPr>
          <p:nvPr/>
        </p:nvPicPr>
        <p:blipFill>
          <a:blip r:embed="rId4"/>
          <a:stretch>
            <a:fillRect/>
          </a:stretch>
        </p:blipFill>
        <p:spPr>
          <a:xfrm>
            <a:off x="2446206" y="2686069"/>
            <a:ext cx="1820994" cy="1194233"/>
          </a:xfrm>
          <a:prstGeom prst="rect">
            <a:avLst/>
          </a:prstGeom>
        </p:spPr>
      </p:pic>
      <p:pic>
        <p:nvPicPr>
          <p:cNvPr id="21" name="Picture 20">
            <a:extLst>
              <a:ext uri="{FF2B5EF4-FFF2-40B4-BE49-F238E27FC236}">
                <a16:creationId xmlns:a16="http://schemas.microsoft.com/office/drawing/2014/main" id="{12270F2C-B21A-47DA-ACD3-E23DC50ECD54}"/>
              </a:ext>
            </a:extLst>
          </p:cNvPr>
          <p:cNvPicPr>
            <a:picLocks noChangeAspect="1"/>
          </p:cNvPicPr>
          <p:nvPr/>
        </p:nvPicPr>
        <p:blipFill>
          <a:blip r:embed="rId5"/>
          <a:stretch>
            <a:fillRect/>
          </a:stretch>
        </p:blipFill>
        <p:spPr>
          <a:xfrm>
            <a:off x="4534391" y="1759254"/>
            <a:ext cx="1031844" cy="2852494"/>
          </a:xfrm>
          <a:prstGeom prst="rect">
            <a:avLst/>
          </a:prstGeom>
        </p:spPr>
      </p:pic>
      <p:pic>
        <p:nvPicPr>
          <p:cNvPr id="22" name="Picture 21">
            <a:extLst>
              <a:ext uri="{FF2B5EF4-FFF2-40B4-BE49-F238E27FC236}">
                <a16:creationId xmlns:a16="http://schemas.microsoft.com/office/drawing/2014/main" id="{EE7F4C01-A8D8-4AAC-A9ED-8A5AF4BEFEEE}"/>
              </a:ext>
            </a:extLst>
          </p:cNvPr>
          <p:cNvPicPr>
            <a:picLocks noChangeAspect="1"/>
          </p:cNvPicPr>
          <p:nvPr/>
        </p:nvPicPr>
        <p:blipFill>
          <a:blip r:embed="rId6"/>
          <a:stretch>
            <a:fillRect/>
          </a:stretch>
        </p:blipFill>
        <p:spPr>
          <a:xfrm>
            <a:off x="5744728" y="2736271"/>
            <a:ext cx="1482161" cy="604457"/>
          </a:xfrm>
          <a:prstGeom prst="rect">
            <a:avLst/>
          </a:prstGeom>
        </p:spPr>
      </p:pic>
    </p:spTree>
    <p:extLst>
      <p:ext uri="{BB962C8B-B14F-4D97-AF65-F5344CB8AC3E}">
        <p14:creationId xmlns:p14="http://schemas.microsoft.com/office/powerpoint/2010/main" val="17795842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65200" y="1917006"/>
            <a:ext cx="2334808" cy="276999"/>
          </a:xfrm>
          <a:prstGeom prst="rect">
            <a:avLst/>
          </a:prstGeom>
          <a:noFill/>
        </p:spPr>
        <p:txBody>
          <a:bodyPr wrap="square" rtlCol="0">
            <a:spAutoFit/>
          </a:bodyPr>
          <a:lstStyle/>
          <a:p>
            <a:pPr algn="just"/>
            <a:r>
              <a:rPr lang="en-US" sz="1200" dirty="0"/>
              <a:t>Example: </a:t>
            </a:r>
            <a:r>
              <a:rPr lang="en-US" sz="1200" b="1" dirty="0"/>
              <a:t>Delete 21</a:t>
            </a:r>
            <a:endParaRPr lang="en-US" sz="1200" dirty="0"/>
          </a:p>
        </p:txBody>
      </p:sp>
      <p:pic>
        <p:nvPicPr>
          <p:cNvPr id="19" name="Picture 18">
            <a:extLst>
              <a:ext uri="{FF2B5EF4-FFF2-40B4-BE49-F238E27FC236}">
                <a16:creationId xmlns:a16="http://schemas.microsoft.com/office/drawing/2014/main" id="{08680769-49ED-4FFE-9BA7-A62EDC616112}"/>
              </a:ext>
            </a:extLst>
          </p:cNvPr>
          <p:cNvPicPr>
            <a:picLocks noChangeAspect="1"/>
          </p:cNvPicPr>
          <p:nvPr/>
        </p:nvPicPr>
        <p:blipFill>
          <a:blip r:embed="rId4"/>
          <a:stretch>
            <a:fillRect/>
          </a:stretch>
        </p:blipFill>
        <p:spPr>
          <a:xfrm>
            <a:off x="2403407" y="2418207"/>
            <a:ext cx="1871050" cy="1251821"/>
          </a:xfrm>
          <a:prstGeom prst="rect">
            <a:avLst/>
          </a:prstGeom>
        </p:spPr>
      </p:pic>
      <p:pic>
        <p:nvPicPr>
          <p:cNvPr id="23" name="Picture 22">
            <a:extLst>
              <a:ext uri="{FF2B5EF4-FFF2-40B4-BE49-F238E27FC236}">
                <a16:creationId xmlns:a16="http://schemas.microsoft.com/office/drawing/2014/main" id="{155ACB2A-0EDF-474C-A9B0-427AC45C13DD}"/>
              </a:ext>
            </a:extLst>
          </p:cNvPr>
          <p:cNvPicPr>
            <a:picLocks noChangeAspect="1"/>
          </p:cNvPicPr>
          <p:nvPr/>
        </p:nvPicPr>
        <p:blipFill>
          <a:blip r:embed="rId5"/>
          <a:stretch>
            <a:fillRect/>
          </a:stretch>
        </p:blipFill>
        <p:spPr>
          <a:xfrm>
            <a:off x="4587631" y="1222155"/>
            <a:ext cx="1188586" cy="3274576"/>
          </a:xfrm>
          <a:prstGeom prst="rect">
            <a:avLst/>
          </a:prstGeom>
        </p:spPr>
      </p:pic>
    </p:spTree>
    <p:extLst>
      <p:ext uri="{BB962C8B-B14F-4D97-AF65-F5344CB8AC3E}">
        <p14:creationId xmlns:p14="http://schemas.microsoft.com/office/powerpoint/2010/main" val="5245334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65200" y="1917006"/>
            <a:ext cx="2334808" cy="276999"/>
          </a:xfrm>
          <a:prstGeom prst="rect">
            <a:avLst/>
          </a:prstGeom>
          <a:noFill/>
        </p:spPr>
        <p:txBody>
          <a:bodyPr wrap="square" rtlCol="0">
            <a:spAutoFit/>
          </a:bodyPr>
          <a:lstStyle/>
          <a:p>
            <a:pPr algn="just"/>
            <a:r>
              <a:rPr lang="en-US" sz="1200" dirty="0"/>
              <a:t>Example: </a:t>
            </a:r>
            <a:r>
              <a:rPr lang="en-US" sz="1200" b="1" dirty="0"/>
              <a:t>Delete 21</a:t>
            </a:r>
            <a:endParaRPr lang="en-US" sz="1200" dirty="0"/>
          </a:p>
        </p:txBody>
      </p:sp>
      <p:pic>
        <p:nvPicPr>
          <p:cNvPr id="19" name="Picture 18">
            <a:extLst>
              <a:ext uri="{FF2B5EF4-FFF2-40B4-BE49-F238E27FC236}">
                <a16:creationId xmlns:a16="http://schemas.microsoft.com/office/drawing/2014/main" id="{08680769-49ED-4FFE-9BA7-A62EDC616112}"/>
              </a:ext>
            </a:extLst>
          </p:cNvPr>
          <p:cNvPicPr>
            <a:picLocks noChangeAspect="1"/>
          </p:cNvPicPr>
          <p:nvPr/>
        </p:nvPicPr>
        <p:blipFill>
          <a:blip r:embed="rId4"/>
          <a:stretch>
            <a:fillRect/>
          </a:stretch>
        </p:blipFill>
        <p:spPr>
          <a:xfrm>
            <a:off x="2403407" y="2418207"/>
            <a:ext cx="1871050" cy="1251821"/>
          </a:xfrm>
          <a:prstGeom prst="rect">
            <a:avLst/>
          </a:prstGeom>
        </p:spPr>
      </p:pic>
      <p:pic>
        <p:nvPicPr>
          <p:cNvPr id="23" name="Picture 22">
            <a:extLst>
              <a:ext uri="{FF2B5EF4-FFF2-40B4-BE49-F238E27FC236}">
                <a16:creationId xmlns:a16="http://schemas.microsoft.com/office/drawing/2014/main" id="{155ACB2A-0EDF-474C-A9B0-427AC45C13DD}"/>
              </a:ext>
            </a:extLst>
          </p:cNvPr>
          <p:cNvPicPr>
            <a:picLocks noChangeAspect="1"/>
          </p:cNvPicPr>
          <p:nvPr/>
        </p:nvPicPr>
        <p:blipFill>
          <a:blip r:embed="rId5"/>
          <a:stretch>
            <a:fillRect/>
          </a:stretch>
        </p:blipFill>
        <p:spPr>
          <a:xfrm>
            <a:off x="4587631" y="1222155"/>
            <a:ext cx="1188586" cy="3274576"/>
          </a:xfrm>
          <a:prstGeom prst="rect">
            <a:avLst/>
          </a:prstGeom>
        </p:spPr>
      </p:pic>
      <p:sp>
        <p:nvSpPr>
          <p:cNvPr id="2" name="Multiplication Sign 1">
            <a:extLst>
              <a:ext uri="{FF2B5EF4-FFF2-40B4-BE49-F238E27FC236}">
                <a16:creationId xmlns:a16="http://schemas.microsoft.com/office/drawing/2014/main" id="{F76DDC73-EA56-4A48-9147-4BCA0DE0C124}"/>
              </a:ext>
            </a:extLst>
          </p:cNvPr>
          <p:cNvSpPr/>
          <p:nvPr/>
        </p:nvSpPr>
        <p:spPr>
          <a:xfrm>
            <a:off x="4922649" y="1862309"/>
            <a:ext cx="472440" cy="276999"/>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47CAB97-53E3-43F6-81EC-27453C15DAA2}"/>
              </a:ext>
            </a:extLst>
          </p:cNvPr>
          <p:cNvSpPr txBox="1"/>
          <p:nvPr/>
        </p:nvSpPr>
        <p:spPr>
          <a:xfrm>
            <a:off x="6111235" y="1917005"/>
            <a:ext cx="2334808" cy="276999"/>
          </a:xfrm>
          <a:prstGeom prst="rect">
            <a:avLst/>
          </a:prstGeom>
          <a:noFill/>
        </p:spPr>
        <p:txBody>
          <a:bodyPr wrap="square" rtlCol="0">
            <a:spAutoFit/>
          </a:bodyPr>
          <a:lstStyle/>
          <a:p>
            <a:pPr algn="just"/>
            <a:r>
              <a:rPr lang="en-US" sz="1200" dirty="0"/>
              <a:t>Delete 21</a:t>
            </a:r>
          </a:p>
        </p:txBody>
      </p:sp>
    </p:spTree>
    <p:extLst>
      <p:ext uri="{BB962C8B-B14F-4D97-AF65-F5344CB8AC3E}">
        <p14:creationId xmlns:p14="http://schemas.microsoft.com/office/powerpoint/2010/main" val="11446030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65200" y="1917006"/>
            <a:ext cx="2334808" cy="276999"/>
          </a:xfrm>
          <a:prstGeom prst="rect">
            <a:avLst/>
          </a:prstGeom>
          <a:noFill/>
        </p:spPr>
        <p:txBody>
          <a:bodyPr wrap="square" rtlCol="0">
            <a:spAutoFit/>
          </a:bodyPr>
          <a:lstStyle/>
          <a:p>
            <a:pPr algn="just"/>
            <a:r>
              <a:rPr lang="en-US" sz="1200" dirty="0"/>
              <a:t>Example: </a:t>
            </a:r>
            <a:r>
              <a:rPr lang="en-US" sz="1200" b="1" dirty="0"/>
              <a:t>Find 35</a:t>
            </a:r>
            <a:endParaRPr lang="en-US" sz="1200" dirty="0"/>
          </a:p>
        </p:txBody>
      </p:sp>
      <p:pic>
        <p:nvPicPr>
          <p:cNvPr id="18" name="Picture 17">
            <a:extLst>
              <a:ext uri="{FF2B5EF4-FFF2-40B4-BE49-F238E27FC236}">
                <a16:creationId xmlns:a16="http://schemas.microsoft.com/office/drawing/2014/main" id="{40F450D0-AF03-44E0-AA10-4013348A39CF}"/>
              </a:ext>
            </a:extLst>
          </p:cNvPr>
          <p:cNvPicPr>
            <a:picLocks noChangeAspect="1"/>
          </p:cNvPicPr>
          <p:nvPr/>
        </p:nvPicPr>
        <p:blipFill>
          <a:blip r:embed="rId4"/>
          <a:stretch>
            <a:fillRect/>
          </a:stretch>
        </p:blipFill>
        <p:spPr>
          <a:xfrm>
            <a:off x="1946894" y="2425459"/>
            <a:ext cx="2042659" cy="1308220"/>
          </a:xfrm>
          <a:prstGeom prst="rect">
            <a:avLst/>
          </a:prstGeom>
        </p:spPr>
      </p:pic>
      <p:pic>
        <p:nvPicPr>
          <p:cNvPr id="20" name="Picture 19">
            <a:extLst>
              <a:ext uri="{FF2B5EF4-FFF2-40B4-BE49-F238E27FC236}">
                <a16:creationId xmlns:a16="http://schemas.microsoft.com/office/drawing/2014/main" id="{C605BC80-05D6-4EA7-BA85-F334ACD95689}"/>
              </a:ext>
            </a:extLst>
          </p:cNvPr>
          <p:cNvPicPr>
            <a:picLocks noChangeAspect="1"/>
          </p:cNvPicPr>
          <p:nvPr/>
        </p:nvPicPr>
        <p:blipFill>
          <a:blip r:embed="rId5"/>
          <a:stretch>
            <a:fillRect/>
          </a:stretch>
        </p:blipFill>
        <p:spPr>
          <a:xfrm>
            <a:off x="4327446" y="1465489"/>
            <a:ext cx="1195863" cy="3146259"/>
          </a:xfrm>
          <a:prstGeom prst="rect">
            <a:avLst/>
          </a:prstGeom>
        </p:spPr>
      </p:pic>
      <p:pic>
        <p:nvPicPr>
          <p:cNvPr id="21" name="Picture 20">
            <a:extLst>
              <a:ext uri="{FF2B5EF4-FFF2-40B4-BE49-F238E27FC236}">
                <a16:creationId xmlns:a16="http://schemas.microsoft.com/office/drawing/2014/main" id="{35438DE3-4841-4216-8716-0B2FC990748F}"/>
              </a:ext>
            </a:extLst>
          </p:cNvPr>
          <p:cNvPicPr>
            <a:picLocks noChangeAspect="1"/>
          </p:cNvPicPr>
          <p:nvPr/>
        </p:nvPicPr>
        <p:blipFill>
          <a:blip r:embed="rId6"/>
          <a:stretch>
            <a:fillRect/>
          </a:stretch>
        </p:blipFill>
        <p:spPr>
          <a:xfrm>
            <a:off x="5680750" y="2425459"/>
            <a:ext cx="1373490" cy="1559376"/>
          </a:xfrm>
          <a:prstGeom prst="rect">
            <a:avLst/>
          </a:prstGeom>
        </p:spPr>
      </p:pic>
    </p:spTree>
    <p:extLst>
      <p:ext uri="{BB962C8B-B14F-4D97-AF65-F5344CB8AC3E}">
        <p14:creationId xmlns:p14="http://schemas.microsoft.com/office/powerpoint/2010/main" val="42279464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40481" y="1739795"/>
            <a:ext cx="6776122" cy="1384995"/>
          </a:xfrm>
          <a:prstGeom prst="rect">
            <a:avLst/>
          </a:prstGeom>
          <a:noFill/>
        </p:spPr>
        <p:txBody>
          <a:bodyPr wrap="square" rtlCol="0">
            <a:spAutoFit/>
          </a:bodyPr>
          <a:lstStyle/>
          <a:p>
            <a:pPr algn="just"/>
            <a:r>
              <a:rPr lang="en-US" dirty="0">
                <a:latin typeface="Roboto Mono Medium" panose="020B0604020202020204" charset="0"/>
                <a:ea typeface="Roboto Mono Medium" panose="020B0604020202020204" charset="0"/>
              </a:rPr>
              <a:t>How to Delete?</a:t>
            </a:r>
          </a:p>
          <a:p>
            <a:pPr marL="285750" indent="-285750" algn="just">
              <a:buFont typeface="Wingdings" panose="05000000000000000000" pitchFamily="2" charset="2"/>
              <a:buChar char="ü"/>
            </a:pPr>
            <a:r>
              <a:rPr lang="en-US" b="1" dirty="0">
                <a:latin typeface="Roboto Mono Medium" panose="020B0604020202020204" charset="0"/>
                <a:ea typeface="Roboto Mono Medium" panose="020B0604020202020204" charset="0"/>
              </a:rPr>
              <a:t>Lazy Deletion </a:t>
            </a:r>
          </a:p>
          <a:p>
            <a:pPr lvl="2" algn="just"/>
            <a:r>
              <a:rPr lang="en-US" dirty="0">
                <a:latin typeface="Roboto Mono Medium" panose="020B0604020202020204" charset="0"/>
                <a:ea typeface="Roboto Mono Medium" panose="020B0604020202020204" charset="0"/>
              </a:rPr>
              <a:t>   - Use three different states at each slot </a:t>
            </a:r>
          </a:p>
          <a:p>
            <a:pPr algn="just"/>
            <a:r>
              <a:rPr lang="en-US" dirty="0">
                <a:latin typeface="Roboto Mono Medium" panose="020B0604020202020204" charset="0"/>
                <a:ea typeface="Roboto Mono Medium" panose="020B0604020202020204" charset="0"/>
              </a:rPr>
              <a:t>      Occupied</a:t>
            </a:r>
          </a:p>
          <a:p>
            <a:pPr algn="just"/>
            <a:r>
              <a:rPr lang="en-US" dirty="0">
                <a:latin typeface="Roboto Mono Medium" panose="020B0604020202020204" charset="0"/>
                <a:ea typeface="Roboto Mono Medium" panose="020B0604020202020204" charset="0"/>
              </a:rPr>
              <a:t>      Deleted</a:t>
            </a:r>
          </a:p>
          <a:p>
            <a:pPr algn="just"/>
            <a:r>
              <a:rPr lang="en-US" dirty="0">
                <a:latin typeface="Roboto Mono Medium" panose="020B0604020202020204" charset="0"/>
                <a:ea typeface="Roboto Mono Medium" panose="020B0604020202020204" charset="0"/>
              </a:rPr>
              <a:t>      Empty</a:t>
            </a:r>
          </a:p>
        </p:txBody>
      </p:sp>
      <p:sp>
        <p:nvSpPr>
          <p:cNvPr id="2" name="Oval 1">
            <a:extLst>
              <a:ext uri="{FF2B5EF4-FFF2-40B4-BE49-F238E27FC236}">
                <a16:creationId xmlns:a16="http://schemas.microsoft.com/office/drawing/2014/main" id="{90515D27-EDA8-4D46-8FD1-29BEC79A88FF}"/>
              </a:ext>
            </a:extLst>
          </p:cNvPr>
          <p:cNvSpPr/>
          <p:nvPr/>
        </p:nvSpPr>
        <p:spPr>
          <a:xfrm>
            <a:off x="2024742" y="2489200"/>
            <a:ext cx="65315" cy="6803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3976B1C-92D2-4BB4-AE5A-2CD8BB91D13A}"/>
              </a:ext>
            </a:extLst>
          </p:cNvPr>
          <p:cNvSpPr/>
          <p:nvPr/>
        </p:nvSpPr>
        <p:spPr>
          <a:xfrm>
            <a:off x="2024744" y="2685142"/>
            <a:ext cx="65315" cy="6803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5B39017-2F37-4D03-A6FE-2965DDBEDEB1}"/>
              </a:ext>
            </a:extLst>
          </p:cNvPr>
          <p:cNvSpPr/>
          <p:nvPr/>
        </p:nvSpPr>
        <p:spPr>
          <a:xfrm>
            <a:off x="2024747" y="2902855"/>
            <a:ext cx="65315" cy="6803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9383B2F-3292-487A-9A9C-FF906BE0DB6C}"/>
              </a:ext>
            </a:extLst>
          </p:cNvPr>
          <p:cNvSpPr/>
          <p:nvPr/>
        </p:nvSpPr>
        <p:spPr>
          <a:xfrm>
            <a:off x="1440481" y="3244847"/>
            <a:ext cx="5852715" cy="738664"/>
          </a:xfrm>
          <a:prstGeom prst="rect">
            <a:avLst/>
          </a:prstGeom>
        </p:spPr>
        <p:txBody>
          <a:bodyPr wrap="square">
            <a:spAutoFit/>
          </a:bodyPr>
          <a:lstStyle/>
          <a:p>
            <a:pPr marL="288925" lvl="2" indent="-174625" algn="just">
              <a:buFont typeface="Wingdings" panose="05000000000000000000" pitchFamily="2" charset="2"/>
              <a:buChar char="§"/>
            </a:pPr>
            <a:r>
              <a:rPr lang="en-US" dirty="0"/>
              <a:t>When a value is removed from linear probed hash table, we just mark the status of the slot as “deleted”, instead of emptying the slot</a:t>
            </a:r>
          </a:p>
          <a:p>
            <a:pPr marL="288925" lvl="2" indent="-174625" algn="just">
              <a:buFont typeface="Wingdings" panose="05000000000000000000" pitchFamily="2" charset="2"/>
              <a:buChar char="§"/>
            </a:pPr>
            <a:r>
              <a:rPr lang="en-US" dirty="0"/>
              <a:t>Need to use a state array the same size as the hash table</a:t>
            </a:r>
          </a:p>
        </p:txBody>
      </p:sp>
    </p:spTree>
    <p:extLst>
      <p:ext uri="{BB962C8B-B14F-4D97-AF65-F5344CB8AC3E}">
        <p14:creationId xmlns:p14="http://schemas.microsoft.com/office/powerpoint/2010/main" val="13460147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65200" y="1917006"/>
            <a:ext cx="2334808" cy="276999"/>
          </a:xfrm>
          <a:prstGeom prst="rect">
            <a:avLst/>
          </a:prstGeom>
          <a:noFill/>
        </p:spPr>
        <p:txBody>
          <a:bodyPr wrap="square" rtlCol="0">
            <a:spAutoFit/>
          </a:bodyPr>
          <a:lstStyle/>
          <a:p>
            <a:pPr algn="just"/>
            <a:r>
              <a:rPr lang="en-US" sz="1200" dirty="0"/>
              <a:t>Example: </a:t>
            </a:r>
            <a:r>
              <a:rPr lang="en-US" sz="1200" b="1" dirty="0"/>
              <a:t>Delete 21</a:t>
            </a:r>
            <a:endParaRPr lang="en-US" sz="1200" dirty="0"/>
          </a:p>
        </p:txBody>
      </p:sp>
      <p:pic>
        <p:nvPicPr>
          <p:cNvPr id="19" name="Picture 18">
            <a:extLst>
              <a:ext uri="{FF2B5EF4-FFF2-40B4-BE49-F238E27FC236}">
                <a16:creationId xmlns:a16="http://schemas.microsoft.com/office/drawing/2014/main" id="{E20EF036-85AC-4143-AB9A-7CB4947BD46B}"/>
              </a:ext>
            </a:extLst>
          </p:cNvPr>
          <p:cNvPicPr>
            <a:picLocks noChangeAspect="1"/>
          </p:cNvPicPr>
          <p:nvPr/>
        </p:nvPicPr>
        <p:blipFill>
          <a:blip r:embed="rId4"/>
          <a:stretch>
            <a:fillRect/>
          </a:stretch>
        </p:blipFill>
        <p:spPr>
          <a:xfrm>
            <a:off x="2298288" y="2658847"/>
            <a:ext cx="1839445" cy="1235183"/>
          </a:xfrm>
          <a:prstGeom prst="rect">
            <a:avLst/>
          </a:prstGeom>
        </p:spPr>
      </p:pic>
      <p:pic>
        <p:nvPicPr>
          <p:cNvPr id="22" name="Picture 21">
            <a:extLst>
              <a:ext uri="{FF2B5EF4-FFF2-40B4-BE49-F238E27FC236}">
                <a16:creationId xmlns:a16="http://schemas.microsoft.com/office/drawing/2014/main" id="{801DC6C3-00C5-4A2C-8DBE-1968D4FF7189}"/>
              </a:ext>
            </a:extLst>
          </p:cNvPr>
          <p:cNvPicPr>
            <a:picLocks noChangeAspect="1"/>
          </p:cNvPicPr>
          <p:nvPr/>
        </p:nvPicPr>
        <p:blipFill>
          <a:blip r:embed="rId5"/>
          <a:stretch>
            <a:fillRect/>
          </a:stretch>
        </p:blipFill>
        <p:spPr>
          <a:xfrm>
            <a:off x="4495419" y="1593415"/>
            <a:ext cx="1000782" cy="2836239"/>
          </a:xfrm>
          <a:prstGeom prst="rect">
            <a:avLst/>
          </a:prstGeom>
        </p:spPr>
      </p:pic>
      <p:pic>
        <p:nvPicPr>
          <p:cNvPr id="23" name="Picture 22">
            <a:extLst>
              <a:ext uri="{FF2B5EF4-FFF2-40B4-BE49-F238E27FC236}">
                <a16:creationId xmlns:a16="http://schemas.microsoft.com/office/drawing/2014/main" id="{CBA7FEAB-B02F-4DF0-AB78-334CA80EF304}"/>
              </a:ext>
            </a:extLst>
          </p:cNvPr>
          <p:cNvPicPr>
            <a:picLocks noChangeAspect="1"/>
          </p:cNvPicPr>
          <p:nvPr/>
        </p:nvPicPr>
        <p:blipFill>
          <a:blip r:embed="rId6"/>
          <a:stretch>
            <a:fillRect/>
          </a:stretch>
        </p:blipFill>
        <p:spPr>
          <a:xfrm>
            <a:off x="5853887" y="2658847"/>
            <a:ext cx="1642762" cy="756259"/>
          </a:xfrm>
          <a:prstGeom prst="rect">
            <a:avLst/>
          </a:prstGeom>
        </p:spPr>
      </p:pic>
    </p:spTree>
    <p:extLst>
      <p:ext uri="{BB962C8B-B14F-4D97-AF65-F5344CB8AC3E}">
        <p14:creationId xmlns:p14="http://schemas.microsoft.com/office/powerpoint/2010/main" val="3664360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65200" y="1917006"/>
            <a:ext cx="2334808" cy="276999"/>
          </a:xfrm>
          <a:prstGeom prst="rect">
            <a:avLst/>
          </a:prstGeom>
          <a:noFill/>
        </p:spPr>
        <p:txBody>
          <a:bodyPr wrap="square" rtlCol="0">
            <a:spAutoFit/>
          </a:bodyPr>
          <a:lstStyle/>
          <a:p>
            <a:pPr algn="just"/>
            <a:r>
              <a:rPr lang="en-US" sz="1200" dirty="0"/>
              <a:t>Example: </a:t>
            </a:r>
            <a:r>
              <a:rPr lang="en-US" sz="1200" b="1" dirty="0"/>
              <a:t>Find 35</a:t>
            </a:r>
            <a:endParaRPr lang="en-US" sz="1200" dirty="0"/>
          </a:p>
        </p:txBody>
      </p:sp>
      <p:pic>
        <p:nvPicPr>
          <p:cNvPr id="20" name="Picture 19">
            <a:extLst>
              <a:ext uri="{FF2B5EF4-FFF2-40B4-BE49-F238E27FC236}">
                <a16:creationId xmlns:a16="http://schemas.microsoft.com/office/drawing/2014/main" id="{BC156B82-31F9-40DB-8700-D7F7D3CD9935}"/>
              </a:ext>
            </a:extLst>
          </p:cNvPr>
          <p:cNvPicPr>
            <a:picLocks noChangeAspect="1"/>
          </p:cNvPicPr>
          <p:nvPr/>
        </p:nvPicPr>
        <p:blipFill>
          <a:blip r:embed="rId4"/>
          <a:stretch>
            <a:fillRect/>
          </a:stretch>
        </p:blipFill>
        <p:spPr>
          <a:xfrm>
            <a:off x="1896223" y="2490469"/>
            <a:ext cx="1903785" cy="1304276"/>
          </a:xfrm>
          <a:prstGeom prst="rect">
            <a:avLst/>
          </a:prstGeom>
        </p:spPr>
      </p:pic>
      <p:pic>
        <p:nvPicPr>
          <p:cNvPr id="21" name="Picture 20">
            <a:extLst>
              <a:ext uri="{FF2B5EF4-FFF2-40B4-BE49-F238E27FC236}">
                <a16:creationId xmlns:a16="http://schemas.microsoft.com/office/drawing/2014/main" id="{5AFDF40B-4EBE-4E67-A638-77D0452E8E2E}"/>
              </a:ext>
            </a:extLst>
          </p:cNvPr>
          <p:cNvPicPr>
            <a:picLocks noChangeAspect="1"/>
          </p:cNvPicPr>
          <p:nvPr/>
        </p:nvPicPr>
        <p:blipFill>
          <a:blip r:embed="rId5"/>
          <a:stretch>
            <a:fillRect/>
          </a:stretch>
        </p:blipFill>
        <p:spPr>
          <a:xfrm>
            <a:off x="3978923" y="1620389"/>
            <a:ext cx="1025538" cy="2759479"/>
          </a:xfrm>
          <a:prstGeom prst="rect">
            <a:avLst/>
          </a:prstGeom>
        </p:spPr>
      </p:pic>
      <p:pic>
        <p:nvPicPr>
          <p:cNvPr id="24" name="Picture 23">
            <a:extLst>
              <a:ext uri="{FF2B5EF4-FFF2-40B4-BE49-F238E27FC236}">
                <a16:creationId xmlns:a16="http://schemas.microsoft.com/office/drawing/2014/main" id="{41DAFDFA-16C0-454B-B478-AAD30B858F0F}"/>
              </a:ext>
            </a:extLst>
          </p:cNvPr>
          <p:cNvPicPr>
            <a:picLocks noChangeAspect="1"/>
          </p:cNvPicPr>
          <p:nvPr/>
        </p:nvPicPr>
        <p:blipFill>
          <a:blip r:embed="rId6"/>
          <a:stretch>
            <a:fillRect/>
          </a:stretch>
        </p:blipFill>
        <p:spPr>
          <a:xfrm>
            <a:off x="5103095" y="2505738"/>
            <a:ext cx="1823485" cy="596701"/>
          </a:xfrm>
          <a:prstGeom prst="rect">
            <a:avLst/>
          </a:prstGeom>
        </p:spPr>
      </p:pic>
    </p:spTree>
    <p:extLst>
      <p:ext uri="{BB962C8B-B14F-4D97-AF65-F5344CB8AC3E}">
        <p14:creationId xmlns:p14="http://schemas.microsoft.com/office/powerpoint/2010/main" val="28962674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Linear Probing</a:t>
            </a:r>
            <a:br>
              <a:rPr lang="en-US" sz="1400" b="1" dirty="0"/>
            </a:br>
            <a:r>
              <a:rPr lang="en-US" sz="1400" b="1" dirty="0"/>
              <a:t>	</a:t>
            </a:r>
            <a:br>
              <a:rPr lang="en-US" sz="1400" b="1" dirty="0"/>
            </a:br>
            <a:r>
              <a:rPr lang="en-US" sz="1400" b="1" dirty="0"/>
              <a:t>	</a:t>
            </a: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F0401813-267E-4EFC-A711-84F4E96B308E}"/>
              </a:ext>
            </a:extLst>
          </p:cNvPr>
          <p:cNvSpPr txBox="1"/>
          <p:nvPr/>
        </p:nvSpPr>
        <p:spPr>
          <a:xfrm>
            <a:off x="1465200" y="1917006"/>
            <a:ext cx="2334808" cy="276999"/>
          </a:xfrm>
          <a:prstGeom prst="rect">
            <a:avLst/>
          </a:prstGeom>
          <a:noFill/>
        </p:spPr>
        <p:txBody>
          <a:bodyPr wrap="square" rtlCol="0">
            <a:spAutoFit/>
          </a:bodyPr>
          <a:lstStyle/>
          <a:p>
            <a:pPr algn="just"/>
            <a:r>
              <a:rPr lang="en-US" sz="1200" dirty="0"/>
              <a:t>Example: </a:t>
            </a:r>
            <a:r>
              <a:rPr lang="en-US" sz="1200" b="1" dirty="0"/>
              <a:t>Insert 15</a:t>
            </a:r>
            <a:endParaRPr lang="en-US" sz="1200" dirty="0"/>
          </a:p>
        </p:txBody>
      </p:sp>
      <p:pic>
        <p:nvPicPr>
          <p:cNvPr id="19" name="Picture 18">
            <a:extLst>
              <a:ext uri="{FF2B5EF4-FFF2-40B4-BE49-F238E27FC236}">
                <a16:creationId xmlns:a16="http://schemas.microsoft.com/office/drawing/2014/main" id="{3DDD5D94-13A8-4F32-AEE8-FAB09D57DFAC}"/>
              </a:ext>
            </a:extLst>
          </p:cNvPr>
          <p:cNvPicPr>
            <a:picLocks noChangeAspect="1"/>
          </p:cNvPicPr>
          <p:nvPr/>
        </p:nvPicPr>
        <p:blipFill>
          <a:blip r:embed="rId4"/>
          <a:stretch>
            <a:fillRect/>
          </a:stretch>
        </p:blipFill>
        <p:spPr>
          <a:xfrm>
            <a:off x="2417478" y="2416985"/>
            <a:ext cx="1874072" cy="1201661"/>
          </a:xfrm>
          <a:prstGeom prst="rect">
            <a:avLst/>
          </a:prstGeom>
        </p:spPr>
      </p:pic>
      <p:pic>
        <p:nvPicPr>
          <p:cNvPr id="22" name="Picture 21">
            <a:extLst>
              <a:ext uri="{FF2B5EF4-FFF2-40B4-BE49-F238E27FC236}">
                <a16:creationId xmlns:a16="http://schemas.microsoft.com/office/drawing/2014/main" id="{407CC842-89CB-4BD1-9AD8-A91B7F9E32FD}"/>
              </a:ext>
            </a:extLst>
          </p:cNvPr>
          <p:cNvPicPr>
            <a:picLocks noChangeAspect="1"/>
          </p:cNvPicPr>
          <p:nvPr/>
        </p:nvPicPr>
        <p:blipFill>
          <a:blip r:embed="rId5"/>
          <a:stretch>
            <a:fillRect/>
          </a:stretch>
        </p:blipFill>
        <p:spPr>
          <a:xfrm>
            <a:off x="4533990" y="1423884"/>
            <a:ext cx="1070696" cy="3187864"/>
          </a:xfrm>
          <a:prstGeom prst="rect">
            <a:avLst/>
          </a:prstGeom>
        </p:spPr>
      </p:pic>
      <p:pic>
        <p:nvPicPr>
          <p:cNvPr id="23" name="Picture 22">
            <a:extLst>
              <a:ext uri="{FF2B5EF4-FFF2-40B4-BE49-F238E27FC236}">
                <a16:creationId xmlns:a16="http://schemas.microsoft.com/office/drawing/2014/main" id="{A3190D95-F2A7-4058-9C44-F1851E627145}"/>
              </a:ext>
            </a:extLst>
          </p:cNvPr>
          <p:cNvPicPr>
            <a:picLocks noChangeAspect="1"/>
          </p:cNvPicPr>
          <p:nvPr/>
        </p:nvPicPr>
        <p:blipFill>
          <a:blip r:embed="rId6"/>
          <a:stretch>
            <a:fillRect/>
          </a:stretch>
        </p:blipFill>
        <p:spPr>
          <a:xfrm>
            <a:off x="5698194" y="2237573"/>
            <a:ext cx="2050661" cy="1902258"/>
          </a:xfrm>
          <a:prstGeom prst="rect">
            <a:avLst/>
          </a:prstGeom>
        </p:spPr>
      </p:pic>
    </p:spTree>
    <p:extLst>
      <p:ext uri="{BB962C8B-B14F-4D97-AF65-F5344CB8AC3E}">
        <p14:creationId xmlns:p14="http://schemas.microsoft.com/office/powerpoint/2010/main" val="799896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Double Hashing</a:t>
            </a:r>
            <a:br>
              <a:rPr lang="en-US" sz="1400" b="1" u="sng" dirty="0">
                <a:solidFill>
                  <a:srgbClr val="C00000"/>
                </a:solidFill>
              </a:rPr>
            </a:br>
            <a:r>
              <a:rPr lang="en-US" sz="1400" b="1" dirty="0"/>
              <a:t>	</a:t>
            </a:r>
            <a:br>
              <a:rPr lang="en-US" sz="1400" b="1" dirty="0"/>
            </a:br>
            <a:r>
              <a:rPr lang="en-US" sz="1400" b="1" dirty="0"/>
              <a:t>	</a:t>
            </a:r>
            <a:r>
              <a:rPr lang="en-US" sz="1400" dirty="0"/>
              <a:t>Double hashing makes use of a second hash function, say h2(k), whenever there's a collision. The record is initially hashed to an address using the primary function. If the hashed address is not available, a second hash function is applied and added to the first hashed value, and the colliding key is hashed to the new address if there is available space. If there is none, the process is repeated. </a:t>
            </a:r>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884845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Double Hashing</a:t>
            </a:r>
            <a:br>
              <a:rPr lang="en-US" sz="1400" b="1" u="sng" dirty="0">
                <a:solidFill>
                  <a:srgbClr val="C00000"/>
                </a:solidFill>
              </a:rPr>
            </a:br>
            <a:r>
              <a:rPr lang="en-US" sz="1400" b="1" dirty="0"/>
              <a:t>	</a:t>
            </a:r>
            <a:br>
              <a:rPr lang="en-US" sz="1400" b="1" dirty="0"/>
            </a:br>
            <a:r>
              <a:rPr lang="en-US" sz="1400" dirty="0"/>
              <a:t>The following is the algorithm:</a:t>
            </a:r>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a:extLst>
              <a:ext uri="{FF2B5EF4-FFF2-40B4-BE49-F238E27FC236}">
                <a16:creationId xmlns:a16="http://schemas.microsoft.com/office/drawing/2014/main" id="{EA08547F-F7BE-4C3F-A768-3666E53FD557}"/>
              </a:ext>
            </a:extLst>
          </p:cNvPr>
          <p:cNvPicPr>
            <a:picLocks noChangeAspect="1"/>
          </p:cNvPicPr>
          <p:nvPr/>
        </p:nvPicPr>
        <p:blipFill>
          <a:blip r:embed="rId4"/>
          <a:stretch>
            <a:fillRect/>
          </a:stretch>
        </p:blipFill>
        <p:spPr>
          <a:xfrm>
            <a:off x="2185105" y="2184783"/>
            <a:ext cx="5236776" cy="1374742"/>
          </a:xfrm>
          <a:prstGeom prst="rect">
            <a:avLst/>
          </a:prstGeom>
        </p:spPr>
      </p:pic>
    </p:spTree>
    <p:extLst>
      <p:ext uri="{BB962C8B-B14F-4D97-AF65-F5344CB8AC3E}">
        <p14:creationId xmlns:p14="http://schemas.microsoft.com/office/powerpoint/2010/main" val="20092288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Double Hashing</a:t>
            </a:r>
            <a:br>
              <a:rPr lang="en-US" sz="1400" b="1" u="sng" dirty="0">
                <a:solidFill>
                  <a:srgbClr val="C00000"/>
                </a:solidFill>
              </a:rPr>
            </a:br>
            <a:r>
              <a:rPr lang="en-US" sz="1400" b="1" dirty="0"/>
              <a:t>	</a:t>
            </a:r>
            <a:br>
              <a:rPr lang="en-US" sz="1400" b="1" dirty="0"/>
            </a:b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6" name="Picture 15">
            <a:extLst>
              <a:ext uri="{FF2B5EF4-FFF2-40B4-BE49-F238E27FC236}">
                <a16:creationId xmlns:a16="http://schemas.microsoft.com/office/drawing/2014/main" id="{659DC2F9-C63E-4CB2-B7EB-28F5A7920E0F}"/>
              </a:ext>
            </a:extLst>
          </p:cNvPr>
          <p:cNvPicPr>
            <a:picLocks noChangeAspect="1"/>
          </p:cNvPicPr>
          <p:nvPr/>
        </p:nvPicPr>
        <p:blipFill>
          <a:blip r:embed="rId4"/>
          <a:stretch>
            <a:fillRect/>
          </a:stretch>
        </p:blipFill>
        <p:spPr>
          <a:xfrm>
            <a:off x="1809824" y="1609710"/>
            <a:ext cx="6035760" cy="3002038"/>
          </a:xfrm>
          <a:prstGeom prst="rect">
            <a:avLst/>
          </a:prstGeom>
        </p:spPr>
      </p:pic>
    </p:spTree>
    <p:extLst>
      <p:ext uri="{BB962C8B-B14F-4D97-AF65-F5344CB8AC3E}">
        <p14:creationId xmlns:p14="http://schemas.microsoft.com/office/powerpoint/2010/main" val="36053808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Double Hashing</a:t>
            </a:r>
            <a:br>
              <a:rPr lang="en-US" sz="1400" b="1" u="sng" dirty="0">
                <a:solidFill>
                  <a:srgbClr val="C00000"/>
                </a:solidFill>
              </a:rPr>
            </a:br>
            <a:r>
              <a:rPr lang="en-US" sz="1400" b="1" dirty="0"/>
              <a:t>	</a:t>
            </a:r>
            <a:br>
              <a:rPr lang="en-US" sz="1400" b="1" dirty="0"/>
            </a:b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7" name="Picture 16">
            <a:extLst>
              <a:ext uri="{FF2B5EF4-FFF2-40B4-BE49-F238E27FC236}">
                <a16:creationId xmlns:a16="http://schemas.microsoft.com/office/drawing/2014/main" id="{228A64BF-EEF3-457D-AAD8-45D6A610BBA2}"/>
              </a:ext>
            </a:extLst>
          </p:cNvPr>
          <p:cNvPicPr>
            <a:picLocks noChangeAspect="1"/>
          </p:cNvPicPr>
          <p:nvPr/>
        </p:nvPicPr>
        <p:blipFill>
          <a:blip r:embed="rId4"/>
          <a:stretch>
            <a:fillRect/>
          </a:stretch>
        </p:blipFill>
        <p:spPr>
          <a:xfrm>
            <a:off x="1798776" y="1729052"/>
            <a:ext cx="5272058" cy="404014"/>
          </a:xfrm>
          <a:prstGeom prst="rect">
            <a:avLst/>
          </a:prstGeom>
        </p:spPr>
      </p:pic>
      <p:pic>
        <p:nvPicPr>
          <p:cNvPr id="18" name="Picture 17">
            <a:extLst>
              <a:ext uri="{FF2B5EF4-FFF2-40B4-BE49-F238E27FC236}">
                <a16:creationId xmlns:a16="http://schemas.microsoft.com/office/drawing/2014/main" id="{5037F5A8-217A-4741-8FD1-87B9CD489989}"/>
              </a:ext>
            </a:extLst>
          </p:cNvPr>
          <p:cNvPicPr>
            <a:picLocks noChangeAspect="1"/>
          </p:cNvPicPr>
          <p:nvPr/>
        </p:nvPicPr>
        <p:blipFill>
          <a:blip r:embed="rId5"/>
          <a:stretch>
            <a:fillRect/>
          </a:stretch>
        </p:blipFill>
        <p:spPr>
          <a:xfrm>
            <a:off x="3474490" y="2191469"/>
            <a:ext cx="1560326" cy="2703723"/>
          </a:xfrm>
          <a:prstGeom prst="rect">
            <a:avLst/>
          </a:prstGeom>
        </p:spPr>
      </p:pic>
    </p:spTree>
    <p:extLst>
      <p:ext uri="{BB962C8B-B14F-4D97-AF65-F5344CB8AC3E}">
        <p14:creationId xmlns:p14="http://schemas.microsoft.com/office/powerpoint/2010/main" val="33507640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Double Hashing</a:t>
            </a:r>
            <a:br>
              <a:rPr lang="en-US" sz="1400" b="1" u="sng" dirty="0">
                <a:solidFill>
                  <a:srgbClr val="C00000"/>
                </a:solidFill>
              </a:rPr>
            </a:br>
            <a:r>
              <a:rPr lang="en-US" sz="1400" b="1" dirty="0"/>
              <a:t>	</a:t>
            </a:r>
            <a:br>
              <a:rPr lang="en-US" sz="1400" b="1" dirty="0"/>
            </a:b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9" name="Picture 18">
            <a:extLst>
              <a:ext uri="{FF2B5EF4-FFF2-40B4-BE49-F238E27FC236}">
                <a16:creationId xmlns:a16="http://schemas.microsoft.com/office/drawing/2014/main" id="{793F7C28-F37C-4735-A777-D7D2B18F723B}"/>
              </a:ext>
            </a:extLst>
          </p:cNvPr>
          <p:cNvPicPr>
            <a:picLocks noChangeAspect="1"/>
          </p:cNvPicPr>
          <p:nvPr/>
        </p:nvPicPr>
        <p:blipFill>
          <a:blip r:embed="rId4"/>
          <a:stretch>
            <a:fillRect/>
          </a:stretch>
        </p:blipFill>
        <p:spPr>
          <a:xfrm>
            <a:off x="1465199" y="1739571"/>
            <a:ext cx="4543898" cy="1113988"/>
          </a:xfrm>
          <a:prstGeom prst="rect">
            <a:avLst/>
          </a:prstGeom>
        </p:spPr>
      </p:pic>
      <p:pic>
        <p:nvPicPr>
          <p:cNvPr id="20" name="Picture 19">
            <a:extLst>
              <a:ext uri="{FF2B5EF4-FFF2-40B4-BE49-F238E27FC236}">
                <a16:creationId xmlns:a16="http://schemas.microsoft.com/office/drawing/2014/main" id="{479E2588-51DC-4A58-AE08-54CBC410F0DD}"/>
              </a:ext>
            </a:extLst>
          </p:cNvPr>
          <p:cNvPicPr>
            <a:picLocks noChangeAspect="1"/>
          </p:cNvPicPr>
          <p:nvPr/>
        </p:nvPicPr>
        <p:blipFill>
          <a:blip r:embed="rId5"/>
          <a:stretch>
            <a:fillRect/>
          </a:stretch>
        </p:blipFill>
        <p:spPr>
          <a:xfrm>
            <a:off x="6378277" y="934354"/>
            <a:ext cx="1949848" cy="3445514"/>
          </a:xfrm>
          <a:prstGeom prst="rect">
            <a:avLst/>
          </a:prstGeom>
        </p:spPr>
      </p:pic>
      <p:pic>
        <p:nvPicPr>
          <p:cNvPr id="8" name="Picture 7">
            <a:extLst>
              <a:ext uri="{FF2B5EF4-FFF2-40B4-BE49-F238E27FC236}">
                <a16:creationId xmlns:a16="http://schemas.microsoft.com/office/drawing/2014/main" id="{94C08406-BFC1-3527-B925-AC6A2F5AA434}"/>
              </a:ext>
            </a:extLst>
          </p:cNvPr>
          <p:cNvPicPr>
            <a:picLocks noChangeAspect="1"/>
          </p:cNvPicPr>
          <p:nvPr/>
        </p:nvPicPr>
        <p:blipFill>
          <a:blip r:embed="rId6"/>
          <a:stretch>
            <a:fillRect/>
          </a:stretch>
        </p:blipFill>
        <p:spPr>
          <a:xfrm>
            <a:off x="1910661" y="3442563"/>
            <a:ext cx="3347139" cy="1621810"/>
          </a:xfrm>
          <a:prstGeom prst="rect">
            <a:avLst/>
          </a:prstGeom>
        </p:spPr>
      </p:pic>
      <p:sp>
        <p:nvSpPr>
          <p:cNvPr id="9" name="Oval 8">
            <a:extLst>
              <a:ext uri="{FF2B5EF4-FFF2-40B4-BE49-F238E27FC236}">
                <a16:creationId xmlns:a16="http://schemas.microsoft.com/office/drawing/2014/main" id="{8A1F0C17-0A21-A87C-C957-DE78E4EAB3D1}"/>
              </a:ext>
            </a:extLst>
          </p:cNvPr>
          <p:cNvSpPr/>
          <p:nvPr/>
        </p:nvSpPr>
        <p:spPr>
          <a:xfrm>
            <a:off x="3841376" y="4580965"/>
            <a:ext cx="219635" cy="18058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F01013E-F66E-E80F-F173-7A716D76DD48}"/>
              </a:ext>
            </a:extLst>
          </p:cNvPr>
          <p:cNvSpPr/>
          <p:nvPr/>
        </p:nvSpPr>
        <p:spPr>
          <a:xfrm>
            <a:off x="7425093" y="3142607"/>
            <a:ext cx="614082" cy="160887"/>
          </a:xfrm>
          <a:prstGeom prst="rect">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50000"/>
                  </a:schemeClr>
                </a:solidFill>
              </a:rPr>
              <a:t>652</a:t>
            </a:r>
          </a:p>
        </p:txBody>
      </p:sp>
      <p:sp>
        <p:nvSpPr>
          <p:cNvPr id="10" name="Oval 9">
            <a:extLst>
              <a:ext uri="{FF2B5EF4-FFF2-40B4-BE49-F238E27FC236}">
                <a16:creationId xmlns:a16="http://schemas.microsoft.com/office/drawing/2014/main" id="{F5C2C3C7-FE38-2D02-05CA-A8CB229E5FC4}"/>
              </a:ext>
            </a:extLst>
          </p:cNvPr>
          <p:cNvSpPr/>
          <p:nvPr/>
        </p:nvSpPr>
        <p:spPr>
          <a:xfrm>
            <a:off x="7519222" y="3096329"/>
            <a:ext cx="425824" cy="2492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236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b="1" u="sng" dirty="0"/>
              <a:t>Open Addressing (Probing)	</a:t>
            </a:r>
            <a:br>
              <a:rPr lang="en-US" sz="1400" b="1" u="sng" dirty="0"/>
            </a:br>
            <a:r>
              <a:rPr lang="en-US" sz="1400" b="1" u="sng" dirty="0">
                <a:solidFill>
                  <a:srgbClr val="C00000"/>
                </a:solidFill>
              </a:rPr>
              <a:t>Double Hashing</a:t>
            </a:r>
            <a:br>
              <a:rPr lang="en-US" sz="1400" b="1" u="sng" dirty="0">
                <a:solidFill>
                  <a:srgbClr val="C00000"/>
                </a:solidFill>
              </a:rPr>
            </a:br>
            <a:r>
              <a:rPr lang="en-US" sz="1400" b="1" dirty="0"/>
              <a:t>	</a:t>
            </a:r>
            <a:br>
              <a:rPr lang="en-US" sz="1400" b="1" dirty="0"/>
            </a:br>
            <a:endParaRPr lang="en-US" sz="1400" dirty="0"/>
          </a:p>
        </p:txBody>
      </p:sp>
      <p:sp>
        <p:nvSpPr>
          <p:cNvPr id="234" name="Google Shape;234;p34"/>
          <p:cNvSpPr txBox="1">
            <a:spLocks noGrp="1"/>
          </p:cNvSpPr>
          <p:nvPr>
            <p:ph type="subTitle" idx="1"/>
          </p:nvPr>
        </p:nvSpPr>
        <p:spPr>
          <a:xfrm>
            <a:off x="1307758" y="531752"/>
            <a:ext cx="465035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Collision Resolution Techniques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7" name="Picture 16">
            <a:extLst>
              <a:ext uri="{FF2B5EF4-FFF2-40B4-BE49-F238E27FC236}">
                <a16:creationId xmlns:a16="http://schemas.microsoft.com/office/drawing/2014/main" id="{7A69E465-B225-4314-A0A6-7A6926599B90}"/>
              </a:ext>
            </a:extLst>
          </p:cNvPr>
          <p:cNvPicPr>
            <a:picLocks noChangeAspect="1"/>
          </p:cNvPicPr>
          <p:nvPr/>
        </p:nvPicPr>
        <p:blipFill>
          <a:blip r:embed="rId4"/>
          <a:stretch>
            <a:fillRect/>
          </a:stretch>
        </p:blipFill>
        <p:spPr>
          <a:xfrm>
            <a:off x="1465199" y="1591191"/>
            <a:ext cx="3693989" cy="1294800"/>
          </a:xfrm>
          <a:prstGeom prst="rect">
            <a:avLst/>
          </a:prstGeom>
        </p:spPr>
      </p:pic>
      <p:pic>
        <p:nvPicPr>
          <p:cNvPr id="18" name="Picture 17">
            <a:extLst>
              <a:ext uri="{FF2B5EF4-FFF2-40B4-BE49-F238E27FC236}">
                <a16:creationId xmlns:a16="http://schemas.microsoft.com/office/drawing/2014/main" id="{EE98D204-3144-4392-B152-0B0F9DA1BA99}"/>
              </a:ext>
            </a:extLst>
          </p:cNvPr>
          <p:cNvPicPr>
            <a:picLocks noChangeAspect="1"/>
          </p:cNvPicPr>
          <p:nvPr/>
        </p:nvPicPr>
        <p:blipFill>
          <a:blip r:embed="rId5"/>
          <a:stretch>
            <a:fillRect/>
          </a:stretch>
        </p:blipFill>
        <p:spPr>
          <a:xfrm>
            <a:off x="1855164" y="2768664"/>
            <a:ext cx="2093790" cy="277041"/>
          </a:xfrm>
          <a:prstGeom prst="rect">
            <a:avLst/>
          </a:prstGeom>
        </p:spPr>
      </p:pic>
      <p:pic>
        <p:nvPicPr>
          <p:cNvPr id="21" name="Picture 20">
            <a:extLst>
              <a:ext uri="{FF2B5EF4-FFF2-40B4-BE49-F238E27FC236}">
                <a16:creationId xmlns:a16="http://schemas.microsoft.com/office/drawing/2014/main" id="{805C19E4-2F4E-4C84-A8A2-6E6D331F42F7}"/>
              </a:ext>
            </a:extLst>
          </p:cNvPr>
          <p:cNvPicPr>
            <a:picLocks noChangeAspect="1"/>
          </p:cNvPicPr>
          <p:nvPr/>
        </p:nvPicPr>
        <p:blipFill>
          <a:blip r:embed="rId6"/>
          <a:stretch>
            <a:fillRect/>
          </a:stretch>
        </p:blipFill>
        <p:spPr>
          <a:xfrm>
            <a:off x="6563245" y="1163959"/>
            <a:ext cx="2027704" cy="3296954"/>
          </a:xfrm>
          <a:prstGeom prst="rect">
            <a:avLst/>
          </a:prstGeom>
        </p:spPr>
      </p:pic>
      <p:pic>
        <p:nvPicPr>
          <p:cNvPr id="2" name="Picture 1">
            <a:extLst>
              <a:ext uri="{FF2B5EF4-FFF2-40B4-BE49-F238E27FC236}">
                <a16:creationId xmlns:a16="http://schemas.microsoft.com/office/drawing/2014/main" id="{B198F7C8-25ED-C773-0E07-06152D6CA04D}"/>
              </a:ext>
            </a:extLst>
          </p:cNvPr>
          <p:cNvPicPr>
            <a:picLocks noChangeAspect="1"/>
          </p:cNvPicPr>
          <p:nvPr/>
        </p:nvPicPr>
        <p:blipFill>
          <a:blip r:embed="rId7"/>
          <a:stretch>
            <a:fillRect/>
          </a:stretch>
        </p:blipFill>
        <p:spPr>
          <a:xfrm>
            <a:off x="1677579" y="3356098"/>
            <a:ext cx="3347139" cy="1621810"/>
          </a:xfrm>
          <a:prstGeom prst="rect">
            <a:avLst/>
          </a:prstGeom>
        </p:spPr>
      </p:pic>
      <p:sp>
        <p:nvSpPr>
          <p:cNvPr id="3" name="Oval 2">
            <a:extLst>
              <a:ext uri="{FF2B5EF4-FFF2-40B4-BE49-F238E27FC236}">
                <a16:creationId xmlns:a16="http://schemas.microsoft.com/office/drawing/2014/main" id="{185EA600-4B14-C59F-4A89-6DC81E6EB70D}"/>
              </a:ext>
            </a:extLst>
          </p:cNvPr>
          <p:cNvSpPr/>
          <p:nvPr/>
        </p:nvSpPr>
        <p:spPr>
          <a:xfrm>
            <a:off x="3632935" y="4620120"/>
            <a:ext cx="219635" cy="18058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2191D48-F7EC-7D1C-0857-9600971705DB}"/>
              </a:ext>
            </a:extLst>
          </p:cNvPr>
          <p:cNvSpPr/>
          <p:nvPr/>
        </p:nvSpPr>
        <p:spPr>
          <a:xfrm>
            <a:off x="7627240" y="3935777"/>
            <a:ext cx="614082" cy="160887"/>
          </a:xfrm>
          <a:prstGeom prst="rect">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50000"/>
                  </a:schemeClr>
                </a:solidFill>
              </a:rPr>
              <a:t>421</a:t>
            </a:r>
          </a:p>
        </p:txBody>
      </p:sp>
      <p:sp>
        <p:nvSpPr>
          <p:cNvPr id="5" name="Oval 4">
            <a:extLst>
              <a:ext uri="{FF2B5EF4-FFF2-40B4-BE49-F238E27FC236}">
                <a16:creationId xmlns:a16="http://schemas.microsoft.com/office/drawing/2014/main" id="{F23450E1-5609-41F3-3846-192664B6B284}"/>
              </a:ext>
            </a:extLst>
          </p:cNvPr>
          <p:cNvSpPr/>
          <p:nvPr/>
        </p:nvSpPr>
        <p:spPr>
          <a:xfrm>
            <a:off x="7721369" y="3897236"/>
            <a:ext cx="425824" cy="2492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3666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theme/theme1.xml><?xml version="1.0" encoding="utf-8"?>
<a:theme xmlns:a="http://schemas.openxmlformats.org/drawingml/2006/main" name="Notebook Lesson by Slidesgo">
  <a:themeElements>
    <a:clrScheme name="Simple Light">
      <a:dk1>
        <a:srgbClr val="595959"/>
      </a:dk1>
      <a:lt1>
        <a:srgbClr val="F1C232"/>
      </a:lt1>
      <a:dk2>
        <a:srgbClr val="595959"/>
      </a:dk2>
      <a:lt2>
        <a:srgbClr val="A8D68C"/>
      </a:lt2>
      <a:accent1>
        <a:srgbClr val="F1C232"/>
      </a:accent1>
      <a:accent2>
        <a:srgbClr val="B44141"/>
      </a:accent2>
      <a:accent3>
        <a:srgbClr val="F1C232"/>
      </a:accent3>
      <a:accent4>
        <a:srgbClr val="DF7070"/>
      </a:accent4>
      <a:accent5>
        <a:srgbClr val="7A9E64"/>
      </a:accent5>
      <a:accent6>
        <a:srgbClr val="595959"/>
      </a:accent6>
      <a:hlink>
        <a:srgbClr val="59595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2447</TotalTime>
  <Words>2443</Words>
  <Application>Microsoft Office PowerPoint</Application>
  <PresentationFormat>On-screen Show (16:9)</PresentationFormat>
  <Paragraphs>176</Paragraphs>
  <Slides>55</Slides>
  <Notes>55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55</vt:i4>
      </vt:variant>
    </vt:vector>
  </HeadingPairs>
  <TitlesOfParts>
    <vt:vector size="64" baseType="lpstr">
      <vt:lpstr>Anonymous Pro</vt:lpstr>
      <vt:lpstr>Oxygen</vt:lpstr>
      <vt:lpstr>Coming Soon</vt:lpstr>
      <vt:lpstr>Concert One</vt:lpstr>
      <vt:lpstr>Wingdings</vt:lpstr>
      <vt:lpstr>Roboto Mono Medium</vt:lpstr>
      <vt:lpstr>Arial</vt:lpstr>
      <vt:lpstr>Arial</vt:lpstr>
      <vt:lpstr>Notebook Lesson by Slidesgo</vt:lpstr>
      <vt:lpstr>DATA STRUCTURES  AND ALGORITHMS</vt:lpstr>
      <vt:lpstr>Topics</vt:lpstr>
      <vt:lpstr>01</vt:lpstr>
      <vt:lpstr> A hash table is a data structure that offers very fast insertion and searching.  For a human user of a hash table, this is essentially instantaneous. It’s so fast that computer programs typically use hash tables when they need to look up tens of thousands of items in less than a second (as in spelling checkers).  </vt:lpstr>
      <vt:lpstr> One important concept is how a range of key values is transformed into a range of array index values. In a hash table this is accomplished with a hash function. However, for certain kinds of keys, no hash function is necessary; the key values can be used directly as array indices.  </vt:lpstr>
      <vt:lpstr> Hashing is the application of a mathematical function (called a hash function) to the key values that results in mapping the possible range of key values into a smaller range of relative addresses. The hash function is something like a locked box that needs a key to get the output which, in this case, is the address where the key is stored: </vt:lpstr>
      <vt:lpstr> With hashing, there is no obvious connection between the key and the address generated since the function "randomly selects" an address for a specific key value, without regard to the physical sequence of the records in the file. Hence, it is also known as randomizing scheme. </vt:lpstr>
      <vt:lpstr> Two or more input keys, say k1 and k2, when applied to a hash function, may hash to the same address, an accident known as collision.   Collision can be reduced by allocating more file space than the minimum required to store the number of keys. However, this approach leads to wasted space.</vt:lpstr>
      <vt:lpstr> In hashing, there is a need to choose a good hash function and consequently, select a method to resolve, if not eliminate, collisions. A good hash function performs fast computation and produces less (or no) collisions.</vt:lpstr>
      <vt:lpstr>02</vt:lpstr>
      <vt:lpstr>Prime Number Division Method   This method is one of the most common randomizing scheme. If the key value is divided by a number n, the range of address generated will be of the form 0 to n-1. The formula is:</vt:lpstr>
      <vt:lpstr>Prime Number Division Method   If n is the total number of relative locations in the file, this method can be used to map the keys into n record locations.   n should be chosen to attempt to reduce number of collisions. If n is even, the result of the hash function has revealed an even value and if n is odd, the resulting value is also odd.</vt:lpstr>
      <vt:lpstr>Prime Number Division Method   Division with a prime number will not result to much collision, that is why it is the best choice for the divisor in this method.   We could choose a prime number that is close to the number of record positions in the file. However, this method may be used even if n is not a prime, but be prepared to handle more collisions.</vt:lpstr>
      <vt:lpstr>Prime Number Division Method   </vt:lpstr>
      <vt:lpstr>Prime Number Division Method   Division with a prime number will not result to much collision, that is why it is the best choice for the divisor in this method. We could choose a prime number that is close to the number of record positions in the file. However, this method may be used even if n is not a prime, but be prepared to handle more collisions.</vt:lpstr>
      <vt:lpstr>Folding   In this technique, the key value is split into two or more parts and then added, ANDed, or XORed to get a hash address. If the resulting address has more digits than the highest address in the file, the excess high order digits are truncated. </vt:lpstr>
      <vt:lpstr>Folding   There are different ways of folding. A key value can be folded in half. This is ideal for relatively small key values since they would easily fit in the available addresses. If in any case, the key would be unevenly split, the left fold must be greater than the right fold. </vt:lpstr>
      <vt:lpstr>Folding   A key value can also be folded in thirds this is ideal for somewhat large key values. We can also fold alternate digits. The digits in the odd positions form one part, and the digits in the even positions form another.</vt:lpstr>
      <vt:lpstr>Folding   Folding in half and in thirds can be done in yet another two ways.   One is boundary folding where some parts of the folded keys are reversed (imitating the way we fold paper) and then summed.   Last is shift folding where no parts of the folded keys are reversed.</vt:lpstr>
      <vt:lpstr>Folding   The following are some examples of shift folding:</vt:lpstr>
      <vt:lpstr>Folding   The following are some examples of boundary folding:</vt:lpstr>
      <vt:lpstr>Folding   This method is useful for converting keys with large number of digits to a smaller number of digits so the address fits into a word memory. It is also easier to store since the keys do not require much space to be stored.</vt:lpstr>
      <vt:lpstr>03</vt:lpstr>
      <vt:lpstr>  Choosing a good hashing algorithm based on how few collisions are likely to occur is the first step in avoiding collision. However, this will just minimize and will not eradicate the problem. To avoid collision, we could:</vt:lpstr>
      <vt:lpstr>Chaining   In chaining, m linked lists are maintained, one for each possible address in the hash table.     </vt:lpstr>
      <vt:lpstr>Chaining   </vt:lpstr>
      <vt:lpstr>Chaining   </vt:lpstr>
      <vt:lpstr>Use of Bucket     Like chaining, this method divides the hash table into m groups of records where each group contains exactly b records, having each address regarded as a bucket. </vt:lpstr>
      <vt:lpstr>Use of Bucket     </vt:lpstr>
      <vt:lpstr>Open Addressing (Probing)     In open addressing, when the address produced by a hash function h(k) has no more space for insertion, an empty slot other than h(k) in the hash table is located.   This process is called probing. In this empty slot, the new record that has collided with the old one, known as the colliding key, could be safely placed.    In this lesson, we will cover two techniques: linear probing and double hashing.</vt:lpstr>
      <vt:lpstr>Open Addressing (Probing)  Linear Probing    Linear probing is one of the simplest techniques in handling collisions in which the file is scanned or probed sequentially as a circular file and the colliding key is stored in the nearest available space to the address.   This is used in systems where a “first come, first served” basis is followed.   An example is an airline reservation system where seats for chance passengers are given away when passengers for reserved seats don’t arrive.  </vt:lpstr>
      <vt:lpstr>Open Addressing (Probing)  Linear Probing    Whenever a collision occurs at a certain address, the succeeding addresses are probed, that is, searched sequentially until an empty one is found. The key then uses this address. Array should be considered circular, so that when the last location is reached, the search proceeds to the first location of the array. </vt:lpstr>
      <vt:lpstr>Open Addressing (Probing)  Linear Probing    </vt:lpstr>
      <vt:lpstr>Open Addressing (Probing)  Linear Probing    </vt:lpstr>
      <vt:lpstr>Open Addressing (Probing)  Linear Probing    </vt:lpstr>
      <vt:lpstr>Open Addressing (Probing)  Linear Probing    </vt:lpstr>
      <vt:lpstr>Open Addressing (Probing)  Linear Probing    </vt:lpstr>
      <vt:lpstr>Open Addressing (Probing)  Linear Probing    </vt:lpstr>
      <vt:lpstr>Open Addressing (Probing)  Linear Probing    </vt:lpstr>
      <vt:lpstr>Open Addressing (Probing)  Linear Probing    </vt:lpstr>
      <vt:lpstr>Open Addressing (Probing)  Linear Probing    </vt:lpstr>
      <vt:lpstr>Open Addressing (Probing)  Linear Probing    </vt:lpstr>
      <vt:lpstr>Open Addressing (Probing)  Linear Probing    </vt:lpstr>
      <vt:lpstr>Open Addressing (Probing)  Linear Probing    </vt:lpstr>
      <vt:lpstr>Open Addressing (Probing)  Linear Probing    </vt:lpstr>
      <vt:lpstr>Open Addressing (Probing)  Linear Probing    </vt:lpstr>
      <vt:lpstr>Open Addressing (Probing)  Linear Probing    </vt:lpstr>
      <vt:lpstr>Open Addressing (Probing)  Linear Probing    </vt:lpstr>
      <vt:lpstr>Open Addressing (Probing)  Linear Probing    </vt:lpstr>
      <vt:lpstr>Open Addressing (Probing)  Double Hashing    Double hashing makes use of a second hash function, say h2(k), whenever there's a collision. The record is initially hashed to an address using the primary function. If the hashed address is not available, a second hash function is applied and added to the first hashed value, and the colliding key is hashed to the new address if there is available space. If there is none, the process is repeated. </vt:lpstr>
      <vt:lpstr>Open Addressing (Probing)  Double Hashing   The following is the algorithm:</vt:lpstr>
      <vt:lpstr>Open Addressing (Probing)  Double Hashing   </vt:lpstr>
      <vt:lpstr>Open Addressing (Probing)  Double Hashing   </vt:lpstr>
      <vt:lpstr>Open Addressing (Probing)  Double Hashing   </vt:lpstr>
      <vt:lpstr>Open Addressing (Probing)  Double Hashing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NOTEBOOK LESSON</dc:title>
  <dc:creator>Mish</dc:creator>
  <cp:lastModifiedBy>ORCULLO Lowell Jay C.</cp:lastModifiedBy>
  <cp:revision>240</cp:revision>
  <dcterms:modified xsi:type="dcterms:W3CDTF">2025-10-28T04:37:52Z</dcterms:modified>
</cp:coreProperties>
</file>